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1"/>
  </p:notesMasterIdLst>
  <p:handoutMasterIdLst>
    <p:handoutMasterId r:id="rId52"/>
  </p:handoutMasterIdLst>
  <p:sldIdLst>
    <p:sldId id="294" r:id="rId2"/>
    <p:sldId id="295" r:id="rId3"/>
    <p:sldId id="296" r:id="rId4"/>
    <p:sldId id="297" r:id="rId5"/>
    <p:sldId id="298" r:id="rId6"/>
    <p:sldId id="300" r:id="rId7"/>
    <p:sldId id="306" r:id="rId8"/>
    <p:sldId id="305" r:id="rId9"/>
    <p:sldId id="304" r:id="rId10"/>
    <p:sldId id="302" r:id="rId11"/>
    <p:sldId id="299" r:id="rId12"/>
    <p:sldId id="301" r:id="rId13"/>
    <p:sldId id="290" r:id="rId14"/>
    <p:sldId id="291" r:id="rId15"/>
    <p:sldId id="292" r:id="rId16"/>
    <p:sldId id="293" r:id="rId17"/>
    <p:sldId id="277" r:id="rId18"/>
    <p:sldId id="278" r:id="rId19"/>
    <p:sldId id="279" r:id="rId20"/>
    <p:sldId id="280" r:id="rId21"/>
    <p:sldId id="281" r:id="rId22"/>
    <p:sldId id="282" r:id="rId23"/>
    <p:sldId id="284" r:id="rId24"/>
    <p:sldId id="287" r:id="rId25"/>
    <p:sldId id="288" r:id="rId26"/>
    <p:sldId id="286" r:id="rId27"/>
    <p:sldId id="285" r:id="rId28"/>
    <p:sldId id="271" r:id="rId29"/>
    <p:sldId id="307" r:id="rId30"/>
    <p:sldId id="289" r:id="rId31"/>
    <p:sldId id="274" r:id="rId32"/>
    <p:sldId id="275" r:id="rId33"/>
    <p:sldId id="276" r:id="rId34"/>
    <p:sldId id="273" r:id="rId35"/>
    <p:sldId id="272" r:id="rId36"/>
    <p:sldId id="270" r:id="rId37"/>
    <p:sldId id="265" r:id="rId38"/>
    <p:sldId id="264" r:id="rId39"/>
    <p:sldId id="266" r:id="rId40"/>
    <p:sldId id="267" r:id="rId41"/>
    <p:sldId id="257" r:id="rId42"/>
    <p:sldId id="258" r:id="rId43"/>
    <p:sldId id="259" r:id="rId44"/>
    <p:sldId id="261" r:id="rId45"/>
    <p:sldId id="260" r:id="rId46"/>
    <p:sldId id="262" r:id="rId47"/>
    <p:sldId id="263" r:id="rId48"/>
    <p:sldId id="268" r:id="rId49"/>
    <p:sldId id="269" r:id="rId5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0261004_修士論文の英語論文化BU相談" id="{8B5B12FD-3016-4589-BA39-5B88810C3D49}">
          <p14:sldIdLst>
            <p14:sldId id="294"/>
            <p14:sldId id="295"/>
            <p14:sldId id="296"/>
            <p14:sldId id="297"/>
            <p14:sldId id="298"/>
            <p14:sldId id="300"/>
            <p14:sldId id="306"/>
            <p14:sldId id="305"/>
            <p14:sldId id="304"/>
            <p14:sldId id="302"/>
            <p14:sldId id="299"/>
            <p14:sldId id="301"/>
          </p14:sldIdLst>
        </p14:section>
        <p14:section name="20260412_博士研究の学術的コアv1" id="{921DBF61-B40B-443A-B0AA-1D4BCB4F530D}">
          <p14:sldIdLst>
            <p14:sldId id="290"/>
            <p14:sldId id="291"/>
            <p14:sldId id="292"/>
            <p14:sldId id="293"/>
          </p14:sldIdLst>
        </p14:section>
        <p14:section name="20260320_博士研究でやりたいこと" id="{C800D801-3EE5-457B-898C-91C62B0401C7}">
          <p14:sldIdLst>
            <p14:sldId id="277"/>
            <p14:sldId id="278"/>
            <p14:sldId id="279"/>
            <p14:sldId id="280"/>
            <p14:sldId id="281"/>
            <p14:sldId id="282"/>
            <p14:sldId id="284"/>
            <p14:sldId id="287"/>
            <p14:sldId id="288"/>
            <p14:sldId id="286"/>
            <p14:sldId id="285"/>
            <p14:sldId id="271"/>
            <p14:sldId id="307"/>
            <p14:sldId id="289"/>
            <p14:sldId id="274"/>
            <p14:sldId id="275"/>
            <p14:sldId id="276"/>
            <p14:sldId id="273"/>
            <p14:sldId id="272"/>
            <p14:sldId id="270"/>
            <p14:sldId id="265"/>
            <p14:sldId id="264"/>
            <p14:sldId id="266"/>
            <p14:sldId id="267"/>
            <p14:sldId id="257"/>
            <p14:sldId id="258"/>
            <p14:sldId id="259"/>
            <p14:sldId id="261"/>
            <p14:sldId id="260"/>
            <p14:sldId id="262"/>
            <p14:sldId id="263"/>
            <p14:sldId id="268"/>
            <p14:sldId id="2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432FF"/>
    <a:srgbClr val="DE0000"/>
    <a:srgbClr val="FF0000"/>
    <a:srgbClr val="A2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40E300-F619-4B16-B1C9-4FD2C22A1DC6}" v="1224" dt="2026-10-10T07:54:46.23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69475" autoAdjust="0"/>
  </p:normalViewPr>
  <p:slideViewPr>
    <p:cSldViewPr>
      <p:cViewPr>
        <p:scale>
          <a:sx n="75" d="100"/>
          <a:sy n="75" d="100"/>
        </p:scale>
        <p:origin x="965" y="77"/>
      </p:cViewPr>
      <p:guideLst>
        <p:guide orient="horz" pos="2160"/>
        <p:guide pos="3840"/>
      </p:guideLst>
    </p:cSldViewPr>
  </p:slideViewPr>
  <p:notesTextViewPr>
    <p:cViewPr>
      <p:scale>
        <a:sx n="150" d="100"/>
        <a:sy n="150" d="100"/>
      </p:scale>
      <p:origin x="0" y="0"/>
    </p:cViewPr>
  </p:notesTextViewPr>
  <p:notesViewPr>
    <p:cSldViewPr>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和之 林出" userId="6e20580fea39221b" providerId="LiveId" clId="{DF60B98D-BEE5-40E1-A35B-258C1B02AB27}"/>
    <pc:docChg chg="undo redo custSel addSld delSld modSld sldOrd addSection modSection">
      <pc:chgData name="和之 林出" userId="6e20580fea39221b" providerId="LiveId" clId="{DF60B98D-BEE5-40E1-A35B-258C1B02AB27}" dt="2026-10-10T08:02:17.069" v="32209" actId="20577"/>
      <pc:docMkLst>
        <pc:docMk/>
      </pc:docMkLst>
      <pc:sldChg chg="modSp mod modNotesTx">
        <pc:chgData name="和之 林出" userId="6e20580fea39221b" providerId="LiveId" clId="{DF60B98D-BEE5-40E1-A35B-258C1B02AB27}" dt="2026-10-10T08:02:17.069" v="32209" actId="20577"/>
        <pc:sldMkLst>
          <pc:docMk/>
          <pc:sldMk cId="717650328" sldId="271"/>
        </pc:sldMkLst>
        <pc:spChg chg="mod">
          <ac:chgData name="和之 林出" userId="6e20580fea39221b" providerId="LiveId" clId="{DF60B98D-BEE5-40E1-A35B-258C1B02AB27}" dt="2026-10-10T07:56:50.182" v="31590" actId="1076"/>
          <ac:spMkLst>
            <pc:docMk/>
            <pc:sldMk cId="717650328" sldId="271"/>
            <ac:spMk id="12" creationId="{DC4990B8-4C52-E629-E943-2C84FCDC5CC1}"/>
          </ac:spMkLst>
        </pc:spChg>
        <pc:spChg chg="mod">
          <ac:chgData name="和之 林出" userId="6e20580fea39221b" providerId="LiveId" clId="{DF60B98D-BEE5-40E1-A35B-258C1B02AB27}" dt="2026-10-10T07:56:58.928" v="31591" actId="1076"/>
          <ac:spMkLst>
            <pc:docMk/>
            <pc:sldMk cId="717650328" sldId="271"/>
            <ac:spMk id="36" creationId="{8F34825F-AAC9-9FAE-EB71-FF65FF25E581}"/>
          </ac:spMkLst>
        </pc:spChg>
      </pc:sldChg>
      <pc:sldChg chg="modSp add mod">
        <pc:chgData name="和之 林出" userId="6e20580fea39221b" providerId="LiveId" clId="{DF60B98D-BEE5-40E1-A35B-258C1B02AB27}" dt="2026-10-10T04:01:16.931" v="28798" actId="20577"/>
        <pc:sldMkLst>
          <pc:docMk/>
          <pc:sldMk cId="2340059081" sldId="294"/>
        </pc:sldMkLst>
        <pc:spChg chg="mod">
          <ac:chgData name="和之 林出" userId="6e20580fea39221b" providerId="LiveId" clId="{DF60B98D-BEE5-40E1-A35B-258C1B02AB27}" dt="2026-10-04T07:47:30.345" v="19951" actId="20577"/>
          <ac:spMkLst>
            <pc:docMk/>
            <pc:sldMk cId="2340059081" sldId="294"/>
            <ac:spMk id="2" creationId="{3960A5B5-BA9D-23CF-E6F0-434E1061BD8F}"/>
          </ac:spMkLst>
        </pc:spChg>
        <pc:spChg chg="mod">
          <ac:chgData name="和之 林出" userId="6e20580fea39221b" providerId="LiveId" clId="{DF60B98D-BEE5-40E1-A35B-258C1B02AB27}" dt="2026-10-10T04:01:16.931" v="28798" actId="20577"/>
          <ac:spMkLst>
            <pc:docMk/>
            <pc:sldMk cId="2340059081" sldId="294"/>
            <ac:spMk id="4" creationId="{48375FA5-0D4B-D662-6ECD-A387F918DCE6}"/>
          </ac:spMkLst>
        </pc:spChg>
      </pc:sldChg>
      <pc:sldChg chg="modSp new mod">
        <pc:chgData name="和之 林出" userId="6e20580fea39221b" providerId="LiveId" clId="{DF60B98D-BEE5-40E1-A35B-258C1B02AB27}" dt="2026-10-04T07:49:10.211" v="20175" actId="20577"/>
        <pc:sldMkLst>
          <pc:docMk/>
          <pc:sldMk cId="3651066618" sldId="295"/>
        </pc:sldMkLst>
        <pc:spChg chg="mod">
          <ac:chgData name="和之 林出" userId="6e20580fea39221b" providerId="LiveId" clId="{DF60B98D-BEE5-40E1-A35B-258C1B02AB27}" dt="2026-10-04T07:48:02.608" v="20010" actId="20577"/>
          <ac:spMkLst>
            <pc:docMk/>
            <pc:sldMk cId="3651066618" sldId="295"/>
            <ac:spMk id="2" creationId="{889EDA8C-DEBB-838F-850C-86C7F649C536}"/>
          </ac:spMkLst>
        </pc:spChg>
        <pc:spChg chg="mod">
          <ac:chgData name="和之 林出" userId="6e20580fea39221b" providerId="LiveId" clId="{DF60B98D-BEE5-40E1-A35B-258C1B02AB27}" dt="2026-10-04T07:49:10.211" v="20175" actId="20577"/>
          <ac:spMkLst>
            <pc:docMk/>
            <pc:sldMk cId="3651066618" sldId="295"/>
            <ac:spMk id="3" creationId="{4E069FA4-5908-E6AD-F6DD-58638BE848A4}"/>
          </ac:spMkLst>
        </pc:spChg>
      </pc:sldChg>
      <pc:sldChg chg="modSp new mod">
        <pc:chgData name="和之 林出" userId="6e20580fea39221b" providerId="LiveId" clId="{DF60B98D-BEE5-40E1-A35B-258C1B02AB27}" dt="2026-10-10T02:01:19.546" v="27409" actId="20577"/>
        <pc:sldMkLst>
          <pc:docMk/>
          <pc:sldMk cId="3678741594" sldId="296"/>
        </pc:sldMkLst>
        <pc:spChg chg="mod">
          <ac:chgData name="和之 林出" userId="6e20580fea39221b" providerId="LiveId" clId="{DF60B98D-BEE5-40E1-A35B-258C1B02AB27}" dt="2026-10-04T07:49:20.480" v="20212" actId="20577"/>
          <ac:spMkLst>
            <pc:docMk/>
            <pc:sldMk cId="3678741594" sldId="296"/>
            <ac:spMk id="2" creationId="{A65FDE5A-179A-960E-D80F-DBE88FA6896F}"/>
          </ac:spMkLst>
        </pc:spChg>
        <pc:spChg chg="mod">
          <ac:chgData name="和之 林出" userId="6e20580fea39221b" providerId="LiveId" clId="{DF60B98D-BEE5-40E1-A35B-258C1B02AB27}" dt="2026-10-10T02:01:19.546" v="27409" actId="20577"/>
          <ac:spMkLst>
            <pc:docMk/>
            <pc:sldMk cId="3678741594" sldId="296"/>
            <ac:spMk id="3" creationId="{8E126590-3591-D230-16AC-A8915664FE07}"/>
          </ac:spMkLst>
        </pc:spChg>
      </pc:sldChg>
      <pc:sldChg chg="addSp modSp new mod">
        <pc:chgData name="和之 林出" userId="6e20580fea39221b" providerId="LiveId" clId="{DF60B98D-BEE5-40E1-A35B-258C1B02AB27}" dt="2026-10-10T02:16:47.920" v="27712" actId="20577"/>
        <pc:sldMkLst>
          <pc:docMk/>
          <pc:sldMk cId="1460231832" sldId="297"/>
        </pc:sldMkLst>
        <pc:spChg chg="mod">
          <ac:chgData name="和之 林出" userId="6e20580fea39221b" providerId="LiveId" clId="{DF60B98D-BEE5-40E1-A35B-258C1B02AB27}" dt="2026-10-04T07:49:26.702" v="20234" actId="20577"/>
          <ac:spMkLst>
            <pc:docMk/>
            <pc:sldMk cId="1460231832" sldId="297"/>
            <ac:spMk id="2" creationId="{0B10ADFA-A3DD-E550-DCA4-E5CCC91B53A7}"/>
          </ac:spMkLst>
        </pc:spChg>
        <pc:spChg chg="mod">
          <ac:chgData name="和之 林出" userId="6e20580fea39221b" providerId="LiveId" clId="{DF60B98D-BEE5-40E1-A35B-258C1B02AB27}" dt="2026-10-04T07:50:53.804" v="20472" actId="15"/>
          <ac:spMkLst>
            <pc:docMk/>
            <pc:sldMk cId="1460231832" sldId="297"/>
            <ac:spMk id="3" creationId="{B55E1247-0870-5139-BABA-B8883DC22F04}"/>
          </ac:spMkLst>
        </pc:spChg>
        <pc:spChg chg="add mod">
          <ac:chgData name="和之 林出" userId="6e20580fea39221b" providerId="LiveId" clId="{DF60B98D-BEE5-40E1-A35B-258C1B02AB27}" dt="2026-10-10T02:16:47.920" v="27712" actId="20577"/>
          <ac:spMkLst>
            <pc:docMk/>
            <pc:sldMk cId="1460231832" sldId="297"/>
            <ac:spMk id="8" creationId="{00E964A4-8FA6-3060-D6C7-D38ADC3847D0}"/>
          </ac:spMkLst>
        </pc:spChg>
        <pc:graphicFrameChg chg="add mod modGraphic">
          <ac:chgData name="和之 林出" userId="6e20580fea39221b" providerId="LiveId" clId="{DF60B98D-BEE5-40E1-A35B-258C1B02AB27}" dt="2026-10-10T02:10:59.929" v="27442" actId="1035"/>
          <ac:graphicFrameMkLst>
            <pc:docMk/>
            <pc:sldMk cId="1460231832" sldId="297"/>
            <ac:graphicFrameMk id="7" creationId="{B8ED9F9E-9095-FB0D-FAE3-E83BCCB87EF0}"/>
          </ac:graphicFrameMkLst>
        </pc:graphicFrameChg>
      </pc:sldChg>
      <pc:sldChg chg="addSp delSp modSp new mod">
        <pc:chgData name="和之 林出" userId="6e20580fea39221b" providerId="LiveId" clId="{DF60B98D-BEE5-40E1-A35B-258C1B02AB27}" dt="2026-10-10T04:03:05.295" v="28865" actId="13926"/>
        <pc:sldMkLst>
          <pc:docMk/>
          <pc:sldMk cId="815410082" sldId="298"/>
        </pc:sldMkLst>
        <pc:spChg chg="mod">
          <ac:chgData name="和之 林出" userId="6e20580fea39221b" providerId="LiveId" clId="{DF60B98D-BEE5-40E1-A35B-258C1B02AB27}" dt="2026-10-04T08:22:09.510" v="22740" actId="20577"/>
          <ac:spMkLst>
            <pc:docMk/>
            <pc:sldMk cId="815410082" sldId="298"/>
            <ac:spMk id="2" creationId="{9CB1F798-307B-7092-E693-3E6A80D4B751}"/>
          </ac:spMkLst>
        </pc:spChg>
        <pc:spChg chg="mod">
          <ac:chgData name="和之 林出" userId="6e20580fea39221b" providerId="LiveId" clId="{DF60B98D-BEE5-40E1-A35B-258C1B02AB27}" dt="2026-10-10T04:03:05.295" v="28865" actId="13926"/>
          <ac:spMkLst>
            <pc:docMk/>
            <pc:sldMk cId="815410082" sldId="298"/>
            <ac:spMk id="3" creationId="{ECD14F37-8C3E-70E4-6F3B-B35822077D4E}"/>
          </ac:spMkLst>
        </pc:spChg>
        <pc:spChg chg="add del mod">
          <ac:chgData name="和之 林出" userId="6e20580fea39221b" providerId="LiveId" clId="{DF60B98D-BEE5-40E1-A35B-258C1B02AB27}" dt="2026-10-10T02:28:22.080" v="27806" actId="478"/>
          <ac:spMkLst>
            <pc:docMk/>
            <pc:sldMk cId="815410082" sldId="298"/>
            <ac:spMk id="7" creationId="{80CC1120-D54A-9E63-F886-4A26A030497F}"/>
          </ac:spMkLst>
        </pc:spChg>
        <pc:spChg chg="add mod">
          <ac:chgData name="和之 林出" userId="6e20580fea39221b" providerId="LiveId" clId="{DF60B98D-BEE5-40E1-A35B-258C1B02AB27}" dt="2026-10-04T08:22:07.004" v="22737" actId="1076"/>
          <ac:spMkLst>
            <pc:docMk/>
            <pc:sldMk cId="815410082" sldId="298"/>
            <ac:spMk id="8" creationId="{8952DEEC-3BDD-39FC-A089-52B26E1A0515}"/>
          </ac:spMkLst>
        </pc:spChg>
        <pc:spChg chg="add mod">
          <ac:chgData name="和之 林出" userId="6e20580fea39221b" providerId="LiveId" clId="{DF60B98D-BEE5-40E1-A35B-258C1B02AB27}" dt="2026-10-10T02:26:46.530" v="27739" actId="113"/>
          <ac:spMkLst>
            <pc:docMk/>
            <pc:sldMk cId="815410082" sldId="298"/>
            <ac:spMk id="9" creationId="{D84E73FB-7C3B-1E00-17DC-84B08DF50FA1}"/>
          </ac:spMkLst>
        </pc:spChg>
        <pc:spChg chg="add mod">
          <ac:chgData name="和之 林出" userId="6e20580fea39221b" providerId="LiveId" clId="{DF60B98D-BEE5-40E1-A35B-258C1B02AB27}" dt="2026-10-04T08:17:07.448" v="22672" actId="14100"/>
          <ac:spMkLst>
            <pc:docMk/>
            <pc:sldMk cId="815410082" sldId="298"/>
            <ac:spMk id="10" creationId="{2BC289D8-1136-A7A3-A5C3-B5EB58E78A93}"/>
          </ac:spMkLst>
        </pc:spChg>
        <pc:spChg chg="add mod">
          <ac:chgData name="和之 林出" userId="6e20580fea39221b" providerId="LiveId" clId="{DF60B98D-BEE5-40E1-A35B-258C1B02AB27}" dt="2026-10-10T02:26:46.530" v="27739" actId="113"/>
          <ac:spMkLst>
            <pc:docMk/>
            <pc:sldMk cId="815410082" sldId="298"/>
            <ac:spMk id="11" creationId="{A748DCEB-F042-60EE-78B1-7509FB79C55C}"/>
          </ac:spMkLst>
        </pc:spChg>
        <pc:spChg chg="add mod">
          <ac:chgData name="和之 林出" userId="6e20580fea39221b" providerId="LiveId" clId="{DF60B98D-BEE5-40E1-A35B-258C1B02AB27}" dt="2026-10-04T08:22:07.004" v="22737" actId="1076"/>
          <ac:spMkLst>
            <pc:docMk/>
            <pc:sldMk cId="815410082" sldId="298"/>
            <ac:spMk id="13" creationId="{AF8ED4FB-A98D-4BB0-7754-3E44C53B1DA8}"/>
          </ac:spMkLst>
        </pc:spChg>
        <pc:spChg chg="add mod ord">
          <ac:chgData name="和之 林出" userId="6e20580fea39221b" providerId="LiveId" clId="{DF60B98D-BEE5-40E1-A35B-258C1B02AB27}" dt="2026-10-04T08:22:07.004" v="22737" actId="1076"/>
          <ac:spMkLst>
            <pc:docMk/>
            <pc:sldMk cId="815410082" sldId="298"/>
            <ac:spMk id="27" creationId="{032B39A2-45DF-E3E0-7006-41B275F0E432}"/>
          </ac:spMkLst>
        </pc:spChg>
        <pc:spChg chg="add mod ord">
          <ac:chgData name="和之 林出" userId="6e20580fea39221b" providerId="LiveId" clId="{DF60B98D-BEE5-40E1-A35B-258C1B02AB27}" dt="2026-10-10T02:17:32.713" v="27716" actId="207"/>
          <ac:spMkLst>
            <pc:docMk/>
            <pc:sldMk cId="815410082" sldId="298"/>
            <ac:spMk id="28" creationId="{E71610C1-F591-48B9-6273-AA91A51D52FA}"/>
          </ac:spMkLst>
        </pc:spChg>
        <pc:spChg chg="add mod">
          <ac:chgData name="和之 林出" userId="6e20580fea39221b" providerId="LiveId" clId="{DF60B98D-BEE5-40E1-A35B-258C1B02AB27}" dt="2026-10-04T08:22:07.004" v="22737" actId="1076"/>
          <ac:spMkLst>
            <pc:docMk/>
            <pc:sldMk cId="815410082" sldId="298"/>
            <ac:spMk id="31" creationId="{5463B2DA-B3C2-B674-893C-0D97D239E596}"/>
          </ac:spMkLst>
        </pc:spChg>
        <pc:spChg chg="add mod">
          <ac:chgData name="和之 林出" userId="6e20580fea39221b" providerId="LiveId" clId="{DF60B98D-BEE5-40E1-A35B-258C1B02AB27}" dt="2026-10-04T08:24:24.513" v="22907" actId="113"/>
          <ac:spMkLst>
            <pc:docMk/>
            <pc:sldMk cId="815410082" sldId="298"/>
            <ac:spMk id="83" creationId="{819AFB95-DD47-37FF-716C-203DD5A0C79B}"/>
          </ac:spMkLst>
        </pc:spChg>
        <pc:spChg chg="add mod">
          <ac:chgData name="和之 林出" userId="6e20580fea39221b" providerId="LiveId" clId="{DF60B98D-BEE5-40E1-A35B-258C1B02AB27}" dt="2026-10-10T02:26:43.143" v="27738" actId="113"/>
          <ac:spMkLst>
            <pc:docMk/>
            <pc:sldMk cId="815410082" sldId="298"/>
            <ac:spMk id="92" creationId="{65F508FC-5871-AF0C-1400-152204BF3EFD}"/>
          </ac:spMkLst>
        </pc:spChg>
        <pc:spChg chg="add mod">
          <ac:chgData name="和之 林出" userId="6e20580fea39221b" providerId="LiveId" clId="{DF60B98D-BEE5-40E1-A35B-258C1B02AB27}" dt="2026-10-10T02:26:43.143" v="27738" actId="113"/>
          <ac:spMkLst>
            <pc:docMk/>
            <pc:sldMk cId="815410082" sldId="298"/>
            <ac:spMk id="93" creationId="{6E9E45C0-C69F-98B8-A43F-D46F9B656E5E}"/>
          </ac:spMkLst>
        </pc:spChg>
        <pc:spChg chg="add mod">
          <ac:chgData name="和之 林出" userId="6e20580fea39221b" providerId="LiveId" clId="{DF60B98D-BEE5-40E1-A35B-258C1B02AB27}" dt="2026-10-10T02:26:43.143" v="27738" actId="113"/>
          <ac:spMkLst>
            <pc:docMk/>
            <pc:sldMk cId="815410082" sldId="298"/>
            <ac:spMk id="94" creationId="{547814BF-37D2-2677-DFB8-F9EB6DCEE64B}"/>
          </ac:spMkLst>
        </pc:spChg>
        <pc:spChg chg="add mod">
          <ac:chgData name="和之 林出" userId="6e20580fea39221b" providerId="LiveId" clId="{DF60B98D-BEE5-40E1-A35B-258C1B02AB27}" dt="2026-10-04T08:22:07.004" v="22737" actId="1076"/>
          <ac:spMkLst>
            <pc:docMk/>
            <pc:sldMk cId="815410082" sldId="298"/>
            <ac:spMk id="126" creationId="{189137B9-8F1F-126B-B954-036C481E5680}"/>
          </ac:spMkLst>
        </pc:spChg>
        <pc:spChg chg="add mod">
          <ac:chgData name="和之 林出" userId="6e20580fea39221b" providerId="LiveId" clId="{DF60B98D-BEE5-40E1-A35B-258C1B02AB27}" dt="2026-10-10T02:26:43.143" v="27738" actId="113"/>
          <ac:spMkLst>
            <pc:docMk/>
            <pc:sldMk cId="815410082" sldId="298"/>
            <ac:spMk id="127" creationId="{F7454CCA-BBD8-6E21-0ED8-EFE8A0479008}"/>
          </ac:spMkLst>
        </pc:spChg>
        <pc:spChg chg="add mod">
          <ac:chgData name="和之 林出" userId="6e20580fea39221b" providerId="LiveId" clId="{DF60B98D-BEE5-40E1-A35B-258C1B02AB27}" dt="2026-10-10T02:18:22.726" v="27734" actId="404"/>
          <ac:spMkLst>
            <pc:docMk/>
            <pc:sldMk cId="815410082" sldId="298"/>
            <ac:spMk id="146" creationId="{DC850A7F-5DFE-AD3F-1AC6-CDEB472BE277}"/>
          </ac:spMkLst>
        </pc:spChg>
        <pc:spChg chg="add mod">
          <ac:chgData name="和之 林出" userId="6e20580fea39221b" providerId="LiveId" clId="{DF60B98D-BEE5-40E1-A35B-258C1B02AB27}" dt="2026-10-10T02:18:22.726" v="27734" actId="404"/>
          <ac:spMkLst>
            <pc:docMk/>
            <pc:sldMk cId="815410082" sldId="298"/>
            <ac:spMk id="149" creationId="{9D624FB2-0D8F-0BFE-48BA-7D79FE0B9AA0}"/>
          </ac:spMkLst>
        </pc:spChg>
        <pc:spChg chg="add mod">
          <ac:chgData name="和之 林出" userId="6e20580fea39221b" providerId="LiveId" clId="{DF60B98D-BEE5-40E1-A35B-258C1B02AB27}" dt="2026-10-10T02:18:22.726" v="27734" actId="404"/>
          <ac:spMkLst>
            <pc:docMk/>
            <pc:sldMk cId="815410082" sldId="298"/>
            <ac:spMk id="150" creationId="{D7A41819-2703-7C08-B5A1-ECBAC5138704}"/>
          </ac:spMkLst>
        </pc:spChg>
        <pc:spChg chg="add mod">
          <ac:chgData name="和之 林出" userId="6e20580fea39221b" providerId="LiveId" clId="{DF60B98D-BEE5-40E1-A35B-258C1B02AB27}" dt="2026-10-10T02:18:03.385" v="27719" actId="14100"/>
          <ac:spMkLst>
            <pc:docMk/>
            <pc:sldMk cId="815410082" sldId="298"/>
            <ac:spMk id="165" creationId="{60DAE819-0EB6-ED56-77A8-1D4D198E289F}"/>
          </ac:spMkLst>
        </pc:spChg>
        <pc:spChg chg="add mod">
          <ac:chgData name="和之 林出" userId="6e20580fea39221b" providerId="LiveId" clId="{DF60B98D-BEE5-40E1-A35B-258C1B02AB27}" dt="2026-10-10T02:32:33.268" v="28116" actId="20577"/>
          <ac:spMkLst>
            <pc:docMk/>
            <pc:sldMk cId="815410082" sldId="298"/>
            <ac:spMk id="166" creationId="{CB3ECF7A-6AA7-8107-B892-A90F199185D2}"/>
          </ac:spMkLst>
        </pc:spChg>
        <pc:grpChg chg="add mod">
          <ac:chgData name="和之 林出" userId="6e20580fea39221b" providerId="LiveId" clId="{DF60B98D-BEE5-40E1-A35B-258C1B02AB27}" dt="2026-10-10T02:18:42.094" v="27737" actId="14100"/>
          <ac:grpSpMkLst>
            <pc:docMk/>
            <pc:sldMk cId="815410082" sldId="298"/>
            <ac:grpSpMk id="12" creationId="{FF8E83AC-F182-5BF9-C062-2200BA62B0D6}"/>
          </ac:grpSpMkLst>
        </pc:grpChg>
        <pc:cxnChg chg="add del mod">
          <ac:chgData name="和之 林出" userId="6e20580fea39221b" providerId="LiveId" clId="{DF60B98D-BEE5-40E1-A35B-258C1B02AB27}" dt="2026-10-10T02:27:05.862" v="27742" actId="478"/>
          <ac:cxnSpMkLst>
            <pc:docMk/>
            <pc:sldMk cId="815410082" sldId="298"/>
            <ac:cxnSpMk id="15" creationId="{262B964A-1EBE-BB0C-0172-BD39BF8D9844}"/>
          </ac:cxnSpMkLst>
        </pc:cxnChg>
        <pc:cxnChg chg="add mod">
          <ac:chgData name="和之 林出" userId="6e20580fea39221b" providerId="LiveId" clId="{DF60B98D-BEE5-40E1-A35B-258C1B02AB27}" dt="2026-10-04T08:17:39.429" v="22683" actId="14100"/>
          <ac:cxnSpMkLst>
            <pc:docMk/>
            <pc:sldMk cId="815410082" sldId="298"/>
            <ac:cxnSpMk id="17" creationId="{905D5981-CC67-119F-8349-12FED766BD9E}"/>
          </ac:cxnSpMkLst>
        </pc:cxnChg>
        <pc:cxnChg chg="add mod">
          <ac:chgData name="和之 林出" userId="6e20580fea39221b" providerId="LiveId" clId="{DF60B98D-BEE5-40E1-A35B-258C1B02AB27}" dt="2026-10-10T02:27:38.750" v="27746" actId="1582"/>
          <ac:cxnSpMkLst>
            <pc:docMk/>
            <pc:sldMk cId="815410082" sldId="298"/>
            <ac:cxnSpMk id="18" creationId="{D236162A-373F-A4D6-2FFC-5DD70696EF73}"/>
          </ac:cxnSpMkLst>
        </pc:cxnChg>
        <pc:cxnChg chg="add del mod">
          <ac:chgData name="和之 林出" userId="6e20580fea39221b" providerId="LiveId" clId="{DF60B98D-BEE5-40E1-A35B-258C1B02AB27}" dt="2026-10-04T08:20:51.865" v="22732" actId="14100"/>
          <ac:cxnSpMkLst>
            <pc:docMk/>
            <pc:sldMk cId="815410082" sldId="298"/>
            <ac:cxnSpMk id="45" creationId="{E6E88170-C03B-1363-0A65-33301A32E93C}"/>
          </ac:cxnSpMkLst>
        </pc:cxnChg>
        <pc:cxnChg chg="add del mod">
          <ac:chgData name="和之 林出" userId="6e20580fea39221b" providerId="LiveId" clId="{DF60B98D-BEE5-40E1-A35B-258C1B02AB27}" dt="2026-10-04T08:19:48.899" v="22718" actId="14100"/>
          <ac:cxnSpMkLst>
            <pc:docMk/>
            <pc:sldMk cId="815410082" sldId="298"/>
            <ac:cxnSpMk id="46" creationId="{A338F39B-98B1-4317-D32A-EC0632E0F950}"/>
          </ac:cxnSpMkLst>
        </pc:cxnChg>
        <pc:cxnChg chg="add mod">
          <ac:chgData name="和之 林出" userId="6e20580fea39221b" providerId="LiveId" clId="{DF60B98D-BEE5-40E1-A35B-258C1B02AB27}" dt="2026-10-04T08:20:51.865" v="22732" actId="14100"/>
          <ac:cxnSpMkLst>
            <pc:docMk/>
            <pc:sldMk cId="815410082" sldId="298"/>
            <ac:cxnSpMk id="70" creationId="{CC247711-440A-E9C2-6E56-39B891F4E041}"/>
          </ac:cxnSpMkLst>
        </pc:cxnChg>
        <pc:cxnChg chg="add del mod">
          <ac:chgData name="和之 林出" userId="6e20580fea39221b" providerId="LiveId" clId="{DF60B98D-BEE5-40E1-A35B-258C1B02AB27}" dt="2026-10-04T08:19:40.806" v="22715" actId="14100"/>
          <ac:cxnSpMkLst>
            <pc:docMk/>
            <pc:sldMk cId="815410082" sldId="298"/>
            <ac:cxnSpMk id="73" creationId="{A45941B9-285F-C363-062D-982836457810}"/>
          </ac:cxnSpMkLst>
        </pc:cxnChg>
        <pc:cxnChg chg="add mod">
          <ac:chgData name="和之 林出" userId="6e20580fea39221b" providerId="LiveId" clId="{DF60B98D-BEE5-40E1-A35B-258C1B02AB27}" dt="2026-10-04T08:16:58.628" v="22670" actId="1076"/>
          <ac:cxnSpMkLst>
            <pc:docMk/>
            <pc:sldMk cId="815410082" sldId="298"/>
            <ac:cxnSpMk id="86" creationId="{90A9FC98-BA88-C8C1-5340-DFB5B5A65C9D}"/>
          </ac:cxnSpMkLst>
        </pc:cxnChg>
        <pc:cxnChg chg="add mod">
          <ac:chgData name="和之 林出" userId="6e20580fea39221b" providerId="LiveId" clId="{DF60B98D-BEE5-40E1-A35B-258C1B02AB27}" dt="2026-10-04T08:17:43.997" v="22686" actId="14100"/>
          <ac:cxnSpMkLst>
            <pc:docMk/>
            <pc:sldMk cId="815410082" sldId="298"/>
            <ac:cxnSpMk id="103" creationId="{3B16342D-CA68-174D-F03B-AC77F85AF415}"/>
          </ac:cxnSpMkLst>
        </pc:cxnChg>
        <pc:cxnChg chg="add mod">
          <ac:chgData name="和之 林出" userId="6e20580fea39221b" providerId="LiveId" clId="{DF60B98D-BEE5-40E1-A35B-258C1B02AB27}" dt="2026-10-04T08:17:47.835" v="22689" actId="14100"/>
          <ac:cxnSpMkLst>
            <pc:docMk/>
            <pc:sldMk cId="815410082" sldId="298"/>
            <ac:cxnSpMk id="106" creationId="{87BB01BD-F02D-4BF3-2431-676D1717D227}"/>
          </ac:cxnSpMkLst>
        </pc:cxnChg>
        <pc:cxnChg chg="add mod">
          <ac:chgData name="和之 林出" userId="6e20580fea39221b" providerId="LiveId" clId="{DF60B98D-BEE5-40E1-A35B-258C1B02AB27}" dt="2026-10-04T08:17:55.202" v="22695" actId="14100"/>
          <ac:cxnSpMkLst>
            <pc:docMk/>
            <pc:sldMk cId="815410082" sldId="298"/>
            <ac:cxnSpMk id="112" creationId="{898E1E46-5324-32B7-1139-287AA2E91025}"/>
          </ac:cxnSpMkLst>
        </pc:cxnChg>
        <pc:cxnChg chg="add mod">
          <ac:chgData name="和之 林出" userId="6e20580fea39221b" providerId="LiveId" clId="{DF60B98D-BEE5-40E1-A35B-258C1B02AB27}" dt="2026-10-04T08:18:00.655" v="22699" actId="14100"/>
          <ac:cxnSpMkLst>
            <pc:docMk/>
            <pc:sldMk cId="815410082" sldId="298"/>
            <ac:cxnSpMk id="115" creationId="{98EE9CB2-F5EE-716F-D321-BA734056DCBA}"/>
          </ac:cxnSpMkLst>
        </pc:cxnChg>
        <pc:cxnChg chg="add mod">
          <ac:chgData name="和之 林出" userId="6e20580fea39221b" providerId="LiveId" clId="{DF60B98D-BEE5-40E1-A35B-258C1B02AB27}" dt="2026-10-04T08:18:05.094" v="22702" actId="14100"/>
          <ac:cxnSpMkLst>
            <pc:docMk/>
            <pc:sldMk cId="815410082" sldId="298"/>
            <ac:cxnSpMk id="118" creationId="{A0994187-77AB-44F4-5891-2EBA5C34A99E}"/>
          </ac:cxnSpMkLst>
        </pc:cxnChg>
        <pc:cxnChg chg="add mod">
          <ac:chgData name="和之 林出" userId="6e20580fea39221b" providerId="LiveId" clId="{DF60B98D-BEE5-40E1-A35B-258C1B02AB27}" dt="2026-10-04T08:20:51.865" v="22732" actId="14100"/>
          <ac:cxnSpMkLst>
            <pc:docMk/>
            <pc:sldMk cId="815410082" sldId="298"/>
            <ac:cxnSpMk id="128" creationId="{E8E5DED8-6048-6622-C264-752A8043F78A}"/>
          </ac:cxnSpMkLst>
        </pc:cxnChg>
        <pc:cxnChg chg="add mod">
          <ac:chgData name="和之 林出" userId="6e20580fea39221b" providerId="LiveId" clId="{DF60B98D-BEE5-40E1-A35B-258C1B02AB27}" dt="2026-10-04T08:25:35.902" v="22926" actId="208"/>
          <ac:cxnSpMkLst>
            <pc:docMk/>
            <pc:sldMk cId="815410082" sldId="298"/>
            <ac:cxnSpMk id="152" creationId="{85AE6F19-4FA9-4408-760F-58272CFE62FF}"/>
          </ac:cxnSpMkLst>
        </pc:cxnChg>
        <pc:cxnChg chg="add mod">
          <ac:chgData name="和之 林出" userId="6e20580fea39221b" providerId="LiveId" clId="{DF60B98D-BEE5-40E1-A35B-258C1B02AB27}" dt="2026-10-04T08:25:35.902" v="22926" actId="208"/>
          <ac:cxnSpMkLst>
            <pc:docMk/>
            <pc:sldMk cId="815410082" sldId="298"/>
            <ac:cxnSpMk id="155" creationId="{8FF68D70-AF5F-8228-BCD7-0368100C678D}"/>
          </ac:cxnSpMkLst>
        </pc:cxnChg>
        <pc:cxnChg chg="add mod">
          <ac:chgData name="和之 林出" userId="6e20580fea39221b" providerId="LiveId" clId="{DF60B98D-BEE5-40E1-A35B-258C1B02AB27}" dt="2026-10-04T08:25:35.902" v="22926" actId="208"/>
          <ac:cxnSpMkLst>
            <pc:docMk/>
            <pc:sldMk cId="815410082" sldId="298"/>
            <ac:cxnSpMk id="156" creationId="{EE7373C5-79DF-BA59-5399-F796A5CB8C74}"/>
          </ac:cxnSpMkLst>
        </pc:cxnChg>
        <pc:cxnChg chg="add mod">
          <ac:chgData name="和之 林出" userId="6e20580fea39221b" providerId="LiveId" clId="{DF60B98D-BEE5-40E1-A35B-258C1B02AB27}" dt="2026-10-04T08:25:35.902" v="22926" actId="208"/>
          <ac:cxnSpMkLst>
            <pc:docMk/>
            <pc:sldMk cId="815410082" sldId="298"/>
            <ac:cxnSpMk id="157" creationId="{B4BFE9BB-5B1B-BD75-E6DC-19D05A567053}"/>
          </ac:cxnSpMkLst>
        </pc:cxnChg>
        <pc:cxnChg chg="add mod">
          <ac:chgData name="和之 林出" userId="6e20580fea39221b" providerId="LiveId" clId="{DF60B98D-BEE5-40E1-A35B-258C1B02AB27}" dt="2026-10-04T08:25:59.632" v="22957" actId="1076"/>
          <ac:cxnSpMkLst>
            <pc:docMk/>
            <pc:sldMk cId="815410082" sldId="298"/>
            <ac:cxnSpMk id="158" creationId="{FFC20C13-C7C9-820D-6A03-D35B0F8DDB44}"/>
          </ac:cxnSpMkLst>
        </pc:cxnChg>
        <pc:cxnChg chg="add mod">
          <ac:chgData name="和之 林出" userId="6e20580fea39221b" providerId="LiveId" clId="{DF60B98D-BEE5-40E1-A35B-258C1B02AB27}" dt="2026-10-10T02:31:50.985" v="28037" actId="1076"/>
          <ac:cxnSpMkLst>
            <pc:docMk/>
            <pc:sldMk cId="815410082" sldId="298"/>
            <ac:cxnSpMk id="160" creationId="{E7453945-CC20-662E-A7B9-A7B41F0E8168}"/>
          </ac:cxnSpMkLst>
        </pc:cxnChg>
      </pc:sldChg>
      <pc:sldChg chg="addSp delSp modSp new mod modShow chgLayout">
        <pc:chgData name="和之 林出" userId="6e20580fea39221b" providerId="LiveId" clId="{DF60B98D-BEE5-40E1-A35B-258C1B02AB27}" dt="2026-10-04T09:43:55.163" v="27100" actId="729"/>
        <pc:sldMkLst>
          <pc:docMk/>
          <pc:sldMk cId="4215417204" sldId="299"/>
        </pc:sldMkLst>
        <pc:spChg chg="mod ord">
          <ac:chgData name="和之 林出" userId="6e20580fea39221b" providerId="LiveId" clId="{DF60B98D-BEE5-40E1-A35B-258C1B02AB27}" dt="2026-10-04T08:57:29.768" v="25153" actId="6264"/>
          <ac:spMkLst>
            <pc:docMk/>
            <pc:sldMk cId="4215417204" sldId="299"/>
            <ac:spMk id="2" creationId="{E35C19B1-7D48-A250-E58E-8F578D1E5DD9}"/>
          </ac:spMkLst>
        </pc:spChg>
        <pc:spChg chg="mod ord">
          <ac:chgData name="和之 林出" userId="6e20580fea39221b" providerId="LiveId" clId="{DF60B98D-BEE5-40E1-A35B-258C1B02AB27}" dt="2026-10-04T08:57:29.768" v="25153" actId="6264"/>
          <ac:spMkLst>
            <pc:docMk/>
            <pc:sldMk cId="4215417204" sldId="299"/>
            <ac:spMk id="4" creationId="{FBFE2EFE-D94A-4930-6FDB-A1A7F9464706}"/>
          </ac:spMkLst>
        </pc:spChg>
        <pc:spChg chg="mod ord">
          <ac:chgData name="和之 林出" userId="6e20580fea39221b" providerId="LiveId" clId="{DF60B98D-BEE5-40E1-A35B-258C1B02AB27}" dt="2026-10-04T08:57:29.768" v="25153" actId="6264"/>
          <ac:spMkLst>
            <pc:docMk/>
            <pc:sldMk cId="4215417204" sldId="299"/>
            <ac:spMk id="5" creationId="{582FB240-3A44-5BB9-CA81-80D394255CDA}"/>
          </ac:spMkLst>
        </pc:spChg>
        <pc:spChg chg="mod ord">
          <ac:chgData name="和之 林出" userId="6e20580fea39221b" providerId="LiveId" clId="{DF60B98D-BEE5-40E1-A35B-258C1B02AB27}" dt="2026-10-04T08:57:29.768" v="25153" actId="6264"/>
          <ac:spMkLst>
            <pc:docMk/>
            <pc:sldMk cId="4215417204" sldId="299"/>
            <ac:spMk id="6" creationId="{A042A9A4-454B-2E64-489E-F9C4DD76B8E7}"/>
          </ac:spMkLst>
        </pc:spChg>
        <pc:spChg chg="add mod">
          <ac:chgData name="和之 林出" userId="6e20580fea39221b" providerId="LiveId" clId="{DF60B98D-BEE5-40E1-A35B-258C1B02AB27}" dt="2026-10-04T09:04:46.057" v="25601" actId="15"/>
          <ac:spMkLst>
            <pc:docMk/>
            <pc:sldMk cId="4215417204" sldId="299"/>
            <ac:spMk id="15" creationId="{11829B90-8F37-5756-C50E-5CC796276F8A}"/>
          </ac:spMkLst>
        </pc:spChg>
        <pc:spChg chg="add mod">
          <ac:chgData name="和之 林出" userId="6e20580fea39221b" providerId="LiveId" clId="{DF60B98D-BEE5-40E1-A35B-258C1B02AB27}" dt="2026-10-04T09:40:10.175" v="27047" actId="20577"/>
          <ac:spMkLst>
            <pc:docMk/>
            <pc:sldMk cId="4215417204" sldId="299"/>
            <ac:spMk id="18" creationId="{A32EB6E0-87E2-FF85-8B82-0CBF622E6193}"/>
          </ac:spMkLst>
        </pc:spChg>
        <pc:spChg chg="add mod">
          <ac:chgData name="和之 林出" userId="6e20580fea39221b" providerId="LiveId" clId="{DF60B98D-BEE5-40E1-A35B-258C1B02AB27}" dt="2026-10-04T09:24:05.130" v="26357" actId="403"/>
          <ac:spMkLst>
            <pc:docMk/>
            <pc:sldMk cId="4215417204" sldId="299"/>
            <ac:spMk id="23" creationId="{8059DDB7-A33C-ADF1-ADE9-C14C2C64EA62}"/>
          </ac:spMkLst>
        </pc:spChg>
        <pc:spChg chg="add mod">
          <ac:chgData name="和之 林出" userId="6e20580fea39221b" providerId="LiveId" clId="{DF60B98D-BEE5-40E1-A35B-258C1B02AB27}" dt="2026-10-04T09:30:44.529" v="26680" actId="113"/>
          <ac:spMkLst>
            <pc:docMk/>
            <pc:sldMk cId="4215417204" sldId="299"/>
            <ac:spMk id="24" creationId="{AD436FAD-632C-A4DA-0F9A-704093B18E98}"/>
          </ac:spMkLst>
        </pc:spChg>
        <pc:spChg chg="add mod">
          <ac:chgData name="和之 林出" userId="6e20580fea39221b" providerId="LiveId" clId="{DF60B98D-BEE5-40E1-A35B-258C1B02AB27}" dt="2026-10-04T09:26:43.077" v="26431" actId="14100"/>
          <ac:spMkLst>
            <pc:docMk/>
            <pc:sldMk cId="4215417204" sldId="299"/>
            <ac:spMk id="25" creationId="{70053B38-D10E-DD41-6FE6-445C26E1AA8B}"/>
          </ac:spMkLst>
        </pc:spChg>
        <pc:spChg chg="add mod">
          <ac:chgData name="和之 林出" userId="6e20580fea39221b" providerId="LiveId" clId="{DF60B98D-BEE5-40E1-A35B-258C1B02AB27}" dt="2026-10-04T09:28:25.166" v="26476" actId="207"/>
          <ac:spMkLst>
            <pc:docMk/>
            <pc:sldMk cId="4215417204" sldId="299"/>
            <ac:spMk id="26" creationId="{856738FE-B450-E519-3DA1-6396CF832CE3}"/>
          </ac:spMkLst>
        </pc:spChg>
        <pc:spChg chg="add mod">
          <ac:chgData name="和之 林出" userId="6e20580fea39221b" providerId="LiveId" clId="{DF60B98D-BEE5-40E1-A35B-258C1B02AB27}" dt="2026-10-04T09:29:24.035" v="26542" actId="14100"/>
          <ac:spMkLst>
            <pc:docMk/>
            <pc:sldMk cId="4215417204" sldId="299"/>
            <ac:spMk id="27" creationId="{1D7D7534-7530-AAAB-F266-76BF674CE141}"/>
          </ac:spMkLst>
        </pc:spChg>
        <pc:spChg chg="add mod">
          <ac:chgData name="和之 林出" userId="6e20580fea39221b" providerId="LiveId" clId="{DF60B98D-BEE5-40E1-A35B-258C1B02AB27}" dt="2026-10-04T09:30:07.612" v="26613" actId="1076"/>
          <ac:spMkLst>
            <pc:docMk/>
            <pc:sldMk cId="4215417204" sldId="299"/>
            <ac:spMk id="28" creationId="{4F2CAEE6-113F-2D53-AFFD-3F3E2A2005AD}"/>
          </ac:spMkLst>
        </pc:spChg>
        <pc:spChg chg="add mod">
          <ac:chgData name="和之 林出" userId="6e20580fea39221b" providerId="LiveId" clId="{DF60B98D-BEE5-40E1-A35B-258C1B02AB27}" dt="2026-10-04T09:30:19.471" v="26646" actId="20577"/>
          <ac:spMkLst>
            <pc:docMk/>
            <pc:sldMk cId="4215417204" sldId="299"/>
            <ac:spMk id="29" creationId="{B0E918B9-112E-DE6C-BB04-12BF6FDF2581}"/>
          </ac:spMkLst>
        </pc:spChg>
        <pc:graphicFrameChg chg="add mod modGraphic">
          <ac:chgData name="和之 林出" userId="6e20580fea39221b" providerId="LiveId" clId="{DF60B98D-BEE5-40E1-A35B-258C1B02AB27}" dt="2026-10-04T09:28:07.857" v="26472" actId="5793"/>
          <ac:graphicFrameMkLst>
            <pc:docMk/>
            <pc:sldMk cId="4215417204" sldId="299"/>
            <ac:graphicFrameMk id="22" creationId="{C501C110-BDA0-4FC6-65B0-1B386D26C69C}"/>
          </ac:graphicFrameMkLst>
        </pc:graphicFrameChg>
        <pc:picChg chg="add mod">
          <ac:chgData name="和之 林出" userId="6e20580fea39221b" providerId="LiveId" clId="{DF60B98D-BEE5-40E1-A35B-258C1B02AB27}" dt="2026-10-04T09:05:26.997" v="25605" actId="1076"/>
          <ac:picMkLst>
            <pc:docMk/>
            <pc:sldMk cId="4215417204" sldId="299"/>
            <ac:picMk id="20" creationId="{28D08CFF-E43E-A4BA-B838-A8F660ACA347}"/>
          </ac:picMkLst>
        </pc:picChg>
      </pc:sldChg>
      <pc:sldChg chg="addSp delSp modSp add mod ord">
        <pc:chgData name="和之 林出" userId="6e20580fea39221b" providerId="LiveId" clId="{DF60B98D-BEE5-40E1-A35B-258C1B02AB27}" dt="2026-10-10T07:18:37.253" v="31584"/>
        <pc:sldMkLst>
          <pc:docMk/>
          <pc:sldMk cId="2140070132" sldId="300"/>
        </pc:sldMkLst>
        <pc:spChg chg="mod">
          <ac:chgData name="和之 林出" userId="6e20580fea39221b" providerId="LiveId" clId="{DF60B98D-BEE5-40E1-A35B-258C1B02AB27}" dt="2026-10-10T07:06:02.969" v="31582" actId="20577"/>
          <ac:spMkLst>
            <pc:docMk/>
            <pc:sldMk cId="2140070132" sldId="300"/>
            <ac:spMk id="2" creationId="{F932A81D-17F0-A749-7074-CE69FF9D9D94}"/>
          </ac:spMkLst>
        </pc:spChg>
        <pc:spChg chg="mod">
          <ac:chgData name="和之 林出" userId="6e20580fea39221b" providerId="LiveId" clId="{DF60B98D-BEE5-40E1-A35B-258C1B02AB27}" dt="2026-10-10T04:24:50.731" v="29956" actId="20577"/>
          <ac:spMkLst>
            <pc:docMk/>
            <pc:sldMk cId="2140070132" sldId="300"/>
            <ac:spMk id="3" creationId="{32DB453C-A4BF-C8CE-5C92-F71F060E85C6}"/>
          </ac:spMkLst>
        </pc:spChg>
        <pc:spChg chg="add mod">
          <ac:chgData name="和之 林出" userId="6e20580fea39221b" providerId="LiveId" clId="{DF60B98D-BEE5-40E1-A35B-258C1B02AB27}" dt="2026-10-10T04:23:19.048" v="29758" actId="20577"/>
          <ac:spMkLst>
            <pc:docMk/>
            <pc:sldMk cId="2140070132" sldId="300"/>
            <ac:spMk id="7" creationId="{0DE11608-11BD-858C-6681-A7C311DFFDEB}"/>
          </ac:spMkLst>
        </pc:spChg>
      </pc:sldChg>
      <pc:sldChg chg="addSp modSp new mod modShow">
        <pc:chgData name="和之 林出" userId="6e20580fea39221b" providerId="LiveId" clId="{DF60B98D-BEE5-40E1-A35B-258C1B02AB27}" dt="2026-10-04T09:43:55.163" v="27100" actId="729"/>
        <pc:sldMkLst>
          <pc:docMk/>
          <pc:sldMk cId="1362098400" sldId="301"/>
        </pc:sldMkLst>
        <pc:spChg chg="mod">
          <ac:chgData name="和之 林出" userId="6e20580fea39221b" providerId="LiveId" clId="{DF60B98D-BEE5-40E1-A35B-258C1B02AB27}" dt="2026-10-04T09:38:29.112" v="27015" actId="20577"/>
          <ac:spMkLst>
            <pc:docMk/>
            <pc:sldMk cId="1362098400" sldId="301"/>
            <ac:spMk id="3" creationId="{A6B7E613-9CC7-4353-6003-398C753AD7C9}"/>
          </ac:spMkLst>
        </pc:spChg>
        <pc:spChg chg="add mod">
          <ac:chgData name="和之 林出" userId="6e20580fea39221b" providerId="LiveId" clId="{DF60B98D-BEE5-40E1-A35B-258C1B02AB27}" dt="2026-10-04T09:39:10.442" v="27022"/>
          <ac:spMkLst>
            <pc:docMk/>
            <pc:sldMk cId="1362098400" sldId="301"/>
            <ac:spMk id="9" creationId="{57669457-BF00-3AD9-805D-1A2FB7A7EC24}"/>
          </ac:spMkLst>
        </pc:spChg>
        <pc:spChg chg="add mod">
          <ac:chgData name="和之 林出" userId="6e20580fea39221b" providerId="LiveId" clId="{DF60B98D-BEE5-40E1-A35B-258C1B02AB27}" dt="2026-10-04T09:38:24.175" v="27010" actId="1076"/>
          <ac:spMkLst>
            <pc:docMk/>
            <pc:sldMk cId="1362098400" sldId="301"/>
            <ac:spMk id="10" creationId="{2B4980C1-BA56-BB21-4F48-E5A4434707D1}"/>
          </ac:spMkLst>
        </pc:spChg>
        <pc:spChg chg="add mod">
          <ac:chgData name="和之 林出" userId="6e20580fea39221b" providerId="LiveId" clId="{DF60B98D-BEE5-40E1-A35B-258C1B02AB27}" dt="2026-10-04T09:38:24.175" v="27010" actId="1076"/>
          <ac:spMkLst>
            <pc:docMk/>
            <pc:sldMk cId="1362098400" sldId="301"/>
            <ac:spMk id="11" creationId="{572F351F-E09B-53B6-0AF5-781A003B0540}"/>
          </ac:spMkLst>
        </pc:spChg>
        <pc:graphicFrameChg chg="add mod modGraphic">
          <ac:chgData name="和之 林出" userId="6e20580fea39221b" providerId="LiveId" clId="{DF60B98D-BEE5-40E1-A35B-258C1B02AB27}" dt="2026-10-04T09:38:46.903" v="27016" actId="2164"/>
          <ac:graphicFrameMkLst>
            <pc:docMk/>
            <pc:sldMk cId="1362098400" sldId="301"/>
            <ac:graphicFrameMk id="8" creationId="{ADB9F697-4F04-7D93-353A-5B83CE1A8DD4}"/>
          </ac:graphicFrameMkLst>
        </pc:graphicFrameChg>
      </pc:sldChg>
      <pc:sldChg chg="addSp delSp modSp new mod ord modShow modNotesTx">
        <pc:chgData name="和之 林出" userId="6e20580fea39221b" providerId="LiveId" clId="{DF60B98D-BEE5-40E1-A35B-258C1B02AB27}" dt="2026-10-10T07:05:31.779" v="31552" actId="729"/>
        <pc:sldMkLst>
          <pc:docMk/>
          <pc:sldMk cId="206259540" sldId="302"/>
        </pc:sldMkLst>
        <pc:spChg chg="mod">
          <ac:chgData name="和之 林出" userId="6e20580fea39221b" providerId="LiveId" clId="{DF60B98D-BEE5-40E1-A35B-258C1B02AB27}" dt="2026-10-04T09:41:56.193" v="27062" actId="20577"/>
          <ac:spMkLst>
            <pc:docMk/>
            <pc:sldMk cId="206259540" sldId="302"/>
            <ac:spMk id="2" creationId="{BC5D575B-A0E6-1A8F-BD68-3FD53B2B6BD8}"/>
          </ac:spMkLst>
        </pc:spChg>
        <pc:spChg chg="mod">
          <ac:chgData name="和之 林出" userId="6e20580fea39221b" providerId="LiveId" clId="{DF60B98D-BEE5-40E1-A35B-258C1B02AB27}" dt="2026-10-04T09:43:26.357" v="27097" actId="15"/>
          <ac:spMkLst>
            <pc:docMk/>
            <pc:sldMk cId="206259540" sldId="302"/>
            <ac:spMk id="3" creationId="{88CF72FD-4C6D-BA70-C312-39C96B491698}"/>
          </ac:spMkLst>
        </pc:spChg>
        <pc:spChg chg="add mod">
          <ac:chgData name="和之 林出" userId="6e20580fea39221b" providerId="LiveId" clId="{DF60B98D-BEE5-40E1-A35B-258C1B02AB27}" dt="2026-10-04T09:42:54.751" v="27080" actId="20577"/>
          <ac:spMkLst>
            <pc:docMk/>
            <pc:sldMk cId="206259540" sldId="302"/>
            <ac:spMk id="12" creationId="{726B76D1-0541-08B5-75B8-7ABBB3A343EB}"/>
          </ac:spMkLst>
        </pc:spChg>
        <pc:spChg chg="add mod">
          <ac:chgData name="和之 林出" userId="6e20580fea39221b" providerId="LiveId" clId="{DF60B98D-BEE5-40E1-A35B-258C1B02AB27}" dt="2026-10-04T09:42:02.188" v="27063" actId="1076"/>
          <ac:spMkLst>
            <pc:docMk/>
            <pc:sldMk cId="206259540" sldId="302"/>
            <ac:spMk id="14" creationId="{7A1CB51A-FDE2-456C-FBA8-998A1B83129B}"/>
          </ac:spMkLst>
        </pc:spChg>
        <pc:spChg chg="add mod">
          <ac:chgData name="和之 林出" userId="6e20580fea39221b" providerId="LiveId" clId="{DF60B98D-BEE5-40E1-A35B-258C1B02AB27}" dt="2026-10-04T09:42:02.188" v="27063" actId="1076"/>
          <ac:spMkLst>
            <pc:docMk/>
            <pc:sldMk cId="206259540" sldId="302"/>
            <ac:spMk id="16" creationId="{745D6870-DDCE-5AC6-7E3D-C980B127CA56}"/>
          </ac:spMkLst>
        </pc:spChg>
        <pc:spChg chg="add mod">
          <ac:chgData name="和之 林出" userId="6e20580fea39221b" providerId="LiveId" clId="{DF60B98D-BEE5-40E1-A35B-258C1B02AB27}" dt="2026-10-04T09:42:02.188" v="27063" actId="1076"/>
          <ac:spMkLst>
            <pc:docMk/>
            <pc:sldMk cId="206259540" sldId="302"/>
            <ac:spMk id="18" creationId="{DA55F232-6836-17DC-D7CD-BDA6BB264A8C}"/>
          </ac:spMkLst>
        </pc:spChg>
        <pc:spChg chg="add mod">
          <ac:chgData name="和之 林出" userId="6e20580fea39221b" providerId="LiveId" clId="{DF60B98D-BEE5-40E1-A35B-258C1B02AB27}" dt="2026-10-04T09:42:02.188" v="27063" actId="1076"/>
          <ac:spMkLst>
            <pc:docMk/>
            <pc:sldMk cId="206259540" sldId="302"/>
            <ac:spMk id="20" creationId="{F1E28645-473B-2DE2-0273-54BCF6F3B1A0}"/>
          </ac:spMkLst>
        </pc:spChg>
        <pc:spChg chg="add mod">
          <ac:chgData name="和之 林出" userId="6e20580fea39221b" providerId="LiveId" clId="{DF60B98D-BEE5-40E1-A35B-258C1B02AB27}" dt="2026-10-04T09:42:02.188" v="27063" actId="1076"/>
          <ac:spMkLst>
            <pc:docMk/>
            <pc:sldMk cId="206259540" sldId="302"/>
            <ac:spMk id="22" creationId="{F52FEE58-A3B0-8687-4D05-6895F50BC666}"/>
          </ac:spMkLst>
        </pc:spChg>
        <pc:spChg chg="add mod">
          <ac:chgData name="和之 林出" userId="6e20580fea39221b" providerId="LiveId" clId="{DF60B98D-BEE5-40E1-A35B-258C1B02AB27}" dt="2026-10-04T09:43:44.369" v="27099" actId="207"/>
          <ac:spMkLst>
            <pc:docMk/>
            <pc:sldMk cId="206259540" sldId="302"/>
            <ac:spMk id="24" creationId="{0D496E91-6449-7588-3F7F-2AB332FFE46D}"/>
          </ac:spMkLst>
        </pc:spChg>
        <pc:spChg chg="add mod">
          <ac:chgData name="和之 林出" userId="6e20580fea39221b" providerId="LiveId" clId="{DF60B98D-BEE5-40E1-A35B-258C1B02AB27}" dt="2026-10-04T09:42:39.687" v="27075" actId="1076"/>
          <ac:spMkLst>
            <pc:docMk/>
            <pc:sldMk cId="206259540" sldId="302"/>
            <ac:spMk id="28" creationId="{43C78F9F-6582-EABE-AC20-C6445FCE9AC1}"/>
          </ac:spMkLst>
        </pc:spChg>
        <pc:spChg chg="add mod">
          <ac:chgData name="和之 林出" userId="6e20580fea39221b" providerId="LiveId" clId="{DF60B98D-BEE5-40E1-A35B-258C1B02AB27}" dt="2026-10-04T09:42:39.687" v="27075" actId="1076"/>
          <ac:spMkLst>
            <pc:docMk/>
            <pc:sldMk cId="206259540" sldId="302"/>
            <ac:spMk id="30" creationId="{6A0F3F98-907E-D91C-FEA0-3C3652CE4A01}"/>
          </ac:spMkLst>
        </pc:spChg>
        <pc:spChg chg="add mod">
          <ac:chgData name="和之 林出" userId="6e20580fea39221b" providerId="LiveId" clId="{DF60B98D-BEE5-40E1-A35B-258C1B02AB27}" dt="2026-10-10T02:14:09.550" v="27446" actId="114"/>
          <ac:spMkLst>
            <pc:docMk/>
            <pc:sldMk cId="206259540" sldId="302"/>
            <ac:spMk id="32" creationId="{A2B3C387-A5B1-1213-6769-675406289F76}"/>
          </ac:spMkLst>
        </pc:spChg>
        <pc:graphicFrameChg chg="add mod">
          <ac:chgData name="和之 林出" userId="6e20580fea39221b" providerId="LiveId" clId="{DF60B98D-BEE5-40E1-A35B-258C1B02AB27}" dt="2026-10-04T09:42:02.188" v="27063" actId="1076"/>
          <ac:graphicFrameMkLst>
            <pc:docMk/>
            <pc:sldMk cId="206259540" sldId="302"/>
            <ac:graphicFrameMk id="10" creationId="{BEAFE7E8-FBA2-306B-3030-1CA6B175CCE4}"/>
          </ac:graphicFrameMkLst>
        </pc:graphicFrameChg>
        <pc:graphicFrameChg chg="add mod modGraphic">
          <ac:chgData name="和之 林出" userId="6e20580fea39221b" providerId="LiveId" clId="{DF60B98D-BEE5-40E1-A35B-258C1B02AB27}" dt="2026-10-10T04:34:09.600" v="30531" actId="20577"/>
          <ac:graphicFrameMkLst>
            <pc:docMk/>
            <pc:sldMk cId="206259540" sldId="302"/>
            <ac:graphicFrameMk id="26" creationId="{44133A3C-B043-DADE-C003-29CF3CABC1A1}"/>
          </ac:graphicFrameMkLst>
        </pc:graphicFrameChg>
      </pc:sldChg>
      <pc:sldChg chg="new del">
        <pc:chgData name="和之 林出" userId="6e20580fea39221b" providerId="LiveId" clId="{DF60B98D-BEE5-40E1-A35B-258C1B02AB27}" dt="2026-10-10T02:32:52.036" v="28119" actId="47"/>
        <pc:sldMkLst>
          <pc:docMk/>
          <pc:sldMk cId="772806310" sldId="303"/>
        </pc:sldMkLst>
      </pc:sldChg>
      <pc:sldChg chg="modSp add mod">
        <pc:chgData name="和之 林出" userId="6e20580fea39221b" providerId="LiveId" clId="{DF60B98D-BEE5-40E1-A35B-258C1B02AB27}" dt="2026-10-10T04:13:12.055" v="29688" actId="15"/>
        <pc:sldMkLst>
          <pc:docMk/>
          <pc:sldMk cId="1451744279" sldId="304"/>
        </pc:sldMkLst>
        <pc:spChg chg="mod">
          <ac:chgData name="和之 林出" userId="6e20580fea39221b" providerId="LiveId" clId="{DF60B98D-BEE5-40E1-A35B-258C1B02AB27}" dt="2026-10-10T02:32:56.919" v="28127" actId="20577"/>
          <ac:spMkLst>
            <pc:docMk/>
            <pc:sldMk cId="1451744279" sldId="304"/>
            <ac:spMk id="2" creationId="{FA1D094E-B1E6-8E18-8613-52F927346D72}"/>
          </ac:spMkLst>
        </pc:spChg>
        <pc:spChg chg="mod">
          <ac:chgData name="和之 林出" userId="6e20580fea39221b" providerId="LiveId" clId="{DF60B98D-BEE5-40E1-A35B-258C1B02AB27}" dt="2026-10-10T04:13:12.055" v="29688" actId="15"/>
          <ac:spMkLst>
            <pc:docMk/>
            <pc:sldMk cId="1451744279" sldId="304"/>
            <ac:spMk id="3" creationId="{C382032D-0567-1196-B540-4B59C96B7D57}"/>
          </ac:spMkLst>
        </pc:spChg>
      </pc:sldChg>
      <pc:sldChg chg="addSp delSp modSp add mod">
        <pc:chgData name="和之 林出" userId="6e20580fea39221b" providerId="LiveId" clId="{DF60B98D-BEE5-40E1-A35B-258C1B02AB27}" dt="2026-10-10T04:50:33.003" v="31549" actId="1076"/>
        <pc:sldMkLst>
          <pc:docMk/>
          <pc:sldMk cId="345497030" sldId="305"/>
        </pc:sldMkLst>
        <pc:spChg chg="mod">
          <ac:chgData name="和之 林出" userId="6e20580fea39221b" providerId="LiveId" clId="{DF60B98D-BEE5-40E1-A35B-258C1B02AB27}" dt="2026-10-10T04:32:35.629" v="30519" actId="20577"/>
          <ac:spMkLst>
            <pc:docMk/>
            <pc:sldMk cId="345497030" sldId="305"/>
            <ac:spMk id="2" creationId="{73D7FA19-EC4F-AA4E-D582-670FD30C0442}"/>
          </ac:spMkLst>
        </pc:spChg>
        <pc:spChg chg="mod">
          <ac:chgData name="和之 林出" userId="6e20580fea39221b" providerId="LiveId" clId="{DF60B98D-BEE5-40E1-A35B-258C1B02AB27}" dt="2026-10-10T04:47:55.577" v="31474" actId="27636"/>
          <ac:spMkLst>
            <pc:docMk/>
            <pc:sldMk cId="345497030" sldId="305"/>
            <ac:spMk id="3" creationId="{F503A016-F351-34F1-FD1A-AB9C9E6402D5}"/>
          </ac:spMkLst>
        </pc:spChg>
        <pc:spChg chg="add del mod">
          <ac:chgData name="和之 林出" userId="6e20580fea39221b" providerId="LiveId" clId="{DF60B98D-BEE5-40E1-A35B-258C1B02AB27}" dt="2026-10-10T04:48:29.676" v="31484" actId="478"/>
          <ac:spMkLst>
            <pc:docMk/>
            <pc:sldMk cId="345497030" sldId="305"/>
            <ac:spMk id="8" creationId="{AC60A2DA-5E9B-FE1E-6DAA-5E26AA723C82}"/>
          </ac:spMkLst>
        </pc:spChg>
        <pc:spChg chg="add del mod">
          <ac:chgData name="和之 林出" userId="6e20580fea39221b" providerId="LiveId" clId="{DF60B98D-BEE5-40E1-A35B-258C1B02AB27}" dt="2026-10-10T04:48:28.506" v="31483"/>
          <ac:spMkLst>
            <pc:docMk/>
            <pc:sldMk cId="345497030" sldId="305"/>
            <ac:spMk id="9" creationId="{CE003910-4645-6464-379F-BB79895B83AF}"/>
          </ac:spMkLst>
        </pc:spChg>
        <pc:spChg chg="add mod">
          <ac:chgData name="和之 林出" userId="6e20580fea39221b" providerId="LiveId" clId="{DF60B98D-BEE5-40E1-A35B-258C1B02AB27}" dt="2026-10-10T04:49:34.479" v="31531" actId="1076"/>
          <ac:spMkLst>
            <pc:docMk/>
            <pc:sldMk cId="345497030" sldId="305"/>
            <ac:spMk id="10" creationId="{D52B4B1D-57A1-9617-D07E-40A583EBF17A}"/>
          </ac:spMkLst>
        </pc:spChg>
        <pc:spChg chg="add mod">
          <ac:chgData name="和之 林出" userId="6e20580fea39221b" providerId="LiveId" clId="{DF60B98D-BEE5-40E1-A35B-258C1B02AB27}" dt="2026-10-10T04:49:34.479" v="31531" actId="1076"/>
          <ac:spMkLst>
            <pc:docMk/>
            <pc:sldMk cId="345497030" sldId="305"/>
            <ac:spMk id="11" creationId="{FAF9916F-8C8F-F7E0-439F-21F7264E5963}"/>
          </ac:spMkLst>
        </pc:spChg>
        <pc:spChg chg="add mod">
          <ac:chgData name="和之 林出" userId="6e20580fea39221b" providerId="LiveId" clId="{DF60B98D-BEE5-40E1-A35B-258C1B02AB27}" dt="2026-10-10T04:50:22.749" v="31547" actId="1076"/>
          <ac:spMkLst>
            <pc:docMk/>
            <pc:sldMk cId="345497030" sldId="305"/>
            <ac:spMk id="12" creationId="{4FFCAB40-4B3A-E9FB-A903-06A88686135F}"/>
          </ac:spMkLst>
        </pc:spChg>
        <pc:spChg chg="add mod">
          <ac:chgData name="和之 林出" userId="6e20580fea39221b" providerId="LiveId" clId="{DF60B98D-BEE5-40E1-A35B-258C1B02AB27}" dt="2026-10-10T04:49:16.031" v="31519" actId="113"/>
          <ac:spMkLst>
            <pc:docMk/>
            <pc:sldMk cId="345497030" sldId="305"/>
            <ac:spMk id="13" creationId="{836286B0-4F7A-0CC2-7DC9-01B8BC970F05}"/>
          </ac:spMkLst>
        </pc:spChg>
        <pc:spChg chg="add mod">
          <ac:chgData name="和之 林出" userId="6e20580fea39221b" providerId="LiveId" clId="{DF60B98D-BEE5-40E1-A35B-258C1B02AB27}" dt="2026-10-10T04:50:12.660" v="31546" actId="208"/>
          <ac:spMkLst>
            <pc:docMk/>
            <pc:sldMk cId="345497030" sldId="305"/>
            <ac:spMk id="14" creationId="{7F1BFF83-15BD-A527-DBE5-EEF2BB1B6D0B}"/>
          </ac:spMkLst>
        </pc:spChg>
        <pc:spChg chg="add mod ord">
          <ac:chgData name="和之 林出" userId="6e20580fea39221b" providerId="LiveId" clId="{DF60B98D-BEE5-40E1-A35B-258C1B02AB27}" dt="2026-10-10T04:50:12.660" v="31546" actId="208"/>
          <ac:spMkLst>
            <pc:docMk/>
            <pc:sldMk cId="345497030" sldId="305"/>
            <ac:spMk id="15" creationId="{4E4882B7-B738-1794-8ECC-B9081384174A}"/>
          </ac:spMkLst>
        </pc:spChg>
        <pc:spChg chg="add mod">
          <ac:chgData name="和之 林出" userId="6e20580fea39221b" providerId="LiveId" clId="{DF60B98D-BEE5-40E1-A35B-258C1B02AB27}" dt="2026-10-10T04:50:33.003" v="31549" actId="1076"/>
          <ac:spMkLst>
            <pc:docMk/>
            <pc:sldMk cId="345497030" sldId="305"/>
            <ac:spMk id="16" creationId="{67341C70-DA0F-1AD8-F755-8A2C6F01A095}"/>
          </ac:spMkLst>
        </pc:spChg>
      </pc:sldChg>
      <pc:sldChg chg="modSp add mod">
        <pc:chgData name="和之 林出" userId="6e20580fea39221b" providerId="LiveId" clId="{DF60B98D-BEE5-40E1-A35B-258C1B02AB27}" dt="2026-10-10T04:38:37.681" v="30547" actId="1035"/>
        <pc:sldMkLst>
          <pc:docMk/>
          <pc:sldMk cId="3595859326" sldId="306"/>
        </pc:sldMkLst>
        <pc:spChg chg="mod">
          <ac:chgData name="和之 林出" userId="6e20580fea39221b" providerId="LiveId" clId="{DF60B98D-BEE5-40E1-A35B-258C1B02AB27}" dt="2026-10-10T04:32:56.571" v="30521" actId="20577"/>
          <ac:spMkLst>
            <pc:docMk/>
            <pc:sldMk cId="3595859326" sldId="306"/>
            <ac:spMk id="2" creationId="{92EE0B52-CA9D-191E-5EC0-22541E0E5169}"/>
          </ac:spMkLst>
        </pc:spChg>
        <pc:spChg chg="mod">
          <ac:chgData name="和之 林出" userId="6e20580fea39221b" providerId="LiveId" clId="{DF60B98D-BEE5-40E1-A35B-258C1B02AB27}" dt="2026-10-10T04:37:54.197" v="30534" actId="15"/>
          <ac:spMkLst>
            <pc:docMk/>
            <pc:sldMk cId="3595859326" sldId="306"/>
            <ac:spMk id="3" creationId="{D3C92926-C065-00B0-B4FD-0D2963D4A649}"/>
          </ac:spMkLst>
        </pc:spChg>
        <pc:spChg chg="mod">
          <ac:chgData name="和之 林出" userId="6e20580fea39221b" providerId="LiveId" clId="{DF60B98D-BEE5-40E1-A35B-258C1B02AB27}" dt="2026-10-10T04:38:37.681" v="30547" actId="1035"/>
          <ac:spMkLst>
            <pc:docMk/>
            <pc:sldMk cId="3595859326" sldId="306"/>
            <ac:spMk id="28" creationId="{F9EBF2F0-F865-E056-2339-6B11530771D8}"/>
          </ac:spMkLst>
        </pc:spChg>
        <pc:spChg chg="mod">
          <ac:chgData name="和之 林出" userId="6e20580fea39221b" providerId="LiveId" clId="{DF60B98D-BEE5-40E1-A35B-258C1B02AB27}" dt="2026-10-10T04:38:37.681" v="30547" actId="1035"/>
          <ac:spMkLst>
            <pc:docMk/>
            <pc:sldMk cId="3595859326" sldId="306"/>
            <ac:spMk id="32" creationId="{27DA5F0B-A5B9-A0C5-AC53-37480108A5A0}"/>
          </ac:spMkLst>
        </pc:spChg>
      </pc:sldChg>
      <pc:sldChg chg="add">
        <pc:chgData name="和之 林出" userId="6e20580fea39221b" providerId="LiveId" clId="{DF60B98D-BEE5-40E1-A35B-258C1B02AB27}" dt="2026-10-10T07:54:46.215" v="31585"/>
        <pc:sldMkLst>
          <pc:docMk/>
          <pc:sldMk cId="1883293944" sldId="3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F4F4F286-0393-A79F-B1AC-314572D889F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D19E001E-0D7A-137F-BA20-3F0879FEC50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DEDD8E-B3ED-452E-BE50-EFDF6A89B504}" type="datetimeFigureOut">
              <a:rPr kumimoji="1" lang="ja-JP" altLang="en-US" smtClean="0"/>
              <a:t>2026/10/10</a:t>
            </a:fld>
            <a:endParaRPr kumimoji="1" lang="ja-JP" altLang="en-US"/>
          </a:p>
        </p:txBody>
      </p:sp>
      <p:sp>
        <p:nvSpPr>
          <p:cNvPr id="4" name="フッター プレースホルダー 3">
            <a:extLst>
              <a:ext uri="{FF2B5EF4-FFF2-40B4-BE49-F238E27FC236}">
                <a16:creationId xmlns:a16="http://schemas.microsoft.com/office/drawing/2014/main" id="{88900094-470F-AA36-0217-D55D11A50C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74176369-9C03-E97D-E1CD-CBEE37BF4E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51CD44-A427-4DC4-881F-52F002C96B24}" type="slidenum">
              <a:rPr kumimoji="1" lang="ja-JP" altLang="en-US" smtClean="0"/>
              <a:t>‹#›</a:t>
            </a:fld>
            <a:endParaRPr kumimoji="1" lang="ja-JP" altLang="en-US"/>
          </a:p>
        </p:txBody>
      </p:sp>
    </p:spTree>
    <p:extLst>
      <p:ext uri="{BB962C8B-B14F-4D97-AF65-F5344CB8AC3E}">
        <p14:creationId xmlns:p14="http://schemas.microsoft.com/office/powerpoint/2010/main" val="454320620"/>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29634B-993B-4E0D-942D-146AE32B04C9}" type="datetimeFigureOut">
              <a:rPr kumimoji="1" lang="ja-JP" altLang="en-US" smtClean="0"/>
              <a:t>2026/10/10</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1B5F84-AE87-453A-A11A-BAE23BC0B4F3}" type="slidenum">
              <a:rPr kumimoji="1" lang="ja-JP" altLang="en-US" smtClean="0"/>
              <a:t>‹#›</a:t>
            </a:fld>
            <a:endParaRPr kumimoji="1" lang="ja-JP" altLang="en-US"/>
          </a:p>
        </p:txBody>
      </p:sp>
    </p:spTree>
    <p:extLst>
      <p:ext uri="{BB962C8B-B14F-4D97-AF65-F5344CB8AC3E}">
        <p14:creationId xmlns:p14="http://schemas.microsoft.com/office/powerpoint/2010/main" val="177563104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1C5D8-B025-A4A9-C435-8CDBCADD15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BCD3760-C361-2E04-42D5-E9BA0EEE1A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755BD47-A404-41C0-C5DF-D23ED192C85B}"/>
              </a:ext>
            </a:extLst>
          </p:cNvPr>
          <p:cNvSpPr>
            <a:spLocks noGrp="1"/>
          </p:cNvSpPr>
          <p:nvPr>
            <p:ph type="body" idx="1"/>
          </p:nvPr>
        </p:nvSpPr>
        <p:spPr/>
        <p:txBody>
          <a:bodyPr/>
          <a:lstStyle/>
          <a:p>
            <a:r>
              <a:rPr kumimoji="1" lang="ja-JP" altLang="en-US" dirty="0"/>
              <a:t>この検証を通じて何が明らかになるのか、サマリ文が必要</a:t>
            </a:r>
          </a:p>
        </p:txBody>
      </p:sp>
      <p:sp>
        <p:nvSpPr>
          <p:cNvPr id="4" name="スライド番号プレースホルダー 3">
            <a:extLst>
              <a:ext uri="{FF2B5EF4-FFF2-40B4-BE49-F238E27FC236}">
                <a16:creationId xmlns:a16="http://schemas.microsoft.com/office/drawing/2014/main" id="{84D8AE9C-3901-EB04-F23E-99BDE3277229}"/>
              </a:ext>
            </a:extLst>
          </p:cNvPr>
          <p:cNvSpPr>
            <a:spLocks noGrp="1"/>
          </p:cNvSpPr>
          <p:nvPr>
            <p:ph type="sldNum" sz="quarter" idx="5"/>
          </p:nvPr>
        </p:nvSpPr>
        <p:spPr/>
        <p:txBody>
          <a:bodyPr/>
          <a:lstStyle/>
          <a:p>
            <a:fld id="{C11B5F84-AE87-453A-A11A-BAE23BC0B4F3}" type="slidenum">
              <a:rPr kumimoji="1" lang="ja-JP" altLang="en-US" smtClean="0"/>
              <a:t>7</a:t>
            </a:fld>
            <a:endParaRPr kumimoji="1" lang="ja-JP" altLang="en-US"/>
          </a:p>
        </p:txBody>
      </p:sp>
    </p:spTree>
    <p:extLst>
      <p:ext uri="{BB962C8B-B14F-4D97-AF65-F5344CB8AC3E}">
        <p14:creationId xmlns:p14="http://schemas.microsoft.com/office/powerpoint/2010/main" val="297646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この検証を通じて何が明らかになるのか、サマリ文が必要</a:t>
            </a:r>
          </a:p>
        </p:txBody>
      </p:sp>
      <p:sp>
        <p:nvSpPr>
          <p:cNvPr id="4" name="スライド番号プレースホルダー 3"/>
          <p:cNvSpPr>
            <a:spLocks noGrp="1"/>
          </p:cNvSpPr>
          <p:nvPr>
            <p:ph type="sldNum" sz="quarter" idx="5"/>
          </p:nvPr>
        </p:nvSpPr>
        <p:spPr/>
        <p:txBody>
          <a:bodyPr/>
          <a:lstStyle/>
          <a:p>
            <a:fld id="{C11B5F84-AE87-453A-A11A-BAE23BC0B4F3}" type="slidenum">
              <a:rPr kumimoji="1" lang="ja-JP" altLang="en-US" smtClean="0"/>
              <a:t>10</a:t>
            </a:fld>
            <a:endParaRPr kumimoji="1" lang="ja-JP" altLang="en-US"/>
          </a:p>
        </p:txBody>
      </p:sp>
    </p:spTree>
    <p:extLst>
      <p:ext uri="{BB962C8B-B14F-4D97-AF65-F5344CB8AC3E}">
        <p14:creationId xmlns:p14="http://schemas.microsoft.com/office/powerpoint/2010/main" val="3949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lvl="2"/>
            <a:r>
              <a:rPr lang="ja-JP" altLang="en-US" dirty="0"/>
              <a:t>この通知をすることで、スタッフが今の業務でミスを起こさないか？</a:t>
            </a:r>
            <a:endParaRPr lang="en-US" altLang="ja-JP" dirty="0"/>
          </a:p>
          <a:p>
            <a:pPr lvl="2"/>
            <a:r>
              <a:rPr lang="ja-JP" altLang="en-US" dirty="0"/>
              <a:t>この確認は、スタッフではなく、ロボットが代わりに確認・報告すればよいのではないか？　等</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C11B5F84-AE87-453A-A11A-BAE23BC0B4F3}" type="slidenum">
              <a:rPr kumimoji="1" lang="ja-JP" altLang="en-US" smtClean="0"/>
              <a:t>21</a:t>
            </a:fld>
            <a:endParaRPr kumimoji="1" lang="ja-JP" altLang="en-US"/>
          </a:p>
        </p:txBody>
      </p:sp>
    </p:spTree>
    <p:extLst>
      <p:ext uri="{BB962C8B-B14F-4D97-AF65-F5344CB8AC3E}">
        <p14:creationId xmlns:p14="http://schemas.microsoft.com/office/powerpoint/2010/main" val="3775349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事故予防・見守り業務負荷軽減の両立に向けた、</a:t>
            </a:r>
            <a:br>
              <a:rPr lang="en-US" altLang="ja-JP" dirty="0"/>
            </a:br>
            <a:r>
              <a:rPr lang="ja-JP" altLang="en-US" dirty="0"/>
              <a:t>通知やロボット介入が病棟の状態に与える影響を考慮した、</a:t>
            </a:r>
            <a:br>
              <a:rPr lang="en-US" altLang="ja-JP" dirty="0"/>
            </a:br>
            <a:r>
              <a:rPr lang="ja-JP" altLang="en-US" dirty="0"/>
              <a:t>通知方法やロボットの介入の意思決定手法の提案</a:t>
            </a:r>
          </a:p>
          <a:p>
            <a:endParaRPr kumimoji="1" lang="ja-JP" altLang="en-US" dirty="0"/>
          </a:p>
        </p:txBody>
      </p:sp>
      <p:sp>
        <p:nvSpPr>
          <p:cNvPr id="4" name="スライド番号プレースホルダー 3"/>
          <p:cNvSpPr>
            <a:spLocks noGrp="1"/>
          </p:cNvSpPr>
          <p:nvPr>
            <p:ph type="sldNum" sz="quarter" idx="5"/>
          </p:nvPr>
        </p:nvSpPr>
        <p:spPr/>
        <p:txBody>
          <a:bodyPr/>
          <a:lstStyle/>
          <a:p>
            <a:fld id="{C11B5F84-AE87-453A-A11A-BAE23BC0B4F3}" type="slidenum">
              <a:rPr kumimoji="1" lang="ja-JP" altLang="en-US" smtClean="0"/>
              <a:t>22</a:t>
            </a:fld>
            <a:endParaRPr kumimoji="1" lang="ja-JP" altLang="en-US"/>
          </a:p>
        </p:txBody>
      </p:sp>
    </p:spTree>
    <p:extLst>
      <p:ext uri="{BB962C8B-B14F-4D97-AF65-F5344CB8AC3E}">
        <p14:creationId xmlns:p14="http://schemas.microsoft.com/office/powerpoint/2010/main" val="1700707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・データを取る計画（料理方法をちゃんと計画立てて）</a:t>
            </a:r>
            <a:endParaRPr kumimoji="1" lang="en-US" altLang="ja-JP" dirty="0"/>
          </a:p>
          <a:p>
            <a:r>
              <a:rPr kumimoji="1" lang="ja-JP" altLang="en-US" dirty="0"/>
              <a:t>・データを取る時期</a:t>
            </a:r>
            <a:endParaRPr kumimoji="1" lang="en-US" altLang="ja-JP" dirty="0"/>
          </a:p>
          <a:p>
            <a:r>
              <a:rPr kumimoji="1" lang="ja-JP" altLang="en-US" dirty="0"/>
              <a:t>・</a:t>
            </a:r>
            <a:endParaRPr kumimoji="1" lang="en-US" altLang="ja-JP" dirty="0"/>
          </a:p>
          <a:p>
            <a:endParaRPr kumimoji="1" lang="en-US" altLang="ja-JP" dirty="0"/>
          </a:p>
          <a:p>
            <a:r>
              <a:rPr kumimoji="1" lang="ja-JP" altLang="en-US" dirty="0"/>
              <a:t>博士で</a:t>
            </a:r>
            <a:r>
              <a:rPr kumimoji="1" lang="en-US" altLang="ja-JP" dirty="0"/>
              <a:t>2</a:t>
            </a:r>
            <a:r>
              <a:rPr kumimoji="1" lang="ja-JP" altLang="en-US" dirty="0"/>
              <a:t>本書く計画があります＋修論があります＋卒論　が早期修了の</a:t>
            </a:r>
            <a:r>
              <a:rPr kumimoji="1" lang="en-US" altLang="ja-JP" dirty="0"/>
              <a:t>PR</a:t>
            </a:r>
            <a:r>
              <a:rPr kumimoji="1" lang="ja-JP" altLang="en-US" dirty="0"/>
              <a:t>として適切</a:t>
            </a:r>
            <a:endParaRPr kumimoji="1" lang="en-US" altLang="ja-JP" dirty="0"/>
          </a:p>
          <a:p>
            <a:r>
              <a:rPr kumimoji="1" lang="ja-JP" altLang="en-US" dirty="0"/>
              <a:t>➡</a:t>
            </a:r>
            <a:r>
              <a:rPr kumimoji="1" lang="en-US" altLang="ja-JP" dirty="0"/>
              <a:t>2</a:t>
            </a:r>
            <a:r>
              <a:rPr kumimoji="1" lang="ja-JP" altLang="en-US" dirty="0"/>
              <a:t>本書く計画を入学前にきっちり検討しておく（データの取り方・料理方法含めて）</a:t>
            </a:r>
            <a:endParaRPr kumimoji="1" lang="en-US" altLang="ja-JP" dirty="0"/>
          </a:p>
          <a:p>
            <a:endParaRPr kumimoji="1" lang="en-US" altLang="ja-JP" dirty="0"/>
          </a:p>
          <a:p>
            <a:r>
              <a:rPr kumimoji="1" lang="ja-JP" altLang="en-US" dirty="0"/>
              <a:t>➡模擬データを</a:t>
            </a:r>
            <a:r>
              <a:rPr kumimoji="1" lang="en-US" altLang="ja-JP" dirty="0"/>
              <a:t>AI</a:t>
            </a:r>
            <a:r>
              <a:rPr kumimoji="1" lang="ja-JP" altLang="en-US"/>
              <a:t>で作って、論文骨子まで作ってから、模擬データの置き換えをする（模擬データの作り方は論文ベースにする）</a:t>
            </a:r>
            <a:endParaRPr kumimoji="1" lang="ja-JP" altLang="en-US" dirty="0"/>
          </a:p>
        </p:txBody>
      </p:sp>
      <p:sp>
        <p:nvSpPr>
          <p:cNvPr id="4" name="スライド番号プレースホルダー 3"/>
          <p:cNvSpPr>
            <a:spLocks noGrp="1"/>
          </p:cNvSpPr>
          <p:nvPr>
            <p:ph type="sldNum" sz="quarter" idx="5"/>
          </p:nvPr>
        </p:nvSpPr>
        <p:spPr/>
        <p:txBody>
          <a:bodyPr/>
          <a:lstStyle/>
          <a:p>
            <a:fld id="{C11B5F84-AE87-453A-A11A-BAE23BC0B4F3}" type="slidenum">
              <a:rPr kumimoji="1" lang="ja-JP" altLang="en-US" smtClean="0"/>
              <a:t>28</a:t>
            </a:fld>
            <a:endParaRPr kumimoji="1" lang="ja-JP" altLang="en-US"/>
          </a:p>
        </p:txBody>
      </p:sp>
    </p:spTree>
    <p:extLst>
      <p:ext uri="{BB962C8B-B14F-4D97-AF65-F5344CB8AC3E}">
        <p14:creationId xmlns:p14="http://schemas.microsoft.com/office/powerpoint/2010/main" val="3683951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1886972"/>
            <a:ext cx="10363200" cy="1470025"/>
          </a:xfrm>
          <a:effectLst>
            <a:outerShdw blurRad="50800" dist="38100" dir="5400000" algn="t" rotWithShape="0">
              <a:prstClr val="black">
                <a:alpha val="40000"/>
              </a:prstClr>
            </a:outerShdw>
          </a:effectLst>
        </p:spPr>
        <p:txBody>
          <a:bodyPr/>
          <a:lstStyle>
            <a:lvl1pPr>
              <a:defRPr lang="ja-JP" altLang="en-US" dirty="0"/>
            </a:lvl1pPr>
          </a:lstStyle>
          <a:p>
            <a:endParaRPr kumimoji="1" lang="ja-JP" altLang="en-US" dirty="0"/>
          </a:p>
        </p:txBody>
      </p:sp>
      <p:sp>
        <p:nvSpPr>
          <p:cNvPr id="3" name="サブタイトル 2"/>
          <p:cNvSpPr>
            <a:spLocks noGrp="1"/>
          </p:cNvSpPr>
          <p:nvPr>
            <p:ph type="subTitle" idx="1"/>
          </p:nvPr>
        </p:nvSpPr>
        <p:spPr>
          <a:xfrm>
            <a:off x="911424" y="4149080"/>
            <a:ext cx="10369152"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kumimoji="1" lang="ja-JP" altLang="en-US" dirty="0"/>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3343365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19336" y="83806"/>
            <a:ext cx="11521280" cy="641716"/>
          </a:xfrm>
        </p:spPr>
        <p:txBody>
          <a:bodyPr>
            <a:noAutofit/>
          </a:bodyPr>
          <a:lstStyle>
            <a:lvl1pPr algn="just">
              <a:defRPr sz="3200">
                <a:latin typeface="+mj-lt"/>
                <a:ea typeface="メイリオ" panose="020B0604030504040204" pitchFamily="50" charset="-128"/>
              </a:defRPr>
            </a:lvl1pPr>
          </a:lstStyle>
          <a:p>
            <a:r>
              <a:rPr kumimoji="1" lang="ja-JP" altLang="en-US" dirty="0"/>
              <a:t>マスター タイトルの書式設定</a:t>
            </a:r>
          </a:p>
        </p:txBody>
      </p:sp>
      <p:sp>
        <p:nvSpPr>
          <p:cNvPr id="3" name="コンテンツ プレースホルダー 2"/>
          <p:cNvSpPr>
            <a:spLocks noGrp="1"/>
          </p:cNvSpPr>
          <p:nvPr>
            <p:ph idx="1"/>
          </p:nvPr>
        </p:nvSpPr>
        <p:spPr>
          <a:xfrm>
            <a:off x="119336" y="791726"/>
            <a:ext cx="11953328" cy="5661610"/>
          </a:xfrm>
        </p:spPr>
        <p:txBody>
          <a:bodyPr>
            <a:normAutofit/>
          </a:bodyPr>
          <a:lstStyle>
            <a:lvl1pPr marL="342900" indent="-342900">
              <a:buClr>
                <a:srgbClr val="000099"/>
              </a:buClr>
              <a:buSzPct val="90000"/>
              <a:buFont typeface="Wingdings" panose="05000000000000000000" pitchFamily="2" charset="2"/>
              <a:buChar char="n"/>
              <a:defRPr sz="2400">
                <a:solidFill>
                  <a:srgbClr val="002060"/>
                </a:solidFill>
                <a:latin typeface="+mj-lt"/>
                <a:ea typeface="メイリオ" panose="020B0604030504040204" pitchFamily="50" charset="-128"/>
              </a:defRPr>
            </a:lvl1pPr>
            <a:lvl2pPr marL="628650" indent="-269875">
              <a:buClr>
                <a:srgbClr val="A20000"/>
              </a:buClr>
              <a:buSzPct val="95000"/>
              <a:buFont typeface="Wingdings" panose="05000000000000000000" pitchFamily="2" charset="2"/>
              <a:buChar char="Ø"/>
              <a:defRPr sz="2200">
                <a:latin typeface="+mj-lt"/>
                <a:ea typeface="メイリオ" panose="020B0604030504040204" pitchFamily="50" charset="-128"/>
              </a:defRPr>
            </a:lvl2pPr>
            <a:lvl3pPr marL="804863" indent="-176213">
              <a:tabLst>
                <a:tab pos="804863" algn="l"/>
              </a:tabLst>
              <a:defRPr sz="2000">
                <a:latin typeface="+mj-lt"/>
                <a:ea typeface="メイリオ" panose="020B0604030504040204" pitchFamily="50" charset="-128"/>
              </a:defRPr>
            </a:lvl3pPr>
            <a:lvl4pPr marL="987425" indent="-182563">
              <a:defRPr sz="1800">
                <a:latin typeface="+mj-lt"/>
                <a:ea typeface="メイリオ" panose="020B0604030504040204" pitchFamily="50" charset="-128"/>
              </a:defRPr>
            </a:lvl4pPr>
            <a:lvl5pPr>
              <a:defRPr sz="500">
                <a:latin typeface="+mj-lt"/>
                <a:ea typeface="メイリオ"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6" name="タイトル 1"/>
          <p:cNvSpPr txBox="1">
            <a:spLocks/>
          </p:cNvSpPr>
          <p:nvPr userDrawn="1"/>
        </p:nvSpPr>
        <p:spPr>
          <a:xfrm>
            <a:off x="0" y="646982"/>
            <a:ext cx="12192000" cy="45719"/>
          </a:xfrm>
          <a:prstGeom prst="rect">
            <a:avLst/>
          </a:prstGeom>
          <a:gradFill rotWithShape="1">
            <a:gsLst>
              <a:gs pos="0">
                <a:srgbClr val="00008F">
                  <a:shade val="51000"/>
                  <a:satMod val="130000"/>
                </a:srgbClr>
              </a:gs>
              <a:gs pos="80000">
                <a:srgbClr val="00008F">
                  <a:shade val="93000"/>
                  <a:satMod val="130000"/>
                </a:srgbClr>
              </a:gs>
              <a:gs pos="100000">
                <a:srgbClr val="00008F">
                  <a:shade val="94000"/>
                  <a:satMod val="135000"/>
                </a:srgbClr>
              </a:gs>
            </a:gsLst>
            <a:lin ang="16200000" scaled="0"/>
          </a:gradFill>
          <a:ln w="9525" cap="flat" cmpd="sng" algn="ctr">
            <a:noFill/>
            <a:prstDash val="solid"/>
          </a:ln>
          <a:effectLst>
            <a:outerShdw blurRad="40000" dist="23000" dir="5400000" rotWithShape="0">
              <a:srgbClr val="000000">
                <a:alpha val="35000"/>
              </a:srgbClr>
            </a:outerShdw>
          </a:effectLst>
        </p:spPr>
        <p:txBody>
          <a:bodyPr vert="horz" lIns="91440" tIns="45720" rIns="91440" bIns="45720" rtlCol="0" anchor="ctr">
            <a:noAutofit/>
          </a:bodyPr>
          <a:lstStyle>
            <a:lvl1pPr algn="ctr" defTabSz="914400" rtl="0" eaLnBrk="1" latinLnBrk="0" hangingPunct="1">
              <a:spcBef>
                <a:spcPct val="0"/>
              </a:spcBef>
              <a:buNone/>
              <a:defRPr kumimoji="1" sz="4000" kern="1200">
                <a:solidFill>
                  <a:schemeClr val="bg1"/>
                </a:solidFill>
                <a:latin typeface="Arial" pitchFamily="34" charset="0"/>
                <a:ea typeface="+mj-ea"/>
                <a:cs typeface="Arial" pitchFamily="34" charset="0"/>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ja-JP" altLang="en-US" sz="4000" b="0" i="0" u="none" strike="noStrike" kern="1200" cap="none" spc="0" normalizeH="0" baseline="0" noProof="0" dirty="0">
              <a:ln>
                <a:noFill/>
              </a:ln>
              <a:solidFill>
                <a:schemeClr val="bg1"/>
              </a:solidFill>
              <a:effectLst/>
              <a:uLnTx/>
              <a:uFillTx/>
              <a:latin typeface="Arial" pitchFamily="34" charset="0"/>
              <a:ea typeface="ＭＳ Ｐゴシック"/>
              <a:cs typeface="Arial" pitchFamily="34" charset="0"/>
            </a:endParaRPr>
          </a:p>
        </p:txBody>
      </p:sp>
      <p:grpSp>
        <p:nvGrpSpPr>
          <p:cNvPr id="17" name="グループ化 16"/>
          <p:cNvGrpSpPr/>
          <p:nvPr userDrawn="1"/>
        </p:nvGrpSpPr>
        <p:grpSpPr>
          <a:xfrm>
            <a:off x="9481643" y="567736"/>
            <a:ext cx="2710357" cy="45719"/>
            <a:chOff x="6588224" y="6618195"/>
            <a:chExt cx="2555776" cy="99392"/>
          </a:xfrm>
          <a:gradFill>
            <a:gsLst>
              <a:gs pos="0">
                <a:srgbClr val="A20000"/>
              </a:gs>
              <a:gs pos="80000">
                <a:srgbClr val="FF0000"/>
              </a:gs>
              <a:gs pos="100000">
                <a:srgbClr val="FF0000"/>
              </a:gs>
            </a:gsLst>
            <a:lin ang="16200000" scaled="0"/>
          </a:gradFill>
          <a:effectLst>
            <a:outerShdw blurRad="40005" dist="22860" dir="5400000" algn="ctr" rotWithShape="0">
              <a:schemeClr val="tx1">
                <a:alpha val="35000"/>
              </a:schemeClr>
            </a:outerShdw>
          </a:effectLst>
        </p:grpSpPr>
        <p:sp>
          <p:nvSpPr>
            <p:cNvPr id="18" name="平行四辺形 17"/>
            <p:cNvSpPr/>
            <p:nvPr userDrawn="1"/>
          </p:nvSpPr>
          <p:spPr>
            <a:xfrm>
              <a:off x="6588224" y="6618195"/>
              <a:ext cx="683776" cy="99392"/>
            </a:xfrm>
            <a:prstGeom prst="parallelogram">
              <a:avLst>
                <a:gd name="adj" fmla="val 11871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9" name="正方形/長方形 18"/>
            <p:cNvSpPr/>
            <p:nvPr userDrawn="1"/>
          </p:nvSpPr>
          <p:spPr>
            <a:xfrm>
              <a:off x="6732240" y="6618195"/>
              <a:ext cx="2411760" cy="993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pic>
        <p:nvPicPr>
          <p:cNvPr id="13" name="Picture 3" descr="C:\Users\takahashi\Documents\mysite2\image\pen_03.gif">
            <a:extLst>
              <a:ext uri="{FF2B5EF4-FFF2-40B4-BE49-F238E27FC236}">
                <a16:creationId xmlns:a16="http://schemas.microsoft.com/office/drawing/2014/main" id="{EE9E7A06-E601-4367-B553-DAE7F85F46B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78820" y="6605241"/>
            <a:ext cx="213724" cy="21372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Users\takahashi\Documents\mysite2\image\logo_3C.png">
            <a:extLst>
              <a:ext uri="{FF2B5EF4-FFF2-40B4-BE49-F238E27FC236}">
                <a16:creationId xmlns:a16="http://schemas.microsoft.com/office/drawing/2014/main" id="{7698BAEE-4E89-48E9-8F32-0FD2DB13EE2C}"/>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14069" t="17594" b="17315"/>
          <a:stretch/>
        </p:blipFill>
        <p:spPr bwMode="auto">
          <a:xfrm>
            <a:off x="10992544" y="6632245"/>
            <a:ext cx="1129352" cy="159725"/>
          </a:xfrm>
          <a:prstGeom prst="rect">
            <a:avLst/>
          </a:prstGeom>
          <a:noFill/>
          <a:extLst>
            <a:ext uri="{909E8E84-426E-40DD-AFC4-6F175D3DCCD1}">
              <a14:hiddenFill xmlns:a14="http://schemas.microsoft.com/office/drawing/2010/main">
                <a:solidFill>
                  <a:srgbClr val="FFFFFF"/>
                </a:solidFill>
              </a14:hiddenFill>
            </a:ext>
          </a:extLst>
        </p:spPr>
      </p:pic>
      <p:sp>
        <p:nvSpPr>
          <p:cNvPr id="4" name="日付プレースホルダー 3">
            <a:extLst>
              <a:ext uri="{FF2B5EF4-FFF2-40B4-BE49-F238E27FC236}">
                <a16:creationId xmlns:a16="http://schemas.microsoft.com/office/drawing/2014/main" id="{4992C493-7619-E73A-03C6-25B37936C13B}"/>
              </a:ext>
            </a:extLst>
          </p:cNvPr>
          <p:cNvSpPr>
            <a:spLocks noGrp="1"/>
          </p:cNvSpPr>
          <p:nvPr>
            <p:ph type="dt" sz="half" idx="10"/>
          </p:nvPr>
        </p:nvSpPr>
        <p:spPr>
          <a:xfrm>
            <a:off x="-9220" y="6488963"/>
            <a:ext cx="2844800" cy="365125"/>
          </a:xfrm>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0EC8D6E1-4EBF-7CD6-63B6-5D15C28359F8}"/>
              </a:ext>
            </a:extLst>
          </p:cNvPr>
          <p:cNvSpPr>
            <a:spLocks noGrp="1"/>
          </p:cNvSpPr>
          <p:nvPr>
            <p:ph type="ftr" sz="quarter" idx="11"/>
          </p:nvPr>
        </p:nvSpPr>
        <p:spPr>
          <a:xfrm>
            <a:off x="4165600" y="6492875"/>
            <a:ext cx="3860800" cy="365125"/>
          </a:xfrm>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131CEF2D-3C54-714A-0D63-7853EDE04A11}"/>
              </a:ext>
            </a:extLst>
          </p:cNvPr>
          <p:cNvSpPr>
            <a:spLocks noGrp="1"/>
          </p:cNvSpPr>
          <p:nvPr>
            <p:ph type="sldNum" sz="quarter" idx="12"/>
          </p:nvPr>
        </p:nvSpPr>
        <p:spPr>
          <a:xfrm>
            <a:off x="9340497" y="103586"/>
            <a:ext cx="2844800" cy="365125"/>
          </a:xfrm>
        </p:spPr>
        <p:txBody>
          <a:bodyPr/>
          <a:lstStyle>
            <a:lvl1pPr>
              <a:defRPr sz="1800"/>
            </a:lvl1pPr>
          </a:lstStyle>
          <a:p>
            <a:fld id="{870B1737-2A00-4EFB-9FD3-149FCC30AA13}" type="slidenum">
              <a:rPr lang="ja-JP" altLang="en-US" smtClean="0"/>
              <a:pPr/>
              <a:t>‹#›</a:t>
            </a:fld>
            <a:endParaRPr lang="ja-JP" altLang="en-US"/>
          </a:p>
        </p:txBody>
      </p:sp>
    </p:spTree>
    <p:extLst>
      <p:ext uri="{BB962C8B-B14F-4D97-AF65-F5344CB8AC3E}">
        <p14:creationId xmlns:p14="http://schemas.microsoft.com/office/powerpoint/2010/main" val="193601839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407368" y="2996952"/>
            <a:ext cx="10363200" cy="1362075"/>
          </a:xfrm>
        </p:spPr>
        <p:txBody>
          <a:bodyPr anchor="t"/>
          <a:lstStyle>
            <a:lvl1pPr algn="l">
              <a:defRPr sz="4000" b="0"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07368" y="1496760"/>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grpSp>
        <p:nvGrpSpPr>
          <p:cNvPr id="11" name="グループ化 10">
            <a:extLst>
              <a:ext uri="{FF2B5EF4-FFF2-40B4-BE49-F238E27FC236}">
                <a16:creationId xmlns:a16="http://schemas.microsoft.com/office/drawing/2014/main" id="{151F6D17-BD86-142E-7462-FD5C2208B820}"/>
              </a:ext>
            </a:extLst>
          </p:cNvPr>
          <p:cNvGrpSpPr/>
          <p:nvPr userDrawn="1"/>
        </p:nvGrpSpPr>
        <p:grpSpPr>
          <a:xfrm>
            <a:off x="6096000" y="4129763"/>
            <a:ext cx="6096000" cy="91325"/>
            <a:chOff x="8472264" y="4129763"/>
            <a:chExt cx="3719736" cy="124965"/>
          </a:xfrm>
        </p:grpSpPr>
        <p:sp>
          <p:nvSpPr>
            <p:cNvPr id="7" name="タイトル 1">
              <a:extLst>
                <a:ext uri="{FF2B5EF4-FFF2-40B4-BE49-F238E27FC236}">
                  <a16:creationId xmlns:a16="http://schemas.microsoft.com/office/drawing/2014/main" id="{84CE860B-8D99-FD21-2450-0B413A5AEB19}"/>
                </a:ext>
              </a:extLst>
            </p:cNvPr>
            <p:cNvSpPr txBox="1">
              <a:spLocks/>
            </p:cNvSpPr>
            <p:nvPr userDrawn="1"/>
          </p:nvSpPr>
          <p:spPr>
            <a:xfrm>
              <a:off x="8472264" y="4209009"/>
              <a:ext cx="3719736" cy="45719"/>
            </a:xfrm>
            <a:prstGeom prst="rect">
              <a:avLst/>
            </a:prstGeom>
            <a:gradFill rotWithShape="1">
              <a:gsLst>
                <a:gs pos="0">
                  <a:srgbClr val="00008F">
                    <a:shade val="51000"/>
                    <a:satMod val="130000"/>
                  </a:srgbClr>
                </a:gs>
                <a:gs pos="80000">
                  <a:srgbClr val="00008F">
                    <a:shade val="93000"/>
                    <a:satMod val="130000"/>
                  </a:srgbClr>
                </a:gs>
                <a:gs pos="100000">
                  <a:srgbClr val="00008F">
                    <a:shade val="94000"/>
                    <a:satMod val="135000"/>
                  </a:srgbClr>
                </a:gs>
              </a:gsLst>
              <a:lin ang="16200000" scaled="0"/>
            </a:gradFill>
            <a:ln w="9525" cap="flat" cmpd="sng" algn="ctr">
              <a:noFill/>
              <a:prstDash val="solid"/>
            </a:ln>
            <a:effectLst>
              <a:outerShdw blurRad="40000" dist="23000" dir="5400000" rotWithShape="0">
                <a:srgbClr val="000000">
                  <a:alpha val="35000"/>
                </a:srgbClr>
              </a:outerShdw>
            </a:effectLst>
          </p:spPr>
          <p:txBody>
            <a:bodyPr vert="horz" lIns="91440" tIns="45720" rIns="91440" bIns="45720" rtlCol="0" anchor="ctr">
              <a:noAutofit/>
            </a:bodyPr>
            <a:lstStyle>
              <a:lvl1pPr algn="ctr" defTabSz="914400" rtl="0" eaLnBrk="1" latinLnBrk="0" hangingPunct="1">
                <a:spcBef>
                  <a:spcPct val="0"/>
                </a:spcBef>
                <a:buNone/>
                <a:defRPr kumimoji="1" sz="4000" kern="1200">
                  <a:solidFill>
                    <a:schemeClr val="bg1"/>
                  </a:solidFill>
                  <a:latin typeface="Arial" pitchFamily="34" charset="0"/>
                  <a:ea typeface="+mj-ea"/>
                  <a:cs typeface="Arial" pitchFamily="34" charset="0"/>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1" lang="ja-JP" altLang="en-US" sz="4000" b="0" i="0" u="none" strike="noStrike" kern="1200" cap="none" spc="0" normalizeH="0" baseline="0" noProof="0" dirty="0">
                <a:ln>
                  <a:noFill/>
                </a:ln>
                <a:solidFill>
                  <a:schemeClr val="bg1"/>
                </a:solidFill>
                <a:effectLst/>
                <a:uLnTx/>
                <a:uFillTx/>
                <a:latin typeface="Arial" pitchFamily="34" charset="0"/>
                <a:ea typeface="ＭＳ Ｐゴシック"/>
                <a:cs typeface="Arial" pitchFamily="34" charset="0"/>
              </a:endParaRPr>
            </a:p>
          </p:txBody>
        </p:sp>
        <p:grpSp>
          <p:nvGrpSpPr>
            <p:cNvPr id="8" name="グループ化 7">
              <a:extLst>
                <a:ext uri="{FF2B5EF4-FFF2-40B4-BE49-F238E27FC236}">
                  <a16:creationId xmlns:a16="http://schemas.microsoft.com/office/drawing/2014/main" id="{B13ED866-8316-F7BD-C891-93AA5650FF76}"/>
                </a:ext>
              </a:extLst>
            </p:cNvPr>
            <p:cNvGrpSpPr/>
            <p:nvPr userDrawn="1"/>
          </p:nvGrpSpPr>
          <p:grpSpPr>
            <a:xfrm>
              <a:off x="9481643" y="4129763"/>
              <a:ext cx="2710357" cy="45719"/>
              <a:chOff x="6588224" y="6618195"/>
              <a:chExt cx="2555776" cy="99392"/>
            </a:xfrm>
            <a:gradFill>
              <a:gsLst>
                <a:gs pos="0">
                  <a:srgbClr val="A20000"/>
                </a:gs>
                <a:gs pos="80000">
                  <a:srgbClr val="FF0000"/>
                </a:gs>
                <a:gs pos="100000">
                  <a:srgbClr val="FF0000"/>
                </a:gs>
              </a:gsLst>
              <a:lin ang="16200000" scaled="0"/>
            </a:gradFill>
            <a:effectLst>
              <a:outerShdw blurRad="40005" dist="22860" dir="5400000" algn="ctr" rotWithShape="0">
                <a:schemeClr val="tx1">
                  <a:alpha val="35000"/>
                </a:schemeClr>
              </a:outerShdw>
            </a:effectLst>
          </p:grpSpPr>
          <p:sp>
            <p:nvSpPr>
              <p:cNvPr id="9" name="平行四辺形 8">
                <a:extLst>
                  <a:ext uri="{FF2B5EF4-FFF2-40B4-BE49-F238E27FC236}">
                    <a16:creationId xmlns:a16="http://schemas.microsoft.com/office/drawing/2014/main" id="{5A1F42F7-AA37-F0B5-9C45-0327A41B5A7C}"/>
                  </a:ext>
                </a:extLst>
              </p:cNvPr>
              <p:cNvSpPr/>
              <p:nvPr userDrawn="1"/>
            </p:nvSpPr>
            <p:spPr>
              <a:xfrm>
                <a:off x="6588224" y="6618195"/>
                <a:ext cx="683776" cy="99392"/>
              </a:xfrm>
              <a:prstGeom prst="parallelogram">
                <a:avLst>
                  <a:gd name="adj" fmla="val 11871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66A87175-7869-45FF-A250-D78792D76243}"/>
                  </a:ext>
                </a:extLst>
              </p:cNvPr>
              <p:cNvSpPr/>
              <p:nvPr userDrawn="1"/>
            </p:nvSpPr>
            <p:spPr>
              <a:xfrm>
                <a:off x="6732240" y="6618195"/>
                <a:ext cx="2411760" cy="993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a:p>
            </p:txBody>
          </p:sp>
        </p:grpSp>
      </p:grpSp>
    </p:spTree>
    <p:extLst>
      <p:ext uri="{BB962C8B-B14F-4D97-AF65-F5344CB8AC3E}">
        <p14:creationId xmlns:p14="http://schemas.microsoft.com/office/powerpoint/2010/main" val="5617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2824645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93370"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1377496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3988281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3879403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3" y="273050"/>
            <a:ext cx="4011084"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609603"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3355327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2911592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251174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839200" y="274643"/>
            <a:ext cx="27432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609600" y="274643"/>
            <a:ext cx="80264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420695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609600" y="1600205"/>
            <a:ext cx="109728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737600" y="6356355"/>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0B1737-2A00-4EFB-9FD3-149FCC30AA13}" type="slidenum">
              <a:rPr kumimoji="1" lang="ja-JP" altLang="en-US" smtClean="0"/>
              <a:t>‹#›</a:t>
            </a:fld>
            <a:endParaRPr kumimoji="1" lang="ja-JP" altLang="en-US"/>
          </a:p>
        </p:txBody>
      </p:sp>
    </p:spTree>
    <p:extLst>
      <p:ext uri="{BB962C8B-B14F-4D97-AF65-F5344CB8AC3E}">
        <p14:creationId xmlns:p14="http://schemas.microsoft.com/office/powerpoint/2010/main" val="2836146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34.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1.png"/><Relationship Id="rId4" Type="http://schemas.openxmlformats.org/officeDocument/2006/relationships/image" Target="../media/image4.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51.png"/><Relationship Id="rId5" Type="http://schemas.openxmlformats.org/officeDocument/2006/relationships/image" Target="../media/image141.png"/><Relationship Id="rId4" Type="http://schemas.openxmlformats.org/officeDocument/2006/relationships/image" Target="../media/image131.png"/></Relationships>
</file>

<file path=ppt/slides/_rels/slide12.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61.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3.png"/><Relationship Id="rId2" Type="http://schemas.openxmlformats.org/officeDocument/2006/relationships/image" Target="../media/image19.gif"/><Relationship Id="rId1" Type="http://schemas.openxmlformats.org/officeDocument/2006/relationships/slideLayout" Target="../slideLayouts/slideLayout2.xml"/><Relationship Id="rId6" Type="http://schemas.openxmlformats.org/officeDocument/2006/relationships/image" Target="../media/image22.png"/><Relationship Id="rId5" Type="http://schemas.microsoft.com/office/2007/relationships/hdphoto" Target="../media/hdphoto1.wdp"/><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hyperlink" Target="https://arxiv.org/abs/2309.10739" TargetMode="External"/><Relationship Id="rId3" Type="http://schemas.openxmlformats.org/officeDocument/2006/relationships/hyperlink" Target="https://www.virtusense.ai/products/vstalert" TargetMode="External"/><Relationship Id="rId7" Type="http://schemas.openxmlformats.org/officeDocument/2006/relationships/hyperlink" Target="https://medinform.jmir.org/2025/1/e71666/PDF"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www.researchgate.net/publication/280720308_A_Simulation_Model_for_Evaluating_Alarm_Routing_Policies_in_ICU_Patient_Monitoring_Information_Systems" TargetMode="External"/><Relationship Id="rId5" Type="http://schemas.openxmlformats.org/officeDocument/2006/relationships/hyperlink" Target="https://pmc.ncbi.nlm.nih.gov/articles/PMC12608296/" TargetMode="External"/><Relationship Id="rId10" Type="http://schemas.openxmlformats.org/officeDocument/2006/relationships/hyperlink" Target="https://www.cairo-lab.com/papers/ijrr18.pdf" TargetMode="External"/><Relationship Id="rId4" Type="http://schemas.openxmlformats.org/officeDocument/2006/relationships/hyperlink" Target="https://pmc.ncbi.nlm.nih.gov/articles/PMC12449887/" TargetMode="External"/><Relationship Id="rId9" Type="http://schemas.openxmlformats.org/officeDocument/2006/relationships/hyperlink" Target="https://www.roboticsproceedings.org/rss12/p26.pdf"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90.png"/><Relationship Id="rId3" Type="http://schemas.openxmlformats.org/officeDocument/2006/relationships/image" Target="../media/image90.png"/><Relationship Id="rId7" Type="http://schemas.openxmlformats.org/officeDocument/2006/relationships/image" Target="../media/image130.png"/><Relationship Id="rId12" Type="http://schemas.openxmlformats.org/officeDocument/2006/relationships/image" Target="../media/image180.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70.png"/><Relationship Id="rId5" Type="http://schemas.openxmlformats.org/officeDocument/2006/relationships/image" Target="../media/image110.png"/><Relationship Id="rId15" Type="http://schemas.openxmlformats.org/officeDocument/2006/relationships/image" Target="../media/image210.png"/><Relationship Id="rId10" Type="http://schemas.openxmlformats.org/officeDocument/2006/relationships/image" Target="../media/image160.png"/><Relationship Id="rId4" Type="http://schemas.openxmlformats.org/officeDocument/2006/relationships/image" Target="../media/image100.png"/><Relationship Id="rId9" Type="http://schemas.openxmlformats.org/officeDocument/2006/relationships/image" Target="../media/image150.png"/><Relationship Id="rId14" Type="http://schemas.openxmlformats.org/officeDocument/2006/relationships/image" Target="../media/image2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hyperlink" Target="https://www.zeshinkai.or.jp/ng_n.html#floor"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CFC30-315B-A3B0-052E-F6DFA86D12C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60A5B5-BA9D-23CF-E6F0-434E1061BD8F}"/>
              </a:ext>
            </a:extLst>
          </p:cNvPr>
          <p:cNvSpPr>
            <a:spLocks noGrp="1"/>
          </p:cNvSpPr>
          <p:nvPr>
            <p:ph type="ctrTitle"/>
          </p:nvPr>
        </p:nvSpPr>
        <p:spPr>
          <a:effectLst/>
        </p:spPr>
        <p:txBody>
          <a:bodyPr>
            <a:normAutofit/>
          </a:bodyPr>
          <a:lstStyle/>
          <a:p>
            <a:r>
              <a:rPr lang="ja-JP" altLang="en-US" sz="3200" dirty="0"/>
              <a:t>修士論文の英語論文化ご相談</a:t>
            </a:r>
            <a:br>
              <a:rPr lang="en-US" altLang="ja-JP" sz="3200" dirty="0"/>
            </a:br>
            <a:r>
              <a:rPr lang="en-US" altLang="ja-JP" sz="2000" dirty="0"/>
              <a:t>~</a:t>
            </a:r>
            <a:r>
              <a:rPr lang="ja-JP" altLang="en-US" sz="2000" dirty="0"/>
              <a:t>ブラッシュアップに関する議論</a:t>
            </a:r>
            <a:r>
              <a:rPr lang="en-US" altLang="ja-JP" sz="2000" dirty="0"/>
              <a:t>~</a:t>
            </a:r>
            <a:endParaRPr lang="ja-JP" altLang="en-US" sz="3200" dirty="0"/>
          </a:p>
        </p:txBody>
      </p:sp>
      <p:sp>
        <p:nvSpPr>
          <p:cNvPr id="3" name="字幕 2">
            <a:extLst>
              <a:ext uri="{FF2B5EF4-FFF2-40B4-BE49-F238E27FC236}">
                <a16:creationId xmlns:a16="http://schemas.microsoft.com/office/drawing/2014/main" id="{683880AC-2F5F-C0E6-72DB-13E3C271E8C1}"/>
              </a:ext>
            </a:extLst>
          </p:cNvPr>
          <p:cNvSpPr>
            <a:spLocks noGrp="1"/>
          </p:cNvSpPr>
          <p:nvPr>
            <p:ph type="subTitle" idx="1"/>
          </p:nvPr>
        </p:nvSpPr>
        <p:spPr>
          <a:xfrm>
            <a:off x="6096000" y="4149080"/>
            <a:ext cx="5184576" cy="1752600"/>
          </a:xfrm>
        </p:spPr>
        <p:txBody>
          <a:bodyPr>
            <a:normAutofit/>
          </a:bodyPr>
          <a:lstStyle/>
          <a:p>
            <a:pPr algn="r"/>
            <a:r>
              <a:rPr lang="ja-JP" altLang="en-US" sz="2000" dirty="0"/>
              <a:t>林出和之</a:t>
            </a:r>
            <a:endParaRPr kumimoji="1" lang="ja-JP" altLang="en-US" sz="2000" dirty="0"/>
          </a:p>
        </p:txBody>
      </p:sp>
      <p:sp>
        <p:nvSpPr>
          <p:cNvPr id="4" name="テキスト ボックス 3">
            <a:extLst>
              <a:ext uri="{FF2B5EF4-FFF2-40B4-BE49-F238E27FC236}">
                <a16:creationId xmlns:a16="http://schemas.microsoft.com/office/drawing/2014/main" id="{48375FA5-0D4B-D662-6ECD-A387F918DCE6}"/>
              </a:ext>
            </a:extLst>
          </p:cNvPr>
          <p:cNvSpPr txBox="1"/>
          <p:nvPr/>
        </p:nvSpPr>
        <p:spPr>
          <a:xfrm>
            <a:off x="479376" y="3778022"/>
            <a:ext cx="3647152" cy="1292662"/>
          </a:xfrm>
          <a:prstGeom prst="rect">
            <a:avLst/>
          </a:prstGeom>
          <a:noFill/>
        </p:spPr>
        <p:txBody>
          <a:bodyPr wrap="none" rtlCol="0">
            <a:spAutoFit/>
          </a:bodyPr>
          <a:lstStyle/>
          <a:p>
            <a:r>
              <a:rPr kumimoji="1" lang="ja-JP" altLang="en-US" sz="2400" b="1" dirty="0"/>
              <a:t>ご相談事項</a:t>
            </a:r>
            <a:endParaRPr kumimoji="1" lang="en-US" altLang="ja-JP" sz="2400" b="1" dirty="0"/>
          </a:p>
          <a:p>
            <a:r>
              <a:rPr kumimoji="1" lang="ja-JP" altLang="en-US" b="1" dirty="0"/>
              <a:t>修士論文の英語論文化について</a:t>
            </a:r>
          </a:p>
          <a:p>
            <a:r>
              <a:rPr kumimoji="1" lang="ja-JP" altLang="en-US" dirty="0"/>
              <a:t>・頂戴した</a:t>
            </a:r>
            <a:r>
              <a:rPr lang="en-US" altLang="ja-JP" dirty="0"/>
              <a:t>FB</a:t>
            </a:r>
            <a:r>
              <a:rPr lang="ja-JP" altLang="en-US" dirty="0"/>
              <a:t>の整理・議論</a:t>
            </a:r>
            <a:endParaRPr lang="en-US" altLang="ja-JP" dirty="0"/>
          </a:p>
          <a:p>
            <a:r>
              <a:rPr kumimoji="1" lang="ja-JP" altLang="en-US" dirty="0"/>
              <a:t>・追加評価のたたき台共有・議論</a:t>
            </a:r>
            <a:endParaRPr kumimoji="1" lang="en-US" altLang="ja-JP" dirty="0"/>
          </a:p>
        </p:txBody>
      </p:sp>
    </p:spTree>
    <p:extLst>
      <p:ext uri="{BB962C8B-B14F-4D97-AF65-F5344CB8AC3E}">
        <p14:creationId xmlns:p14="http://schemas.microsoft.com/office/powerpoint/2010/main" val="2340059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9EDA8C-DEBB-838F-850C-86C7F649C536}"/>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4E069FA4-5908-E6AD-F6DD-58638BE848A4}"/>
              </a:ext>
            </a:extLst>
          </p:cNvPr>
          <p:cNvSpPr>
            <a:spLocks noGrp="1"/>
          </p:cNvSpPr>
          <p:nvPr>
            <p:ph idx="1"/>
          </p:nvPr>
        </p:nvSpPr>
        <p:spPr/>
        <p:txBody>
          <a:bodyPr/>
          <a:lstStyle/>
          <a:p>
            <a:pPr marL="457200" indent="-457200">
              <a:buFont typeface="+mj-lt"/>
              <a:buAutoNum type="arabicPeriod"/>
            </a:pPr>
            <a:r>
              <a:rPr kumimoji="1" lang="ja-JP" altLang="en-US" dirty="0"/>
              <a:t>論文ドラフトの概要・所感</a:t>
            </a:r>
            <a:endParaRPr kumimoji="1" lang="en-US" altLang="ja-JP" dirty="0"/>
          </a:p>
          <a:p>
            <a:pPr marL="457200" indent="-457200">
              <a:buFont typeface="+mj-lt"/>
              <a:buAutoNum type="arabicPeriod"/>
            </a:pPr>
            <a:endParaRPr lang="en-US" altLang="ja-JP" dirty="0"/>
          </a:p>
          <a:p>
            <a:pPr marL="457200" indent="-457200">
              <a:buFont typeface="+mj-lt"/>
              <a:buAutoNum type="arabicPeriod"/>
            </a:pPr>
            <a:r>
              <a:rPr kumimoji="1" lang="ja-JP" altLang="en-US" dirty="0"/>
              <a:t>先生の</a:t>
            </a:r>
            <a:r>
              <a:rPr kumimoji="1" lang="en-US" altLang="ja-JP" dirty="0"/>
              <a:t>FB</a:t>
            </a:r>
            <a:r>
              <a:rPr kumimoji="1" lang="ja-JP" altLang="en-US" dirty="0"/>
              <a:t>内容整理</a:t>
            </a:r>
            <a:endParaRPr kumimoji="1" lang="en-US" altLang="ja-JP" dirty="0"/>
          </a:p>
          <a:p>
            <a:pPr marL="457200" indent="-457200">
              <a:buFont typeface="+mj-lt"/>
              <a:buAutoNum type="arabicPeriod"/>
            </a:pPr>
            <a:endParaRPr lang="en-US" altLang="ja-JP" dirty="0"/>
          </a:p>
          <a:p>
            <a:pPr marL="457200" indent="-457200">
              <a:buFont typeface="+mj-lt"/>
              <a:buAutoNum type="arabicPeriod"/>
            </a:pPr>
            <a:r>
              <a:rPr kumimoji="1" lang="en-US" altLang="ja-JP" dirty="0"/>
              <a:t>FB</a:t>
            </a:r>
            <a:r>
              <a:rPr kumimoji="1" lang="ja-JP" altLang="en-US" dirty="0"/>
              <a:t>を踏まえた考察</a:t>
            </a:r>
            <a:endParaRPr kumimoji="1" lang="en-US" altLang="ja-JP" dirty="0"/>
          </a:p>
          <a:p>
            <a:pPr marL="457200" indent="-457200">
              <a:buFont typeface="+mj-lt"/>
              <a:buAutoNum type="arabicPeriod"/>
            </a:pPr>
            <a:endParaRPr lang="en-US" altLang="ja-JP" dirty="0"/>
          </a:p>
          <a:p>
            <a:pPr marL="457200" indent="-457200">
              <a:buFont typeface="+mj-lt"/>
              <a:buAutoNum type="arabicPeriod"/>
            </a:pPr>
            <a:r>
              <a:rPr kumimoji="1" lang="ja-JP" altLang="en-US" dirty="0"/>
              <a:t>追加検証のたたき台</a:t>
            </a:r>
          </a:p>
        </p:txBody>
      </p:sp>
      <p:sp>
        <p:nvSpPr>
          <p:cNvPr id="4" name="日付プレースホルダー 3">
            <a:extLst>
              <a:ext uri="{FF2B5EF4-FFF2-40B4-BE49-F238E27FC236}">
                <a16:creationId xmlns:a16="http://schemas.microsoft.com/office/drawing/2014/main" id="{FF75ECBE-C20B-354B-5993-2F8EA2BC3DDB}"/>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EB02E1B7-F13B-6E88-CBD5-439B90AC0DB5}"/>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F215B8D2-E2E7-CB33-94D7-680158855273}"/>
              </a:ext>
            </a:extLst>
          </p:cNvPr>
          <p:cNvSpPr>
            <a:spLocks noGrp="1"/>
          </p:cNvSpPr>
          <p:nvPr>
            <p:ph type="sldNum" sz="quarter" idx="12"/>
          </p:nvPr>
        </p:nvSpPr>
        <p:spPr/>
        <p:txBody>
          <a:bodyPr/>
          <a:lstStyle/>
          <a:p>
            <a:fld id="{870B1737-2A00-4EFB-9FD3-149FCC30AA13}" type="slidenum">
              <a:rPr lang="ja-JP" altLang="en-US" smtClean="0"/>
              <a:pPr/>
              <a:t>2</a:t>
            </a:fld>
            <a:endParaRPr lang="ja-JP" altLang="en-US"/>
          </a:p>
        </p:txBody>
      </p:sp>
    </p:spTree>
    <p:extLst>
      <p:ext uri="{BB962C8B-B14F-4D97-AF65-F5344CB8AC3E}">
        <p14:creationId xmlns:p14="http://schemas.microsoft.com/office/powerpoint/2010/main" val="3651066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5FDE5A-179A-960E-D80F-DBE88FA6896F}"/>
              </a:ext>
            </a:extLst>
          </p:cNvPr>
          <p:cNvSpPr>
            <a:spLocks noGrp="1"/>
          </p:cNvSpPr>
          <p:nvPr>
            <p:ph type="title"/>
          </p:nvPr>
        </p:nvSpPr>
        <p:spPr/>
        <p:txBody>
          <a:bodyPr/>
          <a:lstStyle/>
          <a:p>
            <a:r>
              <a:rPr kumimoji="1" lang="ja-JP" altLang="en-US" dirty="0"/>
              <a:t>論文ドラフトの概要・所感</a:t>
            </a:r>
          </a:p>
        </p:txBody>
      </p:sp>
      <p:sp>
        <p:nvSpPr>
          <p:cNvPr id="3" name="コンテンツ プレースホルダー 2">
            <a:extLst>
              <a:ext uri="{FF2B5EF4-FFF2-40B4-BE49-F238E27FC236}">
                <a16:creationId xmlns:a16="http://schemas.microsoft.com/office/drawing/2014/main" id="{8E126590-3591-D230-16AC-A8915664FE07}"/>
              </a:ext>
            </a:extLst>
          </p:cNvPr>
          <p:cNvSpPr>
            <a:spLocks noGrp="1"/>
          </p:cNvSpPr>
          <p:nvPr>
            <p:ph idx="1"/>
          </p:nvPr>
        </p:nvSpPr>
        <p:spPr/>
        <p:txBody>
          <a:bodyPr/>
          <a:lstStyle/>
          <a:p>
            <a:r>
              <a:rPr kumimoji="1" lang="ja-JP" altLang="en-US" dirty="0"/>
              <a:t>概要</a:t>
            </a:r>
            <a:endParaRPr kumimoji="1" lang="en-US" altLang="ja-JP" dirty="0"/>
          </a:p>
          <a:p>
            <a:pPr lvl="1"/>
            <a:r>
              <a:rPr kumimoji="1" lang="ja-JP" altLang="en-US" dirty="0"/>
              <a:t>リサーチクエスチョン</a:t>
            </a:r>
            <a:endParaRPr kumimoji="1" lang="en-US" altLang="ja-JP" dirty="0"/>
          </a:p>
          <a:p>
            <a:pPr lvl="2"/>
            <a:r>
              <a:rPr lang="ja-JP" altLang="ja-JP" dirty="0">
                <a:solidFill>
                  <a:srgbClr val="FF0000"/>
                </a:solidFill>
              </a:rPr>
              <a:t>空間的文脈を考慮</a:t>
            </a:r>
            <a:r>
              <a:rPr lang="ja-JP" altLang="ja-JP" dirty="0"/>
              <a:t>して患者の危険度を評価できるか</a:t>
            </a:r>
            <a:endParaRPr lang="en-US" altLang="ja-JP" dirty="0"/>
          </a:p>
          <a:p>
            <a:pPr lvl="2"/>
            <a:r>
              <a:rPr lang="ja-JP" altLang="ja-JP" dirty="0">
                <a:solidFill>
                  <a:srgbClr val="FF0000"/>
                </a:solidFill>
              </a:rPr>
              <a:t>スタッフごとに異なる判断知識を反映</a:t>
            </a:r>
            <a:r>
              <a:rPr lang="ja-JP" altLang="ja-JP" dirty="0"/>
              <a:t>し、個別化した危険度・見守り優先順位を算出できるか</a:t>
            </a:r>
            <a:endParaRPr lang="en-US" altLang="ja-JP" dirty="0"/>
          </a:p>
          <a:p>
            <a:pPr lvl="1"/>
            <a:r>
              <a:rPr kumimoji="1" lang="ja-JP" altLang="en-US" dirty="0"/>
              <a:t>論文の主張</a:t>
            </a:r>
            <a:endParaRPr kumimoji="1" lang="en-US" altLang="ja-JP" dirty="0"/>
          </a:p>
          <a:p>
            <a:pPr lvl="2"/>
            <a:r>
              <a:rPr lang="ja-JP" altLang="ja-JP" dirty="0"/>
              <a:t>患者文脈と空間的文脈を階層的に統合し、AHPとファジィ推論にスタッフのアンケート結果を反映することで、状況とスタッフ双方に応じた危険度評価が可能</a:t>
            </a:r>
            <a:endParaRPr lang="en-US" altLang="ja-JP" dirty="0"/>
          </a:p>
          <a:p>
            <a:pPr lvl="1"/>
            <a:r>
              <a:rPr kumimoji="1" lang="ja-JP" altLang="en-US" dirty="0"/>
              <a:t>主張を裏付ける評価</a:t>
            </a:r>
            <a:endParaRPr kumimoji="1" lang="en-US" altLang="ja-JP" dirty="0"/>
          </a:p>
          <a:p>
            <a:pPr lvl="2"/>
            <a:r>
              <a:rPr lang="ja-JP" altLang="ja-JP" dirty="0"/>
              <a:t>シミュレーション・実データで、車椅子付近やスタッフの死角にいる患者をより高リスクと評価でき、判断知識の違いに応じ</a:t>
            </a:r>
            <a:r>
              <a:rPr lang="ja-JP" altLang="en-US" dirty="0"/>
              <a:t>、異なる</a:t>
            </a:r>
            <a:r>
              <a:rPr lang="ja-JP" altLang="ja-JP" dirty="0"/>
              <a:t>危険度順位</a:t>
            </a:r>
            <a:r>
              <a:rPr lang="ja-JP" altLang="en-US" dirty="0"/>
              <a:t>を算出可能な</a:t>
            </a:r>
            <a:r>
              <a:rPr lang="ja-JP" altLang="ja-JP" dirty="0"/>
              <a:t>ことを確認</a:t>
            </a:r>
            <a:br>
              <a:rPr lang="en-US" altLang="ja-JP" dirty="0"/>
            </a:br>
            <a:r>
              <a:rPr lang="ja-JP" altLang="ja-JP" sz="1200" dirty="0"/>
              <a:t>※現状の評価は「スタッフ本人の判断との一致」や臨床的妥当性まで検証したものではなく、意図した情報がモデル出力に反映されることの検証</a:t>
            </a:r>
            <a:endParaRPr lang="en-US" altLang="ja-JP" sz="1200" dirty="0"/>
          </a:p>
          <a:p>
            <a:r>
              <a:rPr kumimoji="1" lang="ja-JP" altLang="en-US" dirty="0"/>
              <a:t>所感</a:t>
            </a:r>
            <a:endParaRPr kumimoji="1" lang="en-US" altLang="ja-JP" dirty="0"/>
          </a:p>
          <a:p>
            <a:pPr lvl="1"/>
            <a:r>
              <a:rPr lang="ja-JP" altLang="en-US" dirty="0"/>
              <a:t>階層モデルの構築に着目した論文であるとはいえ、スタッフ本人の判断との一致が未確認である点は急所</a:t>
            </a:r>
            <a:endParaRPr kumimoji="1" lang="ja-JP" altLang="en-US" dirty="0"/>
          </a:p>
        </p:txBody>
      </p:sp>
      <p:sp>
        <p:nvSpPr>
          <p:cNvPr id="4" name="日付プレースホルダー 3">
            <a:extLst>
              <a:ext uri="{FF2B5EF4-FFF2-40B4-BE49-F238E27FC236}">
                <a16:creationId xmlns:a16="http://schemas.microsoft.com/office/drawing/2014/main" id="{34FA630A-ED16-14DB-1DE4-8263C3C5C779}"/>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D438B1B-2A97-8E62-917C-D6249AFFD89B}"/>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8C816C80-6409-22BE-525A-F02C894410D1}"/>
              </a:ext>
            </a:extLst>
          </p:cNvPr>
          <p:cNvSpPr>
            <a:spLocks noGrp="1"/>
          </p:cNvSpPr>
          <p:nvPr>
            <p:ph type="sldNum" sz="quarter" idx="12"/>
          </p:nvPr>
        </p:nvSpPr>
        <p:spPr/>
        <p:txBody>
          <a:bodyPr/>
          <a:lstStyle/>
          <a:p>
            <a:fld id="{870B1737-2A00-4EFB-9FD3-149FCC30AA13}" type="slidenum">
              <a:rPr lang="ja-JP" altLang="en-US" smtClean="0"/>
              <a:pPr/>
              <a:t>3</a:t>
            </a:fld>
            <a:endParaRPr lang="ja-JP" altLang="en-US"/>
          </a:p>
        </p:txBody>
      </p:sp>
    </p:spTree>
    <p:extLst>
      <p:ext uri="{BB962C8B-B14F-4D97-AF65-F5344CB8AC3E}">
        <p14:creationId xmlns:p14="http://schemas.microsoft.com/office/powerpoint/2010/main" val="3678741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10ADFA-A3DD-E550-DCA4-E5CCC91B53A7}"/>
              </a:ext>
            </a:extLst>
          </p:cNvPr>
          <p:cNvSpPr>
            <a:spLocks noGrp="1"/>
          </p:cNvSpPr>
          <p:nvPr>
            <p:ph type="title"/>
          </p:nvPr>
        </p:nvSpPr>
        <p:spPr/>
        <p:txBody>
          <a:bodyPr/>
          <a:lstStyle/>
          <a:p>
            <a:r>
              <a:rPr kumimoji="1" lang="ja-JP" altLang="en-US" dirty="0"/>
              <a:t>先生の</a:t>
            </a:r>
            <a:r>
              <a:rPr kumimoji="1" lang="en-US" altLang="ja-JP" dirty="0"/>
              <a:t>FB</a:t>
            </a:r>
            <a:r>
              <a:rPr kumimoji="1" lang="ja-JP" altLang="en-US" dirty="0"/>
              <a:t>内容</a:t>
            </a:r>
          </a:p>
        </p:txBody>
      </p:sp>
      <p:sp>
        <p:nvSpPr>
          <p:cNvPr id="3" name="コンテンツ プレースホルダー 2">
            <a:extLst>
              <a:ext uri="{FF2B5EF4-FFF2-40B4-BE49-F238E27FC236}">
                <a16:creationId xmlns:a16="http://schemas.microsoft.com/office/drawing/2014/main" id="{B55E1247-0870-5139-BABA-B8883DC22F04}"/>
              </a:ext>
            </a:extLst>
          </p:cNvPr>
          <p:cNvSpPr>
            <a:spLocks noGrp="1"/>
          </p:cNvSpPr>
          <p:nvPr>
            <p:ph idx="1"/>
          </p:nvPr>
        </p:nvSpPr>
        <p:spPr/>
        <p:txBody>
          <a:bodyPr/>
          <a:lstStyle/>
          <a:p>
            <a:r>
              <a:rPr kumimoji="1" lang="ja-JP" altLang="en-US" dirty="0"/>
              <a:t>論文の弱点</a:t>
            </a:r>
            <a:endParaRPr kumimoji="1" lang="en-US" altLang="ja-JP" dirty="0"/>
          </a:p>
          <a:p>
            <a:pPr lvl="1"/>
            <a:r>
              <a:rPr lang="ja-JP" altLang="en-US" dirty="0"/>
              <a:t>スタッフの判断とシステムの判断の一致が未確認であること</a:t>
            </a:r>
            <a:endParaRPr lang="en-US" altLang="ja-JP" dirty="0"/>
          </a:p>
          <a:p>
            <a:pPr lvl="4"/>
            <a:endParaRPr lang="en-US" altLang="ja-JP" dirty="0"/>
          </a:p>
          <a:p>
            <a:r>
              <a:rPr kumimoji="1" lang="ja-JP" altLang="en-US" dirty="0"/>
              <a:t>目的・主張の軸の変更案</a:t>
            </a:r>
          </a:p>
        </p:txBody>
      </p:sp>
      <p:sp>
        <p:nvSpPr>
          <p:cNvPr id="4" name="日付プレースホルダー 3">
            <a:extLst>
              <a:ext uri="{FF2B5EF4-FFF2-40B4-BE49-F238E27FC236}">
                <a16:creationId xmlns:a16="http://schemas.microsoft.com/office/drawing/2014/main" id="{921BB0DB-205B-6E82-5E9C-DF5FF263F909}"/>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44D38DDD-95F7-2D6E-7B08-413B6D690B14}"/>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9AC38FC7-232F-9DF7-2716-FA5DD57E29B1}"/>
              </a:ext>
            </a:extLst>
          </p:cNvPr>
          <p:cNvSpPr>
            <a:spLocks noGrp="1"/>
          </p:cNvSpPr>
          <p:nvPr>
            <p:ph type="sldNum" sz="quarter" idx="12"/>
          </p:nvPr>
        </p:nvSpPr>
        <p:spPr/>
        <p:txBody>
          <a:bodyPr/>
          <a:lstStyle/>
          <a:p>
            <a:fld id="{870B1737-2A00-4EFB-9FD3-149FCC30AA13}" type="slidenum">
              <a:rPr lang="ja-JP" altLang="en-US" smtClean="0"/>
              <a:pPr/>
              <a:t>4</a:t>
            </a:fld>
            <a:endParaRPr lang="ja-JP" altLang="en-US"/>
          </a:p>
        </p:txBody>
      </p:sp>
      <p:graphicFrame>
        <p:nvGraphicFramePr>
          <p:cNvPr id="7" name="表 6">
            <a:extLst>
              <a:ext uri="{FF2B5EF4-FFF2-40B4-BE49-F238E27FC236}">
                <a16:creationId xmlns:a16="http://schemas.microsoft.com/office/drawing/2014/main" id="{B8ED9F9E-9095-FB0D-FAE3-E83BCCB87EF0}"/>
              </a:ext>
            </a:extLst>
          </p:cNvPr>
          <p:cNvGraphicFramePr>
            <a:graphicFrameLocks noGrp="1"/>
          </p:cNvGraphicFramePr>
          <p:nvPr>
            <p:extLst>
              <p:ext uri="{D42A27DB-BD31-4B8C-83A1-F6EECF244321}">
                <p14:modId xmlns:p14="http://schemas.microsoft.com/office/powerpoint/2010/main" val="3598173637"/>
              </p:ext>
            </p:extLst>
          </p:nvPr>
        </p:nvGraphicFramePr>
        <p:xfrm>
          <a:off x="119336" y="2132856"/>
          <a:ext cx="11881320" cy="3870960"/>
        </p:xfrm>
        <a:graphic>
          <a:graphicData uri="http://schemas.openxmlformats.org/drawingml/2006/table">
            <a:tbl>
              <a:tblPr firstRow="1" firstCol="1" bandRow="1">
                <a:tableStyleId>{073A0DAA-6AF3-43AB-8588-CEC1D06C72B9}</a:tableStyleId>
              </a:tblPr>
              <a:tblGrid>
                <a:gridCol w="1703705">
                  <a:extLst>
                    <a:ext uri="{9D8B030D-6E8A-4147-A177-3AD203B41FA5}">
                      <a16:colId xmlns:a16="http://schemas.microsoft.com/office/drawing/2014/main" val="4065849875"/>
                    </a:ext>
                  </a:extLst>
                </a:gridCol>
                <a:gridCol w="5137055">
                  <a:extLst>
                    <a:ext uri="{9D8B030D-6E8A-4147-A177-3AD203B41FA5}">
                      <a16:colId xmlns:a16="http://schemas.microsoft.com/office/drawing/2014/main" val="2913912520"/>
                    </a:ext>
                  </a:extLst>
                </a:gridCol>
                <a:gridCol w="5040560">
                  <a:extLst>
                    <a:ext uri="{9D8B030D-6E8A-4147-A177-3AD203B41FA5}">
                      <a16:colId xmlns:a16="http://schemas.microsoft.com/office/drawing/2014/main" val="3741944471"/>
                    </a:ext>
                  </a:extLst>
                </a:gridCol>
              </a:tblGrid>
              <a:tr h="186782">
                <a:tc>
                  <a:txBody>
                    <a:bodyPr/>
                    <a:lstStyle/>
                    <a:p>
                      <a:endParaRPr kumimoji="1" lang="ja-JP" altLang="en-US" sz="1400" dirty="0"/>
                    </a:p>
                  </a:txBody>
                  <a:tcPr/>
                </a:tc>
                <a:tc>
                  <a:txBody>
                    <a:bodyPr/>
                    <a:lstStyle/>
                    <a:p>
                      <a:r>
                        <a:rPr kumimoji="1" lang="ja-JP" altLang="en-US" sz="1400" dirty="0"/>
                        <a:t>旧</a:t>
                      </a:r>
                    </a:p>
                  </a:txBody>
                  <a:tcPr/>
                </a:tc>
                <a:tc>
                  <a:txBody>
                    <a:bodyPr/>
                    <a:lstStyle/>
                    <a:p>
                      <a:r>
                        <a:rPr kumimoji="1" lang="ja-JP" altLang="en-US" sz="1400" dirty="0"/>
                        <a:t>新</a:t>
                      </a:r>
                    </a:p>
                  </a:txBody>
                  <a:tcPr/>
                </a:tc>
                <a:extLst>
                  <a:ext uri="{0D108BD9-81ED-4DB2-BD59-A6C34878D82A}">
                    <a16:rowId xmlns:a16="http://schemas.microsoft.com/office/drawing/2014/main" val="3777063041"/>
                  </a:ext>
                </a:extLst>
              </a:tr>
              <a:tr h="690838">
                <a:tc>
                  <a:txBody>
                    <a:bodyPr/>
                    <a:lstStyle/>
                    <a:p>
                      <a:r>
                        <a:rPr kumimoji="1" lang="en-US" altLang="ja-JP" sz="1400" dirty="0"/>
                        <a:t>A) </a:t>
                      </a:r>
                      <a:r>
                        <a:rPr kumimoji="1" lang="ja-JP" altLang="en-US" sz="1400" dirty="0"/>
                        <a:t>研究目的</a:t>
                      </a:r>
                    </a:p>
                  </a:txBody>
                  <a:tcPr/>
                </a:tc>
                <a:tc>
                  <a:txBody>
                    <a:bodyPr/>
                    <a:lstStyle/>
                    <a:p>
                      <a:r>
                        <a:rPr lang="ja-JP" altLang="ja-JP" sz="1400" dirty="0"/>
                        <a:t>・患者文脈と空間的文脈を階層的に統合し、複数患者の時系列危険度を算出するフレームワークの構築</a:t>
                      </a:r>
                    </a:p>
                    <a:p>
                      <a:r>
                        <a:rPr lang="ja-JP" altLang="ja-JP" sz="1400" dirty="0"/>
                        <a:t>・アンケート回答をモデルパラメータへ反映し、スタッフごとの判断知識に応じた危険度・見守り優先順位を算出</a:t>
                      </a:r>
                    </a:p>
                  </a:txBody>
                  <a:tcPr/>
                </a:tc>
                <a:tc>
                  <a:txBody>
                    <a:bodyPr/>
                    <a:lstStyle/>
                    <a:p>
                      <a:r>
                        <a:rPr kumimoji="1" lang="ja-JP" altLang="en-US" sz="1400" dirty="0"/>
                        <a:t>・患者・空間文脈を統合し、スタッフの危険度評価に関するアンケート回答を判断知識として反映する階層モデルの構築</a:t>
                      </a:r>
                      <a:endParaRPr kumimoji="1" lang="en-US" altLang="ja-JP" sz="1400" dirty="0"/>
                    </a:p>
                    <a:p>
                      <a:r>
                        <a:rPr kumimoji="1" lang="ja-JP" altLang="en-US" sz="1400" dirty="0"/>
                        <a:t>・判断知識の違いが患者間の危険度順位に与える影響と、</a:t>
                      </a:r>
                      <a:r>
                        <a:rPr kumimoji="1" lang="ja-JP" altLang="en-US" sz="1400" b="1" dirty="0">
                          <a:solidFill>
                            <a:srgbClr val="FF0000"/>
                          </a:solidFill>
                        </a:rPr>
                        <a:t>順位が維持・変化される条件の明確化</a:t>
                      </a:r>
                    </a:p>
                  </a:txBody>
                  <a:tcPr/>
                </a:tc>
                <a:extLst>
                  <a:ext uri="{0D108BD9-81ED-4DB2-BD59-A6C34878D82A}">
                    <a16:rowId xmlns:a16="http://schemas.microsoft.com/office/drawing/2014/main" val="986555148"/>
                  </a:ext>
                </a:extLst>
              </a:tr>
              <a:tr h="583374">
                <a:tc>
                  <a:txBody>
                    <a:bodyPr/>
                    <a:lstStyle/>
                    <a:p>
                      <a:r>
                        <a:rPr kumimoji="1" lang="en-US" altLang="ja-JP" sz="1400" dirty="0"/>
                        <a:t>B) </a:t>
                      </a:r>
                      <a:r>
                        <a:rPr kumimoji="1" lang="ja-JP" altLang="en-US" sz="1400" dirty="0"/>
                        <a:t>新規・独自性</a:t>
                      </a:r>
                    </a:p>
                  </a:txBody>
                  <a:tcPr/>
                </a:tc>
                <a:tc>
                  <a:txBody>
                    <a:bodyPr/>
                    <a:lstStyle/>
                    <a:p>
                      <a:r>
                        <a:rPr lang="ja-JP" altLang="ja-JP" sz="1400" dirty="0"/>
                        <a:t>・患者文脈と空間的文脈を同一の階層モデルで統合</a:t>
                      </a:r>
                    </a:p>
                    <a:p>
                      <a:r>
                        <a:rPr lang="ja-JP" altLang="ja-JP" sz="1400" dirty="0"/>
                        <a:t>・アンケート回答をAHP重み・Fuzzyルールへ変換し、スタッフごとに異なる判断知識を危険度評価へ反映</a:t>
                      </a:r>
                    </a:p>
                  </a:txBody>
                  <a:tcPr/>
                </a:tc>
                <a:tc>
                  <a:txBody>
                    <a:bodyPr/>
                    <a:lstStyle/>
                    <a:p>
                      <a:r>
                        <a:rPr kumimoji="1" lang="ja-JP" altLang="en-US" sz="1400" dirty="0"/>
                        <a:t>・</a:t>
                      </a:r>
                      <a:r>
                        <a:rPr kumimoji="1" lang="en-US" altLang="ja-JP" sz="1400" dirty="0"/>
                        <a:t>AHP/Fuzzy</a:t>
                      </a:r>
                      <a:r>
                        <a:rPr kumimoji="1" lang="ja-JP" altLang="en-US" sz="1400" dirty="0"/>
                        <a:t>推論の組合せ</a:t>
                      </a:r>
                      <a:endParaRPr kumimoji="1" lang="en-US" altLang="ja-JP" sz="1400" dirty="0"/>
                    </a:p>
                    <a:p>
                      <a:r>
                        <a:rPr kumimoji="1" lang="ja-JP" altLang="en-US" sz="1400" dirty="0"/>
                        <a:t>・</a:t>
                      </a:r>
                      <a:r>
                        <a:rPr kumimoji="1" lang="ja-JP" altLang="en-US" sz="1400" b="1" dirty="0">
                          <a:solidFill>
                            <a:srgbClr val="FF0000"/>
                          </a:solidFill>
                        </a:rPr>
                        <a:t>カテゴリ内の重要度と、カテゴリ間の条件依存関係を分け、各々を質問用紙の回答から設定できる</a:t>
                      </a:r>
                      <a:r>
                        <a:rPr kumimoji="1" lang="ja-JP" altLang="en-US" sz="1400" dirty="0"/>
                        <a:t>という設計</a:t>
                      </a:r>
                    </a:p>
                  </a:txBody>
                  <a:tcPr/>
                </a:tc>
                <a:extLst>
                  <a:ext uri="{0D108BD9-81ED-4DB2-BD59-A6C34878D82A}">
                    <a16:rowId xmlns:a16="http://schemas.microsoft.com/office/drawing/2014/main" val="1370935880"/>
                  </a:ext>
                </a:extLst>
              </a:tr>
              <a:tr h="690838">
                <a:tc>
                  <a:txBody>
                    <a:bodyPr/>
                    <a:lstStyle/>
                    <a:p>
                      <a:r>
                        <a:rPr kumimoji="1" lang="en-US" altLang="ja-JP" sz="1400" dirty="0"/>
                        <a:t>C) </a:t>
                      </a:r>
                      <a:r>
                        <a:rPr kumimoji="1" lang="ja-JP" altLang="en-US" sz="1400" dirty="0"/>
                        <a:t>検証のまとめ方</a:t>
                      </a:r>
                    </a:p>
                  </a:txBody>
                  <a:tcPr/>
                </a:tc>
                <a:tc>
                  <a:txBody>
                    <a:bodyPr/>
                    <a:lstStyle/>
                    <a:p>
                      <a:r>
                        <a:rPr lang="ja-JP" altLang="ja-JP" sz="1400" dirty="0"/>
                        <a:t>・空間的文脈の有無を比較し、周囲物体やスタッフの見守り状況によって同一行動でも危険度が変化することを確認</a:t>
                      </a:r>
                    </a:p>
                    <a:p>
                      <a:r>
                        <a:rPr lang="ja-JP" altLang="ja-JP" sz="1400" dirty="0"/>
                        <a:t>・異なるアンケート由来パラメータを用い、シミュレーション・実データで危険度および患者順位が変化することを確認</a:t>
                      </a:r>
                    </a:p>
                  </a:txBody>
                  <a:tcPr/>
                </a:tc>
                <a:tc>
                  <a:txBody>
                    <a:bodyPr/>
                    <a:lstStyle/>
                    <a:p>
                      <a:r>
                        <a:rPr kumimoji="1" lang="ja-JP" altLang="en-US" sz="1400" dirty="0"/>
                        <a:t>・階層モデルを加算項・相互作用項で分けて、入力特徴量が高リスク側に遷移したとき、</a:t>
                      </a:r>
                      <a:r>
                        <a:rPr kumimoji="1" lang="ja-JP" altLang="en-US" sz="1400" b="1" dirty="0">
                          <a:solidFill>
                            <a:srgbClr val="FF0000"/>
                          </a:solidFill>
                        </a:rPr>
                        <a:t>危険度が増減する</a:t>
                      </a:r>
                      <a:r>
                        <a:rPr kumimoji="1" lang="en-US" altLang="ja-JP" sz="1400" b="1" dirty="0">
                          <a:solidFill>
                            <a:srgbClr val="FF0000"/>
                          </a:solidFill>
                        </a:rPr>
                        <a:t>(</a:t>
                      </a:r>
                      <a:r>
                        <a:rPr kumimoji="1" lang="ja-JP" altLang="en-US" sz="1400" b="1" dirty="0">
                          <a:solidFill>
                            <a:srgbClr val="FF0000"/>
                          </a:solidFill>
                        </a:rPr>
                        <a:t>しない</a:t>
                      </a:r>
                      <a:r>
                        <a:rPr kumimoji="1" lang="en-US" altLang="ja-JP" sz="1400" b="1" dirty="0">
                          <a:solidFill>
                            <a:srgbClr val="FF0000"/>
                          </a:solidFill>
                        </a:rPr>
                        <a:t>)</a:t>
                      </a:r>
                      <a:r>
                        <a:rPr kumimoji="1" lang="ja-JP" altLang="en-US" sz="1400" b="1" dirty="0">
                          <a:solidFill>
                            <a:srgbClr val="FF0000"/>
                          </a:solidFill>
                        </a:rPr>
                        <a:t>条件や、危険度順位が逆転する</a:t>
                      </a:r>
                      <a:r>
                        <a:rPr kumimoji="1" lang="en-US" altLang="ja-JP" sz="1400" b="1" dirty="0">
                          <a:solidFill>
                            <a:srgbClr val="FF0000"/>
                          </a:solidFill>
                        </a:rPr>
                        <a:t>(</a:t>
                      </a:r>
                      <a:r>
                        <a:rPr kumimoji="1" lang="ja-JP" altLang="en-US" sz="1400" b="1" dirty="0">
                          <a:solidFill>
                            <a:srgbClr val="FF0000"/>
                          </a:solidFill>
                        </a:rPr>
                        <a:t>しない</a:t>
                      </a:r>
                      <a:r>
                        <a:rPr kumimoji="1" lang="en-US" altLang="ja-JP" sz="1400" b="1" dirty="0">
                          <a:solidFill>
                            <a:srgbClr val="FF0000"/>
                          </a:solidFill>
                        </a:rPr>
                        <a:t>)</a:t>
                      </a:r>
                      <a:r>
                        <a:rPr kumimoji="1" lang="ja-JP" altLang="en-US" sz="1400" b="1" dirty="0">
                          <a:solidFill>
                            <a:srgbClr val="FF0000"/>
                          </a:solidFill>
                        </a:rPr>
                        <a:t>条件</a:t>
                      </a:r>
                      <a:r>
                        <a:rPr kumimoji="1" lang="ja-JP" altLang="en-US" sz="1400" dirty="0"/>
                        <a:t>を整理</a:t>
                      </a:r>
                      <a:endParaRPr kumimoji="1" lang="en-US" altLang="ja-JP" sz="1400" dirty="0"/>
                    </a:p>
                    <a:p>
                      <a:r>
                        <a:rPr kumimoji="1" lang="ja-JP" altLang="en-US" sz="1400" dirty="0"/>
                        <a:t>・どんな文脈の違いや判断知識の違いが危険度順位の逆転を生じさせたか考察</a:t>
                      </a:r>
                    </a:p>
                  </a:txBody>
                  <a:tcPr/>
                </a:tc>
                <a:extLst>
                  <a:ext uri="{0D108BD9-81ED-4DB2-BD59-A6C34878D82A}">
                    <a16:rowId xmlns:a16="http://schemas.microsoft.com/office/drawing/2014/main" val="1169493597"/>
                  </a:ext>
                </a:extLst>
              </a:tr>
              <a:tr h="368447">
                <a:tc>
                  <a:txBody>
                    <a:bodyPr/>
                    <a:lstStyle/>
                    <a:p>
                      <a:r>
                        <a:rPr kumimoji="1" lang="en-US" altLang="ja-JP" sz="1400" dirty="0"/>
                        <a:t>D) </a:t>
                      </a:r>
                      <a:r>
                        <a:rPr kumimoji="1" lang="ja-JP" altLang="en-US" sz="1400" dirty="0"/>
                        <a:t>手法の提供価値</a:t>
                      </a:r>
                    </a:p>
                  </a:txBody>
                  <a:tcPr/>
                </a:tc>
                <a:tc>
                  <a:txBody>
                    <a:bodyPr/>
                    <a:lstStyle/>
                    <a:p>
                      <a:r>
                        <a:rPr lang="ja-JP" altLang="ja-JP" sz="1400" dirty="0"/>
                        <a:t>患者本人の行動だけでは表現できない周囲状況を危険度へ反映するとともに、スタッフの判断知識に応じて見守り優先順位を調整できる</a:t>
                      </a:r>
                      <a:endParaRPr kumimoji="1" lang="ja-JP" altLang="en-US" sz="1400" dirty="0"/>
                    </a:p>
                  </a:txBody>
                  <a:tcPr/>
                </a:tc>
                <a:tc>
                  <a:txBody>
                    <a:bodyPr/>
                    <a:lstStyle/>
                    <a:p>
                      <a:r>
                        <a:rPr kumimoji="1" lang="ja-JP" altLang="en-US" sz="1400" dirty="0"/>
                        <a:t>スタッフの判断知識を明示的な設定として表現し、</a:t>
                      </a:r>
                      <a:r>
                        <a:rPr kumimoji="1" lang="ja-JP" altLang="en-US" sz="1400" b="1" dirty="0">
                          <a:solidFill>
                            <a:schemeClr val="accent1"/>
                          </a:solidFill>
                        </a:rPr>
                        <a:t>設定の違いが、「どの状況で、なぜ患者の危険度順位を変えたか」明らかにできる</a:t>
                      </a:r>
                    </a:p>
                  </a:txBody>
                  <a:tcPr/>
                </a:tc>
                <a:extLst>
                  <a:ext uri="{0D108BD9-81ED-4DB2-BD59-A6C34878D82A}">
                    <a16:rowId xmlns:a16="http://schemas.microsoft.com/office/drawing/2014/main" val="457910743"/>
                  </a:ext>
                </a:extLst>
              </a:tr>
            </a:tbl>
          </a:graphicData>
        </a:graphic>
      </p:graphicFrame>
      <p:sp>
        <p:nvSpPr>
          <p:cNvPr id="8" name="テキスト ボックス 7">
            <a:extLst>
              <a:ext uri="{FF2B5EF4-FFF2-40B4-BE49-F238E27FC236}">
                <a16:creationId xmlns:a16="http://schemas.microsoft.com/office/drawing/2014/main" id="{00E964A4-8FA6-3060-D6C7-D38ADC3847D0}"/>
              </a:ext>
            </a:extLst>
          </p:cNvPr>
          <p:cNvSpPr txBox="1"/>
          <p:nvPr/>
        </p:nvSpPr>
        <p:spPr>
          <a:xfrm>
            <a:off x="2656596" y="6066274"/>
            <a:ext cx="6878806" cy="646331"/>
          </a:xfrm>
          <a:prstGeom prst="rect">
            <a:avLst/>
          </a:prstGeom>
        </p:spPr>
        <p:style>
          <a:lnRef idx="2">
            <a:schemeClr val="accent1"/>
          </a:lnRef>
          <a:fillRef idx="1">
            <a:schemeClr val="lt1"/>
          </a:fillRef>
          <a:effectRef idx="0">
            <a:schemeClr val="accent1"/>
          </a:effectRef>
          <a:fontRef idx="minor">
            <a:schemeClr val="dk1"/>
          </a:fontRef>
        </p:style>
        <p:txBody>
          <a:bodyPr wrap="none" rtlCol="0" anchor="ctr">
            <a:spAutoFit/>
          </a:bodyPr>
          <a:lstStyle/>
          <a:p>
            <a:pPr algn="ctr"/>
            <a:r>
              <a:rPr lang="ja-JP" altLang="en-US" dirty="0"/>
              <a:t>判断知識に基づく「設定」と、「危険度順位」の関係性を明確化</a:t>
            </a:r>
            <a:endParaRPr lang="en-US" altLang="ja-JP" dirty="0"/>
          </a:p>
          <a:p>
            <a:pPr algn="ctr"/>
            <a:r>
              <a:rPr kumimoji="1" lang="ja-JP" altLang="en-US" dirty="0"/>
              <a:t>➡ </a:t>
            </a:r>
            <a:r>
              <a:rPr lang="ja-JP" altLang="en-US" dirty="0"/>
              <a:t>判断知識を階層モデルに反映する部分を新規性として主張</a:t>
            </a:r>
            <a:endParaRPr kumimoji="1" lang="ja-JP" altLang="en-US" dirty="0"/>
          </a:p>
        </p:txBody>
      </p:sp>
    </p:spTree>
    <p:extLst>
      <p:ext uri="{BB962C8B-B14F-4D97-AF65-F5344CB8AC3E}">
        <p14:creationId xmlns:p14="http://schemas.microsoft.com/office/powerpoint/2010/main" val="1460231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E71610C1-F591-48B9-6273-AA91A51D52FA}"/>
              </a:ext>
            </a:extLst>
          </p:cNvPr>
          <p:cNvSpPr/>
          <p:nvPr/>
        </p:nvSpPr>
        <p:spPr>
          <a:xfrm>
            <a:off x="119336" y="5090683"/>
            <a:ext cx="11881320" cy="78311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b="1" dirty="0">
                <a:solidFill>
                  <a:schemeClr val="tx1"/>
                </a:solidFill>
              </a:rPr>
              <a:t>To-Be</a:t>
            </a:r>
          </a:p>
          <a:p>
            <a:r>
              <a:rPr kumimoji="1" lang="ja-JP" altLang="en-US" b="1" dirty="0">
                <a:solidFill>
                  <a:schemeClr val="tx1"/>
                </a:solidFill>
              </a:rPr>
              <a:t>提案手法</a:t>
            </a:r>
          </a:p>
        </p:txBody>
      </p:sp>
      <p:sp>
        <p:nvSpPr>
          <p:cNvPr id="2" name="タイトル 1">
            <a:extLst>
              <a:ext uri="{FF2B5EF4-FFF2-40B4-BE49-F238E27FC236}">
                <a16:creationId xmlns:a16="http://schemas.microsoft.com/office/drawing/2014/main" id="{9CB1F798-307B-7092-E693-3E6A80D4B751}"/>
              </a:ext>
            </a:extLst>
          </p:cNvPr>
          <p:cNvSpPr>
            <a:spLocks noGrp="1"/>
          </p:cNvSpPr>
          <p:nvPr>
            <p:ph type="title"/>
          </p:nvPr>
        </p:nvSpPr>
        <p:spPr/>
        <p:txBody>
          <a:bodyPr/>
          <a:lstStyle/>
          <a:p>
            <a:r>
              <a:rPr kumimoji="1" lang="en-US" altLang="ja-JP" dirty="0"/>
              <a:t>FB</a:t>
            </a:r>
            <a:r>
              <a:rPr kumimoji="1" lang="ja-JP" altLang="en-US" dirty="0"/>
              <a:t>を踏まえた考察①</a:t>
            </a:r>
          </a:p>
        </p:txBody>
      </p:sp>
      <p:sp>
        <p:nvSpPr>
          <p:cNvPr id="3" name="コンテンツ プレースホルダー 2">
            <a:extLst>
              <a:ext uri="{FF2B5EF4-FFF2-40B4-BE49-F238E27FC236}">
                <a16:creationId xmlns:a16="http://schemas.microsoft.com/office/drawing/2014/main" id="{ECD14F37-8C3E-70E4-6F3B-B35822077D4E}"/>
              </a:ext>
            </a:extLst>
          </p:cNvPr>
          <p:cNvSpPr>
            <a:spLocks noGrp="1"/>
          </p:cNvSpPr>
          <p:nvPr>
            <p:ph idx="1"/>
          </p:nvPr>
        </p:nvSpPr>
        <p:spPr/>
        <p:txBody>
          <a:bodyPr/>
          <a:lstStyle/>
          <a:p>
            <a:r>
              <a:rPr kumimoji="1" lang="ja-JP" altLang="en-US" dirty="0"/>
              <a:t>本論文の投稿にあたり、追加検証すべきこと</a:t>
            </a:r>
            <a:endParaRPr kumimoji="1" lang="en-US" altLang="ja-JP" dirty="0"/>
          </a:p>
          <a:p>
            <a:pPr lvl="1"/>
            <a:r>
              <a:rPr kumimoji="1" lang="ja-JP" altLang="en-US" dirty="0"/>
              <a:t>避けたい査読指摘と、対応方針</a:t>
            </a:r>
            <a:endParaRPr kumimoji="1" lang="en-US" altLang="ja-JP" dirty="0"/>
          </a:p>
          <a:p>
            <a:pPr lvl="2"/>
            <a:r>
              <a:rPr lang="ja-JP" altLang="en-US" dirty="0"/>
              <a:t>下図　部の一致が確認できていないので、有効性が未立証</a:t>
            </a:r>
            <a:endParaRPr lang="en-US" altLang="ja-JP" dirty="0"/>
          </a:p>
          <a:p>
            <a:pPr lvl="2"/>
            <a:r>
              <a:rPr kumimoji="1" lang="en-US" altLang="ja-JP" dirty="0"/>
              <a:t>As-Is</a:t>
            </a:r>
            <a:r>
              <a:rPr kumimoji="1" lang="ja-JP" altLang="en-US" dirty="0"/>
              <a:t>・</a:t>
            </a:r>
            <a:r>
              <a:rPr kumimoji="1" lang="en-US" altLang="ja-JP" dirty="0"/>
              <a:t>To-Be</a:t>
            </a:r>
            <a:r>
              <a:rPr kumimoji="1" lang="ja-JP" altLang="en-US" dirty="0"/>
              <a:t>の比較は本論文投稿後に、長崎リハにて取り組みたい</a:t>
            </a:r>
            <a:endParaRPr kumimoji="1" lang="en-US" altLang="ja-JP" dirty="0"/>
          </a:p>
          <a:p>
            <a:pPr lvl="4"/>
            <a:endParaRPr kumimoji="1" lang="en-US" altLang="ja-JP" dirty="0"/>
          </a:p>
          <a:p>
            <a:pPr lvl="1"/>
            <a:r>
              <a:rPr lang="ja-JP" altLang="en-US" dirty="0"/>
              <a:t>本論文で検証すべきこと（次頁にて詳細）</a:t>
            </a:r>
            <a:endParaRPr lang="en-US" altLang="ja-JP" dirty="0"/>
          </a:p>
          <a:p>
            <a:pPr lvl="2"/>
            <a:r>
              <a:rPr lang="ja-JP" altLang="en-US" dirty="0"/>
              <a:t>アンケート回答で導いた判断知識の、危険度順位への反映され方を明確化（　部の関係性評価）</a:t>
            </a:r>
            <a:endParaRPr kumimoji="1" lang="en-US" altLang="ja-JP" dirty="0"/>
          </a:p>
          <a:p>
            <a:pPr lvl="2"/>
            <a:r>
              <a:rPr lang="ja-JP" altLang="en-US" dirty="0"/>
              <a:t>説得力ある検証のためには、</a:t>
            </a:r>
            <a:r>
              <a:rPr kumimoji="1" lang="ja-JP" altLang="en-US" dirty="0"/>
              <a:t>理論的（⇔実データ・ユーザ評価ベース）評価も必要</a:t>
            </a:r>
          </a:p>
        </p:txBody>
      </p:sp>
      <p:sp>
        <p:nvSpPr>
          <p:cNvPr id="4" name="日付プレースホルダー 3">
            <a:extLst>
              <a:ext uri="{FF2B5EF4-FFF2-40B4-BE49-F238E27FC236}">
                <a16:creationId xmlns:a16="http://schemas.microsoft.com/office/drawing/2014/main" id="{DA5ECC87-B694-3AA9-D0A1-22A08A7BA972}"/>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dirty="0"/>
          </a:p>
        </p:txBody>
      </p:sp>
      <p:sp>
        <p:nvSpPr>
          <p:cNvPr id="5" name="フッター プレースホルダー 4">
            <a:extLst>
              <a:ext uri="{FF2B5EF4-FFF2-40B4-BE49-F238E27FC236}">
                <a16:creationId xmlns:a16="http://schemas.microsoft.com/office/drawing/2014/main" id="{35C9D53D-CD71-E38E-96E5-6226B0CD8C8E}"/>
              </a:ext>
            </a:extLst>
          </p:cNvPr>
          <p:cNvSpPr>
            <a:spLocks noGrp="1"/>
          </p:cNvSpPr>
          <p:nvPr>
            <p:ph type="ftr" sz="quarter" idx="11"/>
          </p:nvPr>
        </p:nvSpPr>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5D174E43-1DD3-3009-DB24-429C8E2FAC9E}"/>
              </a:ext>
            </a:extLst>
          </p:cNvPr>
          <p:cNvSpPr>
            <a:spLocks noGrp="1"/>
          </p:cNvSpPr>
          <p:nvPr>
            <p:ph type="sldNum" sz="quarter" idx="12"/>
          </p:nvPr>
        </p:nvSpPr>
        <p:spPr/>
        <p:txBody>
          <a:bodyPr/>
          <a:lstStyle/>
          <a:p>
            <a:fld id="{870B1737-2A00-4EFB-9FD3-149FCC30AA13}" type="slidenum">
              <a:rPr lang="ja-JP" altLang="en-US" smtClean="0"/>
              <a:pPr/>
              <a:t>5</a:t>
            </a:fld>
            <a:endParaRPr lang="ja-JP" altLang="en-US"/>
          </a:p>
        </p:txBody>
      </p:sp>
      <p:sp>
        <p:nvSpPr>
          <p:cNvPr id="27" name="正方形/長方形 26">
            <a:extLst>
              <a:ext uri="{FF2B5EF4-FFF2-40B4-BE49-F238E27FC236}">
                <a16:creationId xmlns:a16="http://schemas.microsoft.com/office/drawing/2014/main" id="{032B39A2-45DF-E3E0-7006-41B275F0E432}"/>
              </a:ext>
            </a:extLst>
          </p:cNvPr>
          <p:cNvSpPr/>
          <p:nvPr/>
        </p:nvSpPr>
        <p:spPr>
          <a:xfrm>
            <a:off x="119336" y="3645024"/>
            <a:ext cx="11881320" cy="7166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b="1" dirty="0">
                <a:solidFill>
                  <a:schemeClr val="tx1"/>
                </a:solidFill>
              </a:rPr>
              <a:t>As-Is</a:t>
            </a:r>
          </a:p>
          <a:p>
            <a:r>
              <a:rPr kumimoji="1" lang="ja-JP" altLang="en-US" b="1" dirty="0">
                <a:solidFill>
                  <a:schemeClr val="tx1"/>
                </a:solidFill>
              </a:rPr>
              <a:t>人手</a:t>
            </a:r>
          </a:p>
        </p:txBody>
      </p:sp>
      <p:sp>
        <p:nvSpPr>
          <p:cNvPr id="8" name="フローチャート: 書類 7">
            <a:extLst>
              <a:ext uri="{FF2B5EF4-FFF2-40B4-BE49-F238E27FC236}">
                <a16:creationId xmlns:a16="http://schemas.microsoft.com/office/drawing/2014/main" id="{8952DEEC-3BDD-39FC-A089-52B26E1A0515}"/>
              </a:ext>
            </a:extLst>
          </p:cNvPr>
          <p:cNvSpPr/>
          <p:nvPr/>
        </p:nvSpPr>
        <p:spPr>
          <a:xfrm>
            <a:off x="283374" y="4494088"/>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スタッフの</a:t>
            </a:r>
            <a:br>
              <a:rPr kumimoji="1" lang="en-US" altLang="ja-JP" sz="1200" dirty="0"/>
            </a:br>
            <a:r>
              <a:rPr kumimoji="1" lang="ja-JP" altLang="en-US" sz="1200" dirty="0"/>
              <a:t>判断知識</a:t>
            </a:r>
          </a:p>
        </p:txBody>
      </p:sp>
      <p:sp>
        <p:nvSpPr>
          <p:cNvPr id="9" name="フローチャート: 書類 8">
            <a:extLst>
              <a:ext uri="{FF2B5EF4-FFF2-40B4-BE49-F238E27FC236}">
                <a16:creationId xmlns:a16="http://schemas.microsoft.com/office/drawing/2014/main" id="{D84E73FB-7C3B-1E00-17DC-84B08DF50FA1}"/>
              </a:ext>
            </a:extLst>
          </p:cNvPr>
          <p:cNvSpPr/>
          <p:nvPr/>
        </p:nvSpPr>
        <p:spPr>
          <a:xfrm>
            <a:off x="2914316" y="5276143"/>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b="1" dirty="0"/>
              <a:t>アンケート回答</a:t>
            </a:r>
          </a:p>
        </p:txBody>
      </p:sp>
      <p:sp>
        <p:nvSpPr>
          <p:cNvPr id="10" name="フローチャート: 書類 9">
            <a:extLst>
              <a:ext uri="{FF2B5EF4-FFF2-40B4-BE49-F238E27FC236}">
                <a16:creationId xmlns:a16="http://schemas.microsoft.com/office/drawing/2014/main" id="{2BC289D8-1136-A7A3-A5C3-B5EB58E78A93}"/>
              </a:ext>
            </a:extLst>
          </p:cNvPr>
          <p:cNvSpPr/>
          <p:nvPr/>
        </p:nvSpPr>
        <p:spPr>
          <a:xfrm>
            <a:off x="5545258" y="5276143"/>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階層モデル</a:t>
            </a:r>
          </a:p>
        </p:txBody>
      </p:sp>
      <p:sp>
        <p:nvSpPr>
          <p:cNvPr id="11" name="フローチャート: 書類 10">
            <a:extLst>
              <a:ext uri="{FF2B5EF4-FFF2-40B4-BE49-F238E27FC236}">
                <a16:creationId xmlns:a16="http://schemas.microsoft.com/office/drawing/2014/main" id="{A748DCEB-F042-60EE-78B1-7509FB79C55C}"/>
              </a:ext>
            </a:extLst>
          </p:cNvPr>
          <p:cNvSpPr/>
          <p:nvPr/>
        </p:nvSpPr>
        <p:spPr>
          <a:xfrm>
            <a:off x="8176200" y="5276143"/>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b="1" dirty="0"/>
              <a:t>危険度順位</a:t>
            </a:r>
            <a:endParaRPr kumimoji="1" lang="en-US" altLang="ja-JP" sz="1200" b="1" dirty="0"/>
          </a:p>
          <a:p>
            <a:pPr algn="ctr"/>
            <a:r>
              <a:rPr kumimoji="1" lang="ja-JP" altLang="en-US" sz="900" b="1" dirty="0"/>
              <a:t>（＋通知文）</a:t>
            </a:r>
          </a:p>
        </p:txBody>
      </p:sp>
      <p:sp>
        <p:nvSpPr>
          <p:cNvPr id="13" name="フローチャート: 書類 12">
            <a:extLst>
              <a:ext uri="{FF2B5EF4-FFF2-40B4-BE49-F238E27FC236}">
                <a16:creationId xmlns:a16="http://schemas.microsoft.com/office/drawing/2014/main" id="{AF8ED4FB-A98D-4BB0-7754-3E44C53B1DA8}"/>
              </a:ext>
            </a:extLst>
          </p:cNvPr>
          <p:cNvSpPr/>
          <p:nvPr/>
        </p:nvSpPr>
        <p:spPr>
          <a:xfrm>
            <a:off x="10807140" y="5270910"/>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スタッフの行動</a:t>
            </a:r>
          </a:p>
        </p:txBody>
      </p:sp>
      <p:cxnSp>
        <p:nvCxnSpPr>
          <p:cNvPr id="17" name="コネクタ: カギ線 16">
            <a:extLst>
              <a:ext uri="{FF2B5EF4-FFF2-40B4-BE49-F238E27FC236}">
                <a16:creationId xmlns:a16="http://schemas.microsoft.com/office/drawing/2014/main" id="{905D5981-CC67-119F-8349-12FED766BD9E}"/>
              </a:ext>
            </a:extLst>
          </p:cNvPr>
          <p:cNvCxnSpPr>
            <a:cxnSpLocks/>
            <a:stCxn id="8" idx="3"/>
            <a:endCxn id="83" idx="1"/>
          </p:cNvCxnSpPr>
          <p:nvPr/>
        </p:nvCxnSpPr>
        <p:spPr>
          <a:xfrm>
            <a:off x="1374262" y="4726574"/>
            <a:ext cx="224583" cy="782813"/>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1" name="フローチャート: 書類 30">
            <a:extLst>
              <a:ext uri="{FF2B5EF4-FFF2-40B4-BE49-F238E27FC236}">
                <a16:creationId xmlns:a16="http://schemas.microsoft.com/office/drawing/2014/main" id="{5463B2DA-B3C2-B674-893C-0D97D239E596}"/>
              </a:ext>
            </a:extLst>
          </p:cNvPr>
          <p:cNvSpPr/>
          <p:nvPr/>
        </p:nvSpPr>
        <p:spPr>
          <a:xfrm>
            <a:off x="5545258" y="4497151"/>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100" dirty="0"/>
              <a:t>患者</a:t>
            </a:r>
            <a:r>
              <a:rPr kumimoji="1" lang="en-US" altLang="ja-JP" sz="1100" dirty="0"/>
              <a:t>/</a:t>
            </a:r>
            <a:r>
              <a:rPr kumimoji="1" lang="ja-JP" altLang="en-US" sz="1100" dirty="0"/>
              <a:t>空間的</a:t>
            </a:r>
            <a:br>
              <a:rPr kumimoji="1" lang="en-US" altLang="ja-JP" sz="1100" dirty="0"/>
            </a:br>
            <a:r>
              <a:rPr kumimoji="1" lang="ja-JP" altLang="en-US" sz="1100" dirty="0"/>
              <a:t>文脈情報</a:t>
            </a:r>
          </a:p>
        </p:txBody>
      </p:sp>
      <p:cxnSp>
        <p:nvCxnSpPr>
          <p:cNvPr id="45" name="コネクタ: カギ線 44">
            <a:extLst>
              <a:ext uri="{FF2B5EF4-FFF2-40B4-BE49-F238E27FC236}">
                <a16:creationId xmlns:a16="http://schemas.microsoft.com/office/drawing/2014/main" id="{E6E88170-C03B-1363-0A65-33301A32E93C}"/>
              </a:ext>
            </a:extLst>
          </p:cNvPr>
          <p:cNvCxnSpPr>
            <a:cxnSpLocks/>
            <a:stCxn id="8" idx="3"/>
            <a:endCxn id="127" idx="1"/>
          </p:cNvCxnSpPr>
          <p:nvPr/>
        </p:nvCxnSpPr>
        <p:spPr>
          <a:xfrm flipV="1">
            <a:off x="1374262" y="4061266"/>
            <a:ext cx="5486467" cy="6653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46" name="コネクタ: カギ線 45">
            <a:extLst>
              <a:ext uri="{FF2B5EF4-FFF2-40B4-BE49-F238E27FC236}">
                <a16:creationId xmlns:a16="http://schemas.microsoft.com/office/drawing/2014/main" id="{A338F39B-98B1-4317-D32A-EC0632E0F950}"/>
              </a:ext>
            </a:extLst>
          </p:cNvPr>
          <p:cNvCxnSpPr>
            <a:cxnSpLocks/>
            <a:stCxn id="31" idx="3"/>
            <a:endCxn id="93" idx="1"/>
          </p:cNvCxnSpPr>
          <p:nvPr/>
        </p:nvCxnSpPr>
        <p:spPr>
          <a:xfrm>
            <a:off x="6636146" y="4729637"/>
            <a:ext cx="224583" cy="7797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0" name="コネクタ: カギ線 69">
            <a:extLst>
              <a:ext uri="{FF2B5EF4-FFF2-40B4-BE49-F238E27FC236}">
                <a16:creationId xmlns:a16="http://schemas.microsoft.com/office/drawing/2014/main" id="{CC247711-440A-E9C2-6E56-39B891F4E041}"/>
              </a:ext>
            </a:extLst>
          </p:cNvPr>
          <p:cNvCxnSpPr>
            <a:cxnSpLocks/>
            <a:stCxn id="31" idx="3"/>
            <a:endCxn id="127" idx="2"/>
          </p:cNvCxnSpPr>
          <p:nvPr/>
        </p:nvCxnSpPr>
        <p:spPr>
          <a:xfrm flipV="1">
            <a:off x="6636146" y="4293744"/>
            <a:ext cx="2085498" cy="43589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3" name="コネクタ: カギ線 72">
            <a:extLst>
              <a:ext uri="{FF2B5EF4-FFF2-40B4-BE49-F238E27FC236}">
                <a16:creationId xmlns:a16="http://schemas.microsoft.com/office/drawing/2014/main" id="{A45941B9-285F-C363-062D-982836457810}"/>
              </a:ext>
            </a:extLst>
          </p:cNvPr>
          <p:cNvCxnSpPr>
            <a:cxnSpLocks/>
            <a:stCxn id="10" idx="2"/>
            <a:endCxn id="93" idx="2"/>
          </p:cNvCxnSpPr>
          <p:nvPr/>
        </p:nvCxnSpPr>
        <p:spPr>
          <a:xfrm rot="16200000" flipH="1">
            <a:off x="6732692" y="5068384"/>
            <a:ext cx="31490" cy="1315471"/>
          </a:xfrm>
          <a:prstGeom prst="bentConnector3">
            <a:avLst>
              <a:gd name="adj1" fmla="val 825945"/>
            </a:avLst>
          </a:prstGeom>
          <a:ln>
            <a:tailEnd type="triangle"/>
          </a:ln>
        </p:spPr>
        <p:style>
          <a:lnRef idx="1">
            <a:schemeClr val="dk1"/>
          </a:lnRef>
          <a:fillRef idx="0">
            <a:schemeClr val="dk1"/>
          </a:fillRef>
          <a:effectRef idx="0">
            <a:schemeClr val="dk1"/>
          </a:effectRef>
          <a:fontRef idx="minor">
            <a:schemeClr val="tx1"/>
          </a:fontRef>
        </p:style>
      </p:cxnSp>
      <p:sp>
        <p:nvSpPr>
          <p:cNvPr id="83" name="正方形/長方形 82">
            <a:extLst>
              <a:ext uri="{FF2B5EF4-FFF2-40B4-BE49-F238E27FC236}">
                <a16:creationId xmlns:a16="http://schemas.microsoft.com/office/drawing/2014/main" id="{819AFB95-DD47-37FF-716C-203DD5A0C79B}"/>
              </a:ext>
            </a:extLst>
          </p:cNvPr>
          <p:cNvSpPr/>
          <p:nvPr/>
        </p:nvSpPr>
        <p:spPr>
          <a:xfrm>
            <a:off x="1598845" y="5276909"/>
            <a:ext cx="1090888" cy="46495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b="1" dirty="0"/>
              <a:t>アンケート記入</a:t>
            </a:r>
          </a:p>
        </p:txBody>
      </p:sp>
      <p:cxnSp>
        <p:nvCxnSpPr>
          <p:cNvPr id="86" name="直線矢印コネクタ 85">
            <a:extLst>
              <a:ext uri="{FF2B5EF4-FFF2-40B4-BE49-F238E27FC236}">
                <a16:creationId xmlns:a16="http://schemas.microsoft.com/office/drawing/2014/main" id="{90A9FC98-BA88-C8C1-5340-DFB5B5A65C9D}"/>
              </a:ext>
            </a:extLst>
          </p:cNvPr>
          <p:cNvCxnSpPr>
            <a:cxnSpLocks/>
            <a:stCxn id="83" idx="3"/>
            <a:endCxn id="9" idx="1"/>
          </p:cNvCxnSpPr>
          <p:nvPr/>
        </p:nvCxnSpPr>
        <p:spPr>
          <a:xfrm flipV="1">
            <a:off x="2689733" y="5508629"/>
            <a:ext cx="224583" cy="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2" name="正方形/長方形 91">
            <a:extLst>
              <a:ext uri="{FF2B5EF4-FFF2-40B4-BE49-F238E27FC236}">
                <a16:creationId xmlns:a16="http://schemas.microsoft.com/office/drawing/2014/main" id="{65F508FC-5871-AF0C-1400-152204BF3EFD}"/>
              </a:ext>
            </a:extLst>
          </p:cNvPr>
          <p:cNvSpPr/>
          <p:nvPr/>
        </p:nvSpPr>
        <p:spPr>
          <a:xfrm>
            <a:off x="4229787" y="5276909"/>
            <a:ext cx="1090888" cy="46495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AHP</a:t>
            </a:r>
            <a:r>
              <a:rPr lang="ja-JP" altLang="en-US" sz="1050" dirty="0"/>
              <a:t> </a:t>
            </a:r>
            <a:r>
              <a:rPr kumimoji="1" lang="en-US" altLang="ja-JP" sz="1050" dirty="0"/>
              <a:t>/ Fuzzy</a:t>
            </a:r>
            <a:br>
              <a:rPr kumimoji="1" lang="en-US" altLang="ja-JP" sz="1050" dirty="0"/>
            </a:br>
            <a:r>
              <a:rPr kumimoji="1" lang="ja-JP" altLang="en-US" sz="1050" dirty="0"/>
              <a:t>パラメタ計算</a:t>
            </a:r>
          </a:p>
        </p:txBody>
      </p:sp>
      <p:sp>
        <p:nvSpPr>
          <p:cNvPr id="93" name="正方形/長方形 92">
            <a:extLst>
              <a:ext uri="{FF2B5EF4-FFF2-40B4-BE49-F238E27FC236}">
                <a16:creationId xmlns:a16="http://schemas.microsoft.com/office/drawing/2014/main" id="{6E9E45C0-C69F-98B8-A43F-D46F9B656E5E}"/>
              </a:ext>
            </a:extLst>
          </p:cNvPr>
          <p:cNvSpPr/>
          <p:nvPr/>
        </p:nvSpPr>
        <p:spPr>
          <a:xfrm>
            <a:off x="6860729" y="5276909"/>
            <a:ext cx="1090888" cy="46495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危険度評価</a:t>
            </a:r>
          </a:p>
        </p:txBody>
      </p:sp>
      <p:sp>
        <p:nvSpPr>
          <p:cNvPr id="94" name="正方形/長方形 93">
            <a:extLst>
              <a:ext uri="{FF2B5EF4-FFF2-40B4-BE49-F238E27FC236}">
                <a16:creationId xmlns:a16="http://schemas.microsoft.com/office/drawing/2014/main" id="{547814BF-37D2-2677-DFB8-F9EB6DCEE64B}"/>
              </a:ext>
            </a:extLst>
          </p:cNvPr>
          <p:cNvSpPr/>
          <p:nvPr/>
        </p:nvSpPr>
        <p:spPr>
          <a:xfrm>
            <a:off x="9491671" y="5276909"/>
            <a:ext cx="1090888" cy="46495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solidFill>
                  <a:schemeClr val="tx1"/>
                </a:solidFill>
              </a:rPr>
              <a:t>スタッフの判断</a:t>
            </a:r>
          </a:p>
        </p:txBody>
      </p:sp>
      <p:cxnSp>
        <p:nvCxnSpPr>
          <p:cNvPr id="103" name="直線矢印コネクタ 102">
            <a:extLst>
              <a:ext uri="{FF2B5EF4-FFF2-40B4-BE49-F238E27FC236}">
                <a16:creationId xmlns:a16="http://schemas.microsoft.com/office/drawing/2014/main" id="{3B16342D-CA68-174D-F03B-AC77F85AF415}"/>
              </a:ext>
            </a:extLst>
          </p:cNvPr>
          <p:cNvCxnSpPr>
            <a:cxnSpLocks/>
            <a:stCxn id="9" idx="3"/>
            <a:endCxn id="92" idx="1"/>
          </p:cNvCxnSpPr>
          <p:nvPr/>
        </p:nvCxnSpPr>
        <p:spPr>
          <a:xfrm>
            <a:off x="4005204" y="5508629"/>
            <a:ext cx="224583" cy="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直線矢印コネクタ 105">
            <a:extLst>
              <a:ext uri="{FF2B5EF4-FFF2-40B4-BE49-F238E27FC236}">
                <a16:creationId xmlns:a16="http://schemas.microsoft.com/office/drawing/2014/main" id="{87BB01BD-F02D-4BF3-2431-676D1717D227}"/>
              </a:ext>
            </a:extLst>
          </p:cNvPr>
          <p:cNvCxnSpPr>
            <a:cxnSpLocks/>
            <a:stCxn id="92" idx="3"/>
            <a:endCxn id="10" idx="1"/>
          </p:cNvCxnSpPr>
          <p:nvPr/>
        </p:nvCxnSpPr>
        <p:spPr>
          <a:xfrm flipV="1">
            <a:off x="5320675" y="5508629"/>
            <a:ext cx="224583" cy="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直線矢印コネクタ 111">
            <a:extLst>
              <a:ext uri="{FF2B5EF4-FFF2-40B4-BE49-F238E27FC236}">
                <a16:creationId xmlns:a16="http://schemas.microsoft.com/office/drawing/2014/main" id="{898E1E46-5324-32B7-1139-287AA2E91025}"/>
              </a:ext>
            </a:extLst>
          </p:cNvPr>
          <p:cNvCxnSpPr>
            <a:cxnSpLocks/>
            <a:stCxn id="93" idx="3"/>
            <a:endCxn id="11" idx="1"/>
          </p:cNvCxnSpPr>
          <p:nvPr/>
        </p:nvCxnSpPr>
        <p:spPr>
          <a:xfrm flipV="1">
            <a:off x="7951617" y="5508629"/>
            <a:ext cx="224583" cy="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98EE9CB2-F5EE-716F-D321-BA734056DCBA}"/>
              </a:ext>
            </a:extLst>
          </p:cNvPr>
          <p:cNvCxnSpPr>
            <a:cxnSpLocks/>
            <a:stCxn id="11" idx="3"/>
            <a:endCxn id="94" idx="1"/>
          </p:cNvCxnSpPr>
          <p:nvPr/>
        </p:nvCxnSpPr>
        <p:spPr>
          <a:xfrm>
            <a:off x="9267088" y="5508629"/>
            <a:ext cx="224583" cy="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直線矢印コネクタ 117">
            <a:extLst>
              <a:ext uri="{FF2B5EF4-FFF2-40B4-BE49-F238E27FC236}">
                <a16:creationId xmlns:a16="http://schemas.microsoft.com/office/drawing/2014/main" id="{A0994187-77AB-44F4-5891-2EBA5C34A99E}"/>
              </a:ext>
            </a:extLst>
          </p:cNvPr>
          <p:cNvCxnSpPr>
            <a:cxnSpLocks/>
            <a:stCxn id="94" idx="3"/>
            <a:endCxn id="13" idx="1"/>
          </p:cNvCxnSpPr>
          <p:nvPr/>
        </p:nvCxnSpPr>
        <p:spPr>
          <a:xfrm flipV="1">
            <a:off x="10582559" y="5503396"/>
            <a:ext cx="224581" cy="59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フローチャート: 書類 125">
            <a:extLst>
              <a:ext uri="{FF2B5EF4-FFF2-40B4-BE49-F238E27FC236}">
                <a16:creationId xmlns:a16="http://schemas.microsoft.com/office/drawing/2014/main" id="{189137B9-8F1F-126B-B954-036C481E5680}"/>
              </a:ext>
            </a:extLst>
          </p:cNvPr>
          <p:cNvSpPr/>
          <p:nvPr/>
        </p:nvSpPr>
        <p:spPr>
          <a:xfrm>
            <a:off x="10807140" y="3822789"/>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スタッフの行動</a:t>
            </a:r>
          </a:p>
        </p:txBody>
      </p:sp>
      <p:sp>
        <p:nvSpPr>
          <p:cNvPr id="127" name="正方形/長方形 126">
            <a:extLst>
              <a:ext uri="{FF2B5EF4-FFF2-40B4-BE49-F238E27FC236}">
                <a16:creationId xmlns:a16="http://schemas.microsoft.com/office/drawing/2014/main" id="{F7454CCA-BBD8-6E21-0ED8-EFE8A0479008}"/>
              </a:ext>
            </a:extLst>
          </p:cNvPr>
          <p:cNvSpPr/>
          <p:nvPr/>
        </p:nvSpPr>
        <p:spPr>
          <a:xfrm>
            <a:off x="6860729" y="3828788"/>
            <a:ext cx="3721830" cy="46495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solidFill>
                  <a:schemeClr val="tx1"/>
                </a:solidFill>
              </a:rPr>
              <a:t>スタッフの判断</a:t>
            </a:r>
          </a:p>
        </p:txBody>
      </p:sp>
      <p:cxnSp>
        <p:nvCxnSpPr>
          <p:cNvPr id="128" name="直線矢印コネクタ 127">
            <a:extLst>
              <a:ext uri="{FF2B5EF4-FFF2-40B4-BE49-F238E27FC236}">
                <a16:creationId xmlns:a16="http://schemas.microsoft.com/office/drawing/2014/main" id="{E8E5DED8-6048-6622-C264-752A8043F78A}"/>
              </a:ext>
            </a:extLst>
          </p:cNvPr>
          <p:cNvCxnSpPr>
            <a:cxnSpLocks/>
            <a:stCxn id="127" idx="3"/>
            <a:endCxn id="126" idx="1"/>
          </p:cNvCxnSpPr>
          <p:nvPr/>
        </p:nvCxnSpPr>
        <p:spPr>
          <a:xfrm flipV="1">
            <a:off x="10582559" y="4055275"/>
            <a:ext cx="224581" cy="59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2" name="グループ化 11">
            <a:extLst>
              <a:ext uri="{FF2B5EF4-FFF2-40B4-BE49-F238E27FC236}">
                <a16:creationId xmlns:a16="http://schemas.microsoft.com/office/drawing/2014/main" id="{FF8E83AC-F182-5BF9-C062-2200BA62B0D6}"/>
              </a:ext>
            </a:extLst>
          </p:cNvPr>
          <p:cNvGrpSpPr/>
          <p:nvPr/>
        </p:nvGrpSpPr>
        <p:grpSpPr>
          <a:xfrm>
            <a:off x="9491670" y="6087829"/>
            <a:ext cx="2508985" cy="313560"/>
            <a:chOff x="8176200" y="6108010"/>
            <a:chExt cx="3721828" cy="465135"/>
          </a:xfrm>
        </p:grpSpPr>
        <p:sp>
          <p:nvSpPr>
            <p:cNvPr id="146" name="フローチャート: 書類 145">
              <a:extLst>
                <a:ext uri="{FF2B5EF4-FFF2-40B4-BE49-F238E27FC236}">
                  <a16:creationId xmlns:a16="http://schemas.microsoft.com/office/drawing/2014/main" id="{DC850A7F-5DFE-AD3F-1AC6-CDEB472BE277}"/>
                </a:ext>
              </a:extLst>
            </p:cNvPr>
            <p:cNvSpPr/>
            <p:nvPr/>
          </p:nvSpPr>
          <p:spPr>
            <a:xfrm>
              <a:off x="10807140" y="6108010"/>
              <a:ext cx="1090888" cy="464972"/>
            </a:xfrm>
            <a:prstGeom prst="flowChart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900" dirty="0"/>
                <a:t>情報</a:t>
              </a:r>
            </a:p>
          </p:txBody>
        </p:sp>
        <p:sp>
          <p:nvSpPr>
            <p:cNvPr id="149" name="正方形/長方形 148">
              <a:extLst>
                <a:ext uri="{FF2B5EF4-FFF2-40B4-BE49-F238E27FC236}">
                  <a16:creationId xmlns:a16="http://schemas.microsoft.com/office/drawing/2014/main" id="{9D624FB2-0D8F-0BFE-48BA-7D79FE0B9AA0}"/>
                </a:ext>
              </a:extLst>
            </p:cNvPr>
            <p:cNvSpPr/>
            <p:nvPr/>
          </p:nvSpPr>
          <p:spPr>
            <a:xfrm>
              <a:off x="9491671" y="6108189"/>
              <a:ext cx="1090888" cy="46495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900" dirty="0">
                  <a:solidFill>
                    <a:schemeClr val="tx1"/>
                  </a:solidFill>
                </a:rPr>
                <a:t>スタッフのタスク</a:t>
              </a:r>
            </a:p>
          </p:txBody>
        </p:sp>
        <p:sp>
          <p:nvSpPr>
            <p:cNvPr id="150" name="正方形/長方形 149">
              <a:extLst>
                <a:ext uri="{FF2B5EF4-FFF2-40B4-BE49-F238E27FC236}">
                  <a16:creationId xmlns:a16="http://schemas.microsoft.com/office/drawing/2014/main" id="{D7A41819-2703-7C08-B5A1-ECBAC5138704}"/>
                </a:ext>
              </a:extLst>
            </p:cNvPr>
            <p:cNvSpPr/>
            <p:nvPr/>
          </p:nvSpPr>
          <p:spPr>
            <a:xfrm>
              <a:off x="8176200" y="6108189"/>
              <a:ext cx="1090888" cy="464956"/>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900" dirty="0">
                  <a:solidFill>
                    <a:schemeClr val="tx1"/>
                  </a:solidFill>
                </a:rPr>
                <a:t>システムのタスク</a:t>
              </a:r>
            </a:p>
          </p:txBody>
        </p:sp>
      </p:grpSp>
      <p:cxnSp>
        <p:nvCxnSpPr>
          <p:cNvPr id="152" name="直線矢印コネクタ 151">
            <a:extLst>
              <a:ext uri="{FF2B5EF4-FFF2-40B4-BE49-F238E27FC236}">
                <a16:creationId xmlns:a16="http://schemas.microsoft.com/office/drawing/2014/main" id="{85AE6F19-4FA9-4408-760F-58272CFE62FF}"/>
              </a:ext>
            </a:extLst>
          </p:cNvPr>
          <p:cNvCxnSpPr>
            <a:cxnSpLocks/>
            <a:endCxn id="93" idx="0"/>
          </p:cNvCxnSpPr>
          <p:nvPr/>
        </p:nvCxnSpPr>
        <p:spPr>
          <a:xfrm>
            <a:off x="7406173" y="4287761"/>
            <a:ext cx="0" cy="989148"/>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5" name="直線矢印コネクタ 154">
            <a:extLst>
              <a:ext uri="{FF2B5EF4-FFF2-40B4-BE49-F238E27FC236}">
                <a16:creationId xmlns:a16="http://schemas.microsoft.com/office/drawing/2014/main" id="{8FF68D70-AF5F-8228-BCD7-0368100C678D}"/>
              </a:ext>
            </a:extLst>
          </p:cNvPr>
          <p:cNvCxnSpPr>
            <a:cxnSpLocks/>
          </p:cNvCxnSpPr>
          <p:nvPr/>
        </p:nvCxnSpPr>
        <p:spPr>
          <a:xfrm>
            <a:off x="8904312" y="4287761"/>
            <a:ext cx="0" cy="989148"/>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6" name="直線矢印コネクタ 155">
            <a:extLst>
              <a:ext uri="{FF2B5EF4-FFF2-40B4-BE49-F238E27FC236}">
                <a16:creationId xmlns:a16="http://schemas.microsoft.com/office/drawing/2014/main" id="{EE7373C5-79DF-BA59-5399-F796A5CB8C74}"/>
              </a:ext>
            </a:extLst>
          </p:cNvPr>
          <p:cNvCxnSpPr>
            <a:cxnSpLocks/>
          </p:cNvCxnSpPr>
          <p:nvPr/>
        </p:nvCxnSpPr>
        <p:spPr>
          <a:xfrm>
            <a:off x="9984432" y="4287761"/>
            <a:ext cx="0" cy="989148"/>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7" name="直線矢印コネクタ 156">
            <a:extLst>
              <a:ext uri="{FF2B5EF4-FFF2-40B4-BE49-F238E27FC236}">
                <a16:creationId xmlns:a16="http://schemas.microsoft.com/office/drawing/2014/main" id="{B4BFE9BB-5B1B-BD75-E6DC-19D05A567053}"/>
              </a:ext>
            </a:extLst>
          </p:cNvPr>
          <p:cNvCxnSpPr>
            <a:cxnSpLocks/>
          </p:cNvCxnSpPr>
          <p:nvPr/>
        </p:nvCxnSpPr>
        <p:spPr>
          <a:xfrm>
            <a:off x="11352584" y="4287761"/>
            <a:ext cx="0" cy="989148"/>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8" name="直線矢印コネクタ 157">
            <a:extLst>
              <a:ext uri="{FF2B5EF4-FFF2-40B4-BE49-F238E27FC236}">
                <a16:creationId xmlns:a16="http://schemas.microsoft.com/office/drawing/2014/main" id="{FFC20C13-C7C9-820D-6A03-D35B0F8DDB44}"/>
              </a:ext>
            </a:extLst>
          </p:cNvPr>
          <p:cNvCxnSpPr>
            <a:cxnSpLocks/>
          </p:cNvCxnSpPr>
          <p:nvPr/>
        </p:nvCxnSpPr>
        <p:spPr>
          <a:xfrm>
            <a:off x="1631504" y="1628800"/>
            <a:ext cx="0" cy="360040"/>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0" name="直線矢印コネクタ 159">
            <a:extLst>
              <a:ext uri="{FF2B5EF4-FFF2-40B4-BE49-F238E27FC236}">
                <a16:creationId xmlns:a16="http://schemas.microsoft.com/office/drawing/2014/main" id="{E7453945-CC20-662E-A7B9-A7B41F0E8168}"/>
              </a:ext>
            </a:extLst>
          </p:cNvPr>
          <p:cNvCxnSpPr>
            <a:cxnSpLocks/>
          </p:cNvCxnSpPr>
          <p:nvPr/>
        </p:nvCxnSpPr>
        <p:spPr>
          <a:xfrm>
            <a:off x="9768408" y="2852936"/>
            <a:ext cx="0" cy="360040"/>
          </a:xfrm>
          <a:prstGeom prst="straightConnector1">
            <a:avLst/>
          </a:prstGeom>
          <a:ln w="381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5" name="正方形/長方形 164">
            <a:extLst>
              <a:ext uri="{FF2B5EF4-FFF2-40B4-BE49-F238E27FC236}">
                <a16:creationId xmlns:a16="http://schemas.microsoft.com/office/drawing/2014/main" id="{60DAE819-0EB6-ED56-77A8-1D4D198E289F}"/>
              </a:ext>
            </a:extLst>
          </p:cNvPr>
          <p:cNvSpPr/>
          <p:nvPr/>
        </p:nvSpPr>
        <p:spPr>
          <a:xfrm>
            <a:off x="4079776" y="5040702"/>
            <a:ext cx="3993789" cy="10248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6" name="テキスト ボックス 165">
            <a:extLst>
              <a:ext uri="{FF2B5EF4-FFF2-40B4-BE49-F238E27FC236}">
                <a16:creationId xmlns:a16="http://schemas.microsoft.com/office/drawing/2014/main" id="{CB3ECF7A-6AA7-8107-B892-A90F199185D2}"/>
              </a:ext>
            </a:extLst>
          </p:cNvPr>
          <p:cNvSpPr txBox="1"/>
          <p:nvPr/>
        </p:nvSpPr>
        <p:spPr>
          <a:xfrm>
            <a:off x="3310629" y="6356199"/>
            <a:ext cx="5570756" cy="307777"/>
          </a:xfrm>
          <a:prstGeom prst="rect">
            <a:avLst/>
          </a:prstGeom>
          <a:noFill/>
        </p:spPr>
        <p:txBody>
          <a:bodyPr wrap="none" rtlCol="0">
            <a:spAutoFit/>
          </a:bodyPr>
          <a:lstStyle/>
          <a:p>
            <a:pPr algn="ctr"/>
            <a:r>
              <a:rPr kumimoji="1" lang="ja-JP" altLang="en-US" sz="1400" dirty="0">
                <a:solidFill>
                  <a:schemeClr val="accent1"/>
                </a:solidFill>
              </a:rPr>
              <a:t>「アンケート回答」「危険度順位」の関係性を理論的に評価したい</a:t>
            </a:r>
          </a:p>
        </p:txBody>
      </p:sp>
      <p:cxnSp>
        <p:nvCxnSpPr>
          <p:cNvPr id="18" name="コネクタ: カギ線 17">
            <a:extLst>
              <a:ext uri="{FF2B5EF4-FFF2-40B4-BE49-F238E27FC236}">
                <a16:creationId xmlns:a16="http://schemas.microsoft.com/office/drawing/2014/main" id="{D236162A-373F-A4D6-2FFC-5DD70696EF73}"/>
              </a:ext>
            </a:extLst>
          </p:cNvPr>
          <p:cNvCxnSpPr>
            <a:stCxn id="9" idx="2"/>
            <a:endCxn id="11" idx="2"/>
          </p:cNvCxnSpPr>
          <p:nvPr/>
        </p:nvCxnSpPr>
        <p:spPr>
          <a:xfrm rot="16200000" flipH="1">
            <a:off x="6090702" y="3079433"/>
            <a:ext cx="12700" cy="5261884"/>
          </a:xfrm>
          <a:prstGeom prst="bentConnector3">
            <a:avLst>
              <a:gd name="adj1" fmla="val 432259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5410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03706-A266-484B-8416-1D4E100F86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32A81D-17F0-A749-7074-CE69FF9D9D94}"/>
              </a:ext>
            </a:extLst>
          </p:cNvPr>
          <p:cNvSpPr>
            <a:spLocks noGrp="1"/>
          </p:cNvSpPr>
          <p:nvPr>
            <p:ph type="title"/>
          </p:nvPr>
        </p:nvSpPr>
        <p:spPr/>
        <p:txBody>
          <a:bodyPr/>
          <a:lstStyle/>
          <a:p>
            <a:r>
              <a:rPr kumimoji="1" lang="ja-JP" altLang="en-US" dirty="0"/>
              <a:t>考察②</a:t>
            </a:r>
            <a:r>
              <a:rPr kumimoji="1" lang="en-US" altLang="ja-JP" dirty="0"/>
              <a:t>-1</a:t>
            </a:r>
            <a:r>
              <a:rPr kumimoji="1" lang="ja-JP" altLang="en-US" dirty="0"/>
              <a:t>（差分に着目・感度分析</a:t>
            </a:r>
            <a:r>
              <a:rPr kumimoji="1" lang="en-US" altLang="ja-JP" dirty="0"/>
              <a:t>?</a:t>
            </a:r>
            <a:r>
              <a:rPr lang="ja-JP" altLang="en-US" dirty="0"/>
              <a:t>）</a:t>
            </a:r>
            <a:endParaRPr kumimoji="1" lang="ja-JP" altLang="en-US" dirty="0"/>
          </a:p>
        </p:txBody>
      </p:sp>
      <p:sp>
        <p:nvSpPr>
          <p:cNvPr id="3" name="コンテンツ プレースホルダー 2">
            <a:extLst>
              <a:ext uri="{FF2B5EF4-FFF2-40B4-BE49-F238E27FC236}">
                <a16:creationId xmlns:a16="http://schemas.microsoft.com/office/drawing/2014/main" id="{32DB453C-A4BF-C8CE-5C92-F71F060E85C6}"/>
              </a:ext>
            </a:extLst>
          </p:cNvPr>
          <p:cNvSpPr>
            <a:spLocks noGrp="1"/>
          </p:cNvSpPr>
          <p:nvPr>
            <p:ph idx="1"/>
          </p:nvPr>
        </p:nvSpPr>
        <p:spPr/>
        <p:txBody>
          <a:bodyPr/>
          <a:lstStyle/>
          <a:p>
            <a:r>
              <a:rPr lang="ja-JP" altLang="en-US" dirty="0"/>
              <a:t>理論的評価：危険度順位の、文脈や判断知識に対する感度分析</a:t>
            </a:r>
            <a:endParaRPr lang="en-US" altLang="ja-JP" dirty="0"/>
          </a:p>
          <a:p>
            <a:pPr lvl="1"/>
            <a:r>
              <a:rPr kumimoji="1" lang="ja-JP" altLang="en-US" dirty="0"/>
              <a:t>得たい結論</a:t>
            </a:r>
            <a:endParaRPr kumimoji="1" lang="en-US" altLang="ja-JP" dirty="0"/>
          </a:p>
          <a:p>
            <a:pPr lvl="2"/>
            <a:r>
              <a:rPr lang="ja-JP" altLang="en-US" dirty="0"/>
              <a:t>患者・空間的文脈の違いやスタッフの判断知識の違いが、危険度順位を適切</a:t>
            </a:r>
            <a:r>
              <a:rPr lang="en-US" altLang="ja-JP" dirty="0"/>
              <a:t>*</a:t>
            </a:r>
            <a:r>
              <a:rPr lang="ja-JP" altLang="en-US" dirty="0"/>
              <a:t>に変化させる</a:t>
            </a:r>
            <a:endParaRPr lang="en-US" altLang="ja-JP" dirty="0"/>
          </a:p>
          <a:p>
            <a:pPr lvl="4"/>
            <a:endParaRPr lang="en-US" altLang="ja-JP" dirty="0"/>
          </a:p>
          <a:p>
            <a:pPr lvl="1"/>
            <a:r>
              <a:rPr kumimoji="1" lang="ja-JP" altLang="en-US" dirty="0"/>
              <a:t>得るべき結果</a:t>
            </a:r>
            <a:endParaRPr kumimoji="1" lang="en-US" altLang="ja-JP" dirty="0"/>
          </a:p>
          <a:p>
            <a:pPr lvl="2"/>
            <a:r>
              <a:rPr lang="en-US" altLang="ja-JP" dirty="0"/>
              <a:t>XXX</a:t>
            </a:r>
            <a:r>
              <a:rPr lang="ja-JP" altLang="en-US" dirty="0"/>
              <a:t>という文脈</a:t>
            </a:r>
            <a:r>
              <a:rPr lang="en-US" altLang="ja-JP" dirty="0"/>
              <a:t>/</a:t>
            </a:r>
            <a:r>
              <a:rPr lang="ja-JP" altLang="en-US" dirty="0"/>
              <a:t>判断知識の違いが、危険度順位を「</a:t>
            </a:r>
            <a:r>
              <a:rPr lang="en-US" altLang="ja-JP" dirty="0"/>
              <a:t>A&gt;B&gt;C </a:t>
            </a:r>
            <a:r>
              <a:rPr lang="ja-JP" altLang="en-US" dirty="0"/>
              <a:t>→ </a:t>
            </a:r>
            <a:r>
              <a:rPr lang="en-US" altLang="ja-JP" dirty="0"/>
              <a:t>B&gt;A&gt;C</a:t>
            </a:r>
            <a:r>
              <a:rPr lang="ja-JP" altLang="en-US" dirty="0"/>
              <a:t>」のように変化させる</a:t>
            </a:r>
            <a:endParaRPr lang="en-US" altLang="ja-JP" dirty="0"/>
          </a:p>
          <a:p>
            <a:pPr lvl="2"/>
            <a:r>
              <a:rPr lang="ja-JP" altLang="en-US" dirty="0"/>
              <a:t>合理的</a:t>
            </a:r>
            <a:r>
              <a:rPr lang="en-US" altLang="ja-JP" dirty="0"/>
              <a:t>**</a:t>
            </a:r>
            <a:r>
              <a:rPr lang="ja-JP" altLang="en-US" dirty="0"/>
              <a:t>な判断知識の下では、危険度順位が「</a:t>
            </a:r>
            <a:r>
              <a:rPr lang="en-US" altLang="ja-JP" dirty="0"/>
              <a:t>C&gt;B&gt;A</a:t>
            </a:r>
            <a:r>
              <a:rPr lang="ja-JP" altLang="en-US" dirty="0"/>
              <a:t>」となることはあり得ない</a:t>
            </a:r>
            <a:endParaRPr lang="en-US" altLang="ja-JP" dirty="0"/>
          </a:p>
          <a:p>
            <a:pPr lvl="4"/>
            <a:endParaRPr lang="en-US" altLang="ja-JP" dirty="0"/>
          </a:p>
          <a:p>
            <a:pPr lvl="1"/>
            <a:r>
              <a:rPr kumimoji="1" lang="ja-JP" altLang="en-US" dirty="0"/>
              <a:t>為すべき評価</a:t>
            </a:r>
            <a:endParaRPr kumimoji="1" lang="en-US" altLang="ja-JP" dirty="0"/>
          </a:p>
          <a:p>
            <a:pPr lvl="2"/>
            <a:r>
              <a:rPr lang="ja-JP" altLang="en-US" dirty="0"/>
              <a:t>危険度順位が「</a:t>
            </a:r>
            <a:r>
              <a:rPr lang="en-US" altLang="ja-JP" dirty="0"/>
              <a:t>A&gt;B&gt;C </a:t>
            </a:r>
            <a:r>
              <a:rPr lang="ja-JP" altLang="en-US" dirty="0"/>
              <a:t>→ </a:t>
            </a:r>
            <a:r>
              <a:rPr lang="en-US" altLang="ja-JP" dirty="0"/>
              <a:t>B&gt;A&gt;C</a:t>
            </a:r>
            <a:r>
              <a:rPr lang="ja-JP" altLang="en-US" dirty="0"/>
              <a:t>」のように変化するために必要な、文脈</a:t>
            </a:r>
            <a:r>
              <a:rPr lang="en-US" altLang="ja-JP" dirty="0"/>
              <a:t>/</a:t>
            </a:r>
            <a:r>
              <a:rPr lang="ja-JP" altLang="en-US" dirty="0"/>
              <a:t>判断知識の違いは何か</a:t>
            </a:r>
            <a:endParaRPr lang="en-US" altLang="ja-JP" dirty="0"/>
          </a:p>
          <a:p>
            <a:pPr lvl="2"/>
            <a:r>
              <a:rPr kumimoji="1" lang="ja-JP" altLang="en-US" dirty="0"/>
              <a:t>上記の危険度順位変化を生じさせる文脈</a:t>
            </a:r>
            <a:r>
              <a:rPr kumimoji="1" lang="en-US" altLang="ja-JP" dirty="0"/>
              <a:t>/</a:t>
            </a:r>
            <a:r>
              <a:rPr kumimoji="1" lang="ja-JP" altLang="en-US" dirty="0"/>
              <a:t>判断知識は、合理的</a:t>
            </a:r>
            <a:r>
              <a:rPr kumimoji="1" lang="en-US" altLang="ja-JP" dirty="0"/>
              <a:t>**</a:t>
            </a:r>
            <a:r>
              <a:rPr kumimoji="1" lang="ja-JP" altLang="en-US" dirty="0"/>
              <a:t>であるか</a:t>
            </a:r>
          </a:p>
        </p:txBody>
      </p:sp>
      <p:sp>
        <p:nvSpPr>
          <p:cNvPr id="4" name="日付プレースホルダー 3">
            <a:extLst>
              <a:ext uri="{FF2B5EF4-FFF2-40B4-BE49-F238E27FC236}">
                <a16:creationId xmlns:a16="http://schemas.microsoft.com/office/drawing/2014/main" id="{E388AE61-8FF2-E6BC-C0DC-06652648264A}"/>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dirty="0"/>
          </a:p>
        </p:txBody>
      </p:sp>
      <p:sp>
        <p:nvSpPr>
          <p:cNvPr id="5" name="フッター プレースホルダー 4">
            <a:extLst>
              <a:ext uri="{FF2B5EF4-FFF2-40B4-BE49-F238E27FC236}">
                <a16:creationId xmlns:a16="http://schemas.microsoft.com/office/drawing/2014/main" id="{CDC5B19A-4FCC-C5F4-9205-DCE3EBAB8651}"/>
              </a:ext>
            </a:extLst>
          </p:cNvPr>
          <p:cNvSpPr>
            <a:spLocks noGrp="1"/>
          </p:cNvSpPr>
          <p:nvPr>
            <p:ph type="ftr" sz="quarter" idx="11"/>
          </p:nvPr>
        </p:nvSpPr>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838ADCAF-BEF0-D10D-FCBB-B0921D519877}"/>
              </a:ext>
            </a:extLst>
          </p:cNvPr>
          <p:cNvSpPr>
            <a:spLocks noGrp="1"/>
          </p:cNvSpPr>
          <p:nvPr>
            <p:ph type="sldNum" sz="quarter" idx="12"/>
          </p:nvPr>
        </p:nvSpPr>
        <p:spPr/>
        <p:txBody>
          <a:bodyPr/>
          <a:lstStyle/>
          <a:p>
            <a:fld id="{870B1737-2A00-4EFB-9FD3-149FCC30AA13}" type="slidenum">
              <a:rPr lang="ja-JP" altLang="en-US" smtClean="0"/>
              <a:pPr/>
              <a:t>6</a:t>
            </a:fld>
            <a:endParaRPr lang="ja-JP" altLang="en-US"/>
          </a:p>
        </p:txBody>
      </p:sp>
      <p:sp>
        <p:nvSpPr>
          <p:cNvPr id="7" name="テキスト ボックス 6">
            <a:extLst>
              <a:ext uri="{FF2B5EF4-FFF2-40B4-BE49-F238E27FC236}">
                <a16:creationId xmlns:a16="http://schemas.microsoft.com/office/drawing/2014/main" id="{0DE11608-11BD-858C-6681-A7C311DFFDEB}"/>
              </a:ext>
            </a:extLst>
          </p:cNvPr>
          <p:cNvSpPr txBox="1"/>
          <p:nvPr/>
        </p:nvSpPr>
        <p:spPr>
          <a:xfrm>
            <a:off x="6609731" y="75432"/>
            <a:ext cx="5391219" cy="523220"/>
          </a:xfrm>
          <a:prstGeom prst="rect">
            <a:avLst/>
          </a:prstGeom>
          <a:noFill/>
        </p:spPr>
        <p:txBody>
          <a:bodyPr wrap="none" rtlCol="0">
            <a:spAutoFit/>
          </a:bodyPr>
          <a:lstStyle/>
          <a:p>
            <a:pPr algn="r"/>
            <a:r>
              <a:rPr lang="en-US" altLang="ja-JP" sz="1400" dirty="0"/>
              <a:t>*</a:t>
            </a:r>
            <a:r>
              <a:rPr lang="ja-JP" altLang="en-US" sz="1400" dirty="0"/>
              <a:t>  </a:t>
            </a:r>
            <a:r>
              <a:rPr kumimoji="1" lang="ja-JP" altLang="en-US" sz="1400" dirty="0"/>
              <a:t>要定義。「スタッフの判断結果との一致」とならないよう注意</a:t>
            </a:r>
            <a:endParaRPr kumimoji="1" lang="en-US" altLang="ja-JP" sz="1400" dirty="0"/>
          </a:p>
          <a:p>
            <a:pPr algn="r"/>
            <a:r>
              <a:rPr lang="en-US" altLang="ja-JP" sz="1400" dirty="0"/>
              <a:t>**AHP</a:t>
            </a:r>
            <a:r>
              <a:rPr lang="ja-JP" altLang="en-US" sz="1400" dirty="0"/>
              <a:t>の</a:t>
            </a:r>
            <a:r>
              <a:rPr lang="en-US" altLang="ja-JP" sz="1400" dirty="0"/>
              <a:t>CI&lt;0.1 </a:t>
            </a:r>
            <a:r>
              <a:rPr lang="ja-JP" altLang="en-US" sz="1400" dirty="0"/>
              <a:t>等</a:t>
            </a:r>
            <a:endParaRPr lang="en-US" altLang="ja-JP" sz="1400" dirty="0"/>
          </a:p>
        </p:txBody>
      </p:sp>
    </p:spTree>
    <p:extLst>
      <p:ext uri="{BB962C8B-B14F-4D97-AF65-F5344CB8AC3E}">
        <p14:creationId xmlns:p14="http://schemas.microsoft.com/office/powerpoint/2010/main" val="2140070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E3DB2-50E7-0B5C-9A21-3E912C5F30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2EE0B52-CA9D-191E-5EC0-22541E0E5169}"/>
              </a:ext>
            </a:extLst>
          </p:cNvPr>
          <p:cNvSpPr>
            <a:spLocks noGrp="1"/>
          </p:cNvSpPr>
          <p:nvPr>
            <p:ph type="title"/>
          </p:nvPr>
        </p:nvSpPr>
        <p:spPr/>
        <p:txBody>
          <a:bodyPr/>
          <a:lstStyle/>
          <a:p>
            <a:r>
              <a:rPr lang="ja-JP" altLang="en-US" dirty="0"/>
              <a:t>検証の流れ</a:t>
            </a:r>
            <a:r>
              <a:rPr lang="en-US" altLang="ja-JP" dirty="0"/>
              <a:t>-1</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D3C92926-C065-00B0-B4FD-0D2963D4A649}"/>
                  </a:ext>
                </a:extLst>
              </p:cNvPr>
              <p:cNvSpPr>
                <a:spLocks noGrp="1"/>
              </p:cNvSpPr>
              <p:nvPr>
                <p:ph idx="1"/>
              </p:nvPr>
            </p:nvSpPr>
            <p:spPr/>
            <p:txBody>
              <a:bodyPr/>
              <a:lstStyle/>
              <a:p>
                <a:r>
                  <a:rPr lang="ja-JP" altLang="en-US" dirty="0"/>
                  <a:t>計算</a:t>
                </a:r>
                <a:endParaRPr lang="en-US" altLang="ja-JP" dirty="0"/>
              </a:p>
              <a:p>
                <a:pPr lvl="1"/>
                <a:r>
                  <a:rPr lang="ja-JP" altLang="en-US" dirty="0"/>
                  <a:t>ベースとなる現場知識</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oMath>
                </a14:m>
                <a:r>
                  <a:rPr lang="ja-JP" altLang="en-US" dirty="0"/>
                  <a:t> </a:t>
                </a:r>
                <a:r>
                  <a:rPr lang="en-US" altLang="ja-JP" dirty="0"/>
                  <a:t>(CI=0) </a:t>
                </a:r>
                <a:r>
                  <a:rPr lang="ja-JP" altLang="en-US" dirty="0"/>
                  <a:t>の定義</a:t>
                </a:r>
                <a:endParaRPr lang="en-US" altLang="ja-JP" dirty="0"/>
              </a:p>
              <a:p>
                <a:pPr lvl="1"/>
                <a:r>
                  <a:rPr lang="ja-JP" altLang="en-US" dirty="0"/>
                  <a:t>ある危険度順位</a:t>
                </a:r>
                <a14:m>
                  <m:oMath xmlns:m="http://schemas.openxmlformats.org/officeDocument/2006/math">
                    <m:sSup>
                      <m:sSupPr>
                        <m:ctrlPr>
                          <a:rPr lang="en-US" altLang="ja-JP" b="1" i="1">
                            <a:latin typeface="Cambria Math" panose="02040503050406030204" pitchFamily="18" charset="0"/>
                          </a:rPr>
                        </m:ctrlPr>
                      </m:sSupPr>
                      <m:e>
                        <m:r>
                          <a:rPr lang="en-US" altLang="ja-JP" b="1" i="1">
                            <a:latin typeface="Cambria Math" panose="02040503050406030204" pitchFamily="18" charset="0"/>
                          </a:rPr>
                          <m:t>𝒓</m:t>
                        </m:r>
                      </m:e>
                      <m:sup>
                        <m:r>
                          <a:rPr lang="en-US" altLang="ja-JP" i="1">
                            <a:latin typeface="Cambria Math" panose="02040503050406030204" pitchFamily="18" charset="0"/>
                          </a:rPr>
                          <m:t>∗</m:t>
                        </m:r>
                      </m:sup>
                    </m:sSup>
                  </m:oMath>
                </a14:m>
                <a:r>
                  <a:rPr lang="ja-JP" altLang="en-US" dirty="0"/>
                  <a:t>となるために、</a:t>
                </a:r>
                <a:br>
                  <a:rPr lang="en-US" altLang="ja-JP" dirty="0"/>
                </a:br>
                <a:r>
                  <a:rPr lang="ja-JP" altLang="en-US" dirty="0"/>
                  <a:t>最小限必要な現場知識の変化量</a:t>
                </a:r>
                <a14:m>
                  <m:oMath xmlns:m="http://schemas.openxmlformats.org/officeDocument/2006/math">
                    <m:r>
                      <m:rPr>
                        <m:sty m:val="p"/>
                      </m:rPr>
                      <a:rPr lang="en-US" altLang="ja-JP">
                        <a:latin typeface="Cambria Math" panose="02040503050406030204" pitchFamily="18" charset="0"/>
                      </a:rPr>
                      <m:t>Δ</m:t>
                    </m:r>
                    <m:r>
                      <a:rPr lang="en-US" altLang="ja-JP" i="1">
                        <a:latin typeface="Cambria Math" panose="02040503050406030204" pitchFamily="18" charset="0"/>
                      </a:rPr>
                      <m:t>𝜃</m:t>
                    </m:r>
                  </m:oMath>
                </a14:m>
                <a:r>
                  <a:rPr lang="ja-JP" altLang="en-US" dirty="0"/>
                  <a:t>を最適化計算</a:t>
                </a:r>
                <a:endParaRPr lang="en-US" altLang="ja-JP" dirty="0"/>
              </a:p>
              <a:p>
                <a:pPr lvl="2"/>
                <a14:m>
                  <m:oMath xmlns:m="http://schemas.openxmlformats.org/officeDocument/2006/math">
                    <m:r>
                      <m:rPr>
                        <m:sty m:val="p"/>
                      </m:rPr>
                      <a:rPr lang="en-US" altLang="ja-JP">
                        <a:latin typeface="Cambria Math" panose="02040503050406030204" pitchFamily="18" charset="0"/>
                      </a:rPr>
                      <m:t>Δ</m:t>
                    </m:r>
                    <m:r>
                      <a:rPr lang="en-US" altLang="ja-JP" i="1">
                        <a:latin typeface="Cambria Math" panose="02040503050406030204" pitchFamily="18" charset="0"/>
                      </a:rPr>
                      <m:t>𝜃</m:t>
                    </m:r>
                    <m:r>
                      <a:rPr lang="en-US" altLang="ja-JP" i="1">
                        <a:latin typeface="Cambria Math" panose="02040503050406030204" pitchFamily="18" charset="0"/>
                      </a:rPr>
                      <m:t>=</m:t>
                    </m:r>
                    <m:d>
                      <m:dPr>
                        <m:begChr m:val="‖"/>
                        <m:endChr m:val="‖"/>
                        <m:ctrlPr>
                          <a:rPr lang="ja-JP" altLang="en-US" b="1" i="1">
                            <a:latin typeface="Cambria Math" panose="02040503050406030204" pitchFamily="18" charset="0"/>
                          </a:rPr>
                        </m:ctrlPr>
                      </m:dPr>
                      <m:e>
                        <m:sSup>
                          <m:sSupPr>
                            <m:ctrlPr>
                              <a:rPr lang="ja-JP" altLang="en-US" b="1" i="1">
                                <a:latin typeface="Cambria Math" panose="02040503050406030204" pitchFamily="18" charset="0"/>
                              </a:rPr>
                            </m:ctrlPr>
                          </m:sSupPr>
                          <m:e>
                            <m:r>
                              <a:rPr lang="ja-JP" altLang="en-US" b="1" i="1">
                                <a:latin typeface="Cambria Math" panose="02040503050406030204" pitchFamily="18" charset="0"/>
                              </a:rPr>
                              <m:t>𝜽</m:t>
                            </m:r>
                          </m:e>
                          <m:sup>
                            <m:r>
                              <a:rPr lang="ja-JP" altLang="en-US" i="1">
                                <a:latin typeface="Cambria Math" panose="02040503050406030204" pitchFamily="18" charset="0"/>
                              </a:rPr>
                              <m:t>∗</m:t>
                            </m:r>
                          </m:sup>
                        </m:sSup>
                        <m:r>
                          <a:rPr lang="ja-JP" altLang="en-US" i="1">
                            <a:latin typeface="Cambria Math" panose="02040503050406030204" pitchFamily="18" charset="0"/>
                          </a:rPr>
                          <m:t>−</m:t>
                        </m:r>
                        <m:sSub>
                          <m:sSubPr>
                            <m:ctrlPr>
                              <a:rPr lang="ja-JP" altLang="en-US" b="1" i="1">
                                <a:latin typeface="Cambria Math" panose="02040503050406030204" pitchFamily="18" charset="0"/>
                              </a:rPr>
                            </m:ctrlPr>
                          </m:sSubPr>
                          <m:e>
                            <m:r>
                              <a:rPr lang="ja-JP" altLang="en-US" b="1" i="1">
                                <a:latin typeface="Cambria Math" panose="02040503050406030204" pitchFamily="18" charset="0"/>
                              </a:rPr>
                              <m:t>𝜽</m:t>
                            </m:r>
                          </m:e>
                          <m:sub>
                            <m:r>
                              <a:rPr lang="en-US" altLang="ja-JP" i="1">
                                <a:latin typeface="Cambria Math" panose="02040503050406030204" pitchFamily="18" charset="0"/>
                              </a:rPr>
                              <m:t>0</m:t>
                            </m:r>
                          </m:sub>
                        </m:sSub>
                      </m:e>
                    </m:d>
                  </m:oMath>
                </a14:m>
                <a:r>
                  <a:rPr lang="ja-JP" altLang="en-US" dirty="0"/>
                  <a:t>　</a:t>
                </a:r>
                <a:endParaRPr lang="en-US" altLang="ja-JP" dirty="0"/>
              </a:p>
              <a:p>
                <a:r>
                  <a:rPr lang="ja-JP" altLang="en-US" dirty="0"/>
                  <a:t>考察</a:t>
                </a:r>
                <a:endParaRPr lang="en-US" altLang="ja-JP" dirty="0"/>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D3C92926-C065-00B0-B4FD-0D2963D4A649}"/>
                  </a:ext>
                </a:extLst>
              </p:cNvPr>
              <p:cNvSpPr>
                <a:spLocks noGrp="1" noRot="1" noChangeAspect="1" noMove="1" noResize="1" noEditPoints="1" noAdjustHandles="1" noChangeArrowheads="1" noChangeShapeType="1" noTextEdit="1"/>
              </p:cNvSpPr>
              <p:nvPr>
                <p:ph idx="1"/>
              </p:nvPr>
            </p:nvSpPr>
            <p:spPr>
              <a:blipFill>
                <a:blip r:embed="rId3"/>
                <a:stretch>
                  <a:fillRect l="-510" t="-64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9346FFC7-8B2E-ACD6-FBEF-21C06719B4A1}"/>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93566648-ACD5-B5A3-ACAF-E0B3D8B145B6}"/>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F98A8A69-FCAF-B5BE-F8C1-63A176F8C689}"/>
              </a:ext>
            </a:extLst>
          </p:cNvPr>
          <p:cNvSpPr>
            <a:spLocks noGrp="1"/>
          </p:cNvSpPr>
          <p:nvPr>
            <p:ph type="sldNum" sz="quarter" idx="12"/>
          </p:nvPr>
        </p:nvSpPr>
        <p:spPr/>
        <p:txBody>
          <a:bodyPr/>
          <a:lstStyle/>
          <a:p>
            <a:fld id="{870B1737-2A00-4EFB-9FD3-149FCC30AA13}" type="slidenum">
              <a:rPr lang="ja-JP" altLang="en-US" smtClean="0"/>
              <a:pPr/>
              <a:t>7</a:t>
            </a:fld>
            <a:endParaRPr lang="ja-JP" altLang="en-US"/>
          </a:p>
        </p:txBody>
      </p:sp>
      <mc:AlternateContent xmlns:mc="http://schemas.openxmlformats.org/markup-compatibility/2006" xmlns:a14="http://schemas.microsoft.com/office/drawing/2010/main">
        <mc:Choice Requires="a14">
          <p:graphicFrame>
            <p:nvGraphicFramePr>
              <p:cNvPr id="10" name="表 9">
                <a:extLst>
                  <a:ext uri="{FF2B5EF4-FFF2-40B4-BE49-F238E27FC236}">
                    <a16:creationId xmlns:a16="http://schemas.microsoft.com/office/drawing/2014/main" id="{E729D6C2-9E33-343D-4A6C-7AAEE8C0753B}"/>
                  </a:ext>
                </a:extLst>
              </p:cNvPr>
              <p:cNvGraphicFramePr>
                <a:graphicFrameLocks noGrp="1"/>
              </p:cNvGraphicFramePr>
              <p:nvPr/>
            </p:nvGraphicFramePr>
            <p:xfrm>
              <a:off x="522697"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192021">
                    <a:tc>
                      <a:txBody>
                        <a:bodyPr/>
                        <a:lstStyle/>
                        <a:p>
                          <a:r>
                            <a:rPr kumimoji="1" lang="ja-JP" altLang="en-US" sz="1400" dirty="0"/>
                            <a:t>順位</a:t>
                          </a:r>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&lt;0.1</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&lt;0.2</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&lt;0.3</m:t>
                                </m:r>
                              </m:oMath>
                            </m:oMathPara>
                          </a14:m>
                          <a:endParaRPr kumimoji="1" lang="ja-JP" altLang="en-US" sz="1400" dirty="0"/>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m:t>
                                </m:r>
                              </m:oMath>
                            </m:oMathPara>
                          </a14:m>
                          <a:endParaRPr kumimoji="1" lang="ja-JP" altLang="en-US" sz="1400" dirty="0"/>
                        </a:p>
                      </a:txBody>
                      <a:tcPr/>
                    </a:tc>
                    <a:extLst>
                      <a:ext uri="{0D108BD9-81ED-4DB2-BD59-A6C34878D82A}">
                        <a16:rowId xmlns:a16="http://schemas.microsoft.com/office/drawing/2014/main" val="318744019"/>
                      </a:ext>
                    </a:extLst>
                  </a:tr>
                  <a:tr h="192021">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192021">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192021">
                    <a:tc>
                      <a:txBody>
                        <a:bodyPr/>
                        <a:lstStyle/>
                        <a:p>
                          <a:r>
                            <a:rPr kumimoji="1" lang="en-US" altLang="ja-JP" sz="1400" dirty="0"/>
                            <a:t>C&gt;A&gt;B</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192021">
                    <a:tc>
                      <a:txBody>
                        <a:bodyPr/>
                        <a:lstStyle/>
                        <a:p>
                          <a:r>
                            <a:rPr kumimoji="1" lang="en-US" altLang="ja-JP" sz="1400" dirty="0"/>
                            <a:t>C&gt;B&gt;A</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extLst>
                      <a:ext uri="{0D108BD9-81ED-4DB2-BD59-A6C34878D82A}">
                        <a16:rowId xmlns:a16="http://schemas.microsoft.com/office/drawing/2014/main" val="3035191193"/>
                      </a:ext>
                    </a:extLst>
                  </a:tr>
                </a:tbl>
              </a:graphicData>
            </a:graphic>
          </p:graphicFrame>
        </mc:Choice>
        <mc:Fallback xmlns="">
          <p:graphicFrame>
            <p:nvGraphicFramePr>
              <p:cNvPr id="10" name="表 9">
                <a:extLst>
                  <a:ext uri="{FF2B5EF4-FFF2-40B4-BE49-F238E27FC236}">
                    <a16:creationId xmlns:a16="http://schemas.microsoft.com/office/drawing/2014/main" id="{BEAFE7E8-FBA2-306B-3030-1CA6B175CCE4}"/>
                  </a:ext>
                </a:extLst>
              </p:cNvPr>
              <p:cNvGraphicFramePr>
                <a:graphicFrameLocks noGrp="1"/>
              </p:cNvGraphicFramePr>
              <p:nvPr>
                <p:extLst>
                  <p:ext uri="{D42A27DB-BD31-4B8C-83A1-F6EECF244321}">
                    <p14:modId xmlns:p14="http://schemas.microsoft.com/office/powerpoint/2010/main" val="2272193076"/>
                  </p:ext>
                </p:extLst>
              </p:nvPr>
            </p:nvGraphicFramePr>
            <p:xfrm>
              <a:off x="522697"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304800">
                    <a:tc>
                      <a:txBody>
                        <a:bodyPr/>
                        <a:lstStyle/>
                        <a:p>
                          <a:r>
                            <a:rPr kumimoji="1" lang="ja-JP" altLang="en-US" sz="1400" dirty="0"/>
                            <a:t>順位</a:t>
                          </a:r>
                        </a:p>
                      </a:txBody>
                      <a:tcPr/>
                    </a:tc>
                    <a:tc>
                      <a:txBody>
                        <a:bodyPr/>
                        <a:lstStyle/>
                        <a:p>
                          <a:endParaRPr lang="ja-JP"/>
                        </a:p>
                      </a:txBody>
                      <a:tcPr>
                        <a:blipFill>
                          <a:blip r:embed="rId4"/>
                          <a:stretch>
                            <a:fillRect l="-68947" t="-2000" r="-293158" b="-522000"/>
                          </a:stretch>
                        </a:blipFill>
                      </a:tcPr>
                    </a:tc>
                    <a:tc>
                      <a:txBody>
                        <a:bodyPr/>
                        <a:lstStyle/>
                        <a:p>
                          <a:endParaRPr lang="ja-JP"/>
                        </a:p>
                      </a:txBody>
                      <a:tcPr>
                        <a:blipFill>
                          <a:blip r:embed="rId4"/>
                          <a:stretch>
                            <a:fillRect l="-168947" t="-2000" r="-193158" b="-522000"/>
                          </a:stretch>
                        </a:blipFill>
                      </a:tcPr>
                    </a:tc>
                    <a:tc>
                      <a:txBody>
                        <a:bodyPr/>
                        <a:lstStyle/>
                        <a:p>
                          <a:endParaRPr lang="ja-JP"/>
                        </a:p>
                      </a:txBody>
                      <a:tcPr>
                        <a:blipFill>
                          <a:blip r:embed="rId4"/>
                          <a:stretch>
                            <a:fillRect l="-270370" t="-2000" r="-94180" b="-522000"/>
                          </a:stretch>
                        </a:blipFill>
                      </a:tcPr>
                    </a:tc>
                    <a:tc>
                      <a:txBody>
                        <a:bodyPr/>
                        <a:lstStyle/>
                        <a:p>
                          <a:endParaRPr lang="ja-JP"/>
                        </a:p>
                      </a:txBody>
                      <a:tcPr>
                        <a:blipFill>
                          <a:blip r:embed="rId4"/>
                          <a:stretch>
                            <a:fillRect l="-397727" t="-2000" r="-1136" b="-522000"/>
                          </a:stretch>
                        </a:blipFill>
                      </a:tcPr>
                    </a:tc>
                    <a:extLst>
                      <a:ext uri="{0D108BD9-81ED-4DB2-BD59-A6C34878D82A}">
                        <a16:rowId xmlns:a16="http://schemas.microsoft.com/office/drawing/2014/main" val="318744019"/>
                      </a:ext>
                    </a:extLst>
                  </a:tr>
                  <a:tr h="304800">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304800">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30480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304800">
                    <a:tc>
                      <a:txBody>
                        <a:bodyPr/>
                        <a:lstStyle/>
                        <a:p>
                          <a:r>
                            <a:rPr kumimoji="1" lang="en-US" altLang="ja-JP" sz="1400" dirty="0"/>
                            <a:t>C&gt;A&gt;B</a:t>
                          </a:r>
                          <a:endParaRPr kumimoji="1" lang="ja-JP" altLang="en-US" sz="1400" dirty="0"/>
                        </a:p>
                      </a:txBody>
                      <a:tcPr/>
                    </a:tc>
                    <a:tc>
                      <a:txBody>
                        <a:bodyPr/>
                        <a:lstStyle/>
                        <a:p>
                          <a:endParaRPr lang="ja-JP"/>
                        </a:p>
                      </a:txBody>
                      <a:tcPr>
                        <a:blipFill>
                          <a:blip r:embed="rId4"/>
                          <a:stretch>
                            <a:fillRect l="-68947" t="-404000" r="-293158" b="-120000"/>
                          </a:stretch>
                        </a:blipFill>
                      </a:tcPr>
                    </a:tc>
                    <a:tc>
                      <a:txBody>
                        <a:bodyPr/>
                        <a:lstStyle/>
                        <a:p>
                          <a:endParaRPr lang="ja-JP"/>
                        </a:p>
                      </a:txBody>
                      <a:tcPr>
                        <a:blipFill>
                          <a:blip r:embed="rId4"/>
                          <a:stretch>
                            <a:fillRect l="-168947" t="-404000" r="-193158" b="-120000"/>
                          </a:stretch>
                        </a:blipFill>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304800">
                    <a:tc>
                      <a:txBody>
                        <a:bodyPr/>
                        <a:lstStyle/>
                        <a:p>
                          <a:r>
                            <a:rPr kumimoji="1" lang="en-US" altLang="ja-JP" sz="1400" dirty="0"/>
                            <a:t>C&gt;B&gt;A</a:t>
                          </a:r>
                          <a:endParaRPr kumimoji="1" lang="ja-JP" altLang="en-US" sz="1400" dirty="0"/>
                        </a:p>
                      </a:txBody>
                      <a:tcPr/>
                    </a:tc>
                    <a:tc>
                      <a:txBody>
                        <a:bodyPr/>
                        <a:lstStyle/>
                        <a:p>
                          <a:endParaRPr lang="ja-JP"/>
                        </a:p>
                      </a:txBody>
                      <a:tcPr>
                        <a:blipFill>
                          <a:blip r:embed="rId4"/>
                          <a:stretch>
                            <a:fillRect l="-68947" t="-504000" r="-293158" b="-20000"/>
                          </a:stretch>
                        </a:blipFill>
                      </a:tcPr>
                    </a:tc>
                    <a:tc>
                      <a:txBody>
                        <a:bodyPr/>
                        <a:lstStyle/>
                        <a:p>
                          <a:endParaRPr lang="ja-JP"/>
                        </a:p>
                      </a:txBody>
                      <a:tcPr>
                        <a:blipFill>
                          <a:blip r:embed="rId4"/>
                          <a:stretch>
                            <a:fillRect l="-168947" t="-504000" r="-193158" b="-20000"/>
                          </a:stretch>
                        </a:blipFill>
                      </a:tcPr>
                    </a:tc>
                    <a:tc>
                      <a:txBody>
                        <a:bodyPr/>
                        <a:lstStyle/>
                        <a:p>
                          <a:endParaRPr lang="ja-JP"/>
                        </a:p>
                      </a:txBody>
                      <a:tcPr>
                        <a:blipFill>
                          <a:blip r:embed="rId4"/>
                          <a:stretch>
                            <a:fillRect l="-270370" t="-504000" r="-94180" b="-20000"/>
                          </a:stretch>
                        </a:blipFill>
                      </a:tcPr>
                    </a:tc>
                    <a:tc>
                      <a:txBody>
                        <a:bodyPr/>
                        <a:lstStyle/>
                        <a:p>
                          <a:endParaRPr lang="ja-JP"/>
                        </a:p>
                      </a:txBody>
                      <a:tcPr>
                        <a:blipFill>
                          <a:blip r:embed="rId4"/>
                          <a:stretch>
                            <a:fillRect l="-397727" t="-504000" r="-1136" b="-20000"/>
                          </a:stretch>
                        </a:blipFill>
                      </a:tcPr>
                    </a:tc>
                    <a:extLst>
                      <a:ext uri="{0D108BD9-81ED-4DB2-BD59-A6C34878D82A}">
                        <a16:rowId xmlns:a16="http://schemas.microsoft.com/office/drawing/2014/main" val="3035191193"/>
                      </a:ext>
                    </a:extLst>
                  </a:tr>
                </a:tbl>
              </a:graphicData>
            </a:graphic>
          </p:graphicFrame>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B07740B8-D802-DA2A-56D7-8BB4817D0F88}"/>
                  </a:ext>
                </a:extLst>
              </p:cNvPr>
              <p:cNvSpPr txBox="1"/>
              <p:nvPr/>
            </p:nvSpPr>
            <p:spPr>
              <a:xfrm>
                <a:off x="475247" y="3401989"/>
                <a:ext cx="5420074" cy="308161"/>
              </a:xfrm>
              <a:prstGeom prst="rect">
                <a:avLst/>
              </a:prstGeom>
              <a:noFill/>
            </p:spPr>
            <p:txBody>
              <a:bodyPr wrap="none" rtlCol="0">
                <a:spAutoFit/>
              </a:bodyPr>
              <a:lstStyle/>
              <a:p>
                <a:pPr algn="ctr"/>
                <a:r>
                  <a:rPr lang="ja-JP" altLang="en-US" sz="1400" dirty="0"/>
                  <a:t>表：</a:t>
                </a:r>
                <a:r>
                  <a:rPr lang="en-US" altLang="ja-JP" sz="1400" dirty="0"/>
                  <a:t>CI</a:t>
                </a:r>
                <a:r>
                  <a:rPr lang="ja-JP" altLang="en-US" sz="1400" dirty="0"/>
                  <a:t>の上限内で順位を実現した場合の、現場知識の変化量</a:t>
                </a:r>
                <a14:m>
                  <m:oMath xmlns:m="http://schemas.openxmlformats.org/officeDocument/2006/math">
                    <m:r>
                      <m:rPr>
                        <m:sty m:val="p"/>
                      </m:rPr>
                      <a:rPr lang="en-US" altLang="ja-JP" sz="1400">
                        <a:latin typeface="Cambria Math" panose="02040503050406030204" pitchFamily="18" charset="0"/>
                      </a:rPr>
                      <m:t>Δ</m:t>
                    </m:r>
                    <m:r>
                      <a:rPr lang="en-US" altLang="ja-JP" sz="1400" i="1">
                        <a:latin typeface="Cambria Math" panose="02040503050406030204" pitchFamily="18" charset="0"/>
                      </a:rPr>
                      <m:t>𝜃</m:t>
                    </m:r>
                  </m:oMath>
                </a14:m>
                <a:endParaRPr kumimoji="1" lang="ja-JP" altLang="en-US" sz="1400" dirty="0"/>
              </a:p>
            </p:txBody>
          </p:sp>
        </mc:Choice>
        <mc:Fallback xmlns="">
          <p:sp>
            <p:nvSpPr>
              <p:cNvPr id="12" name="テキスト ボックス 11">
                <a:extLst>
                  <a:ext uri="{FF2B5EF4-FFF2-40B4-BE49-F238E27FC236}">
                    <a16:creationId xmlns:a16="http://schemas.microsoft.com/office/drawing/2014/main" id="{726B76D1-0541-08B5-75B8-7ABBB3A343EB}"/>
                  </a:ext>
                </a:extLst>
              </p:cNvPr>
              <p:cNvSpPr txBox="1">
                <a:spLocks noRot="1" noChangeAspect="1" noMove="1" noResize="1" noEditPoints="1" noAdjustHandles="1" noChangeArrowheads="1" noChangeShapeType="1" noTextEdit="1"/>
              </p:cNvSpPr>
              <p:nvPr/>
            </p:nvSpPr>
            <p:spPr>
              <a:xfrm>
                <a:off x="475247" y="3401989"/>
                <a:ext cx="5420074" cy="308161"/>
              </a:xfrm>
              <a:prstGeom prst="rect">
                <a:avLst/>
              </a:prstGeom>
              <a:blipFill>
                <a:blip r:embed="rId5"/>
                <a:stretch>
                  <a:fillRect t="-7843" b="-215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FFCBDAA9-55FE-BA96-E7C4-A773311BD419}"/>
                  </a:ext>
                </a:extLst>
              </p:cNvPr>
              <p:cNvSpPr txBox="1"/>
              <p:nvPr/>
            </p:nvSpPr>
            <p:spPr>
              <a:xfrm>
                <a:off x="479376" y="5767012"/>
                <a:ext cx="2750625" cy="824906"/>
              </a:xfrm>
              <a:prstGeom prst="rect">
                <a:avLst/>
              </a:prstGeom>
              <a:noFill/>
            </p:spPr>
            <p:txBody>
              <a:bodyPr wrap="none" rtlCol="0">
                <a:spAutoFit/>
              </a:bodyPr>
              <a:lstStyle/>
              <a:p>
                <a:pPr/>
                <a14:m>
                  <m:oMathPara xmlns:m="http://schemas.openxmlformats.org/officeDocument/2006/math">
                    <m:oMath>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𝜽</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𝜽</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m>
                            <m:mPr>
                              <m:mcs>
                                <m:mc>
                                  <m:mcPr>
                                    <m:count m:val="3"/>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e>
                                <m:r>
                                  <a:rPr kumimoji="1" lang="en-US" altLang="ja-JP" b="0" i="1" smtClean="0">
                                    <a:latin typeface="Cambria Math" panose="02040503050406030204" pitchFamily="18" charset="0"/>
                                  </a:rPr>
                                  <m:t>++</m:t>
                                </m:r>
                              </m:e>
                            </m:mr>
                            <m:mr>
                              <m:e/>
                              <m:e>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mr>
                            <m:mr>
                              <m:e/>
                              <m:e/>
                              <m:e>
                                <m:r>
                                  <a:rPr kumimoji="1" lang="en-US" altLang="ja-JP" b="0" i="1" smtClean="0">
                                    <a:latin typeface="Cambria Math" panose="02040503050406030204" pitchFamily="18" charset="0"/>
                                  </a:rPr>
                                  <m:t>0</m:t>
                                </m:r>
                              </m:e>
                            </m:mr>
                          </m:m>
                        </m:e>
                      </m:d>
                    </m:oMath>
                  </m:oMathPara>
                </a14:m>
                <a:endParaRPr kumimoji="1" lang="ja-JP" altLang="en-US" dirty="0"/>
              </a:p>
            </p:txBody>
          </p:sp>
        </mc:Choice>
        <mc:Fallback xmlns="">
          <p:sp>
            <p:nvSpPr>
              <p:cNvPr id="14" name="テキスト ボックス 13">
                <a:extLst>
                  <a:ext uri="{FF2B5EF4-FFF2-40B4-BE49-F238E27FC236}">
                    <a16:creationId xmlns:a16="http://schemas.microsoft.com/office/drawing/2014/main" id="{7A1CB51A-FDE2-456C-FBA8-998A1B83129B}"/>
                  </a:ext>
                </a:extLst>
              </p:cNvPr>
              <p:cNvSpPr txBox="1">
                <a:spLocks noRot="1" noChangeAspect="1" noMove="1" noResize="1" noEditPoints="1" noAdjustHandles="1" noChangeArrowheads="1" noChangeShapeType="1" noTextEdit="1"/>
              </p:cNvSpPr>
              <p:nvPr/>
            </p:nvSpPr>
            <p:spPr>
              <a:xfrm>
                <a:off x="479376" y="5767012"/>
                <a:ext cx="2750625" cy="824906"/>
              </a:xfrm>
              <a:prstGeom prst="rect">
                <a:avLst/>
              </a:prstGeom>
              <a:blipFill>
                <a:blip r:embed="rId6"/>
                <a:stretch>
                  <a:fillRect/>
                </a:stretch>
              </a:blipFill>
            </p:spPr>
            <p:txBody>
              <a:bodyPr/>
              <a:lstStyle/>
              <a:p>
                <a:r>
                  <a:rPr lang="ja-JP" altLang="en-US">
                    <a:noFill/>
                  </a:rPr>
                  <a:t> </a:t>
                </a:r>
              </a:p>
            </p:txBody>
          </p:sp>
        </mc:Fallback>
      </mc:AlternateContent>
      <p:sp>
        <p:nvSpPr>
          <p:cNvPr id="16" name="正方形/長方形 15">
            <a:extLst>
              <a:ext uri="{FF2B5EF4-FFF2-40B4-BE49-F238E27FC236}">
                <a16:creationId xmlns:a16="http://schemas.microsoft.com/office/drawing/2014/main" id="{839BD9E3-1D09-CDF4-AED4-C7E96D5AA56B}"/>
              </a:ext>
            </a:extLst>
          </p:cNvPr>
          <p:cNvSpPr/>
          <p:nvPr/>
        </p:nvSpPr>
        <p:spPr>
          <a:xfrm>
            <a:off x="479376" y="5189661"/>
            <a:ext cx="5368495" cy="307777"/>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03C4BBD-EBCD-5A47-8194-B9C6ABC56FEC}"/>
              </a:ext>
            </a:extLst>
          </p:cNvPr>
          <p:cNvSpPr/>
          <p:nvPr/>
        </p:nvSpPr>
        <p:spPr>
          <a:xfrm>
            <a:off x="3653337" y="3673878"/>
            <a:ext cx="1080120" cy="151054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5085E1F-15FB-F264-6F84-B0E69D8CF527}"/>
              </a:ext>
            </a:extLst>
          </p:cNvPr>
          <p:cNvSpPr txBox="1"/>
          <p:nvPr/>
        </p:nvSpPr>
        <p:spPr>
          <a:xfrm>
            <a:off x="4661448" y="4265112"/>
            <a:ext cx="1584176" cy="523220"/>
          </a:xfrm>
          <a:prstGeom prst="wedgeRectCallout">
            <a:avLst>
              <a:gd name="adj1" fmla="val -44883"/>
              <a:gd name="adj2" fmla="val 78277"/>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kumimoji="1" lang="en-US" altLang="ja-JP" sz="1400" b="1" dirty="0">
                <a:solidFill>
                  <a:schemeClr val="accent6"/>
                </a:solidFill>
              </a:rPr>
              <a:t>C&gt;A&gt;B</a:t>
            </a:r>
            <a:r>
              <a:rPr kumimoji="1" lang="ja-JP" altLang="en-US" sz="1400" b="1" dirty="0">
                <a:solidFill>
                  <a:schemeClr val="accent6"/>
                </a:solidFill>
              </a:rPr>
              <a:t>は出るが、回答の矛盾大</a:t>
            </a:r>
          </a:p>
        </p:txBody>
      </p:sp>
      <p:sp>
        <p:nvSpPr>
          <p:cNvPr id="22" name="テキスト ボックス 21">
            <a:extLst>
              <a:ext uri="{FF2B5EF4-FFF2-40B4-BE49-F238E27FC236}">
                <a16:creationId xmlns:a16="http://schemas.microsoft.com/office/drawing/2014/main" id="{E71FA586-3066-19AA-D886-8F5EFB0E95D0}"/>
              </a:ext>
            </a:extLst>
          </p:cNvPr>
          <p:cNvSpPr txBox="1"/>
          <p:nvPr/>
        </p:nvSpPr>
        <p:spPr>
          <a:xfrm>
            <a:off x="4505922" y="5598241"/>
            <a:ext cx="1728192" cy="523220"/>
          </a:xfrm>
          <a:prstGeom prst="wedgeRectCallout">
            <a:avLst>
              <a:gd name="adj1" fmla="val -34862"/>
              <a:gd name="adj2" fmla="val -72214"/>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400" b="1" dirty="0">
                <a:solidFill>
                  <a:schemeClr val="accent1"/>
                </a:solidFill>
              </a:rPr>
              <a:t>この順位は理論上、出力し得ない</a:t>
            </a:r>
          </a:p>
        </p:txBody>
      </p:sp>
      <p:sp>
        <p:nvSpPr>
          <p:cNvPr id="24" name="テキスト ボックス 23">
            <a:extLst>
              <a:ext uri="{FF2B5EF4-FFF2-40B4-BE49-F238E27FC236}">
                <a16:creationId xmlns:a16="http://schemas.microsoft.com/office/drawing/2014/main" id="{BAC2EDF9-A5F5-668F-9C7A-A3BBF35417A3}"/>
              </a:ext>
            </a:extLst>
          </p:cNvPr>
          <p:cNvSpPr txBox="1"/>
          <p:nvPr/>
        </p:nvSpPr>
        <p:spPr>
          <a:xfrm>
            <a:off x="3237758" y="6183392"/>
            <a:ext cx="1728192" cy="307777"/>
          </a:xfrm>
          <a:prstGeom prst="wedgeRectCallout">
            <a:avLst>
              <a:gd name="adj1" fmla="val -63522"/>
              <a:gd name="adj2" fmla="val -80709"/>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en-US" altLang="ja-JP" sz="1400" b="1" dirty="0" err="1">
                <a:solidFill>
                  <a:schemeClr val="accent2"/>
                </a:solidFill>
              </a:rPr>
              <a:t>Xx</a:t>
            </a:r>
            <a:r>
              <a:rPr kumimoji="1" lang="ja-JP" altLang="en-US" sz="1400" b="1" dirty="0">
                <a:solidFill>
                  <a:schemeClr val="accent2"/>
                </a:solidFill>
              </a:rPr>
              <a:t>を重視する回答</a:t>
            </a:r>
          </a:p>
        </p:txBody>
      </p:sp>
      <mc:AlternateContent xmlns:mc="http://schemas.openxmlformats.org/markup-compatibility/2006" xmlns:a14="http://schemas.microsoft.com/office/drawing/2010/main">
        <mc:Choice Requires="a14">
          <p:graphicFrame>
            <p:nvGraphicFramePr>
              <p:cNvPr id="26" name="コンテンツ プレースホルダー 7">
                <a:extLst>
                  <a:ext uri="{FF2B5EF4-FFF2-40B4-BE49-F238E27FC236}">
                    <a16:creationId xmlns:a16="http://schemas.microsoft.com/office/drawing/2014/main" id="{B3FC767A-75E3-4899-567A-F16987C5DD4F}"/>
                  </a:ext>
                </a:extLst>
              </p:cNvPr>
              <p:cNvGraphicFramePr>
                <a:graphicFrameLocks/>
              </p:cNvGraphicFramePr>
              <p:nvPr/>
            </p:nvGraphicFramePr>
            <p:xfrm>
              <a:off x="7824408" y="2828146"/>
              <a:ext cx="2884361" cy="3763772"/>
            </p:xfrm>
            <a:graphic>
              <a:graphicData uri="http://schemas.openxmlformats.org/drawingml/2006/table">
                <a:tbl>
                  <a:tblPr firstRow="1" bandRow="1">
                    <a:tableStyleId>{073A0DAA-6AF3-43AB-8588-CEC1D06C72B9}</a:tableStyleId>
                  </a:tblPr>
                  <a:tblGrid>
                    <a:gridCol w="613918">
                      <a:extLst>
                        <a:ext uri="{9D8B030D-6E8A-4147-A177-3AD203B41FA5}">
                          <a16:colId xmlns:a16="http://schemas.microsoft.com/office/drawing/2014/main" val="2976928265"/>
                        </a:ext>
                      </a:extLst>
                    </a:gridCol>
                    <a:gridCol w="2270443">
                      <a:extLst>
                        <a:ext uri="{9D8B030D-6E8A-4147-A177-3AD203B41FA5}">
                          <a16:colId xmlns:a16="http://schemas.microsoft.com/office/drawing/2014/main" val="591180217"/>
                        </a:ext>
                      </a:extLst>
                    </a:gridCol>
                  </a:tblGrid>
                  <a:tr h="0">
                    <a:tc>
                      <a:txBody>
                        <a:bodyPr/>
                        <a:lstStyle/>
                        <a:p>
                          <a:r>
                            <a:rPr kumimoji="1" lang="ja-JP" altLang="en-US" sz="1200" dirty="0"/>
                            <a:t>変数</a:t>
                          </a:r>
                        </a:p>
                      </a:txBody>
                      <a:tcPr anchor="ctr"/>
                    </a:tc>
                    <a:tc>
                      <a:txBody>
                        <a:bodyPr/>
                        <a:lstStyle/>
                        <a:p>
                          <a:r>
                            <a:rPr kumimoji="1" lang="ja-JP" altLang="en-US" sz="1200" dirty="0"/>
                            <a:t>定義</a:t>
                          </a:r>
                        </a:p>
                      </a:txBody>
                      <a:tcPr anchor="ctr"/>
                    </a:tc>
                    <a:extLst>
                      <a:ext uri="{0D108BD9-81ED-4DB2-BD59-A6C34878D82A}">
                        <a16:rowId xmlns:a16="http://schemas.microsoft.com/office/drawing/2014/main" val="2681140504"/>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𝑙</m:t>
                                </m:r>
                              </m:oMath>
                            </m:oMathPara>
                          </a14:m>
                          <a:endParaRPr sz="1200"/>
                        </a:p>
                      </a:txBody>
                      <a:tcPr anchor="ctr"/>
                    </a:tc>
                    <a:tc>
                      <a:txBody>
                        <a:bodyPr/>
                        <a:lstStyle/>
                        <a:p>
                          <a:r>
                            <a:rPr kumimoji="1" lang="ja-JP" altLang="en-US" sz="1200" dirty="0"/>
                            <a:t>階層モデル中の</a:t>
                          </a:r>
                          <a:r>
                            <a:rPr kumimoji="1" lang="en-US" altLang="ja-JP" sz="1200" dirty="0"/>
                            <a:t>AHP</a:t>
                          </a:r>
                          <a:r>
                            <a:rPr kumimoji="1" lang="ja-JP" altLang="en-US" sz="1200" dirty="0"/>
                            <a:t>の数</a:t>
                          </a:r>
                        </a:p>
                      </a:txBody>
                      <a:tcPr anchor="ctr"/>
                    </a:tc>
                    <a:extLst>
                      <a:ext uri="{0D108BD9-81ED-4DB2-BD59-A6C34878D82A}">
                        <a16:rowId xmlns:a16="http://schemas.microsoft.com/office/drawing/2014/main" val="2112526220"/>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𝑚</m:t>
                                </m:r>
                              </m:oMath>
                            </m:oMathPara>
                          </a14:m>
                          <a:endParaRPr sz="1200"/>
                        </a:p>
                      </a:txBody>
                      <a:tcPr anchor="ctr"/>
                    </a:tc>
                    <a:tc>
                      <a:txBody>
                        <a:bodyPr/>
                        <a:lstStyle/>
                        <a:p>
                          <a:r>
                            <a:rPr kumimoji="1" lang="ja-JP" altLang="en-US" sz="1200" dirty="0"/>
                            <a:t>階層モデル中の</a:t>
                          </a:r>
                          <a:r>
                            <a:rPr kumimoji="1" lang="en-US" altLang="ja-JP" sz="1200" dirty="0"/>
                            <a:t>Fuzzy</a:t>
                          </a:r>
                          <a:r>
                            <a:rPr kumimoji="1" lang="ja-JP" altLang="en-US" sz="1200" dirty="0"/>
                            <a:t>推論の数</a:t>
                          </a:r>
                        </a:p>
                      </a:txBody>
                      <a:tcPr anchor="ctr"/>
                    </a:tc>
                    <a:extLst>
                      <a:ext uri="{0D108BD9-81ED-4DB2-BD59-A6C34878D82A}">
                        <a16:rowId xmlns:a16="http://schemas.microsoft.com/office/drawing/2014/main" val="780508247"/>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𝑛</m:t>
                                </m:r>
                              </m:oMath>
                            </m:oMathPara>
                          </a14:m>
                          <a:endParaRPr sz="1200"/>
                        </a:p>
                      </a:txBody>
                      <a:tcPr anchor="ctr"/>
                    </a:tc>
                    <a:tc>
                      <a:txBody>
                        <a:bodyPr/>
                        <a:lstStyle/>
                        <a:p>
                          <a:r>
                            <a:rPr kumimoji="1" lang="ja-JP" altLang="en-US" sz="1200" dirty="0"/>
                            <a:t>比較対象（患者）の数</a:t>
                          </a:r>
                        </a:p>
                      </a:txBody>
                      <a:tcPr anchor="ctr"/>
                    </a:tc>
                    <a:extLst>
                      <a:ext uri="{0D108BD9-81ED-4DB2-BD59-A6C34878D82A}">
                        <a16:rowId xmlns:a16="http://schemas.microsoft.com/office/drawing/2014/main" val="82173697"/>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𝐴</m:t>
                                    </m:r>
                                  </m:e>
                                  <m:sub>
                                    <m:r>
                                      <a:rPr kumimoji="1" lang="en-US" altLang="ja-JP" sz="1200" b="0" i="1" dirty="0" smtClean="0">
                                        <a:latin typeface="Cambria Math" panose="02040503050406030204" pitchFamily="18" charset="0"/>
                                      </a:rPr>
                                      <m:t>𝑖</m:t>
                                    </m:r>
                                  </m:sub>
                                </m:sSub>
                              </m:oMath>
                            </m:oMathPara>
                          </a14:m>
                          <a:endParaRPr sz="1200" dirty="0"/>
                        </a:p>
                      </a:txBody>
                      <a:tcPr anchor="ctr"/>
                    </a:tc>
                    <a:tc>
                      <a:txBody>
                        <a:bodyPr/>
                        <a:lstStyle/>
                        <a:p>
                          <a:r>
                            <a:rPr kumimoji="1" lang="en-US" altLang="ja-JP" sz="1200" dirty="0"/>
                            <a:t>AHP</a:t>
                          </a:r>
                          <a:r>
                            <a:rPr kumimoji="1" lang="ja-JP" altLang="en-US" sz="1200" dirty="0"/>
                            <a:t>一対比較行列 </a:t>
                          </a:r>
                          <a14:m>
                            <m:oMath xmlns:m="http://schemas.openxmlformats.org/officeDocument/2006/math">
                              <m:r>
                                <a:rPr kumimoji="1" lang="en-US" altLang="ja-JP" sz="1200" b="0" i="1" smtClean="0">
                                  <a:latin typeface="Cambria Math" panose="02040503050406030204" pitchFamily="18" charset="0"/>
                                </a:rPr>
                                <m:t>𝑖</m:t>
                              </m:r>
                              <m:r>
                                <a:rPr kumimoji="1" lang="en-US" altLang="ja-JP" sz="1200" b="0" i="1" smtClean="0">
                                  <a:latin typeface="Cambria Math" panose="02040503050406030204" pitchFamily="18" charset="0"/>
                                </a:rPr>
                                <m:t>=</m:t>
                              </m:r>
                              <m:d>
                                <m:dPr>
                                  <m:begChr m:val="{"/>
                                  <m:endChr m:val="}"/>
                                  <m:ctrlPr>
                                    <a:rPr kumimoji="1" lang="en-US" altLang="ja-JP" sz="1200" b="0" i="1" smtClean="0">
                                      <a:latin typeface="Cambria Math" panose="02040503050406030204" pitchFamily="18" charset="0"/>
                                    </a:rPr>
                                  </m:ctrlPr>
                                </m:dPr>
                                <m:e>
                                  <m:r>
                                    <a:rPr kumimoji="1" lang="en-US" altLang="ja-JP" sz="1200" b="0" i="1" smtClean="0">
                                      <a:latin typeface="Cambria Math" panose="02040503050406030204" pitchFamily="18" charset="0"/>
                                    </a:rPr>
                                    <m:t>1,…,</m:t>
                                  </m:r>
                                  <m:r>
                                    <a:rPr kumimoji="1" lang="en-US" altLang="ja-JP" sz="1200" b="0" i="1" smtClean="0">
                                      <a:latin typeface="Cambria Math" panose="02040503050406030204" pitchFamily="18" charset="0"/>
                                    </a:rPr>
                                    <m:t>𝑙</m:t>
                                  </m:r>
                                </m:e>
                              </m:d>
                            </m:oMath>
                          </a14:m>
                          <a:endParaRPr kumimoji="1" lang="ja-JP" altLang="en-US" sz="1200" dirty="0"/>
                        </a:p>
                      </a:txBody>
                      <a:tcPr anchor="ctr"/>
                    </a:tc>
                    <a:extLst>
                      <a:ext uri="{0D108BD9-81ED-4DB2-BD59-A6C34878D82A}">
                        <a16:rowId xmlns:a16="http://schemas.microsoft.com/office/drawing/2014/main" val="950966567"/>
                      </a:ext>
                    </a:extLst>
                  </a:tr>
                  <a:tr h="0">
                    <a:tc>
                      <a:txBody>
                        <a:bodyPr/>
                        <a:lstStyle/>
                        <a:p>
                          <a:pPr/>
                          <a14:m>
                            <m:oMathPara xmlns:m="http://schemas.openxmlformats.org/officeDocument/2006/math">
                              <m:oMath>
                                <m:sSub>
                                  <m:sSubPr>
                                    <m:ctrlPr>
                                      <a:rPr kumimoji="1" lang="en-US" altLang="ja-JP" sz="1200" b="1" i="1" dirty="0" smtClean="0">
                                        <a:latin typeface="Cambria Math" panose="02040503050406030204" pitchFamily="18" charset="0"/>
                                      </a:rPr>
                                    </m:ctrlPr>
                                  </m:sSubPr>
                                  <m:e>
                                    <m:r>
                                      <a:rPr kumimoji="1" lang="en-US" altLang="ja-JP" sz="1200" b="1" i="1" dirty="0" smtClean="0">
                                        <a:latin typeface="Cambria Math" panose="02040503050406030204" pitchFamily="18" charset="0"/>
                                      </a:rPr>
                                      <m:t>𝜽</m:t>
                                    </m:r>
                                  </m:e>
                                  <m:sub>
                                    <m:r>
                                      <a:rPr kumimoji="1" lang="en-US" altLang="ja-JP" sz="1200" b="0" i="1" dirty="0" smtClean="0">
                                        <a:latin typeface="Cambria Math" panose="02040503050406030204" pitchFamily="18" charset="0"/>
                                      </a:rPr>
                                      <m:t>𝐹𝑗</m:t>
                                    </m:r>
                                  </m:sub>
                                </m:sSub>
                              </m:oMath>
                            </m:oMathPara>
                          </a14:m>
                          <a:endParaRPr sz="1200" dirty="0"/>
                        </a:p>
                      </a:txBody>
                      <a:tcPr anchor="ctr"/>
                    </a:tc>
                    <a:tc>
                      <a:txBody>
                        <a:bodyPr/>
                        <a:lstStyle/>
                        <a:p>
                          <a:r>
                            <a:rPr kumimoji="1" lang="en-US" altLang="ja-JP" sz="1200" dirty="0"/>
                            <a:t>Fuzzy</a:t>
                          </a:r>
                          <a:r>
                            <a:rPr kumimoji="1" lang="ja-JP" altLang="en-US" sz="1200" dirty="0"/>
                            <a:t>パラメタ </a:t>
                          </a:r>
                          <a14:m>
                            <m:oMath xmlns:m="http://schemas.openxmlformats.org/officeDocument/2006/math">
                              <m:r>
                                <a:rPr kumimoji="1" lang="en-US" altLang="ja-JP" sz="1200" b="0" i="1" smtClean="0">
                                  <a:latin typeface="Cambria Math" panose="02040503050406030204" pitchFamily="18" charset="0"/>
                                </a:rPr>
                                <m:t>𝑗</m:t>
                              </m:r>
                              <m:r>
                                <a:rPr kumimoji="1" lang="en-US" altLang="ja-JP" sz="1200" b="0" i="1" smtClean="0">
                                  <a:latin typeface="Cambria Math" panose="02040503050406030204" pitchFamily="18" charset="0"/>
                                </a:rPr>
                                <m:t>={1,…,</m:t>
                              </m:r>
                              <m:r>
                                <a:rPr kumimoji="1" lang="en-US" altLang="ja-JP" sz="1200" b="0" i="1" smtClean="0">
                                  <a:latin typeface="Cambria Math" panose="02040503050406030204" pitchFamily="18" charset="0"/>
                                </a:rPr>
                                <m:t>𝑚</m:t>
                              </m:r>
                              <m:r>
                                <a:rPr kumimoji="1" lang="en-US" altLang="ja-JP" sz="1200" b="0" i="1" smtClean="0">
                                  <a:latin typeface="Cambria Math" panose="02040503050406030204" pitchFamily="18" charset="0"/>
                                </a:rPr>
                                <m:t>}</m:t>
                              </m:r>
                            </m:oMath>
                          </a14:m>
                          <a:endParaRPr kumimoji="1" lang="ja-JP" altLang="en-US" sz="1200" dirty="0"/>
                        </a:p>
                      </a:txBody>
                      <a:tcPr anchor="ctr"/>
                    </a:tc>
                    <a:extLst>
                      <a:ext uri="{0D108BD9-81ED-4DB2-BD59-A6C34878D82A}">
                        <a16:rowId xmlns:a16="http://schemas.microsoft.com/office/drawing/2014/main" val="888060706"/>
                      </a:ext>
                    </a:extLst>
                  </a:tr>
                  <a:tr h="0">
                    <a:tc>
                      <a:txBody>
                        <a:bodyPr/>
                        <a:lstStyle/>
                        <a:p>
                          <a:pPr/>
                          <a14:m>
                            <m:oMathPara xmlns:m="http://schemas.openxmlformats.org/officeDocument/2006/math">
                              <m:oMath>
                                <m:r>
                                  <a:rPr kumimoji="1" lang="en-US" altLang="ja-JP" sz="1200" b="1" i="1" dirty="0" smtClean="0">
                                    <a:latin typeface="Cambria Math" panose="02040503050406030204" pitchFamily="18" charset="0"/>
                                  </a:rPr>
                                  <m:t>𝜽</m:t>
                                </m:r>
                              </m:oMath>
                            </m:oMathPara>
                          </a14:m>
                          <a:endParaRPr sz="1200" dirty="0"/>
                        </a:p>
                      </a:txBody>
                      <a:tcPr anchor="ctr"/>
                    </a:tc>
                    <a:tc>
                      <a:txBody>
                        <a:bodyPr/>
                        <a:lstStyle/>
                        <a:p>
                          <a:pPr/>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のパラメタ</a:t>
                          </a:r>
                          <a:br>
                            <a:rPr kumimoji="1" lang="en-US" altLang="ja-JP" sz="1200" b="0" i="1" dirty="0">
                              <a:latin typeface="Cambria Math" panose="02040503050406030204" pitchFamily="18" charset="0"/>
                            </a:rPr>
                          </a:br>
                          <a14:m>
                            <m:oMathPara xmlns:m="http://schemas.openxmlformats.org/officeDocument/2006/math">
                              <m:oMath>
                                <m:r>
                                  <a:rPr kumimoji="1" lang="en-US" altLang="ja-JP" sz="1200" b="1" i="1" smtClean="0">
                                    <a:latin typeface="Cambria Math" panose="02040503050406030204" pitchFamily="18" charset="0"/>
                                  </a:rPr>
                                  <m:t>𝜽</m:t>
                                </m:r>
                                <m:r>
                                  <a:rPr kumimoji="1" lang="en-US" altLang="ja-JP" sz="1200" b="0" i="1" smtClean="0">
                                    <a:latin typeface="Cambria Math" panose="02040503050406030204" pitchFamily="18" charset="0"/>
                                  </a:rPr>
                                  <m:t>=</m:t>
                                </m:r>
                                <m:d>
                                  <m:dPr>
                                    <m:ctrlPr>
                                      <a:rPr kumimoji="1" lang="en-US" altLang="ja-JP" sz="1200" b="0" i="1" smtClean="0">
                                        <a:latin typeface="Cambria Math" panose="02040503050406030204" pitchFamily="18" charset="0"/>
                                      </a:rPr>
                                    </m:ctrlPr>
                                  </m:dPr>
                                  <m:e>
                                    <m:sSub>
                                      <m:sSubPr>
                                        <m:ctrlPr>
                                          <a:rPr kumimoji="1" lang="en-US" altLang="ja-JP" sz="1200" b="0" i="1" smtClean="0">
                                            <a:latin typeface="Cambria Math" panose="02040503050406030204" pitchFamily="18" charset="0"/>
                                          </a:rPr>
                                        </m:ctrlPr>
                                      </m:sSubPr>
                                      <m:e>
                                        <m:r>
                                          <a:rPr kumimoji="1" lang="en-US" altLang="ja-JP" sz="1200" b="0" i="1" smtClean="0">
                                            <a:latin typeface="Cambria Math" panose="02040503050406030204" pitchFamily="18" charset="0"/>
                                          </a:rPr>
                                          <m:t>𝐴</m:t>
                                        </m:r>
                                      </m:e>
                                      <m:sub>
                                        <m:r>
                                          <a:rPr kumimoji="1" lang="en-US" altLang="ja-JP" sz="1200" b="0" i="1" smtClean="0">
                                            <a:latin typeface="Cambria Math" panose="02040503050406030204" pitchFamily="18" charset="0"/>
                                          </a:rPr>
                                          <m:t>1</m:t>
                                        </m:r>
                                      </m:sub>
                                    </m:sSub>
                                    <m:r>
                                      <a:rPr kumimoji="1" lang="en-US" altLang="ja-JP" sz="1200" b="0" i="1" smtClean="0">
                                        <a:latin typeface="Cambria Math" panose="02040503050406030204" pitchFamily="18" charset="0"/>
                                      </a:rPr>
                                      <m:t>,…,</m:t>
                                    </m:r>
                                    <m:sSub>
                                      <m:sSubPr>
                                        <m:ctrlPr>
                                          <a:rPr kumimoji="1" lang="en-US" altLang="ja-JP" sz="1200" b="0" i="1" smtClean="0">
                                            <a:latin typeface="Cambria Math" panose="02040503050406030204" pitchFamily="18" charset="0"/>
                                          </a:rPr>
                                        </m:ctrlPr>
                                      </m:sSubPr>
                                      <m:e>
                                        <m:r>
                                          <a:rPr kumimoji="1" lang="en-US" altLang="ja-JP" sz="1200" b="0" i="1" smtClean="0">
                                            <a:latin typeface="Cambria Math" panose="02040503050406030204" pitchFamily="18" charset="0"/>
                                          </a:rPr>
                                          <m:t>𝐴</m:t>
                                        </m:r>
                                      </m:e>
                                      <m:sub>
                                        <m:r>
                                          <a:rPr kumimoji="1" lang="en-US" altLang="ja-JP" sz="1200" b="0" i="1" smtClean="0">
                                            <a:latin typeface="Cambria Math" panose="02040503050406030204" pitchFamily="18" charset="0"/>
                                          </a:rPr>
                                          <m:t>𝑙</m:t>
                                        </m:r>
                                      </m:sub>
                                    </m:sSub>
                                    <m:r>
                                      <a:rPr kumimoji="1" lang="en-US" altLang="ja-JP" sz="1200" b="0" i="1" smtClean="0">
                                        <a:latin typeface="Cambria Math" panose="02040503050406030204" pitchFamily="18" charset="0"/>
                                      </a:rPr>
                                      <m:t>,</m:t>
                                    </m:r>
                                    <m:sSub>
                                      <m:sSubPr>
                                        <m:ctrlPr>
                                          <a:rPr kumimoji="1" lang="en-US" altLang="ja-JP" sz="1200" b="1" i="1" smtClean="0">
                                            <a:latin typeface="Cambria Math" panose="02040503050406030204" pitchFamily="18" charset="0"/>
                                          </a:rPr>
                                        </m:ctrlPr>
                                      </m:sSubPr>
                                      <m:e>
                                        <m:r>
                                          <a:rPr kumimoji="1" lang="en-US" altLang="ja-JP" sz="1200" b="1" i="1" smtClean="0">
                                            <a:latin typeface="Cambria Math" panose="02040503050406030204" pitchFamily="18" charset="0"/>
                                          </a:rPr>
                                          <m:t>𝜽</m:t>
                                        </m:r>
                                      </m:e>
                                      <m:sub>
                                        <m:r>
                                          <a:rPr kumimoji="1" lang="en-US" altLang="ja-JP" sz="1200" b="0" i="1" smtClean="0">
                                            <a:latin typeface="Cambria Math" panose="02040503050406030204" pitchFamily="18" charset="0"/>
                                          </a:rPr>
                                          <m:t>𝐹</m:t>
                                        </m:r>
                                        <m:r>
                                          <a:rPr kumimoji="1" lang="en-US" altLang="ja-JP" sz="1200" b="0" i="1" smtClean="0">
                                            <a:latin typeface="Cambria Math" panose="02040503050406030204" pitchFamily="18" charset="0"/>
                                          </a:rPr>
                                          <m:t>1</m:t>
                                        </m:r>
                                      </m:sub>
                                    </m:sSub>
                                    <m:r>
                                      <a:rPr kumimoji="1" lang="en-US" altLang="ja-JP" sz="1200" b="0" i="1" smtClean="0">
                                        <a:latin typeface="Cambria Math" panose="02040503050406030204" pitchFamily="18" charset="0"/>
                                      </a:rPr>
                                      <m:t>,…,</m:t>
                                    </m:r>
                                    <m:sSub>
                                      <m:sSubPr>
                                        <m:ctrlPr>
                                          <a:rPr kumimoji="1" lang="en-US" altLang="ja-JP" sz="1200" b="1" i="1" smtClean="0">
                                            <a:latin typeface="Cambria Math" panose="02040503050406030204" pitchFamily="18" charset="0"/>
                                          </a:rPr>
                                        </m:ctrlPr>
                                      </m:sSubPr>
                                      <m:e>
                                        <m:r>
                                          <a:rPr kumimoji="1" lang="en-US" altLang="ja-JP" sz="1200" b="1" i="1" smtClean="0">
                                            <a:latin typeface="Cambria Math" panose="02040503050406030204" pitchFamily="18" charset="0"/>
                                          </a:rPr>
                                          <m:t>𝜽</m:t>
                                        </m:r>
                                      </m:e>
                                      <m:sub>
                                        <m:r>
                                          <a:rPr kumimoji="1" lang="en-US" altLang="ja-JP" sz="1200" b="0" i="1" smtClean="0">
                                            <a:latin typeface="Cambria Math" panose="02040503050406030204" pitchFamily="18" charset="0"/>
                                          </a:rPr>
                                          <m:t>𝐹𝑚</m:t>
                                        </m:r>
                                      </m:sub>
                                    </m:sSub>
                                  </m:e>
                                </m:d>
                              </m:oMath>
                            </m:oMathPara>
                          </a14:m>
                          <a:endParaRPr kumimoji="1" lang="ja-JP" altLang="en-US" sz="1200" dirty="0"/>
                        </a:p>
                      </a:txBody>
                      <a:tcPr anchor="ctr"/>
                    </a:tc>
                    <a:extLst>
                      <a:ext uri="{0D108BD9-81ED-4DB2-BD59-A6C34878D82A}">
                        <a16:rowId xmlns:a16="http://schemas.microsoft.com/office/drawing/2014/main" val="2047826207"/>
                      </a:ext>
                    </a:extLst>
                  </a:tr>
                  <a:tr h="0">
                    <a:tc>
                      <a:txBody>
                        <a:bodyPr/>
                        <a:lstStyle/>
                        <a:p>
                          <a:pPr/>
                          <a14:m>
                            <m:oMathPara xmlns:m="http://schemas.openxmlformats.org/officeDocument/2006/math">
                              <m:oMath>
                                <m:sSub>
                                  <m:sSubPr>
                                    <m:ctrlPr>
                                      <a:rPr kumimoji="1" lang="en-US" altLang="ja-JP" sz="1200" b="1" i="1" dirty="0" smtClean="0">
                                        <a:latin typeface="Cambria Math" panose="02040503050406030204" pitchFamily="18" charset="0"/>
                                      </a:rPr>
                                    </m:ctrlPr>
                                  </m:sSubPr>
                                  <m:e>
                                    <m:r>
                                      <a:rPr kumimoji="1" lang="en-US" altLang="ja-JP" sz="1200" b="1" i="1" dirty="0" smtClean="0">
                                        <a:latin typeface="Cambria Math" panose="02040503050406030204" pitchFamily="18" charset="0"/>
                                      </a:rPr>
                                      <m:t>𝒙</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の特徴量</a:t>
                          </a:r>
                        </a:p>
                      </a:txBody>
                      <a:tcPr anchor="ctr"/>
                    </a:tc>
                    <a:extLst>
                      <a:ext uri="{0D108BD9-81ED-4DB2-BD59-A6C34878D82A}">
                        <a16:rowId xmlns:a16="http://schemas.microsoft.com/office/drawing/2014/main" val="3997772173"/>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𝐻</m:t>
                                </m:r>
                              </m:oMath>
                            </m:oMathPara>
                          </a14:m>
                          <a:endParaRPr sz="1200"/>
                        </a:p>
                      </a:txBody>
                      <a:tcPr anchor="ctr"/>
                    </a:tc>
                    <a:tc>
                      <a:txBody>
                        <a:bodyPr/>
                        <a:lstStyle/>
                        <a:p>
                          <a:r>
                            <a:rPr kumimoji="1" lang="ja-JP" altLang="en-US" sz="1200" dirty="0"/>
                            <a:t>階層モデル</a:t>
                          </a:r>
                        </a:p>
                      </a:txBody>
                      <a:tcPr anchor="ctr"/>
                    </a:tc>
                    <a:extLst>
                      <a:ext uri="{0D108BD9-81ED-4DB2-BD59-A6C34878D82A}">
                        <a16:rowId xmlns:a16="http://schemas.microsoft.com/office/drawing/2014/main" val="3376345640"/>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𝑦</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の危険度</a:t>
                          </a:r>
                        </a:p>
                      </a:txBody>
                      <a:tcPr anchor="ctr"/>
                    </a:tc>
                    <a:extLst>
                      <a:ext uri="{0D108BD9-81ED-4DB2-BD59-A6C34878D82A}">
                        <a16:rowId xmlns:a16="http://schemas.microsoft.com/office/drawing/2014/main" val="4290311576"/>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𝑟</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の危険度順位</a:t>
                          </a:r>
                        </a:p>
                      </a:txBody>
                      <a:tcPr anchor="ctr"/>
                    </a:tc>
                    <a:extLst>
                      <a:ext uri="{0D108BD9-81ED-4DB2-BD59-A6C34878D82A}">
                        <a16:rowId xmlns:a16="http://schemas.microsoft.com/office/drawing/2014/main" val="2813000330"/>
                      </a:ext>
                    </a:extLst>
                  </a:tr>
                  <a:tr h="0">
                    <a:tc>
                      <a:txBody>
                        <a:bodyPr/>
                        <a:lstStyle/>
                        <a:p>
                          <a:pPr/>
                          <a14:m>
                            <m:oMathPara xmlns:m="http://schemas.openxmlformats.org/officeDocument/2006/math">
                              <m:oMath>
                                <m:r>
                                  <a:rPr kumimoji="1" lang="en-US" altLang="ja-JP" sz="1200" b="0" i="1" dirty="0" smtClean="0">
                                    <a:latin typeface="Cambria Math" panose="02040503050406030204" pitchFamily="18" charset="0"/>
                                  </a:rPr>
                                  <m:t>𝐶𝐼</m:t>
                                </m:r>
                              </m:oMath>
                            </m:oMathPara>
                          </a14:m>
                          <a:endParaRPr sz="1200" dirty="0"/>
                        </a:p>
                      </a:txBody>
                      <a:tcPr anchor="ctr"/>
                    </a:tc>
                    <a:tc>
                      <a:txBody>
                        <a:bodyPr/>
                        <a:lstStyle/>
                        <a:p>
                          <a:r>
                            <a:rPr kumimoji="1" lang="ja-JP" altLang="en-US" sz="1200" dirty="0"/>
                            <a:t>整合性指標</a:t>
                          </a:r>
                        </a:p>
                      </a:txBody>
                      <a:tcPr anchor="ctr"/>
                    </a:tc>
                    <a:extLst>
                      <a:ext uri="{0D108BD9-81ED-4DB2-BD59-A6C34878D82A}">
                        <a16:rowId xmlns:a16="http://schemas.microsoft.com/office/drawing/2014/main" val="4198478982"/>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𝑐</m:t>
                                    </m:r>
                                  </m:e>
                                  <m:sub>
                                    <m:r>
                                      <a:rPr kumimoji="1" lang="en-US" altLang="ja-JP" sz="1200" b="0" i="1" dirty="0" smtClean="0">
                                        <a:latin typeface="Cambria Math" panose="02040503050406030204" pitchFamily="18" charset="0"/>
                                      </a:rPr>
                                      <m:t>𝑤𝑜𝑟𝑠𝑡</m:t>
                                    </m:r>
                                  </m:sub>
                                </m:sSub>
                              </m:oMath>
                            </m:oMathPara>
                          </a14:m>
                          <a:endParaRPr sz="1200"/>
                        </a:p>
                      </a:txBody>
                      <a:tcPr anchor="ctr"/>
                    </a:tc>
                    <a:tc>
                      <a:txBody>
                        <a:bodyPr/>
                        <a:lstStyle/>
                        <a:p>
                          <a:r>
                            <a:rPr kumimoji="1" lang="ja-JP" altLang="en-US" sz="1200" dirty="0"/>
                            <a:t>整合性指標の上限値</a:t>
                          </a:r>
                        </a:p>
                      </a:txBody>
                      <a:tcPr anchor="ctr"/>
                    </a:tc>
                    <a:extLst>
                      <a:ext uri="{0D108BD9-81ED-4DB2-BD59-A6C34878D82A}">
                        <a16:rowId xmlns:a16="http://schemas.microsoft.com/office/drawing/2014/main" val="3736557178"/>
                      </a:ext>
                    </a:extLst>
                  </a:tr>
                </a:tbl>
              </a:graphicData>
            </a:graphic>
          </p:graphicFrame>
        </mc:Choice>
        <mc:Fallback xmlns="">
          <p:graphicFrame>
            <p:nvGraphicFramePr>
              <p:cNvPr id="26" name="コンテンツ プレースホルダー 7">
                <a:extLst>
                  <a:ext uri="{FF2B5EF4-FFF2-40B4-BE49-F238E27FC236}">
                    <a16:creationId xmlns:a16="http://schemas.microsoft.com/office/drawing/2014/main" id="{44133A3C-B043-DADE-C003-29CF3CABC1A1}"/>
                  </a:ext>
                </a:extLst>
              </p:cNvPr>
              <p:cNvGraphicFramePr>
                <a:graphicFrameLocks/>
              </p:cNvGraphicFramePr>
              <p:nvPr>
                <p:extLst>
                  <p:ext uri="{D42A27DB-BD31-4B8C-83A1-F6EECF244321}">
                    <p14:modId xmlns:p14="http://schemas.microsoft.com/office/powerpoint/2010/main" val="703644517"/>
                  </p:ext>
                </p:extLst>
              </p:nvPr>
            </p:nvGraphicFramePr>
            <p:xfrm>
              <a:off x="7824408" y="2828146"/>
              <a:ext cx="2884361" cy="3763772"/>
            </p:xfrm>
            <a:graphic>
              <a:graphicData uri="http://schemas.openxmlformats.org/drawingml/2006/table">
                <a:tbl>
                  <a:tblPr firstRow="1" bandRow="1">
                    <a:tableStyleId>{073A0DAA-6AF3-43AB-8588-CEC1D06C72B9}</a:tableStyleId>
                  </a:tblPr>
                  <a:tblGrid>
                    <a:gridCol w="613918">
                      <a:extLst>
                        <a:ext uri="{9D8B030D-6E8A-4147-A177-3AD203B41FA5}">
                          <a16:colId xmlns:a16="http://schemas.microsoft.com/office/drawing/2014/main" val="2976928265"/>
                        </a:ext>
                      </a:extLst>
                    </a:gridCol>
                    <a:gridCol w="2270443">
                      <a:extLst>
                        <a:ext uri="{9D8B030D-6E8A-4147-A177-3AD203B41FA5}">
                          <a16:colId xmlns:a16="http://schemas.microsoft.com/office/drawing/2014/main" val="591180217"/>
                        </a:ext>
                      </a:extLst>
                    </a:gridCol>
                  </a:tblGrid>
                  <a:tr h="274320">
                    <a:tc>
                      <a:txBody>
                        <a:bodyPr/>
                        <a:lstStyle/>
                        <a:p>
                          <a:r>
                            <a:rPr kumimoji="1" lang="ja-JP" altLang="en-US" sz="1200" dirty="0"/>
                            <a:t>変数</a:t>
                          </a:r>
                        </a:p>
                      </a:txBody>
                      <a:tcPr anchor="ctr"/>
                    </a:tc>
                    <a:tc>
                      <a:txBody>
                        <a:bodyPr/>
                        <a:lstStyle/>
                        <a:p>
                          <a:r>
                            <a:rPr kumimoji="1" lang="ja-JP" altLang="en-US" sz="1200" dirty="0"/>
                            <a:t>定義</a:t>
                          </a:r>
                        </a:p>
                      </a:txBody>
                      <a:tcPr anchor="ctr"/>
                    </a:tc>
                    <a:extLst>
                      <a:ext uri="{0D108BD9-81ED-4DB2-BD59-A6C34878D82A}">
                        <a16:rowId xmlns:a16="http://schemas.microsoft.com/office/drawing/2014/main" val="2681140504"/>
                      </a:ext>
                    </a:extLst>
                  </a:tr>
                  <a:tr h="274320">
                    <a:tc>
                      <a:txBody>
                        <a:bodyPr/>
                        <a:lstStyle/>
                        <a:p>
                          <a:endParaRPr lang="ja-JP"/>
                        </a:p>
                      </a:txBody>
                      <a:tcPr anchor="ctr">
                        <a:blipFill>
                          <a:blip r:embed="rId7"/>
                          <a:stretch>
                            <a:fillRect l="-990" t="-102222" r="-373267" b="-1193333"/>
                          </a:stretch>
                        </a:blipFill>
                      </a:tcPr>
                    </a:tc>
                    <a:tc>
                      <a:txBody>
                        <a:bodyPr/>
                        <a:lstStyle/>
                        <a:p>
                          <a:r>
                            <a:rPr kumimoji="1" lang="ja-JP" altLang="en-US" sz="1200" dirty="0"/>
                            <a:t>階層モデル中の</a:t>
                          </a:r>
                          <a:r>
                            <a:rPr kumimoji="1" lang="en-US" altLang="ja-JP" sz="1200" dirty="0"/>
                            <a:t>AHP</a:t>
                          </a:r>
                          <a:r>
                            <a:rPr kumimoji="1" lang="ja-JP" altLang="en-US" sz="1200" dirty="0"/>
                            <a:t>の数</a:t>
                          </a:r>
                        </a:p>
                      </a:txBody>
                      <a:tcPr anchor="ctr"/>
                    </a:tc>
                    <a:extLst>
                      <a:ext uri="{0D108BD9-81ED-4DB2-BD59-A6C34878D82A}">
                        <a16:rowId xmlns:a16="http://schemas.microsoft.com/office/drawing/2014/main" val="2112526220"/>
                      </a:ext>
                    </a:extLst>
                  </a:tr>
                  <a:tr h="274320">
                    <a:tc>
                      <a:txBody>
                        <a:bodyPr/>
                        <a:lstStyle/>
                        <a:p>
                          <a:endParaRPr lang="ja-JP"/>
                        </a:p>
                      </a:txBody>
                      <a:tcPr anchor="ctr">
                        <a:blipFill>
                          <a:blip r:embed="rId7"/>
                          <a:stretch>
                            <a:fillRect l="-990" t="-202222" r="-373267" b="-1093333"/>
                          </a:stretch>
                        </a:blipFill>
                      </a:tcPr>
                    </a:tc>
                    <a:tc>
                      <a:txBody>
                        <a:bodyPr/>
                        <a:lstStyle/>
                        <a:p>
                          <a:r>
                            <a:rPr kumimoji="1" lang="ja-JP" altLang="en-US" sz="1200" dirty="0"/>
                            <a:t>階層モデル中の</a:t>
                          </a:r>
                          <a:r>
                            <a:rPr kumimoji="1" lang="en-US" altLang="ja-JP" sz="1200" dirty="0"/>
                            <a:t>Fuzzy</a:t>
                          </a:r>
                          <a:r>
                            <a:rPr kumimoji="1" lang="ja-JP" altLang="en-US" sz="1200" dirty="0"/>
                            <a:t>推論の数</a:t>
                          </a:r>
                        </a:p>
                      </a:txBody>
                      <a:tcPr anchor="ctr"/>
                    </a:tc>
                    <a:extLst>
                      <a:ext uri="{0D108BD9-81ED-4DB2-BD59-A6C34878D82A}">
                        <a16:rowId xmlns:a16="http://schemas.microsoft.com/office/drawing/2014/main" val="780508247"/>
                      </a:ext>
                    </a:extLst>
                  </a:tr>
                  <a:tr h="274320">
                    <a:tc>
                      <a:txBody>
                        <a:bodyPr/>
                        <a:lstStyle/>
                        <a:p>
                          <a:endParaRPr lang="ja-JP"/>
                        </a:p>
                      </a:txBody>
                      <a:tcPr anchor="ctr">
                        <a:blipFill>
                          <a:blip r:embed="rId7"/>
                          <a:stretch>
                            <a:fillRect l="-990" t="-302222" r="-373267" b="-993333"/>
                          </a:stretch>
                        </a:blipFill>
                      </a:tcPr>
                    </a:tc>
                    <a:tc>
                      <a:txBody>
                        <a:bodyPr/>
                        <a:lstStyle/>
                        <a:p>
                          <a:r>
                            <a:rPr kumimoji="1" lang="ja-JP" altLang="en-US" sz="1200" dirty="0"/>
                            <a:t>比較対象（患者）の数</a:t>
                          </a:r>
                        </a:p>
                      </a:txBody>
                      <a:tcPr anchor="ctr"/>
                    </a:tc>
                    <a:extLst>
                      <a:ext uri="{0D108BD9-81ED-4DB2-BD59-A6C34878D82A}">
                        <a16:rowId xmlns:a16="http://schemas.microsoft.com/office/drawing/2014/main" val="82173697"/>
                      </a:ext>
                    </a:extLst>
                  </a:tr>
                  <a:tr h="274320">
                    <a:tc>
                      <a:txBody>
                        <a:bodyPr/>
                        <a:lstStyle/>
                        <a:p>
                          <a:endParaRPr lang="ja-JP"/>
                        </a:p>
                      </a:txBody>
                      <a:tcPr anchor="ctr">
                        <a:blipFill>
                          <a:blip r:embed="rId7"/>
                          <a:stretch>
                            <a:fillRect l="-990" t="-393478" r="-373267" b="-871739"/>
                          </a:stretch>
                        </a:blipFill>
                      </a:tcPr>
                    </a:tc>
                    <a:tc>
                      <a:txBody>
                        <a:bodyPr/>
                        <a:lstStyle/>
                        <a:p>
                          <a:endParaRPr lang="ja-JP"/>
                        </a:p>
                      </a:txBody>
                      <a:tcPr anchor="ctr">
                        <a:blipFill>
                          <a:blip r:embed="rId7"/>
                          <a:stretch>
                            <a:fillRect l="-27346" t="-393478" r="-1072" b="-871739"/>
                          </a:stretch>
                        </a:blipFill>
                      </a:tcPr>
                    </a:tc>
                    <a:extLst>
                      <a:ext uri="{0D108BD9-81ED-4DB2-BD59-A6C34878D82A}">
                        <a16:rowId xmlns:a16="http://schemas.microsoft.com/office/drawing/2014/main" val="950966567"/>
                      </a:ext>
                    </a:extLst>
                  </a:tr>
                  <a:tr h="289052">
                    <a:tc>
                      <a:txBody>
                        <a:bodyPr/>
                        <a:lstStyle/>
                        <a:p>
                          <a:endParaRPr lang="ja-JP"/>
                        </a:p>
                      </a:txBody>
                      <a:tcPr anchor="ctr">
                        <a:blipFill>
                          <a:blip r:embed="rId7"/>
                          <a:stretch>
                            <a:fillRect l="-990" t="-482979" r="-373267" b="-753191"/>
                          </a:stretch>
                        </a:blipFill>
                      </a:tcPr>
                    </a:tc>
                    <a:tc>
                      <a:txBody>
                        <a:bodyPr/>
                        <a:lstStyle/>
                        <a:p>
                          <a:endParaRPr lang="ja-JP"/>
                        </a:p>
                      </a:txBody>
                      <a:tcPr anchor="ctr">
                        <a:blipFill>
                          <a:blip r:embed="rId7"/>
                          <a:stretch>
                            <a:fillRect l="-27346" t="-482979" r="-1072" b="-753191"/>
                          </a:stretch>
                        </a:blipFill>
                      </a:tcPr>
                    </a:tc>
                    <a:extLst>
                      <a:ext uri="{0D108BD9-81ED-4DB2-BD59-A6C34878D82A}">
                        <a16:rowId xmlns:a16="http://schemas.microsoft.com/office/drawing/2014/main" val="888060706"/>
                      </a:ext>
                    </a:extLst>
                  </a:tr>
                  <a:tr h="457200">
                    <a:tc>
                      <a:txBody>
                        <a:bodyPr/>
                        <a:lstStyle/>
                        <a:p>
                          <a:endParaRPr lang="ja-JP"/>
                        </a:p>
                      </a:txBody>
                      <a:tcPr anchor="ctr">
                        <a:blipFill>
                          <a:blip r:embed="rId7"/>
                          <a:stretch>
                            <a:fillRect l="-990" t="-365333" r="-373267" b="-372000"/>
                          </a:stretch>
                        </a:blipFill>
                      </a:tcPr>
                    </a:tc>
                    <a:tc>
                      <a:txBody>
                        <a:bodyPr/>
                        <a:lstStyle/>
                        <a:p>
                          <a:endParaRPr lang="ja-JP"/>
                        </a:p>
                      </a:txBody>
                      <a:tcPr anchor="ctr">
                        <a:blipFill>
                          <a:blip r:embed="rId7"/>
                          <a:stretch>
                            <a:fillRect l="-27346" t="-365333" r="-1072" b="-372000"/>
                          </a:stretch>
                        </a:blipFill>
                      </a:tcPr>
                    </a:tc>
                    <a:extLst>
                      <a:ext uri="{0D108BD9-81ED-4DB2-BD59-A6C34878D82A}">
                        <a16:rowId xmlns:a16="http://schemas.microsoft.com/office/drawing/2014/main" val="2047826207"/>
                      </a:ext>
                    </a:extLst>
                  </a:tr>
                  <a:tr h="274320">
                    <a:tc>
                      <a:txBody>
                        <a:bodyPr/>
                        <a:lstStyle/>
                        <a:p>
                          <a:endParaRPr lang="ja-JP"/>
                        </a:p>
                      </a:txBody>
                      <a:tcPr anchor="ctr">
                        <a:blipFill>
                          <a:blip r:embed="rId7"/>
                          <a:stretch>
                            <a:fillRect l="-990" t="-775556" r="-373267" b="-520000"/>
                          </a:stretch>
                        </a:blipFill>
                      </a:tcPr>
                    </a:tc>
                    <a:tc>
                      <a:txBody>
                        <a:bodyPr/>
                        <a:lstStyle/>
                        <a:p>
                          <a:endParaRPr lang="ja-JP"/>
                        </a:p>
                      </a:txBody>
                      <a:tcPr anchor="ctr">
                        <a:blipFill>
                          <a:blip r:embed="rId7"/>
                          <a:stretch>
                            <a:fillRect l="-27346" t="-775556" r="-1072" b="-520000"/>
                          </a:stretch>
                        </a:blipFill>
                      </a:tcPr>
                    </a:tc>
                    <a:extLst>
                      <a:ext uri="{0D108BD9-81ED-4DB2-BD59-A6C34878D82A}">
                        <a16:rowId xmlns:a16="http://schemas.microsoft.com/office/drawing/2014/main" val="3997772173"/>
                      </a:ext>
                    </a:extLst>
                  </a:tr>
                  <a:tr h="274320">
                    <a:tc>
                      <a:txBody>
                        <a:bodyPr/>
                        <a:lstStyle/>
                        <a:p>
                          <a:endParaRPr lang="ja-JP"/>
                        </a:p>
                      </a:txBody>
                      <a:tcPr anchor="ctr">
                        <a:blipFill>
                          <a:blip r:embed="rId7"/>
                          <a:stretch>
                            <a:fillRect l="-990" t="-856522" r="-373267" b="-408696"/>
                          </a:stretch>
                        </a:blipFill>
                      </a:tcPr>
                    </a:tc>
                    <a:tc>
                      <a:txBody>
                        <a:bodyPr/>
                        <a:lstStyle/>
                        <a:p>
                          <a:r>
                            <a:rPr kumimoji="1" lang="ja-JP" altLang="en-US" sz="1200" dirty="0"/>
                            <a:t>階層モデル</a:t>
                          </a:r>
                        </a:p>
                      </a:txBody>
                      <a:tcPr anchor="ctr"/>
                    </a:tc>
                    <a:extLst>
                      <a:ext uri="{0D108BD9-81ED-4DB2-BD59-A6C34878D82A}">
                        <a16:rowId xmlns:a16="http://schemas.microsoft.com/office/drawing/2014/main" val="3376345640"/>
                      </a:ext>
                    </a:extLst>
                  </a:tr>
                  <a:tr h="274320">
                    <a:tc>
                      <a:txBody>
                        <a:bodyPr/>
                        <a:lstStyle/>
                        <a:p>
                          <a:endParaRPr lang="ja-JP"/>
                        </a:p>
                      </a:txBody>
                      <a:tcPr anchor="ctr">
                        <a:blipFill>
                          <a:blip r:embed="rId7"/>
                          <a:stretch>
                            <a:fillRect l="-990" t="-977778" r="-373267" b="-317778"/>
                          </a:stretch>
                        </a:blipFill>
                      </a:tcPr>
                    </a:tc>
                    <a:tc>
                      <a:txBody>
                        <a:bodyPr/>
                        <a:lstStyle/>
                        <a:p>
                          <a:endParaRPr lang="ja-JP"/>
                        </a:p>
                      </a:txBody>
                      <a:tcPr anchor="ctr">
                        <a:blipFill>
                          <a:blip r:embed="rId7"/>
                          <a:stretch>
                            <a:fillRect l="-27346" t="-977778" r="-1072" b="-317778"/>
                          </a:stretch>
                        </a:blipFill>
                      </a:tcPr>
                    </a:tc>
                    <a:extLst>
                      <a:ext uri="{0D108BD9-81ED-4DB2-BD59-A6C34878D82A}">
                        <a16:rowId xmlns:a16="http://schemas.microsoft.com/office/drawing/2014/main" val="4290311576"/>
                      </a:ext>
                    </a:extLst>
                  </a:tr>
                  <a:tr h="274320">
                    <a:tc>
                      <a:txBody>
                        <a:bodyPr/>
                        <a:lstStyle/>
                        <a:p>
                          <a:endParaRPr lang="ja-JP"/>
                        </a:p>
                      </a:txBody>
                      <a:tcPr anchor="ctr">
                        <a:blipFill>
                          <a:blip r:embed="rId7"/>
                          <a:stretch>
                            <a:fillRect l="-990" t="-1077778" r="-373267" b="-217778"/>
                          </a:stretch>
                        </a:blipFill>
                      </a:tcPr>
                    </a:tc>
                    <a:tc>
                      <a:txBody>
                        <a:bodyPr/>
                        <a:lstStyle/>
                        <a:p>
                          <a:endParaRPr lang="ja-JP"/>
                        </a:p>
                      </a:txBody>
                      <a:tcPr anchor="ctr">
                        <a:blipFill>
                          <a:blip r:embed="rId7"/>
                          <a:stretch>
                            <a:fillRect l="-27346" t="-1077778" r="-1072" b="-217778"/>
                          </a:stretch>
                        </a:blipFill>
                      </a:tcPr>
                    </a:tc>
                    <a:extLst>
                      <a:ext uri="{0D108BD9-81ED-4DB2-BD59-A6C34878D82A}">
                        <a16:rowId xmlns:a16="http://schemas.microsoft.com/office/drawing/2014/main" val="2813000330"/>
                      </a:ext>
                    </a:extLst>
                  </a:tr>
                  <a:tr h="274320">
                    <a:tc>
                      <a:txBody>
                        <a:bodyPr/>
                        <a:lstStyle/>
                        <a:p>
                          <a:endParaRPr lang="ja-JP"/>
                        </a:p>
                      </a:txBody>
                      <a:tcPr anchor="ctr">
                        <a:blipFill>
                          <a:blip r:embed="rId7"/>
                          <a:stretch>
                            <a:fillRect l="-990" t="-1177778" r="-373267" b="-117778"/>
                          </a:stretch>
                        </a:blipFill>
                      </a:tcPr>
                    </a:tc>
                    <a:tc>
                      <a:txBody>
                        <a:bodyPr/>
                        <a:lstStyle/>
                        <a:p>
                          <a:r>
                            <a:rPr kumimoji="1" lang="ja-JP" altLang="en-US" sz="1200" dirty="0"/>
                            <a:t>整合性指標</a:t>
                          </a:r>
                        </a:p>
                      </a:txBody>
                      <a:tcPr anchor="ctr"/>
                    </a:tc>
                    <a:extLst>
                      <a:ext uri="{0D108BD9-81ED-4DB2-BD59-A6C34878D82A}">
                        <a16:rowId xmlns:a16="http://schemas.microsoft.com/office/drawing/2014/main" val="4198478982"/>
                      </a:ext>
                    </a:extLst>
                  </a:tr>
                  <a:tr h="274320">
                    <a:tc>
                      <a:txBody>
                        <a:bodyPr/>
                        <a:lstStyle/>
                        <a:p>
                          <a:endParaRPr lang="ja-JP"/>
                        </a:p>
                      </a:txBody>
                      <a:tcPr anchor="ctr">
                        <a:blipFill>
                          <a:blip r:embed="rId7"/>
                          <a:stretch>
                            <a:fillRect l="-990" t="-1277778" r="-373267" b="-17778"/>
                          </a:stretch>
                        </a:blipFill>
                      </a:tcPr>
                    </a:tc>
                    <a:tc>
                      <a:txBody>
                        <a:bodyPr/>
                        <a:lstStyle/>
                        <a:p>
                          <a:r>
                            <a:rPr kumimoji="1" lang="ja-JP" altLang="en-US" sz="1200" dirty="0"/>
                            <a:t>整合性指標の上限値</a:t>
                          </a:r>
                        </a:p>
                      </a:txBody>
                      <a:tcPr anchor="ctr"/>
                    </a:tc>
                    <a:extLst>
                      <a:ext uri="{0D108BD9-81ED-4DB2-BD59-A6C34878D82A}">
                        <a16:rowId xmlns:a16="http://schemas.microsoft.com/office/drawing/2014/main" val="3736557178"/>
                      </a:ext>
                    </a:extLst>
                  </a:tr>
                </a:tbl>
              </a:graphicData>
            </a:graphic>
          </p:graphicFrame>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F9EBF2F0-F865-E056-2339-6B11530771D8}"/>
                  </a:ext>
                </a:extLst>
              </p:cNvPr>
              <p:cNvSpPr txBox="1"/>
              <p:nvPr/>
            </p:nvSpPr>
            <p:spPr>
              <a:xfrm>
                <a:off x="7463081" y="1052736"/>
                <a:ext cx="1542858" cy="452816"/>
              </a:xfrm>
              <a:prstGeom prst="rect">
                <a:avLst/>
              </a:prstGeom>
              <a:noFill/>
            </p:spPr>
            <p:txBody>
              <a:bodyPr wrap="none" rtlCol="0">
                <a:spAutoFit/>
              </a:bodyPr>
              <a:lstStyle/>
              <a:p>
                <a:pPr/>
                <a14:m>
                  <m:oMathPara xmlns:m="http://schemas.openxmlformats.org/officeDocument/2006/math">
                    <m:oMath>
                      <m:func>
                        <m:funcPr>
                          <m:ctrlPr>
                            <a:rPr kumimoji="1" lang="en-US" altLang="ja-JP" b="0" i="1" smtClean="0">
                              <a:latin typeface="Cambria Math" panose="02040503050406030204" pitchFamily="18" charset="0"/>
                            </a:rPr>
                          </m:ctrlPr>
                        </m:funcPr>
                        <m:fName>
                          <m:limLow>
                            <m:limLowPr>
                              <m:ctrlPr>
                                <a:rPr kumimoji="1" lang="en-US" altLang="ja-JP" b="0" i="0" smtClean="0">
                                  <a:latin typeface="Cambria Math" panose="02040503050406030204" pitchFamily="18" charset="0"/>
                                </a:rPr>
                              </m:ctrlPr>
                            </m:limLowPr>
                            <m:e>
                              <m:r>
                                <m:rPr>
                                  <m:sty m:val="p"/>
                                </m:rPr>
                                <a:rPr kumimoji="1" lang="en-US" altLang="ja-JP" b="0" i="0" smtClean="0">
                                  <a:latin typeface="Cambria Math" panose="02040503050406030204" pitchFamily="18" charset="0"/>
                                </a:rPr>
                                <m:t>min</m:t>
                              </m:r>
                            </m:e>
                            <m:lim>
                              <m:r>
                                <a:rPr kumimoji="1" lang="en-US" altLang="ja-JP" b="1" i="1" smtClean="0">
                                  <a:latin typeface="Cambria Math" panose="02040503050406030204" pitchFamily="18" charset="0"/>
                                </a:rPr>
                                <m:t>𝜽</m:t>
                              </m:r>
                            </m:lim>
                          </m:limLow>
                        </m:fName>
                        <m:e>
                          <m:d>
                            <m:dPr>
                              <m:begChr m:val="‖"/>
                              <m:endChr m:val="‖"/>
                              <m:ctrlPr>
                                <a:rPr lang="en-US" altLang="ja-JP" b="1" i="1">
                                  <a:latin typeface="Cambria Math" panose="02040503050406030204" pitchFamily="18" charset="0"/>
                                </a:rPr>
                              </m:ctrlPr>
                            </m:dPr>
                            <m:e>
                              <m:r>
                                <a:rPr lang="en-US" altLang="ja-JP" b="1" i="1">
                                  <a:latin typeface="Cambria Math" panose="02040503050406030204" pitchFamily="18" charset="0"/>
                                </a:rPr>
                                <m:t>𝜽</m:t>
                              </m:r>
                              <m:r>
                                <a:rPr lang="en-US" altLang="ja-JP" i="1">
                                  <a:latin typeface="Cambria Math" panose="02040503050406030204" pitchFamily="18" charset="0"/>
                                </a:rPr>
                                <m:t>−</m:t>
                              </m:r>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e>
                          </m:d>
                        </m:e>
                      </m:func>
                    </m:oMath>
                  </m:oMathPara>
                </a14:m>
                <a:endParaRPr kumimoji="1" lang="ja-JP" altLang="en-US" dirty="0"/>
              </a:p>
            </p:txBody>
          </p:sp>
        </mc:Choice>
        <mc:Fallback xmlns="">
          <p:sp>
            <p:nvSpPr>
              <p:cNvPr id="28" name="テキスト ボックス 27">
                <a:extLst>
                  <a:ext uri="{FF2B5EF4-FFF2-40B4-BE49-F238E27FC236}">
                    <a16:creationId xmlns:a16="http://schemas.microsoft.com/office/drawing/2014/main" id="{F9EBF2F0-F865-E056-2339-6B11530771D8}"/>
                  </a:ext>
                </a:extLst>
              </p:cNvPr>
              <p:cNvSpPr txBox="1">
                <a:spLocks noRot="1" noChangeAspect="1" noMove="1" noResize="1" noEditPoints="1" noAdjustHandles="1" noChangeArrowheads="1" noChangeShapeType="1" noTextEdit="1"/>
              </p:cNvSpPr>
              <p:nvPr/>
            </p:nvSpPr>
            <p:spPr>
              <a:xfrm>
                <a:off x="7463081" y="1052736"/>
                <a:ext cx="1542858" cy="452816"/>
              </a:xfrm>
              <a:prstGeom prst="rect">
                <a:avLst/>
              </a:prstGeom>
              <a:blipFill>
                <a:blip r:embed="rId8"/>
                <a:stretch>
                  <a:fillRect b="-270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19072E54-359D-8EB3-3EDB-0C6F60BA44D6}"/>
                  </a:ext>
                </a:extLst>
              </p:cNvPr>
              <p:cNvSpPr txBox="1"/>
              <p:nvPr/>
            </p:nvSpPr>
            <p:spPr>
              <a:xfrm>
                <a:off x="7463081" y="1832025"/>
                <a:ext cx="637482" cy="369332"/>
              </a:xfrm>
              <a:prstGeom prst="rect">
                <a:avLst/>
              </a:prstGeom>
              <a:noFill/>
            </p:spPr>
            <p:txBody>
              <a:bodyPr wrap="none" rtlCol="0">
                <a:spAutoFit/>
              </a:bodyPr>
              <a:lstStyle/>
              <a:p>
                <a:pPr/>
                <a14:m>
                  <m:oMathPara xmlns:m="http://schemas.openxmlformats.org/officeDocument/2006/math">
                    <m:oMath>
                      <m:r>
                        <a:rPr kumimoji="1" lang="en-US" altLang="ja-JP"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 </m:t>
                      </m:r>
                    </m:oMath>
                  </m:oMathPara>
                </a14:m>
                <a:endParaRPr kumimoji="1" lang="ja-JP" altLang="en-US" dirty="0"/>
              </a:p>
            </p:txBody>
          </p:sp>
        </mc:Choice>
        <mc:Fallback xmlns="">
          <p:sp>
            <p:nvSpPr>
              <p:cNvPr id="30" name="テキスト ボックス 29">
                <a:extLst>
                  <a:ext uri="{FF2B5EF4-FFF2-40B4-BE49-F238E27FC236}">
                    <a16:creationId xmlns:a16="http://schemas.microsoft.com/office/drawing/2014/main" id="{6A0F3F98-907E-D91C-FEA0-3C3652CE4A01}"/>
                  </a:ext>
                </a:extLst>
              </p:cNvPr>
              <p:cNvSpPr txBox="1">
                <a:spLocks noRot="1" noChangeAspect="1" noMove="1" noResize="1" noEditPoints="1" noAdjustHandles="1" noChangeArrowheads="1" noChangeShapeType="1" noTextEdit="1"/>
              </p:cNvSpPr>
              <p:nvPr/>
            </p:nvSpPr>
            <p:spPr>
              <a:xfrm>
                <a:off x="7463081" y="1832025"/>
                <a:ext cx="637482" cy="36933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27DA5F0B-A5B9-A0C5-AC53-37480108A5A0}"/>
                  </a:ext>
                </a:extLst>
              </p:cNvPr>
              <p:cNvSpPr txBox="1"/>
              <p:nvPr/>
            </p:nvSpPr>
            <p:spPr>
              <a:xfrm>
                <a:off x="8026400" y="1616001"/>
                <a:ext cx="3369833" cy="1200329"/>
              </a:xfrm>
              <a:prstGeom prst="rect">
                <a:avLst/>
              </a:prstGeom>
              <a:noFill/>
            </p:spPr>
            <p:txBody>
              <a:bodyPr wrap="none" rtlCol="0">
                <a:spAutoFit/>
              </a:bodyPr>
              <a:lstStyle/>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b="0" i="1" smtClean="0">
                            <a:latin typeface="Cambria Math" panose="02040503050406030204" pitchFamily="18" charset="0"/>
                          </a:rPr>
                          <m:t>𝑘</m:t>
                        </m:r>
                      </m:sub>
                    </m:sSub>
                    <m:r>
                      <a:rPr lang="en-US" altLang="ja-JP" i="1">
                        <a:latin typeface="Cambria Math" panose="02040503050406030204" pitchFamily="18" charset="0"/>
                      </a:rPr>
                      <m:t>=</m:t>
                    </m:r>
                    <m:r>
                      <a:rPr lang="en-US" altLang="ja-JP" i="1">
                        <a:latin typeface="Cambria Math" panose="02040503050406030204" pitchFamily="18" charset="0"/>
                      </a:rPr>
                      <m:t>𝐻</m:t>
                    </m:r>
                    <m:d>
                      <m:dPr>
                        <m:ctrlPr>
                          <a:rPr lang="en-US" altLang="ja-JP" b="1" i="1">
                            <a:latin typeface="Cambria Math" panose="02040503050406030204" pitchFamily="18" charset="0"/>
                          </a:rPr>
                        </m:ctrlPr>
                      </m:dPr>
                      <m:e>
                        <m:sSub>
                          <m:sSubPr>
                            <m:ctrlPr>
                              <a:rPr lang="en-US" altLang="ja-JP" b="1" i="1">
                                <a:latin typeface="Cambria Math" panose="02040503050406030204" pitchFamily="18" charset="0"/>
                              </a:rPr>
                            </m:ctrlPr>
                          </m:sSubPr>
                          <m:e>
                            <m:r>
                              <a:rPr lang="en-US" altLang="ja-JP" b="1" i="1">
                                <a:latin typeface="Cambria Math" panose="02040503050406030204" pitchFamily="18" charset="0"/>
                              </a:rPr>
                              <m:t>𝒙</m:t>
                            </m:r>
                          </m:e>
                          <m:sub>
                            <m:r>
                              <a:rPr lang="en-US" altLang="ja-JP" b="0" i="1" smtClean="0">
                                <a:latin typeface="Cambria Math" panose="02040503050406030204" pitchFamily="18" charset="0"/>
                              </a:rPr>
                              <m:t>𝑘</m:t>
                            </m:r>
                          </m:sub>
                        </m:sSub>
                        <m:r>
                          <a:rPr lang="en-US" altLang="ja-JP" i="1">
                            <a:latin typeface="Cambria Math" panose="02040503050406030204" pitchFamily="18" charset="0"/>
                          </a:rPr>
                          <m:t>;</m:t>
                        </m:r>
                        <m:r>
                          <a:rPr lang="en-US" altLang="ja-JP" b="1" i="1">
                            <a:latin typeface="Cambria Math" panose="02040503050406030204" pitchFamily="18" charset="0"/>
                          </a:rPr>
                          <m:t>𝜽</m:t>
                        </m:r>
                      </m:e>
                    </m:d>
                    <m:r>
                      <a:rPr lang="en-US" altLang="ja-JP" i="1">
                        <a:latin typeface="Cambria Math" panose="02040503050406030204" pitchFamily="18" charset="0"/>
                      </a:rPr>
                      <m:t> </m:t>
                    </m:r>
                    <m:r>
                      <a:rPr lang="en-US" altLang="ja-JP" b="0" i="1" smtClean="0">
                        <a:latin typeface="Cambria Math" panose="02040503050406030204" pitchFamily="18" charset="0"/>
                      </a:rPr>
                      <m:t> </m:t>
                    </m:r>
                    <m:r>
                      <m:rPr>
                        <m:sty m:val="p"/>
                      </m:rPr>
                      <a:rPr lang="en-US" altLang="ja-JP" b="0" i="0" smtClean="0">
                        <a:latin typeface="Cambria Math" panose="02040503050406030204" pitchFamily="18" charset="0"/>
                      </a:rPr>
                      <m:t>for</m:t>
                    </m:r>
                    <m:r>
                      <a:rPr lang="en-US" altLang="ja-JP" b="0" i="1" smtClean="0">
                        <a:latin typeface="Cambria Math" panose="02040503050406030204" pitchFamily="18" charset="0"/>
                      </a:rPr>
                      <m:t> </m:t>
                    </m:r>
                    <m:r>
                      <a:rPr lang="en-US" altLang="ja-JP" b="0" i="1" smtClean="0">
                        <a:latin typeface="Cambria Math" panose="02040503050406030204" pitchFamily="18" charset="0"/>
                      </a:rPr>
                      <m:t>𝑘</m:t>
                    </m:r>
                    <m:r>
                      <a:rPr lang="en-US" altLang="ja-JP" b="0" i="1" smtClean="0">
                        <a:latin typeface="Cambria Math" panose="02040503050406030204" pitchFamily="18" charset="0"/>
                      </a:rPr>
                      <m:t> </m:t>
                    </m:r>
                    <m:r>
                      <m:rPr>
                        <m:sty m:val="p"/>
                      </m:rPr>
                      <a:rPr lang="en-US" altLang="ja-JP" b="0" i="0" smtClean="0">
                        <a:latin typeface="Cambria Math" panose="02040503050406030204" pitchFamily="18" charset="0"/>
                      </a:rPr>
                      <m:t>in</m:t>
                    </m:r>
                    <m:r>
                      <a:rPr lang="en-US" altLang="ja-JP" b="0" i="1" smtClean="0">
                        <a:latin typeface="Cambria Math" panose="02040503050406030204" pitchFamily="18" charset="0"/>
                      </a:rPr>
                      <m:t> {1,…,</m:t>
                    </m:r>
                    <m:r>
                      <a:rPr lang="en-US" altLang="ja-JP" b="0" i="1" smtClean="0">
                        <a:latin typeface="Cambria Math" panose="02040503050406030204" pitchFamily="18" charset="0"/>
                      </a:rPr>
                      <m:t>𝑛</m:t>
                    </m:r>
                    <m:r>
                      <a:rPr lang="en-US" altLang="ja-JP" b="0" i="1" smtClean="0">
                        <a:latin typeface="Cambria Math" panose="02040503050406030204" pitchFamily="18" charset="0"/>
                      </a:rPr>
                      <m:t>}</m:t>
                    </m:r>
                  </m:oMath>
                </a14:m>
                <a:r>
                  <a:rPr lang="en-US" altLang="ja-JP" i="1" dirty="0">
                    <a:latin typeface="Cambria Math" panose="02040503050406030204" pitchFamily="18" charset="0"/>
                  </a:rPr>
                  <a:t> </a:t>
                </a:r>
              </a:p>
              <a:p>
                <a14:m>
                  <m:oMath xmlns:m="http://schemas.openxmlformats.org/officeDocument/2006/math">
                    <m:r>
                      <a:rPr kumimoji="1" lang="en-US" altLang="ja-JP" b="1" i="1" smtClean="0">
                        <a:latin typeface="Cambria Math" panose="02040503050406030204" pitchFamily="18" charset="0"/>
                      </a:rPr>
                      <m:t>𝒓</m:t>
                    </m:r>
                    <m:r>
                      <a:rPr kumimoji="1" lang="en-US" altLang="ja-JP" b="0" i="1" smtClean="0">
                        <a:latin typeface="Cambria Math" panose="02040503050406030204" pitchFamily="18" charset="0"/>
                      </a:rPr>
                      <m:t>=</m:t>
                    </m:r>
                    <m:r>
                      <a:rPr kumimoji="1" lang="en-US" altLang="ja-JP" i="1" smtClean="0">
                        <a:latin typeface="Cambria Math" panose="02040503050406030204" pitchFamily="18" charset="0"/>
                      </a:rPr>
                      <m:t>𝑟</m:t>
                    </m:r>
                    <m:r>
                      <a:rPr kumimoji="1" lang="en-US" altLang="ja-JP" b="0" i="1" smtClean="0">
                        <a:latin typeface="Cambria Math" panose="02040503050406030204" pitchFamily="18" charset="0"/>
                      </a:rPr>
                      <m:t>𝑎𝑛𝑘𝑖𝑛𝑔</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𝑛</m:t>
                            </m:r>
                          </m:sub>
                        </m:sSub>
                      </m:e>
                    </m:d>
                    <m:r>
                      <a:rPr kumimoji="1" lang="en-US" altLang="ja-JP" b="0" i="1" smtClean="0">
                        <a:latin typeface="Cambria Math" panose="02040503050406030204" pitchFamily="18" charset="0"/>
                      </a:rPr>
                      <m:t>=</m:t>
                    </m:r>
                    <m:sSup>
                      <m:sSupPr>
                        <m:ctrlPr>
                          <a:rPr lang="en-US" altLang="ja-JP" b="1" i="1">
                            <a:latin typeface="Cambria Math" panose="02040503050406030204" pitchFamily="18" charset="0"/>
                          </a:rPr>
                        </m:ctrlPr>
                      </m:sSupPr>
                      <m:e>
                        <m:r>
                          <a:rPr lang="en-US" altLang="ja-JP" b="1" i="1">
                            <a:latin typeface="Cambria Math" panose="02040503050406030204" pitchFamily="18" charset="0"/>
                          </a:rPr>
                          <m:t>𝒓</m:t>
                        </m:r>
                      </m:e>
                      <m:sup>
                        <m:r>
                          <a:rPr lang="en-US" altLang="ja-JP" b="0" i="1" smtClean="0">
                            <a:latin typeface="Cambria Math" panose="02040503050406030204" pitchFamily="18" charset="0"/>
                          </a:rPr>
                          <m:t>∗</m:t>
                        </m:r>
                      </m:sup>
                    </m:sSup>
                  </m:oMath>
                </a14:m>
                <a:r>
                  <a:rPr kumimoji="1" lang="en-US" altLang="ja-JP" b="0" dirty="0"/>
                  <a:t> </a:t>
                </a:r>
              </a:p>
              <a:p>
                <a14:m>
                  <m:oMath xmlns:m="http://schemas.openxmlformats.org/officeDocument/2006/math">
                    <m:r>
                      <a:rPr lang="en-US" altLang="ja-JP" b="0" i="1" smtClean="0">
                        <a:latin typeface="Cambria Math" panose="02040503050406030204" pitchFamily="18" charset="0"/>
                      </a:rPr>
                      <m:t>𝐶𝐼</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𝐴</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&lt;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0" i="1" smtClean="0">
                            <a:latin typeface="Cambria Math" panose="02040503050406030204" pitchFamily="18" charset="0"/>
                          </a:rPr>
                          <m:t>𝑤𝑜𝑟𝑠𝑡</m:t>
                        </m:r>
                      </m:sub>
                    </m:sSub>
                    <m:r>
                      <a:rPr lang="en-US" altLang="ja-JP" i="1">
                        <a:latin typeface="Cambria Math" panose="02040503050406030204" pitchFamily="18" charset="0"/>
                      </a:rPr>
                      <m:t>  </m:t>
                    </m:r>
                    <m:r>
                      <m:rPr>
                        <m:sty m:val="p"/>
                      </m:rPr>
                      <a:rPr lang="en-US" altLang="ja-JP" i="0">
                        <a:latin typeface="Cambria Math" panose="02040503050406030204" pitchFamily="18" charset="0"/>
                      </a:rPr>
                      <m:t>for</m:t>
                    </m:r>
                    <m:r>
                      <a:rPr lang="en-US" altLang="ja-JP" i="1">
                        <a:latin typeface="Cambria Math" panose="02040503050406030204" pitchFamily="18" charset="0"/>
                      </a:rPr>
                      <m:t> </m:t>
                    </m:r>
                    <m:r>
                      <a:rPr lang="en-US" altLang="ja-JP" i="1">
                        <a:latin typeface="Cambria Math" panose="02040503050406030204" pitchFamily="18" charset="0"/>
                      </a:rPr>
                      <m:t>𝑖</m:t>
                    </m:r>
                    <m:r>
                      <a:rPr lang="en-US" altLang="ja-JP" i="1">
                        <a:latin typeface="Cambria Math" panose="02040503050406030204" pitchFamily="18" charset="0"/>
                      </a:rPr>
                      <m:t> </m:t>
                    </m:r>
                    <m:r>
                      <m:rPr>
                        <m:sty m:val="p"/>
                      </m:rPr>
                      <a:rPr lang="en-US" altLang="ja-JP" i="0">
                        <a:latin typeface="Cambria Math" panose="02040503050406030204" pitchFamily="18" charset="0"/>
                      </a:rPr>
                      <m:t>in</m:t>
                    </m:r>
                    <m:r>
                      <a:rPr lang="en-US" altLang="ja-JP" i="1">
                        <a:latin typeface="Cambria Math" panose="02040503050406030204" pitchFamily="18" charset="0"/>
                      </a:rPr>
                      <m:t> {1,…,</m:t>
                    </m:r>
                    <m:r>
                      <a:rPr lang="en-US" altLang="ja-JP" b="0" i="1" smtClean="0">
                        <a:latin typeface="Cambria Math" panose="02040503050406030204" pitchFamily="18" charset="0"/>
                      </a:rPr>
                      <m:t>𝑙</m:t>
                    </m:r>
                    <m:r>
                      <a:rPr lang="en-US" altLang="ja-JP" i="1">
                        <a:latin typeface="Cambria Math" panose="02040503050406030204" pitchFamily="18" charset="0"/>
                      </a:rPr>
                      <m:t>}</m:t>
                    </m:r>
                  </m:oMath>
                </a14:m>
                <a:r>
                  <a:rPr lang="en-US" altLang="ja-JP" i="1" dirty="0">
                    <a:latin typeface="Cambria Math" panose="02040503050406030204" pitchFamily="18" charset="0"/>
                  </a:rPr>
                  <a:t> </a:t>
                </a:r>
              </a:p>
              <a:p>
                <a:endParaRPr kumimoji="1" lang="ja-JP" altLang="en-US" dirty="0"/>
              </a:p>
            </p:txBody>
          </p:sp>
        </mc:Choice>
        <mc:Fallback xmlns="">
          <p:sp>
            <p:nvSpPr>
              <p:cNvPr id="32" name="テキスト ボックス 31">
                <a:extLst>
                  <a:ext uri="{FF2B5EF4-FFF2-40B4-BE49-F238E27FC236}">
                    <a16:creationId xmlns:a16="http://schemas.microsoft.com/office/drawing/2014/main" id="{27DA5F0B-A5B9-A0C5-AC53-37480108A5A0}"/>
                  </a:ext>
                </a:extLst>
              </p:cNvPr>
              <p:cNvSpPr txBox="1">
                <a:spLocks noRot="1" noChangeAspect="1" noMove="1" noResize="1" noEditPoints="1" noAdjustHandles="1" noChangeArrowheads="1" noChangeShapeType="1" noTextEdit="1"/>
              </p:cNvSpPr>
              <p:nvPr/>
            </p:nvSpPr>
            <p:spPr>
              <a:xfrm>
                <a:off x="8026400" y="1616001"/>
                <a:ext cx="3369833" cy="120032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95859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5224B-1341-90BB-69D8-53A5572B7DB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3D7FA19-EC4F-AA4E-D582-670FD30C0442}"/>
              </a:ext>
            </a:extLst>
          </p:cNvPr>
          <p:cNvSpPr>
            <a:spLocks noGrp="1"/>
          </p:cNvSpPr>
          <p:nvPr>
            <p:ph type="title"/>
          </p:nvPr>
        </p:nvSpPr>
        <p:spPr/>
        <p:txBody>
          <a:bodyPr/>
          <a:lstStyle/>
          <a:p>
            <a:r>
              <a:rPr kumimoji="1" lang="ja-JP" altLang="en-US" dirty="0"/>
              <a:t>考察②</a:t>
            </a:r>
            <a:r>
              <a:rPr lang="en-US" altLang="ja-JP" dirty="0"/>
              <a:t>-2</a:t>
            </a:r>
            <a:r>
              <a:rPr lang="ja-JP" altLang="en-US" dirty="0"/>
              <a:t>（対偶の証明）</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503A016-F351-34F1-FD1A-AB9C9E6402D5}"/>
                  </a:ext>
                </a:extLst>
              </p:cNvPr>
              <p:cNvSpPr>
                <a:spLocks noGrp="1"/>
              </p:cNvSpPr>
              <p:nvPr>
                <p:ph idx="1"/>
              </p:nvPr>
            </p:nvSpPr>
            <p:spPr/>
            <p:txBody>
              <a:bodyPr>
                <a:normAutofit/>
              </a:bodyPr>
              <a:lstStyle/>
              <a:p>
                <a:r>
                  <a:rPr lang="ja-JP" altLang="en-US" dirty="0"/>
                  <a:t>理論的評価：危険度順位の、文脈や判断知識に対する感度分析</a:t>
                </a:r>
                <a:endParaRPr lang="en-US" altLang="ja-JP" dirty="0"/>
              </a:p>
              <a:p>
                <a:pPr lvl="1"/>
                <a:r>
                  <a:rPr kumimoji="1" lang="ja-JP" altLang="en-US" dirty="0"/>
                  <a:t>検証すべき命題</a:t>
                </a:r>
                <a:endParaRPr kumimoji="1" lang="en-US" altLang="ja-JP" dirty="0"/>
              </a:p>
              <a:p>
                <a:pPr lvl="2"/>
                <a:r>
                  <a:rPr lang="ja-JP" altLang="en-US" dirty="0"/>
                  <a:t>患者・空間的文脈やスタッフの判断知識が合理的ならば、危険度順位も合理的である</a:t>
                </a:r>
                <a:endParaRPr lang="en-US" altLang="ja-JP" dirty="0"/>
              </a:p>
              <a:p>
                <a:pPr lvl="3"/>
                <a:r>
                  <a:rPr kumimoji="1" lang="ja-JP" altLang="en-US" dirty="0"/>
                  <a:t>この命題を直接検証することは不可能（合理的な事例は無数にある）</a:t>
                </a:r>
                <a:endParaRPr kumimoji="1" lang="en-US" altLang="ja-JP" dirty="0"/>
              </a:p>
              <a:p>
                <a:pPr lvl="1"/>
                <a:r>
                  <a:rPr kumimoji="1" lang="ja-JP" altLang="en-US" dirty="0"/>
                  <a:t>上記命題の対偶</a:t>
                </a:r>
                <a:endParaRPr kumimoji="1" lang="en-US" altLang="ja-JP" dirty="0"/>
              </a:p>
              <a:p>
                <a:pPr lvl="2"/>
                <a:r>
                  <a:rPr kumimoji="1" lang="ja-JP" altLang="en-US" dirty="0"/>
                  <a:t>危険度順位が不合理ならば、患者・空間的文脈やスタッフの判断知識が不合理である</a:t>
                </a:r>
                <a:endParaRPr lang="en-US" altLang="ja-JP" dirty="0"/>
              </a:p>
              <a:p>
                <a:pPr lvl="3"/>
                <a:r>
                  <a:rPr kumimoji="1" lang="ja-JP" altLang="en-US" dirty="0"/>
                  <a:t>危険度順位の不合理は定義できないので網羅的に検証する必要があるが、判断知識の合理性は</a:t>
                </a:r>
                <a:r>
                  <a:rPr kumimoji="1" lang="en-US" altLang="ja-JP" dirty="0"/>
                  <a:t>CI</a:t>
                </a:r>
                <a:r>
                  <a:rPr kumimoji="1" lang="ja-JP" altLang="en-US" dirty="0"/>
                  <a:t>で求まる</a:t>
                </a:r>
                <a:endParaRPr kumimoji="1" lang="en-US" altLang="ja-JP" dirty="0"/>
              </a:p>
              <a:p>
                <a:pPr lvl="4"/>
                <a:endParaRPr kumimoji="1" lang="en-US" altLang="ja-JP" dirty="0"/>
              </a:p>
              <a:p>
                <a:pPr lvl="4"/>
                <a:endParaRPr lang="en-US" altLang="ja-JP" dirty="0"/>
              </a:p>
              <a:p>
                <a:pPr lvl="1"/>
                <a:r>
                  <a:rPr kumimoji="1" lang="ja-JP" altLang="en-US" dirty="0"/>
                  <a:t>為すべき検証</a:t>
                </a:r>
                <a:endParaRPr kumimoji="1" lang="en-US" altLang="ja-JP" dirty="0"/>
              </a:p>
              <a:p>
                <a:pPr lvl="2"/>
                <a:r>
                  <a:rPr lang="ja-JP" altLang="en-US" dirty="0"/>
                  <a:t>実験</a:t>
                </a:r>
                <a:endParaRPr lang="en-US" altLang="ja-JP" dirty="0"/>
              </a:p>
              <a:p>
                <a:pPr lvl="3"/>
                <a:r>
                  <a:rPr lang="en-US" altLang="ja-JP" dirty="0"/>
                  <a:t>for </a:t>
                </a:r>
                <a:r>
                  <a:rPr lang="ja-JP" altLang="en-US" dirty="0"/>
                  <a:t>順位</a:t>
                </a:r>
                <a14:m>
                  <m:oMath xmlns:m="http://schemas.openxmlformats.org/officeDocument/2006/math">
                    <m:r>
                      <a:rPr lang="en-US" altLang="ja-JP" b="1" i="1" dirty="0" smtClean="0">
                        <a:latin typeface="Cambria Math" panose="02040503050406030204" pitchFamily="18" charset="0"/>
                      </a:rPr>
                      <m:t>𝒓</m:t>
                    </m:r>
                  </m:oMath>
                </a14:m>
                <a:r>
                  <a:rPr lang="ja-JP" altLang="en-US" dirty="0"/>
                  <a:t> </a:t>
                </a:r>
                <a:r>
                  <a:rPr lang="en-US" altLang="ja-JP" dirty="0"/>
                  <a:t>in {A&gt;B&gt;C, A&gt;C&gt;B, …, C&gt;B&gt;A} </a:t>
                </a:r>
                <a:br>
                  <a:rPr lang="en-US" altLang="ja-JP" dirty="0"/>
                </a:br>
                <a:r>
                  <a:rPr lang="ja-JP" altLang="en-US" dirty="0"/>
                  <a:t>　順位</a:t>
                </a:r>
                <a14:m>
                  <m:oMath xmlns:m="http://schemas.openxmlformats.org/officeDocument/2006/math">
                    <m:r>
                      <a:rPr lang="en-US" altLang="ja-JP" b="1" i="1" dirty="0">
                        <a:latin typeface="Cambria Math" panose="02040503050406030204" pitchFamily="18" charset="0"/>
                      </a:rPr>
                      <m:t>𝒓</m:t>
                    </m:r>
                  </m:oMath>
                </a14:m>
                <a:r>
                  <a:rPr lang="ja-JP" altLang="en-US" dirty="0"/>
                  <a:t> を実現する判断知識</a:t>
                </a:r>
                <a14:m>
                  <m:oMath xmlns:m="http://schemas.openxmlformats.org/officeDocument/2006/math">
                    <m:r>
                      <a:rPr lang="en-US" altLang="ja-JP" b="0" i="1" smtClean="0">
                        <a:latin typeface="Cambria Math" panose="02040503050406030204" pitchFamily="18" charset="0"/>
                      </a:rPr>
                      <m:t>𝜃</m:t>
                    </m:r>
                  </m:oMath>
                </a14:m>
                <a:r>
                  <a:rPr lang="ja-JP" altLang="en-US" dirty="0"/>
                  <a:t>の集合</a:t>
                </a:r>
                <a14:m>
                  <m:oMath xmlns:m="http://schemas.openxmlformats.org/officeDocument/2006/math">
                    <m:r>
                      <m:rPr>
                        <m:sty m:val="p"/>
                      </m:rPr>
                      <a:rPr lang="en-US" altLang="ja-JP" b="0" i="0" smtClean="0">
                        <a:latin typeface="Cambria Math" panose="02040503050406030204" pitchFamily="18" charset="0"/>
                      </a:rPr>
                      <m:t>Θ</m:t>
                    </m:r>
                  </m:oMath>
                </a14:m>
                <a:r>
                  <a:rPr lang="ja-JP" altLang="en-US" dirty="0"/>
                  <a:t>を求める</a:t>
                </a:r>
                <a:br>
                  <a:rPr lang="en-US" altLang="ja-JP" dirty="0"/>
                </a:br>
                <a:r>
                  <a:rPr lang="ja-JP" altLang="en-US" dirty="0"/>
                  <a:t>　集合</a:t>
                </a:r>
                <a14:m>
                  <m:oMath xmlns:m="http://schemas.openxmlformats.org/officeDocument/2006/math">
                    <m:r>
                      <m:rPr>
                        <m:sty m:val="p"/>
                      </m:rPr>
                      <a:rPr lang="en-US" altLang="ja-JP">
                        <a:latin typeface="Cambria Math" panose="02040503050406030204" pitchFamily="18" charset="0"/>
                      </a:rPr>
                      <m:t>Θ</m:t>
                    </m:r>
                  </m:oMath>
                </a14:m>
                <a:r>
                  <a:rPr lang="ja-JP" altLang="en-US" dirty="0"/>
                  <a:t>のうち、合理的（</a:t>
                </a:r>
                <a:r>
                  <a:rPr lang="en-US" altLang="ja-JP" dirty="0"/>
                  <a:t>CI&lt;0.1</a:t>
                </a:r>
                <a:r>
                  <a:rPr lang="ja-JP" altLang="en-US" dirty="0"/>
                  <a:t>）な部分集合と、不合理的な部分集合を分け、その比率を求める</a:t>
                </a:r>
                <a:endParaRPr lang="en-US" altLang="ja-JP" dirty="0"/>
              </a:p>
              <a:p>
                <a:pPr lvl="2"/>
                <a:r>
                  <a:rPr lang="ja-JP" altLang="en-US" dirty="0"/>
                  <a:t>考察</a:t>
                </a:r>
                <a:endParaRPr lang="en-US" altLang="ja-JP" dirty="0"/>
              </a:p>
              <a:p>
                <a:pPr lvl="3"/>
                <a:r>
                  <a:rPr lang="ja-JP" altLang="en-US" dirty="0"/>
                  <a:t>危険度順位が明らかに不合理（座っている</a:t>
                </a:r>
                <a:r>
                  <a:rPr lang="en-US" altLang="ja-JP" dirty="0"/>
                  <a:t>C&gt;</a:t>
                </a:r>
                <a:r>
                  <a:rPr lang="ja-JP" altLang="en-US" dirty="0"/>
                  <a:t>立ち上がる</a:t>
                </a:r>
                <a:r>
                  <a:rPr lang="en-US" altLang="ja-JP" dirty="0"/>
                  <a:t>A</a:t>
                </a:r>
                <a:r>
                  <a:rPr lang="ja-JP" altLang="en-US" dirty="0"/>
                  <a:t>）な場合、その判断知識集合の大半が不合理</a:t>
                </a:r>
                <a:br>
                  <a:rPr lang="en-US" altLang="ja-JP" dirty="0"/>
                </a:br>
                <a:r>
                  <a:rPr lang="ja-JP" altLang="en-US" dirty="0"/>
                  <a:t>注：順位の合理性は我々には判定できないので、全順位について検証する</a:t>
                </a:r>
                <a:endParaRPr lang="en-US" altLang="ja-JP" dirty="0"/>
              </a:p>
              <a:p>
                <a:pPr lvl="3"/>
                <a:endParaRPr lang="en-US" altLang="ja-JP" dirty="0"/>
              </a:p>
            </p:txBody>
          </p:sp>
        </mc:Choice>
        <mc:Fallback xmlns="">
          <p:sp>
            <p:nvSpPr>
              <p:cNvPr id="3" name="コンテンツ プレースホルダー 2">
                <a:extLst>
                  <a:ext uri="{FF2B5EF4-FFF2-40B4-BE49-F238E27FC236}">
                    <a16:creationId xmlns:a16="http://schemas.microsoft.com/office/drawing/2014/main" id="{F503A016-F351-34F1-FD1A-AB9C9E6402D5}"/>
                  </a:ext>
                </a:extLst>
              </p:cNvPr>
              <p:cNvSpPr>
                <a:spLocks noGrp="1" noRot="1" noChangeAspect="1" noMove="1" noResize="1" noEditPoints="1" noAdjustHandles="1" noChangeArrowheads="1" noChangeShapeType="1" noTextEdit="1"/>
              </p:cNvSpPr>
              <p:nvPr>
                <p:ph idx="1"/>
              </p:nvPr>
            </p:nvSpPr>
            <p:spPr>
              <a:blipFill>
                <a:blip r:embed="rId2"/>
                <a:stretch>
                  <a:fillRect l="-510" t="-646" r="-30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2DF67392-0D43-F6A5-D43C-717B5DF27DC7}"/>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dirty="0"/>
          </a:p>
        </p:txBody>
      </p:sp>
      <p:sp>
        <p:nvSpPr>
          <p:cNvPr id="15" name="正方形/長方形 14">
            <a:extLst>
              <a:ext uri="{FF2B5EF4-FFF2-40B4-BE49-F238E27FC236}">
                <a16:creationId xmlns:a16="http://schemas.microsoft.com/office/drawing/2014/main" id="{4E4882B7-B738-1794-8ECC-B9081384174A}"/>
              </a:ext>
            </a:extLst>
          </p:cNvPr>
          <p:cNvSpPr/>
          <p:nvPr/>
        </p:nvSpPr>
        <p:spPr>
          <a:xfrm>
            <a:off x="8832304" y="3768790"/>
            <a:ext cx="576064" cy="1100370"/>
          </a:xfrm>
          <a:prstGeom prst="rect">
            <a:avLst/>
          </a:prstGeom>
          <a:solidFill>
            <a:schemeClr val="bg1">
              <a:lumMod val="85000"/>
            </a:schemeClr>
          </a:solid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5" name="フッター プレースホルダー 4">
            <a:extLst>
              <a:ext uri="{FF2B5EF4-FFF2-40B4-BE49-F238E27FC236}">
                <a16:creationId xmlns:a16="http://schemas.microsoft.com/office/drawing/2014/main" id="{1651773E-B7A2-8220-8EF1-0DC67C0050DF}"/>
              </a:ext>
            </a:extLst>
          </p:cNvPr>
          <p:cNvSpPr>
            <a:spLocks noGrp="1"/>
          </p:cNvSpPr>
          <p:nvPr>
            <p:ph type="ftr" sz="quarter" idx="11"/>
          </p:nvPr>
        </p:nvSpPr>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04BA919F-114D-42D8-C319-E5C55EB2CD2F}"/>
              </a:ext>
            </a:extLst>
          </p:cNvPr>
          <p:cNvSpPr>
            <a:spLocks noGrp="1"/>
          </p:cNvSpPr>
          <p:nvPr>
            <p:ph type="sldNum" sz="quarter" idx="12"/>
          </p:nvPr>
        </p:nvSpPr>
        <p:spPr/>
        <p:txBody>
          <a:bodyPr/>
          <a:lstStyle/>
          <a:p>
            <a:fld id="{870B1737-2A00-4EFB-9FD3-149FCC30AA13}" type="slidenum">
              <a:rPr lang="ja-JP" altLang="en-US" smtClean="0"/>
              <a:pPr/>
              <a:t>8</a:t>
            </a:fld>
            <a:endParaRPr lang="ja-JP" altLang="en-US"/>
          </a:p>
        </p:txBody>
      </p:sp>
      <p:sp>
        <p:nvSpPr>
          <p:cNvPr id="7" name="テキスト ボックス 6">
            <a:extLst>
              <a:ext uri="{FF2B5EF4-FFF2-40B4-BE49-F238E27FC236}">
                <a16:creationId xmlns:a16="http://schemas.microsoft.com/office/drawing/2014/main" id="{AE59B937-F689-6F96-755C-5C4DE88B5120}"/>
              </a:ext>
            </a:extLst>
          </p:cNvPr>
          <p:cNvSpPr txBox="1"/>
          <p:nvPr/>
        </p:nvSpPr>
        <p:spPr>
          <a:xfrm>
            <a:off x="6609731" y="75432"/>
            <a:ext cx="5391219" cy="523220"/>
          </a:xfrm>
          <a:prstGeom prst="rect">
            <a:avLst/>
          </a:prstGeom>
          <a:noFill/>
        </p:spPr>
        <p:txBody>
          <a:bodyPr wrap="none" rtlCol="0">
            <a:spAutoFit/>
          </a:bodyPr>
          <a:lstStyle/>
          <a:p>
            <a:pPr algn="r"/>
            <a:r>
              <a:rPr lang="en-US" altLang="ja-JP" sz="1400" dirty="0"/>
              <a:t>*</a:t>
            </a:r>
            <a:r>
              <a:rPr lang="ja-JP" altLang="en-US" sz="1400" dirty="0"/>
              <a:t>  </a:t>
            </a:r>
            <a:r>
              <a:rPr kumimoji="1" lang="ja-JP" altLang="en-US" sz="1400" dirty="0"/>
              <a:t>要定義。「スタッフの判断結果との一致」とならないよう注意</a:t>
            </a:r>
            <a:endParaRPr kumimoji="1" lang="en-US" altLang="ja-JP" sz="1400" dirty="0"/>
          </a:p>
          <a:p>
            <a:pPr algn="r"/>
            <a:r>
              <a:rPr lang="en-US" altLang="ja-JP" sz="1400" dirty="0"/>
              <a:t>**AHP</a:t>
            </a:r>
            <a:r>
              <a:rPr lang="ja-JP" altLang="en-US" sz="1400" dirty="0"/>
              <a:t>の</a:t>
            </a:r>
            <a:r>
              <a:rPr lang="en-US" altLang="ja-JP" sz="1400" dirty="0"/>
              <a:t>CI&lt;0.1 </a:t>
            </a:r>
            <a:r>
              <a:rPr lang="ja-JP" altLang="en-US" sz="1400" dirty="0"/>
              <a:t>等</a:t>
            </a:r>
            <a:endParaRPr lang="en-US" altLang="ja-JP" sz="14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52B4B1D-57A1-9617-D07E-40A583EBF17A}"/>
                  </a:ext>
                </a:extLst>
              </p:cNvPr>
              <p:cNvSpPr txBox="1"/>
              <p:nvPr/>
            </p:nvSpPr>
            <p:spPr>
              <a:xfrm>
                <a:off x="9008374" y="4072543"/>
                <a:ext cx="194284" cy="276999"/>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latin typeface="Cambria Math" panose="02040503050406030204" pitchFamily="18" charset="0"/>
                        </a:rPr>
                        <m:t>𝜃</m:t>
                      </m:r>
                    </m:oMath>
                  </m:oMathPara>
                </a14:m>
                <a:endParaRPr kumimoji="1" lang="ja-JP" altLang="en-US" dirty="0"/>
              </a:p>
            </p:txBody>
          </p:sp>
        </mc:Choice>
        <mc:Fallback xmlns="">
          <p:sp>
            <p:nvSpPr>
              <p:cNvPr id="10" name="テキスト ボックス 9">
                <a:extLst>
                  <a:ext uri="{FF2B5EF4-FFF2-40B4-BE49-F238E27FC236}">
                    <a16:creationId xmlns:a16="http://schemas.microsoft.com/office/drawing/2014/main" id="{D52B4B1D-57A1-9617-D07E-40A583EBF17A}"/>
                  </a:ext>
                </a:extLst>
              </p:cNvPr>
              <p:cNvSpPr txBox="1">
                <a:spLocks noRot="1" noChangeAspect="1" noMove="1" noResize="1" noEditPoints="1" noAdjustHandles="1" noChangeArrowheads="1" noChangeShapeType="1" noTextEdit="1"/>
              </p:cNvSpPr>
              <p:nvPr/>
            </p:nvSpPr>
            <p:spPr>
              <a:xfrm>
                <a:off x="9008374" y="4072543"/>
                <a:ext cx="194284" cy="276999"/>
              </a:xfrm>
              <a:prstGeom prst="rect">
                <a:avLst/>
              </a:prstGeom>
              <a:blipFill>
                <a:blip r:embed="rId3"/>
                <a:stretch>
                  <a:fillRect l="-28125" r="-21875"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AF9916F-8C8F-F7E0-439F-21F7264E5963}"/>
                  </a:ext>
                </a:extLst>
              </p:cNvPr>
              <p:cNvSpPr txBox="1"/>
              <p:nvPr/>
            </p:nvSpPr>
            <p:spPr>
              <a:xfrm>
                <a:off x="9008374" y="4534057"/>
                <a:ext cx="194284" cy="276999"/>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latin typeface="Cambria Math" panose="02040503050406030204" pitchFamily="18" charset="0"/>
                        </a:rPr>
                        <m:t>𝜃</m:t>
                      </m:r>
                    </m:oMath>
                  </m:oMathPara>
                </a14:m>
                <a:endParaRPr kumimoji="1" lang="ja-JP" altLang="en-US" dirty="0"/>
              </a:p>
            </p:txBody>
          </p:sp>
        </mc:Choice>
        <mc:Fallback xmlns="">
          <p:sp>
            <p:nvSpPr>
              <p:cNvPr id="11" name="テキスト ボックス 10">
                <a:extLst>
                  <a:ext uri="{FF2B5EF4-FFF2-40B4-BE49-F238E27FC236}">
                    <a16:creationId xmlns:a16="http://schemas.microsoft.com/office/drawing/2014/main" id="{FAF9916F-8C8F-F7E0-439F-21F7264E5963}"/>
                  </a:ext>
                </a:extLst>
              </p:cNvPr>
              <p:cNvSpPr txBox="1">
                <a:spLocks noRot="1" noChangeAspect="1" noMove="1" noResize="1" noEditPoints="1" noAdjustHandles="1" noChangeArrowheads="1" noChangeShapeType="1" noTextEdit="1"/>
              </p:cNvSpPr>
              <p:nvPr/>
            </p:nvSpPr>
            <p:spPr>
              <a:xfrm>
                <a:off x="9008374" y="4534057"/>
                <a:ext cx="194284" cy="276999"/>
              </a:xfrm>
              <a:prstGeom prst="rect">
                <a:avLst/>
              </a:prstGeom>
              <a:blipFill>
                <a:blip r:embed="rId4"/>
                <a:stretch>
                  <a:fillRect l="-28125" r="-21875" b="-88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4FFCAB40-4B3A-E9FB-A903-06A88686135F}"/>
                  </a:ext>
                </a:extLst>
              </p:cNvPr>
              <p:cNvSpPr txBox="1"/>
              <p:nvPr/>
            </p:nvSpPr>
            <p:spPr>
              <a:xfrm>
                <a:off x="9793582" y="4451731"/>
                <a:ext cx="844077" cy="276999"/>
              </a:xfrm>
              <a:prstGeom prst="rect">
                <a:avLst/>
              </a:prstGeom>
              <a:noFill/>
            </p:spPr>
            <p:txBody>
              <a:bodyPr wrap="none" lIns="0" tIns="0" rIns="0" bIns="0" rtlCol="0">
                <a:spAutoFit/>
              </a:bodyPr>
              <a:lstStyle/>
              <a:p>
                <a:pPr/>
                <a14:m>
                  <m:oMathPara xmlns:m="http://schemas.openxmlformats.org/officeDocument/2006/math">
                    <m:oMath>
                      <m:r>
                        <a:rPr kumimoji="1" lang="en-US" altLang="ja-JP" b="0" i="1" smtClean="0">
                          <a:latin typeface="Cambria Math" panose="02040503050406030204" pitchFamily="18" charset="0"/>
                        </a:rPr>
                        <m:t>𝐻</m:t>
                      </m:r>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𝑖</m:t>
                          </m:r>
                        </m:sub>
                      </m:sSub>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𝜃</m:t>
                      </m:r>
                      <m:r>
                        <a:rPr kumimoji="1" lang="en-US" altLang="ja-JP" b="0" i="1" smtClean="0">
                          <a:latin typeface="Cambria Math" panose="02040503050406030204" pitchFamily="18" charset="0"/>
                        </a:rPr>
                        <m:t>)</m:t>
                      </m:r>
                    </m:oMath>
                  </m:oMathPara>
                </a14:m>
                <a:endParaRPr kumimoji="1" lang="ja-JP" altLang="en-US" dirty="0"/>
              </a:p>
            </p:txBody>
          </p:sp>
        </mc:Choice>
        <mc:Fallback xmlns="">
          <p:sp>
            <p:nvSpPr>
              <p:cNvPr id="12" name="テキスト ボックス 11">
                <a:extLst>
                  <a:ext uri="{FF2B5EF4-FFF2-40B4-BE49-F238E27FC236}">
                    <a16:creationId xmlns:a16="http://schemas.microsoft.com/office/drawing/2014/main" id="{4FFCAB40-4B3A-E9FB-A903-06A88686135F}"/>
                  </a:ext>
                </a:extLst>
              </p:cNvPr>
              <p:cNvSpPr txBox="1">
                <a:spLocks noRot="1" noChangeAspect="1" noMove="1" noResize="1" noEditPoints="1" noAdjustHandles="1" noChangeArrowheads="1" noChangeShapeType="1" noTextEdit="1"/>
              </p:cNvSpPr>
              <p:nvPr/>
            </p:nvSpPr>
            <p:spPr>
              <a:xfrm>
                <a:off x="9793582" y="4451731"/>
                <a:ext cx="844077" cy="276999"/>
              </a:xfrm>
              <a:prstGeom prst="rect">
                <a:avLst/>
              </a:prstGeom>
              <a:blipFill>
                <a:blip r:embed="rId5"/>
                <a:stretch>
                  <a:fillRect l="-6522" r="-9420" b="-347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836286B0-4F7A-0CC2-7DC9-01B8BC970F05}"/>
                  </a:ext>
                </a:extLst>
              </p:cNvPr>
              <p:cNvSpPr txBox="1"/>
              <p:nvPr/>
            </p:nvSpPr>
            <p:spPr>
              <a:xfrm>
                <a:off x="11112286" y="4174732"/>
                <a:ext cx="181139" cy="276999"/>
              </a:xfrm>
              <a:prstGeom prst="rect">
                <a:avLst/>
              </a:prstGeom>
              <a:noFill/>
            </p:spPr>
            <p:txBody>
              <a:bodyPr wrap="none" lIns="0" tIns="0" rIns="0" bIns="0" rtlCol="0">
                <a:spAutoFit/>
              </a:bodyPr>
              <a:lstStyle/>
              <a:p>
                <a:pPr/>
                <a14:m>
                  <m:oMathPara xmlns:m="http://schemas.openxmlformats.org/officeDocument/2006/math">
                    <m:oMath>
                      <m:r>
                        <a:rPr kumimoji="1" lang="en-US" altLang="ja-JP" b="1" i="1" smtClean="0">
                          <a:latin typeface="Cambria Math" panose="02040503050406030204" pitchFamily="18" charset="0"/>
                        </a:rPr>
                        <m:t>𝒓</m:t>
                      </m:r>
                    </m:oMath>
                  </m:oMathPara>
                </a14:m>
                <a:endParaRPr kumimoji="1" lang="ja-JP" altLang="en-US" b="1" dirty="0"/>
              </a:p>
            </p:txBody>
          </p:sp>
        </mc:Choice>
        <mc:Fallback xmlns="">
          <p:sp>
            <p:nvSpPr>
              <p:cNvPr id="13" name="テキスト ボックス 12">
                <a:extLst>
                  <a:ext uri="{FF2B5EF4-FFF2-40B4-BE49-F238E27FC236}">
                    <a16:creationId xmlns:a16="http://schemas.microsoft.com/office/drawing/2014/main" id="{836286B0-4F7A-0CC2-7DC9-01B8BC970F05}"/>
                  </a:ext>
                </a:extLst>
              </p:cNvPr>
              <p:cNvSpPr txBox="1">
                <a:spLocks noRot="1" noChangeAspect="1" noMove="1" noResize="1" noEditPoints="1" noAdjustHandles="1" noChangeArrowheads="1" noChangeShapeType="1" noTextEdit="1"/>
              </p:cNvSpPr>
              <p:nvPr/>
            </p:nvSpPr>
            <p:spPr>
              <a:xfrm>
                <a:off x="11112286" y="4174732"/>
                <a:ext cx="181139" cy="276999"/>
              </a:xfrm>
              <a:prstGeom prst="rect">
                <a:avLst/>
              </a:prstGeom>
              <a:blipFill>
                <a:blip r:embed="rId6"/>
                <a:stretch>
                  <a:fillRect l="-16667" r="-16667" b="-222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F1BFF83-15BD-A527-DBE5-EEF2BB1B6D0B}"/>
                  </a:ext>
                </a:extLst>
              </p:cNvPr>
              <p:cNvSpPr txBox="1"/>
              <p:nvPr/>
            </p:nvSpPr>
            <p:spPr>
              <a:xfrm>
                <a:off x="8976320" y="3630291"/>
                <a:ext cx="208390" cy="276999"/>
              </a:xfrm>
              <a:prstGeom prst="rect">
                <a:avLst/>
              </a:prstGeom>
              <a:solidFill>
                <a:schemeClr val="bg1">
                  <a:lumMod val="85000"/>
                </a:schemeClr>
              </a:solidFill>
              <a:ln>
                <a:solidFill>
                  <a:schemeClr val="tx1"/>
                </a:solidFill>
              </a:ln>
            </p:spPr>
            <p:txBody>
              <a:bodyPr wrap="none" lIns="0" tIns="0" rIns="0" bIns="0" rtlCol="0">
                <a:spAutoFit/>
              </a:bodyPr>
              <a:lstStyle/>
              <a:p>
                <a:pPr/>
                <a14:m>
                  <m:oMathPara xmlns:m="http://schemas.openxmlformats.org/officeDocument/2006/math">
                    <m:oMath>
                      <m:r>
                        <m:rPr>
                          <m:sty m:val="p"/>
                        </m:rPr>
                        <a:rPr kumimoji="1" lang="en-US" altLang="ja-JP" b="0" i="0" smtClean="0">
                          <a:latin typeface="Cambria Math" panose="02040503050406030204" pitchFamily="18" charset="0"/>
                        </a:rPr>
                        <m:t>Θ</m:t>
                      </m:r>
                    </m:oMath>
                  </m:oMathPara>
                </a14:m>
                <a:endParaRPr kumimoji="1" lang="ja-JP" altLang="en-US" dirty="0"/>
              </a:p>
            </p:txBody>
          </p:sp>
        </mc:Choice>
        <mc:Fallback xmlns="">
          <p:sp>
            <p:nvSpPr>
              <p:cNvPr id="14" name="テキスト ボックス 13">
                <a:extLst>
                  <a:ext uri="{FF2B5EF4-FFF2-40B4-BE49-F238E27FC236}">
                    <a16:creationId xmlns:a16="http://schemas.microsoft.com/office/drawing/2014/main" id="{7F1BFF83-15BD-A527-DBE5-EEF2BB1B6D0B}"/>
                  </a:ext>
                </a:extLst>
              </p:cNvPr>
              <p:cNvSpPr txBox="1">
                <a:spLocks noRot="1" noChangeAspect="1" noMove="1" noResize="1" noEditPoints="1" noAdjustHandles="1" noChangeArrowheads="1" noChangeShapeType="1" noTextEdit="1"/>
              </p:cNvSpPr>
              <p:nvPr/>
            </p:nvSpPr>
            <p:spPr>
              <a:xfrm>
                <a:off x="8976320" y="3630291"/>
                <a:ext cx="208390" cy="276999"/>
              </a:xfrm>
              <a:prstGeom prst="rect">
                <a:avLst/>
              </a:prstGeom>
              <a:blipFill>
                <a:blip r:embed="rId7"/>
                <a:stretch>
                  <a:fillRect l="-18919" r="-21622" b="-6383"/>
                </a:stretch>
              </a:blipFill>
              <a:ln>
                <a:solidFill>
                  <a:schemeClr val="tx1"/>
                </a:solidFill>
              </a:ln>
            </p:spPr>
            <p:txBody>
              <a:bodyPr/>
              <a:lstStyle/>
              <a:p>
                <a:r>
                  <a:rPr lang="ja-JP" altLang="en-US">
                    <a:noFill/>
                  </a:rPr>
                  <a:t> </a:t>
                </a:r>
              </a:p>
            </p:txBody>
          </p:sp>
        </mc:Fallback>
      </mc:AlternateContent>
      <p:sp>
        <p:nvSpPr>
          <p:cNvPr id="16" name="矢印: 右 15">
            <a:extLst>
              <a:ext uri="{FF2B5EF4-FFF2-40B4-BE49-F238E27FC236}">
                <a16:creationId xmlns:a16="http://schemas.microsoft.com/office/drawing/2014/main" id="{67341C70-DA0F-1AD8-F755-8A2C6F01A095}"/>
              </a:ext>
            </a:extLst>
          </p:cNvPr>
          <p:cNvSpPr/>
          <p:nvPr/>
        </p:nvSpPr>
        <p:spPr>
          <a:xfrm>
            <a:off x="9578829" y="4254416"/>
            <a:ext cx="1296144" cy="22055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34549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718A7-0556-2F4D-6349-8D3AC6D4CBC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1D094E-B1E6-8E18-8613-52F927346D72}"/>
              </a:ext>
            </a:extLst>
          </p:cNvPr>
          <p:cNvSpPr>
            <a:spLocks noGrp="1"/>
          </p:cNvSpPr>
          <p:nvPr>
            <p:ph type="title"/>
          </p:nvPr>
        </p:nvSpPr>
        <p:spPr/>
        <p:txBody>
          <a:bodyPr/>
          <a:lstStyle/>
          <a:p>
            <a:r>
              <a:rPr kumimoji="1" lang="ja-JP" altLang="en-US" dirty="0"/>
              <a:t>サマリ</a:t>
            </a:r>
          </a:p>
        </p:txBody>
      </p:sp>
      <p:sp>
        <p:nvSpPr>
          <p:cNvPr id="3" name="コンテンツ プレースホルダー 2">
            <a:extLst>
              <a:ext uri="{FF2B5EF4-FFF2-40B4-BE49-F238E27FC236}">
                <a16:creationId xmlns:a16="http://schemas.microsoft.com/office/drawing/2014/main" id="{C382032D-0567-1196-B540-4B59C96B7D57}"/>
              </a:ext>
            </a:extLst>
          </p:cNvPr>
          <p:cNvSpPr>
            <a:spLocks noGrp="1"/>
          </p:cNvSpPr>
          <p:nvPr>
            <p:ph idx="1"/>
          </p:nvPr>
        </p:nvSpPr>
        <p:spPr/>
        <p:txBody>
          <a:bodyPr>
            <a:normAutofit fontScale="92500" lnSpcReduction="10000"/>
          </a:bodyPr>
          <a:lstStyle/>
          <a:p>
            <a:pPr marL="457200" indent="-457200">
              <a:buFont typeface="+mj-lt"/>
              <a:buAutoNum type="arabicPeriod"/>
            </a:pPr>
            <a:r>
              <a:rPr kumimoji="1" lang="ja-JP" altLang="en-US" dirty="0"/>
              <a:t>論文ドラフトの概要・所感</a:t>
            </a:r>
            <a:endParaRPr kumimoji="1" lang="en-US" altLang="ja-JP" dirty="0"/>
          </a:p>
          <a:p>
            <a:pPr marL="742950" lvl="1" indent="-457200"/>
            <a:r>
              <a:rPr lang="ja-JP" altLang="en-US" dirty="0"/>
              <a:t>階層モデル構築に重点を置いていた。スタッフの判断結果との一致未確認が目立つ</a:t>
            </a:r>
            <a:endParaRPr lang="en-US" altLang="ja-JP" dirty="0"/>
          </a:p>
          <a:p>
            <a:pPr marL="2171700" lvl="4" indent="-457200"/>
            <a:endParaRPr lang="en-US" altLang="ja-JP" dirty="0"/>
          </a:p>
          <a:p>
            <a:pPr marL="457200" indent="-457200">
              <a:buFont typeface="+mj-lt"/>
              <a:buAutoNum type="arabicPeriod"/>
            </a:pPr>
            <a:r>
              <a:rPr kumimoji="1" lang="ja-JP" altLang="en-US" dirty="0"/>
              <a:t>先生の</a:t>
            </a:r>
            <a:r>
              <a:rPr kumimoji="1" lang="en-US" altLang="ja-JP" dirty="0"/>
              <a:t>FB</a:t>
            </a:r>
            <a:r>
              <a:rPr kumimoji="1" lang="ja-JP" altLang="en-US" dirty="0"/>
              <a:t>内容整理</a:t>
            </a:r>
            <a:endParaRPr kumimoji="1" lang="en-US" altLang="ja-JP" dirty="0"/>
          </a:p>
          <a:p>
            <a:pPr marL="742950" lvl="1" indent="-457200"/>
            <a:r>
              <a:rPr lang="ja-JP" altLang="en-US" dirty="0"/>
              <a:t>判断知識を階層モデルに組み込む部分を</a:t>
            </a:r>
            <a:r>
              <a:rPr lang="en-US" altLang="ja-JP" dirty="0"/>
              <a:t>PR</a:t>
            </a:r>
            <a:r>
              <a:rPr lang="ja-JP" altLang="en-US" dirty="0"/>
              <a:t>できないか。回答・順位の関係性に着目</a:t>
            </a:r>
            <a:endParaRPr lang="en-US" altLang="ja-JP" dirty="0"/>
          </a:p>
          <a:p>
            <a:pPr marL="2171700" lvl="4" indent="-457200"/>
            <a:endParaRPr lang="en-US" altLang="ja-JP" dirty="0"/>
          </a:p>
          <a:p>
            <a:pPr marL="457200" indent="-457200">
              <a:buFont typeface="+mj-lt"/>
              <a:buAutoNum type="arabicPeriod"/>
            </a:pPr>
            <a:r>
              <a:rPr kumimoji="1" lang="en-US" altLang="ja-JP" dirty="0"/>
              <a:t>FB</a:t>
            </a:r>
            <a:r>
              <a:rPr kumimoji="1" lang="ja-JP" altLang="en-US" dirty="0"/>
              <a:t>を踏まえた考察</a:t>
            </a:r>
            <a:endParaRPr kumimoji="1" lang="en-US" altLang="ja-JP" dirty="0"/>
          </a:p>
          <a:p>
            <a:pPr lvl="1"/>
            <a:r>
              <a:rPr lang="ja-JP" altLang="en-US" dirty="0"/>
              <a:t>アンケート回答で導いた判断知識の、危険度順位への反映され方を、</a:t>
            </a:r>
            <a:br>
              <a:rPr lang="en-US" altLang="ja-JP" dirty="0"/>
            </a:br>
            <a:r>
              <a:rPr lang="ja-JP" altLang="en-US" dirty="0"/>
              <a:t>理論的評価で明確化できないか？</a:t>
            </a:r>
            <a:endParaRPr lang="en-US" altLang="ja-JP" dirty="0"/>
          </a:p>
          <a:p>
            <a:pPr marL="2171700" lvl="4" indent="-457200"/>
            <a:endParaRPr lang="en-US" altLang="ja-JP" dirty="0"/>
          </a:p>
          <a:p>
            <a:pPr marL="457200" indent="-457200">
              <a:buFont typeface="+mj-lt"/>
              <a:buAutoNum type="arabicPeriod"/>
            </a:pPr>
            <a:r>
              <a:rPr kumimoji="1" lang="ja-JP" altLang="en-US" dirty="0"/>
              <a:t>追加検証のたたき台</a:t>
            </a:r>
            <a:endParaRPr kumimoji="1" lang="en-US" altLang="ja-JP" dirty="0"/>
          </a:p>
          <a:p>
            <a:pPr lvl="1"/>
            <a:r>
              <a:rPr lang="ja-JP" altLang="en-US" dirty="0"/>
              <a:t>アンケート回答を入力、順位を出力としたシステムの、感度分析に近い評価を提案</a:t>
            </a:r>
            <a:endParaRPr lang="en-US" altLang="ja-JP" dirty="0"/>
          </a:p>
          <a:p>
            <a:pPr lvl="4"/>
            <a:endParaRPr lang="en-US" altLang="ja-JP" dirty="0"/>
          </a:p>
          <a:p>
            <a:pPr marL="457200" indent="-457200">
              <a:buFont typeface="+mj-lt"/>
              <a:buAutoNum type="arabicPeriod"/>
            </a:pPr>
            <a:r>
              <a:rPr kumimoji="1" lang="ja-JP" altLang="en-US" dirty="0"/>
              <a:t>博士課程について</a:t>
            </a:r>
            <a:endParaRPr kumimoji="1" lang="en-US" altLang="ja-JP" dirty="0"/>
          </a:p>
          <a:p>
            <a:pPr lvl="1"/>
            <a:r>
              <a:rPr lang="ja-JP" altLang="en-US" dirty="0"/>
              <a:t>本論文の発展に加え、新規研究（より</a:t>
            </a:r>
            <a:r>
              <a:rPr lang="en-US" altLang="ja-JP" dirty="0"/>
              <a:t>ROI</a:t>
            </a:r>
            <a:r>
              <a:rPr lang="ja-JP" altLang="en-US" dirty="0"/>
              <a:t>時空間を広くとった見守りなど）も進めたい</a:t>
            </a:r>
            <a:endParaRPr kumimoji="1" lang="en-US" altLang="ja-JP" dirty="0"/>
          </a:p>
          <a:p>
            <a:pPr lvl="1"/>
            <a:r>
              <a:rPr lang="ja-JP" altLang="en-US" dirty="0"/>
              <a:t>先生側のご都合・状況・ご意見をお聞かせください</a:t>
            </a:r>
          </a:p>
          <a:p>
            <a:pPr lvl="2"/>
            <a:r>
              <a:rPr kumimoji="1" lang="ja-JP" altLang="en-US" dirty="0"/>
              <a:t>備考</a:t>
            </a:r>
            <a:endParaRPr kumimoji="1" lang="en-US" altLang="ja-JP" dirty="0"/>
          </a:p>
          <a:p>
            <a:pPr lvl="3"/>
            <a:r>
              <a:rPr kumimoji="1" lang="en-US" altLang="ja-JP" dirty="0"/>
              <a:t>27</a:t>
            </a:r>
            <a:r>
              <a:rPr kumimoji="1" lang="ja-JP" altLang="en-US" dirty="0"/>
              <a:t>年度下期分（</a:t>
            </a:r>
            <a:r>
              <a:rPr kumimoji="1" lang="en-US" altLang="ja-JP" dirty="0"/>
              <a:t>5,6</a:t>
            </a:r>
            <a:r>
              <a:rPr kumimoji="1" lang="ja-JP" altLang="en-US" dirty="0"/>
              <a:t>月申請）より、支援制度への申し込みが可能な見込み</a:t>
            </a:r>
            <a:endParaRPr kumimoji="1" lang="en-US" altLang="ja-JP" dirty="0"/>
          </a:p>
          <a:p>
            <a:pPr lvl="3"/>
            <a:r>
              <a:rPr kumimoji="1" lang="ja-JP" altLang="en-US" dirty="0"/>
              <a:t>入社後に採択された論文が</a:t>
            </a:r>
            <a:r>
              <a:rPr kumimoji="1" lang="en-US" altLang="ja-JP" dirty="0"/>
              <a:t>1</a:t>
            </a:r>
            <a:r>
              <a:rPr kumimoji="1" lang="ja-JP" altLang="en-US" dirty="0"/>
              <a:t>本以上あることが原則。</a:t>
            </a:r>
            <a:r>
              <a:rPr lang="ja-JP" altLang="en-US" dirty="0"/>
              <a:t>本論文も投稿済みであると、なお良い</a:t>
            </a:r>
            <a:endParaRPr lang="en-US" altLang="ja-JP" dirty="0"/>
          </a:p>
        </p:txBody>
      </p:sp>
      <p:sp>
        <p:nvSpPr>
          <p:cNvPr id="4" name="日付プレースホルダー 3">
            <a:extLst>
              <a:ext uri="{FF2B5EF4-FFF2-40B4-BE49-F238E27FC236}">
                <a16:creationId xmlns:a16="http://schemas.microsoft.com/office/drawing/2014/main" id="{E45DD53E-38B7-2E75-5517-25A3C0972F9D}"/>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D904F546-96E8-F03E-51D4-8A1417C95006}"/>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38317732-9C5B-0269-EDBD-CC93C79644DD}"/>
              </a:ext>
            </a:extLst>
          </p:cNvPr>
          <p:cNvSpPr>
            <a:spLocks noGrp="1"/>
          </p:cNvSpPr>
          <p:nvPr>
            <p:ph type="sldNum" sz="quarter" idx="12"/>
          </p:nvPr>
        </p:nvSpPr>
        <p:spPr/>
        <p:txBody>
          <a:bodyPr/>
          <a:lstStyle/>
          <a:p>
            <a:fld id="{870B1737-2A00-4EFB-9FD3-149FCC30AA13}" type="slidenum">
              <a:rPr lang="ja-JP" altLang="en-US" smtClean="0"/>
              <a:pPr/>
              <a:t>9</a:t>
            </a:fld>
            <a:endParaRPr lang="ja-JP" altLang="en-US"/>
          </a:p>
        </p:txBody>
      </p:sp>
    </p:spTree>
    <p:extLst>
      <p:ext uri="{BB962C8B-B14F-4D97-AF65-F5344CB8AC3E}">
        <p14:creationId xmlns:p14="http://schemas.microsoft.com/office/powerpoint/2010/main" val="1451744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5D575B-A0E6-1A8F-BD68-3FD53B2B6BD8}"/>
              </a:ext>
            </a:extLst>
          </p:cNvPr>
          <p:cNvSpPr>
            <a:spLocks noGrp="1"/>
          </p:cNvSpPr>
          <p:nvPr>
            <p:ph type="title"/>
          </p:nvPr>
        </p:nvSpPr>
        <p:spPr/>
        <p:txBody>
          <a:bodyPr/>
          <a:lstStyle/>
          <a:p>
            <a:r>
              <a:rPr lang="ja-JP" altLang="en-US" dirty="0"/>
              <a:t>検証の流れ</a:t>
            </a:r>
            <a:endParaRPr kumimoji="1" lang="ja-JP" alt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8CF72FD-4C6D-BA70-C312-39C96B491698}"/>
                  </a:ext>
                </a:extLst>
              </p:cNvPr>
              <p:cNvSpPr>
                <a:spLocks noGrp="1"/>
              </p:cNvSpPr>
              <p:nvPr>
                <p:ph idx="1"/>
              </p:nvPr>
            </p:nvSpPr>
            <p:spPr/>
            <p:txBody>
              <a:bodyPr/>
              <a:lstStyle/>
              <a:p>
                <a:r>
                  <a:rPr lang="ja-JP" altLang="en-US" dirty="0"/>
                  <a:t>計算</a:t>
                </a:r>
                <a:endParaRPr lang="en-US" altLang="ja-JP" dirty="0"/>
              </a:p>
              <a:p>
                <a:pPr lvl="1"/>
                <a:r>
                  <a:rPr lang="ja-JP" altLang="en-US" dirty="0"/>
                  <a:t>ベースとなる現場知識</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oMath>
                </a14:m>
                <a:r>
                  <a:rPr lang="ja-JP" altLang="en-US" dirty="0"/>
                  <a:t> </a:t>
                </a:r>
                <a:r>
                  <a:rPr lang="en-US" altLang="ja-JP" dirty="0"/>
                  <a:t>(CI=0) </a:t>
                </a:r>
                <a:r>
                  <a:rPr lang="ja-JP" altLang="en-US" dirty="0"/>
                  <a:t>の定義</a:t>
                </a:r>
                <a:endParaRPr lang="en-US" altLang="ja-JP" dirty="0"/>
              </a:p>
              <a:p>
                <a:pPr lvl="1"/>
                <a:r>
                  <a:rPr lang="ja-JP" altLang="en-US" dirty="0"/>
                  <a:t>ある危険度順位となるために、</a:t>
                </a:r>
                <a:br>
                  <a:rPr lang="en-US" altLang="ja-JP" dirty="0"/>
                </a:br>
                <a:r>
                  <a:rPr lang="ja-JP" altLang="en-US" dirty="0"/>
                  <a:t>最小限必要な現場知識の変化量を最適化計算</a:t>
                </a:r>
                <a:endParaRPr lang="en-US" altLang="ja-JP" dirty="0"/>
              </a:p>
              <a:p>
                <a:pPr lvl="2"/>
                <a14:m>
                  <m:oMath xmlns:m="http://schemas.openxmlformats.org/officeDocument/2006/math">
                    <m:r>
                      <m:rPr>
                        <m:sty m:val="p"/>
                      </m:rPr>
                      <a:rPr lang="en-US" altLang="ja-JP">
                        <a:latin typeface="Cambria Math" panose="02040503050406030204" pitchFamily="18" charset="0"/>
                      </a:rPr>
                      <m:t>Δ</m:t>
                    </m:r>
                    <m:r>
                      <a:rPr lang="en-US" altLang="ja-JP" i="1">
                        <a:latin typeface="Cambria Math" panose="02040503050406030204" pitchFamily="18" charset="0"/>
                      </a:rPr>
                      <m:t>𝜃</m:t>
                    </m:r>
                    <m:r>
                      <a:rPr lang="en-US" altLang="ja-JP" i="1">
                        <a:latin typeface="Cambria Math" panose="02040503050406030204" pitchFamily="18" charset="0"/>
                      </a:rPr>
                      <m:t>=</m:t>
                    </m:r>
                    <m:d>
                      <m:dPr>
                        <m:begChr m:val="‖"/>
                        <m:endChr m:val="‖"/>
                        <m:ctrlPr>
                          <a:rPr lang="ja-JP" altLang="en-US" b="1" i="1">
                            <a:latin typeface="Cambria Math" panose="02040503050406030204" pitchFamily="18" charset="0"/>
                          </a:rPr>
                        </m:ctrlPr>
                      </m:dPr>
                      <m:e>
                        <m:sSup>
                          <m:sSupPr>
                            <m:ctrlPr>
                              <a:rPr lang="ja-JP" altLang="en-US" b="1" i="1">
                                <a:latin typeface="Cambria Math" panose="02040503050406030204" pitchFamily="18" charset="0"/>
                              </a:rPr>
                            </m:ctrlPr>
                          </m:sSupPr>
                          <m:e>
                            <m:r>
                              <a:rPr lang="ja-JP" altLang="en-US" b="1" i="1">
                                <a:latin typeface="Cambria Math" panose="02040503050406030204" pitchFamily="18" charset="0"/>
                              </a:rPr>
                              <m:t>𝜽</m:t>
                            </m:r>
                          </m:e>
                          <m:sup>
                            <m:r>
                              <a:rPr lang="ja-JP" altLang="en-US" i="1">
                                <a:latin typeface="Cambria Math" panose="02040503050406030204" pitchFamily="18" charset="0"/>
                              </a:rPr>
                              <m:t>∗</m:t>
                            </m:r>
                          </m:sup>
                        </m:sSup>
                        <m:r>
                          <a:rPr lang="ja-JP" altLang="en-US" i="1">
                            <a:latin typeface="Cambria Math" panose="02040503050406030204" pitchFamily="18" charset="0"/>
                          </a:rPr>
                          <m:t>−</m:t>
                        </m:r>
                        <m:sSub>
                          <m:sSubPr>
                            <m:ctrlPr>
                              <a:rPr lang="ja-JP" altLang="en-US" b="1" i="1">
                                <a:latin typeface="Cambria Math" panose="02040503050406030204" pitchFamily="18" charset="0"/>
                              </a:rPr>
                            </m:ctrlPr>
                          </m:sSubPr>
                          <m:e>
                            <m:r>
                              <a:rPr lang="ja-JP" altLang="en-US" b="1" i="1">
                                <a:latin typeface="Cambria Math" panose="02040503050406030204" pitchFamily="18" charset="0"/>
                              </a:rPr>
                              <m:t>𝜽</m:t>
                            </m:r>
                          </m:e>
                          <m:sub>
                            <m:r>
                              <a:rPr lang="en-US" altLang="ja-JP" i="1">
                                <a:latin typeface="Cambria Math" panose="02040503050406030204" pitchFamily="18" charset="0"/>
                              </a:rPr>
                              <m:t>0</m:t>
                            </m:r>
                          </m:sub>
                        </m:sSub>
                      </m:e>
                    </m:d>
                  </m:oMath>
                </a14:m>
                <a:r>
                  <a:rPr lang="ja-JP" altLang="en-US" dirty="0"/>
                  <a:t>　</a:t>
                </a:r>
                <a:endParaRPr lang="en-US" altLang="ja-JP" dirty="0"/>
              </a:p>
              <a:p>
                <a:r>
                  <a:rPr lang="ja-JP" altLang="en-US" dirty="0"/>
                  <a:t>考察</a:t>
                </a:r>
                <a:endParaRPr lang="en-US" altLang="ja-JP" dirty="0"/>
              </a:p>
              <a:p>
                <a:endParaRPr kumimoji="1" lang="ja-JP" altLang="en-US" dirty="0"/>
              </a:p>
            </p:txBody>
          </p:sp>
        </mc:Choice>
        <mc:Fallback xmlns="">
          <p:sp>
            <p:nvSpPr>
              <p:cNvPr id="3" name="コンテンツ プレースホルダー 2">
                <a:extLst>
                  <a:ext uri="{FF2B5EF4-FFF2-40B4-BE49-F238E27FC236}">
                    <a16:creationId xmlns:a16="http://schemas.microsoft.com/office/drawing/2014/main" id="{88CF72FD-4C6D-BA70-C312-39C96B491698}"/>
                  </a:ext>
                </a:extLst>
              </p:cNvPr>
              <p:cNvSpPr>
                <a:spLocks noGrp="1" noRot="1" noChangeAspect="1" noMove="1" noResize="1" noEditPoints="1" noAdjustHandles="1" noChangeArrowheads="1" noChangeShapeType="1" noTextEdit="1"/>
              </p:cNvSpPr>
              <p:nvPr>
                <p:ph idx="1"/>
              </p:nvPr>
            </p:nvSpPr>
            <p:spPr>
              <a:blipFill>
                <a:blip r:embed="rId3"/>
                <a:stretch>
                  <a:fillRect l="-510" t="-646"/>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8CC73C8D-C94E-5C30-8535-1FAD168F5DEF}"/>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CB48E405-E397-8FD1-655B-D2CFBE17CC99}"/>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D90FD403-F0F7-BE5C-5456-056E698F4189}"/>
              </a:ext>
            </a:extLst>
          </p:cNvPr>
          <p:cNvSpPr>
            <a:spLocks noGrp="1"/>
          </p:cNvSpPr>
          <p:nvPr>
            <p:ph type="sldNum" sz="quarter" idx="12"/>
          </p:nvPr>
        </p:nvSpPr>
        <p:spPr/>
        <p:txBody>
          <a:bodyPr/>
          <a:lstStyle/>
          <a:p>
            <a:fld id="{870B1737-2A00-4EFB-9FD3-149FCC30AA13}" type="slidenum">
              <a:rPr lang="ja-JP" altLang="en-US" smtClean="0"/>
              <a:pPr/>
              <a:t>10</a:t>
            </a:fld>
            <a:endParaRPr lang="ja-JP" altLang="en-US"/>
          </a:p>
        </p:txBody>
      </p:sp>
      <mc:AlternateContent xmlns:mc="http://schemas.openxmlformats.org/markup-compatibility/2006" xmlns:a14="http://schemas.microsoft.com/office/drawing/2010/main">
        <mc:Choice Requires="a14">
          <p:graphicFrame>
            <p:nvGraphicFramePr>
              <p:cNvPr id="10" name="表 9">
                <a:extLst>
                  <a:ext uri="{FF2B5EF4-FFF2-40B4-BE49-F238E27FC236}">
                    <a16:creationId xmlns:a16="http://schemas.microsoft.com/office/drawing/2014/main" id="{BEAFE7E8-FBA2-306B-3030-1CA6B175CCE4}"/>
                  </a:ext>
                </a:extLst>
              </p:cNvPr>
              <p:cNvGraphicFramePr>
                <a:graphicFrameLocks noGrp="1"/>
              </p:cNvGraphicFramePr>
              <p:nvPr>
                <p:extLst>
                  <p:ext uri="{D42A27DB-BD31-4B8C-83A1-F6EECF244321}">
                    <p14:modId xmlns:p14="http://schemas.microsoft.com/office/powerpoint/2010/main" val="2272193076"/>
                  </p:ext>
                </p:extLst>
              </p:nvPr>
            </p:nvGraphicFramePr>
            <p:xfrm>
              <a:off x="522697"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192021">
                    <a:tc>
                      <a:txBody>
                        <a:bodyPr/>
                        <a:lstStyle/>
                        <a:p>
                          <a:r>
                            <a:rPr kumimoji="1" lang="ja-JP" altLang="en-US" sz="1400" dirty="0"/>
                            <a:t>順位</a:t>
                          </a:r>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&lt;0.1</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&lt;0.2</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&lt;0.3</m:t>
                                </m:r>
                              </m:oMath>
                            </m:oMathPara>
                          </a14:m>
                          <a:endParaRPr kumimoji="1" lang="ja-JP" altLang="en-US" sz="1400" dirty="0"/>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m:t>
                                </m:r>
                              </m:oMath>
                            </m:oMathPara>
                          </a14:m>
                          <a:endParaRPr kumimoji="1" lang="ja-JP" altLang="en-US" sz="1400" dirty="0"/>
                        </a:p>
                      </a:txBody>
                      <a:tcPr/>
                    </a:tc>
                    <a:extLst>
                      <a:ext uri="{0D108BD9-81ED-4DB2-BD59-A6C34878D82A}">
                        <a16:rowId xmlns:a16="http://schemas.microsoft.com/office/drawing/2014/main" val="318744019"/>
                      </a:ext>
                    </a:extLst>
                  </a:tr>
                  <a:tr h="192021">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192021">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192021">
                    <a:tc>
                      <a:txBody>
                        <a:bodyPr/>
                        <a:lstStyle/>
                        <a:p>
                          <a:r>
                            <a:rPr kumimoji="1" lang="en-US" altLang="ja-JP" sz="1400" dirty="0"/>
                            <a:t>C&gt;A&gt;B</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192021">
                    <a:tc>
                      <a:txBody>
                        <a:bodyPr/>
                        <a:lstStyle/>
                        <a:p>
                          <a:r>
                            <a:rPr kumimoji="1" lang="en-US" altLang="ja-JP" sz="1400" dirty="0"/>
                            <a:t>C&gt;B&gt;A</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extLst>
                      <a:ext uri="{0D108BD9-81ED-4DB2-BD59-A6C34878D82A}">
                        <a16:rowId xmlns:a16="http://schemas.microsoft.com/office/drawing/2014/main" val="3035191193"/>
                      </a:ext>
                    </a:extLst>
                  </a:tr>
                </a:tbl>
              </a:graphicData>
            </a:graphic>
          </p:graphicFrame>
        </mc:Choice>
        <mc:Fallback xmlns="">
          <p:graphicFrame>
            <p:nvGraphicFramePr>
              <p:cNvPr id="10" name="表 9">
                <a:extLst>
                  <a:ext uri="{FF2B5EF4-FFF2-40B4-BE49-F238E27FC236}">
                    <a16:creationId xmlns:a16="http://schemas.microsoft.com/office/drawing/2014/main" id="{BEAFE7E8-FBA2-306B-3030-1CA6B175CCE4}"/>
                  </a:ext>
                </a:extLst>
              </p:cNvPr>
              <p:cNvGraphicFramePr>
                <a:graphicFrameLocks noGrp="1"/>
              </p:cNvGraphicFramePr>
              <p:nvPr>
                <p:extLst>
                  <p:ext uri="{D42A27DB-BD31-4B8C-83A1-F6EECF244321}">
                    <p14:modId xmlns:p14="http://schemas.microsoft.com/office/powerpoint/2010/main" val="2272193076"/>
                  </p:ext>
                </p:extLst>
              </p:nvPr>
            </p:nvGraphicFramePr>
            <p:xfrm>
              <a:off x="522697"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304800">
                    <a:tc>
                      <a:txBody>
                        <a:bodyPr/>
                        <a:lstStyle/>
                        <a:p>
                          <a:r>
                            <a:rPr kumimoji="1" lang="ja-JP" altLang="en-US" sz="1400" dirty="0"/>
                            <a:t>順位</a:t>
                          </a:r>
                        </a:p>
                      </a:txBody>
                      <a:tcPr/>
                    </a:tc>
                    <a:tc>
                      <a:txBody>
                        <a:bodyPr/>
                        <a:lstStyle/>
                        <a:p>
                          <a:endParaRPr lang="ja-JP"/>
                        </a:p>
                      </a:txBody>
                      <a:tcPr>
                        <a:blipFill>
                          <a:blip r:embed="rId4"/>
                          <a:stretch>
                            <a:fillRect l="-68947" t="-2000" r="-293158" b="-522000"/>
                          </a:stretch>
                        </a:blipFill>
                      </a:tcPr>
                    </a:tc>
                    <a:tc>
                      <a:txBody>
                        <a:bodyPr/>
                        <a:lstStyle/>
                        <a:p>
                          <a:endParaRPr lang="ja-JP"/>
                        </a:p>
                      </a:txBody>
                      <a:tcPr>
                        <a:blipFill>
                          <a:blip r:embed="rId4"/>
                          <a:stretch>
                            <a:fillRect l="-168947" t="-2000" r="-193158" b="-522000"/>
                          </a:stretch>
                        </a:blipFill>
                      </a:tcPr>
                    </a:tc>
                    <a:tc>
                      <a:txBody>
                        <a:bodyPr/>
                        <a:lstStyle/>
                        <a:p>
                          <a:endParaRPr lang="ja-JP"/>
                        </a:p>
                      </a:txBody>
                      <a:tcPr>
                        <a:blipFill>
                          <a:blip r:embed="rId4"/>
                          <a:stretch>
                            <a:fillRect l="-270370" t="-2000" r="-94180" b="-522000"/>
                          </a:stretch>
                        </a:blipFill>
                      </a:tcPr>
                    </a:tc>
                    <a:tc>
                      <a:txBody>
                        <a:bodyPr/>
                        <a:lstStyle/>
                        <a:p>
                          <a:endParaRPr lang="ja-JP"/>
                        </a:p>
                      </a:txBody>
                      <a:tcPr>
                        <a:blipFill>
                          <a:blip r:embed="rId4"/>
                          <a:stretch>
                            <a:fillRect l="-397727" t="-2000" r="-1136" b="-522000"/>
                          </a:stretch>
                        </a:blipFill>
                      </a:tcPr>
                    </a:tc>
                    <a:extLst>
                      <a:ext uri="{0D108BD9-81ED-4DB2-BD59-A6C34878D82A}">
                        <a16:rowId xmlns:a16="http://schemas.microsoft.com/office/drawing/2014/main" val="318744019"/>
                      </a:ext>
                    </a:extLst>
                  </a:tr>
                  <a:tr h="304800">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304800">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30480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304800">
                    <a:tc>
                      <a:txBody>
                        <a:bodyPr/>
                        <a:lstStyle/>
                        <a:p>
                          <a:r>
                            <a:rPr kumimoji="1" lang="en-US" altLang="ja-JP" sz="1400" dirty="0"/>
                            <a:t>C&gt;A&gt;B</a:t>
                          </a:r>
                          <a:endParaRPr kumimoji="1" lang="ja-JP" altLang="en-US" sz="1400" dirty="0"/>
                        </a:p>
                      </a:txBody>
                      <a:tcPr/>
                    </a:tc>
                    <a:tc>
                      <a:txBody>
                        <a:bodyPr/>
                        <a:lstStyle/>
                        <a:p>
                          <a:endParaRPr lang="ja-JP"/>
                        </a:p>
                      </a:txBody>
                      <a:tcPr>
                        <a:blipFill>
                          <a:blip r:embed="rId4"/>
                          <a:stretch>
                            <a:fillRect l="-68947" t="-404000" r="-293158" b="-120000"/>
                          </a:stretch>
                        </a:blipFill>
                      </a:tcPr>
                    </a:tc>
                    <a:tc>
                      <a:txBody>
                        <a:bodyPr/>
                        <a:lstStyle/>
                        <a:p>
                          <a:endParaRPr lang="ja-JP"/>
                        </a:p>
                      </a:txBody>
                      <a:tcPr>
                        <a:blipFill>
                          <a:blip r:embed="rId4"/>
                          <a:stretch>
                            <a:fillRect l="-168947" t="-404000" r="-193158" b="-120000"/>
                          </a:stretch>
                        </a:blipFill>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304800">
                    <a:tc>
                      <a:txBody>
                        <a:bodyPr/>
                        <a:lstStyle/>
                        <a:p>
                          <a:r>
                            <a:rPr kumimoji="1" lang="en-US" altLang="ja-JP" sz="1400" dirty="0"/>
                            <a:t>C&gt;B&gt;A</a:t>
                          </a:r>
                          <a:endParaRPr kumimoji="1" lang="ja-JP" altLang="en-US" sz="1400" dirty="0"/>
                        </a:p>
                      </a:txBody>
                      <a:tcPr/>
                    </a:tc>
                    <a:tc>
                      <a:txBody>
                        <a:bodyPr/>
                        <a:lstStyle/>
                        <a:p>
                          <a:endParaRPr lang="ja-JP"/>
                        </a:p>
                      </a:txBody>
                      <a:tcPr>
                        <a:blipFill>
                          <a:blip r:embed="rId4"/>
                          <a:stretch>
                            <a:fillRect l="-68947" t="-504000" r="-293158" b="-20000"/>
                          </a:stretch>
                        </a:blipFill>
                      </a:tcPr>
                    </a:tc>
                    <a:tc>
                      <a:txBody>
                        <a:bodyPr/>
                        <a:lstStyle/>
                        <a:p>
                          <a:endParaRPr lang="ja-JP"/>
                        </a:p>
                      </a:txBody>
                      <a:tcPr>
                        <a:blipFill>
                          <a:blip r:embed="rId4"/>
                          <a:stretch>
                            <a:fillRect l="-168947" t="-504000" r="-193158" b="-20000"/>
                          </a:stretch>
                        </a:blipFill>
                      </a:tcPr>
                    </a:tc>
                    <a:tc>
                      <a:txBody>
                        <a:bodyPr/>
                        <a:lstStyle/>
                        <a:p>
                          <a:endParaRPr lang="ja-JP"/>
                        </a:p>
                      </a:txBody>
                      <a:tcPr>
                        <a:blipFill>
                          <a:blip r:embed="rId4"/>
                          <a:stretch>
                            <a:fillRect l="-270370" t="-504000" r="-94180" b="-20000"/>
                          </a:stretch>
                        </a:blipFill>
                      </a:tcPr>
                    </a:tc>
                    <a:tc>
                      <a:txBody>
                        <a:bodyPr/>
                        <a:lstStyle/>
                        <a:p>
                          <a:endParaRPr lang="ja-JP"/>
                        </a:p>
                      </a:txBody>
                      <a:tcPr>
                        <a:blipFill>
                          <a:blip r:embed="rId4"/>
                          <a:stretch>
                            <a:fillRect l="-397727" t="-504000" r="-1136" b="-20000"/>
                          </a:stretch>
                        </a:blipFill>
                      </a:tcPr>
                    </a:tc>
                    <a:extLst>
                      <a:ext uri="{0D108BD9-81ED-4DB2-BD59-A6C34878D82A}">
                        <a16:rowId xmlns:a16="http://schemas.microsoft.com/office/drawing/2014/main" val="3035191193"/>
                      </a:ext>
                    </a:extLst>
                  </a:tr>
                </a:tbl>
              </a:graphicData>
            </a:graphic>
          </p:graphicFrame>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726B76D1-0541-08B5-75B8-7ABBB3A343EB}"/>
                  </a:ext>
                </a:extLst>
              </p:cNvPr>
              <p:cNvSpPr txBox="1"/>
              <p:nvPr/>
            </p:nvSpPr>
            <p:spPr>
              <a:xfrm>
                <a:off x="475247" y="3401989"/>
                <a:ext cx="5420074" cy="308161"/>
              </a:xfrm>
              <a:prstGeom prst="rect">
                <a:avLst/>
              </a:prstGeom>
              <a:noFill/>
            </p:spPr>
            <p:txBody>
              <a:bodyPr wrap="none" rtlCol="0">
                <a:spAutoFit/>
              </a:bodyPr>
              <a:lstStyle/>
              <a:p>
                <a:pPr algn="ctr"/>
                <a:r>
                  <a:rPr lang="ja-JP" altLang="en-US" sz="1400" dirty="0"/>
                  <a:t>表：</a:t>
                </a:r>
                <a:r>
                  <a:rPr lang="en-US" altLang="ja-JP" sz="1400" dirty="0"/>
                  <a:t>CI</a:t>
                </a:r>
                <a:r>
                  <a:rPr lang="ja-JP" altLang="en-US" sz="1400" dirty="0"/>
                  <a:t>の上限内で順位を実現した場合の、現場知識の変化量</a:t>
                </a:r>
                <a14:m>
                  <m:oMath xmlns:m="http://schemas.openxmlformats.org/officeDocument/2006/math">
                    <m:r>
                      <m:rPr>
                        <m:sty m:val="p"/>
                      </m:rPr>
                      <a:rPr lang="en-US" altLang="ja-JP" sz="1400">
                        <a:latin typeface="Cambria Math" panose="02040503050406030204" pitchFamily="18" charset="0"/>
                      </a:rPr>
                      <m:t>Δ</m:t>
                    </m:r>
                    <m:r>
                      <a:rPr lang="en-US" altLang="ja-JP" sz="1400" i="1">
                        <a:latin typeface="Cambria Math" panose="02040503050406030204" pitchFamily="18" charset="0"/>
                      </a:rPr>
                      <m:t>𝜃</m:t>
                    </m:r>
                  </m:oMath>
                </a14:m>
                <a:endParaRPr kumimoji="1" lang="ja-JP" altLang="en-US" sz="1400" dirty="0"/>
              </a:p>
            </p:txBody>
          </p:sp>
        </mc:Choice>
        <mc:Fallback xmlns="">
          <p:sp>
            <p:nvSpPr>
              <p:cNvPr id="12" name="テキスト ボックス 11">
                <a:extLst>
                  <a:ext uri="{FF2B5EF4-FFF2-40B4-BE49-F238E27FC236}">
                    <a16:creationId xmlns:a16="http://schemas.microsoft.com/office/drawing/2014/main" id="{726B76D1-0541-08B5-75B8-7ABBB3A343EB}"/>
                  </a:ext>
                </a:extLst>
              </p:cNvPr>
              <p:cNvSpPr txBox="1">
                <a:spLocks noRot="1" noChangeAspect="1" noMove="1" noResize="1" noEditPoints="1" noAdjustHandles="1" noChangeArrowheads="1" noChangeShapeType="1" noTextEdit="1"/>
              </p:cNvSpPr>
              <p:nvPr/>
            </p:nvSpPr>
            <p:spPr>
              <a:xfrm>
                <a:off x="475247" y="3401989"/>
                <a:ext cx="5420074" cy="308161"/>
              </a:xfrm>
              <a:prstGeom prst="rect">
                <a:avLst/>
              </a:prstGeom>
              <a:blipFill>
                <a:blip r:embed="rId5"/>
                <a:stretch>
                  <a:fillRect t="-7843" b="-215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7A1CB51A-FDE2-456C-FBA8-998A1B83129B}"/>
                  </a:ext>
                </a:extLst>
              </p:cNvPr>
              <p:cNvSpPr txBox="1"/>
              <p:nvPr/>
            </p:nvSpPr>
            <p:spPr>
              <a:xfrm>
                <a:off x="479376" y="5767012"/>
                <a:ext cx="2750625" cy="824906"/>
              </a:xfrm>
              <a:prstGeom prst="rect">
                <a:avLst/>
              </a:prstGeom>
              <a:noFill/>
            </p:spPr>
            <p:txBody>
              <a:bodyPr wrap="none" rtlCol="0">
                <a:spAutoFit/>
              </a:bodyPr>
              <a:lstStyle/>
              <a:p>
                <a:pPr/>
                <a14:m>
                  <m:oMathPara xmlns:m="http://schemas.openxmlformats.org/officeDocument/2006/math">
                    <m:oMath>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𝜽</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𝜽</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m>
                            <m:mPr>
                              <m:mcs>
                                <m:mc>
                                  <m:mcPr>
                                    <m:count m:val="3"/>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e>
                                <m:r>
                                  <a:rPr kumimoji="1" lang="en-US" altLang="ja-JP" b="0" i="1" smtClean="0">
                                    <a:latin typeface="Cambria Math" panose="02040503050406030204" pitchFamily="18" charset="0"/>
                                  </a:rPr>
                                  <m:t>++</m:t>
                                </m:r>
                              </m:e>
                            </m:mr>
                            <m:mr>
                              <m:e/>
                              <m:e>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mr>
                            <m:mr>
                              <m:e/>
                              <m:e/>
                              <m:e>
                                <m:r>
                                  <a:rPr kumimoji="1" lang="en-US" altLang="ja-JP" b="0" i="1" smtClean="0">
                                    <a:latin typeface="Cambria Math" panose="02040503050406030204" pitchFamily="18" charset="0"/>
                                  </a:rPr>
                                  <m:t>0</m:t>
                                </m:r>
                              </m:e>
                            </m:mr>
                          </m:m>
                        </m:e>
                      </m:d>
                    </m:oMath>
                  </m:oMathPara>
                </a14:m>
                <a:endParaRPr kumimoji="1" lang="ja-JP" altLang="en-US" dirty="0"/>
              </a:p>
            </p:txBody>
          </p:sp>
        </mc:Choice>
        <mc:Fallback xmlns="">
          <p:sp>
            <p:nvSpPr>
              <p:cNvPr id="14" name="テキスト ボックス 13">
                <a:extLst>
                  <a:ext uri="{FF2B5EF4-FFF2-40B4-BE49-F238E27FC236}">
                    <a16:creationId xmlns:a16="http://schemas.microsoft.com/office/drawing/2014/main" id="{7A1CB51A-FDE2-456C-FBA8-998A1B83129B}"/>
                  </a:ext>
                </a:extLst>
              </p:cNvPr>
              <p:cNvSpPr txBox="1">
                <a:spLocks noRot="1" noChangeAspect="1" noMove="1" noResize="1" noEditPoints="1" noAdjustHandles="1" noChangeArrowheads="1" noChangeShapeType="1" noTextEdit="1"/>
              </p:cNvSpPr>
              <p:nvPr/>
            </p:nvSpPr>
            <p:spPr>
              <a:xfrm>
                <a:off x="479376" y="5767012"/>
                <a:ext cx="2750625" cy="824906"/>
              </a:xfrm>
              <a:prstGeom prst="rect">
                <a:avLst/>
              </a:prstGeom>
              <a:blipFill>
                <a:blip r:embed="rId6"/>
                <a:stretch>
                  <a:fillRect/>
                </a:stretch>
              </a:blipFill>
            </p:spPr>
            <p:txBody>
              <a:bodyPr/>
              <a:lstStyle/>
              <a:p>
                <a:r>
                  <a:rPr lang="ja-JP" altLang="en-US">
                    <a:noFill/>
                  </a:rPr>
                  <a:t> </a:t>
                </a:r>
              </a:p>
            </p:txBody>
          </p:sp>
        </mc:Fallback>
      </mc:AlternateContent>
      <p:sp>
        <p:nvSpPr>
          <p:cNvPr id="16" name="正方形/長方形 15">
            <a:extLst>
              <a:ext uri="{FF2B5EF4-FFF2-40B4-BE49-F238E27FC236}">
                <a16:creationId xmlns:a16="http://schemas.microsoft.com/office/drawing/2014/main" id="{745D6870-DDCE-5AC6-7E3D-C980B127CA56}"/>
              </a:ext>
            </a:extLst>
          </p:cNvPr>
          <p:cNvSpPr/>
          <p:nvPr/>
        </p:nvSpPr>
        <p:spPr>
          <a:xfrm>
            <a:off x="479376" y="5189661"/>
            <a:ext cx="5368495" cy="307777"/>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DA55F232-6836-17DC-D7CD-BDA6BB264A8C}"/>
              </a:ext>
            </a:extLst>
          </p:cNvPr>
          <p:cNvSpPr/>
          <p:nvPr/>
        </p:nvSpPr>
        <p:spPr>
          <a:xfrm>
            <a:off x="3653337" y="3673878"/>
            <a:ext cx="1080120" cy="151054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F1E28645-473B-2DE2-0273-54BCF6F3B1A0}"/>
              </a:ext>
            </a:extLst>
          </p:cNvPr>
          <p:cNvSpPr txBox="1"/>
          <p:nvPr/>
        </p:nvSpPr>
        <p:spPr>
          <a:xfrm>
            <a:off x="4661448" y="4265112"/>
            <a:ext cx="1584176" cy="523220"/>
          </a:xfrm>
          <a:prstGeom prst="wedgeRectCallout">
            <a:avLst>
              <a:gd name="adj1" fmla="val -44883"/>
              <a:gd name="adj2" fmla="val 78277"/>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kumimoji="1" lang="en-US" altLang="ja-JP" sz="1400" b="1" dirty="0">
                <a:solidFill>
                  <a:schemeClr val="accent6"/>
                </a:solidFill>
              </a:rPr>
              <a:t>C&gt;A&gt;B</a:t>
            </a:r>
            <a:r>
              <a:rPr kumimoji="1" lang="ja-JP" altLang="en-US" sz="1400" b="1" dirty="0">
                <a:solidFill>
                  <a:schemeClr val="accent6"/>
                </a:solidFill>
              </a:rPr>
              <a:t>は出るが、回答の矛盾大</a:t>
            </a:r>
          </a:p>
        </p:txBody>
      </p:sp>
      <p:sp>
        <p:nvSpPr>
          <p:cNvPr id="22" name="テキスト ボックス 21">
            <a:extLst>
              <a:ext uri="{FF2B5EF4-FFF2-40B4-BE49-F238E27FC236}">
                <a16:creationId xmlns:a16="http://schemas.microsoft.com/office/drawing/2014/main" id="{F52FEE58-A3B0-8687-4D05-6895F50BC666}"/>
              </a:ext>
            </a:extLst>
          </p:cNvPr>
          <p:cNvSpPr txBox="1"/>
          <p:nvPr/>
        </p:nvSpPr>
        <p:spPr>
          <a:xfrm>
            <a:off x="4505922" y="5598241"/>
            <a:ext cx="1728192" cy="523220"/>
          </a:xfrm>
          <a:prstGeom prst="wedgeRectCallout">
            <a:avLst>
              <a:gd name="adj1" fmla="val -34862"/>
              <a:gd name="adj2" fmla="val -72214"/>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400" b="1" dirty="0">
                <a:solidFill>
                  <a:schemeClr val="accent1"/>
                </a:solidFill>
              </a:rPr>
              <a:t>この順位は理論上、出力し得ない</a:t>
            </a:r>
          </a:p>
        </p:txBody>
      </p:sp>
      <p:sp>
        <p:nvSpPr>
          <p:cNvPr id="24" name="テキスト ボックス 23">
            <a:extLst>
              <a:ext uri="{FF2B5EF4-FFF2-40B4-BE49-F238E27FC236}">
                <a16:creationId xmlns:a16="http://schemas.microsoft.com/office/drawing/2014/main" id="{0D496E91-6449-7588-3F7F-2AB332FFE46D}"/>
              </a:ext>
            </a:extLst>
          </p:cNvPr>
          <p:cNvSpPr txBox="1"/>
          <p:nvPr/>
        </p:nvSpPr>
        <p:spPr>
          <a:xfrm>
            <a:off x="3237758" y="6183392"/>
            <a:ext cx="1728192" cy="307777"/>
          </a:xfrm>
          <a:prstGeom prst="wedgeRectCallout">
            <a:avLst>
              <a:gd name="adj1" fmla="val -63522"/>
              <a:gd name="adj2" fmla="val -80709"/>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kumimoji="1" lang="en-US" altLang="ja-JP" sz="1400" b="1" dirty="0" err="1">
                <a:solidFill>
                  <a:schemeClr val="accent2"/>
                </a:solidFill>
              </a:rPr>
              <a:t>Xx</a:t>
            </a:r>
            <a:r>
              <a:rPr kumimoji="1" lang="ja-JP" altLang="en-US" sz="1400" b="1" dirty="0">
                <a:solidFill>
                  <a:schemeClr val="accent2"/>
                </a:solidFill>
              </a:rPr>
              <a:t>を重視する回答</a:t>
            </a:r>
          </a:p>
        </p:txBody>
      </p:sp>
      <mc:AlternateContent xmlns:mc="http://schemas.openxmlformats.org/markup-compatibility/2006" xmlns:a14="http://schemas.microsoft.com/office/drawing/2010/main">
        <mc:Choice Requires="a14">
          <p:graphicFrame>
            <p:nvGraphicFramePr>
              <p:cNvPr id="26" name="コンテンツ プレースホルダー 7">
                <a:extLst>
                  <a:ext uri="{FF2B5EF4-FFF2-40B4-BE49-F238E27FC236}">
                    <a16:creationId xmlns:a16="http://schemas.microsoft.com/office/drawing/2014/main" id="{44133A3C-B043-DADE-C003-29CF3CABC1A1}"/>
                  </a:ext>
                </a:extLst>
              </p:cNvPr>
              <p:cNvGraphicFramePr>
                <a:graphicFrameLocks/>
              </p:cNvGraphicFramePr>
              <p:nvPr>
                <p:extLst>
                  <p:ext uri="{D42A27DB-BD31-4B8C-83A1-F6EECF244321}">
                    <p14:modId xmlns:p14="http://schemas.microsoft.com/office/powerpoint/2010/main" val="399164439"/>
                  </p:ext>
                </p:extLst>
              </p:nvPr>
            </p:nvGraphicFramePr>
            <p:xfrm>
              <a:off x="7824408" y="2828146"/>
              <a:ext cx="2884361" cy="3763772"/>
            </p:xfrm>
            <a:graphic>
              <a:graphicData uri="http://schemas.openxmlformats.org/drawingml/2006/table">
                <a:tbl>
                  <a:tblPr firstRow="1" bandRow="1">
                    <a:tableStyleId>{073A0DAA-6AF3-43AB-8588-CEC1D06C72B9}</a:tableStyleId>
                  </a:tblPr>
                  <a:tblGrid>
                    <a:gridCol w="613918">
                      <a:extLst>
                        <a:ext uri="{9D8B030D-6E8A-4147-A177-3AD203B41FA5}">
                          <a16:colId xmlns:a16="http://schemas.microsoft.com/office/drawing/2014/main" val="2976928265"/>
                        </a:ext>
                      </a:extLst>
                    </a:gridCol>
                    <a:gridCol w="2270443">
                      <a:extLst>
                        <a:ext uri="{9D8B030D-6E8A-4147-A177-3AD203B41FA5}">
                          <a16:colId xmlns:a16="http://schemas.microsoft.com/office/drawing/2014/main" val="591180217"/>
                        </a:ext>
                      </a:extLst>
                    </a:gridCol>
                  </a:tblGrid>
                  <a:tr h="0">
                    <a:tc>
                      <a:txBody>
                        <a:bodyPr/>
                        <a:lstStyle/>
                        <a:p>
                          <a:r>
                            <a:rPr kumimoji="1" lang="ja-JP" altLang="en-US" sz="1200" dirty="0"/>
                            <a:t>変数</a:t>
                          </a:r>
                        </a:p>
                      </a:txBody>
                      <a:tcPr anchor="ctr"/>
                    </a:tc>
                    <a:tc>
                      <a:txBody>
                        <a:bodyPr/>
                        <a:lstStyle/>
                        <a:p>
                          <a:r>
                            <a:rPr kumimoji="1" lang="ja-JP" altLang="en-US" sz="1200" dirty="0"/>
                            <a:t>定義</a:t>
                          </a:r>
                        </a:p>
                      </a:txBody>
                      <a:tcPr anchor="ctr"/>
                    </a:tc>
                    <a:extLst>
                      <a:ext uri="{0D108BD9-81ED-4DB2-BD59-A6C34878D82A}">
                        <a16:rowId xmlns:a16="http://schemas.microsoft.com/office/drawing/2014/main" val="2681140504"/>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𝑙</m:t>
                                </m:r>
                              </m:oMath>
                            </m:oMathPara>
                          </a14:m>
                          <a:endParaRPr sz="1200"/>
                        </a:p>
                      </a:txBody>
                      <a:tcPr anchor="ctr"/>
                    </a:tc>
                    <a:tc>
                      <a:txBody>
                        <a:bodyPr/>
                        <a:lstStyle/>
                        <a:p>
                          <a:r>
                            <a:rPr kumimoji="1" lang="ja-JP" altLang="en-US" sz="1200" dirty="0"/>
                            <a:t>階層モデル中の</a:t>
                          </a:r>
                          <a:r>
                            <a:rPr kumimoji="1" lang="en-US" altLang="ja-JP" sz="1200" dirty="0"/>
                            <a:t>AHP</a:t>
                          </a:r>
                          <a:r>
                            <a:rPr kumimoji="1" lang="ja-JP" altLang="en-US" sz="1200" dirty="0"/>
                            <a:t>の数</a:t>
                          </a:r>
                        </a:p>
                      </a:txBody>
                      <a:tcPr anchor="ctr"/>
                    </a:tc>
                    <a:extLst>
                      <a:ext uri="{0D108BD9-81ED-4DB2-BD59-A6C34878D82A}">
                        <a16:rowId xmlns:a16="http://schemas.microsoft.com/office/drawing/2014/main" val="2112526220"/>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𝑚</m:t>
                                </m:r>
                              </m:oMath>
                            </m:oMathPara>
                          </a14:m>
                          <a:endParaRPr sz="1200"/>
                        </a:p>
                      </a:txBody>
                      <a:tcPr anchor="ctr"/>
                    </a:tc>
                    <a:tc>
                      <a:txBody>
                        <a:bodyPr/>
                        <a:lstStyle/>
                        <a:p>
                          <a:r>
                            <a:rPr kumimoji="1" lang="ja-JP" altLang="en-US" sz="1200" dirty="0"/>
                            <a:t>階層モデル中の</a:t>
                          </a:r>
                          <a:r>
                            <a:rPr kumimoji="1" lang="en-US" altLang="ja-JP" sz="1200" dirty="0"/>
                            <a:t>Fuzzy</a:t>
                          </a:r>
                          <a:r>
                            <a:rPr kumimoji="1" lang="ja-JP" altLang="en-US" sz="1200" dirty="0"/>
                            <a:t>推論の数</a:t>
                          </a:r>
                        </a:p>
                      </a:txBody>
                      <a:tcPr anchor="ctr"/>
                    </a:tc>
                    <a:extLst>
                      <a:ext uri="{0D108BD9-81ED-4DB2-BD59-A6C34878D82A}">
                        <a16:rowId xmlns:a16="http://schemas.microsoft.com/office/drawing/2014/main" val="780508247"/>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𝑛</m:t>
                                </m:r>
                              </m:oMath>
                            </m:oMathPara>
                          </a14:m>
                          <a:endParaRPr sz="1200"/>
                        </a:p>
                      </a:txBody>
                      <a:tcPr anchor="ctr"/>
                    </a:tc>
                    <a:tc>
                      <a:txBody>
                        <a:bodyPr/>
                        <a:lstStyle/>
                        <a:p>
                          <a:r>
                            <a:rPr kumimoji="1" lang="ja-JP" altLang="en-US" sz="1200" dirty="0"/>
                            <a:t>比較対象（患者）の数</a:t>
                          </a:r>
                        </a:p>
                      </a:txBody>
                      <a:tcPr anchor="ctr"/>
                    </a:tc>
                    <a:extLst>
                      <a:ext uri="{0D108BD9-81ED-4DB2-BD59-A6C34878D82A}">
                        <a16:rowId xmlns:a16="http://schemas.microsoft.com/office/drawing/2014/main" val="82173697"/>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𝐴</m:t>
                                    </m:r>
                                  </m:e>
                                  <m:sub>
                                    <m:r>
                                      <a:rPr kumimoji="1" lang="en-US" altLang="ja-JP" sz="1200" b="0" i="1" dirty="0" smtClean="0">
                                        <a:latin typeface="Cambria Math" panose="02040503050406030204" pitchFamily="18" charset="0"/>
                                      </a:rPr>
                                      <m:t>𝑖</m:t>
                                    </m:r>
                                  </m:sub>
                                </m:sSub>
                              </m:oMath>
                            </m:oMathPara>
                          </a14:m>
                          <a:endParaRPr sz="1200" dirty="0"/>
                        </a:p>
                      </a:txBody>
                      <a:tcPr anchor="ctr"/>
                    </a:tc>
                    <a:tc>
                      <a:txBody>
                        <a:bodyPr/>
                        <a:lstStyle/>
                        <a:p>
                          <a:r>
                            <a:rPr kumimoji="1" lang="en-US" altLang="ja-JP" sz="1200" dirty="0"/>
                            <a:t>AHP</a:t>
                          </a:r>
                          <a:r>
                            <a:rPr kumimoji="1" lang="ja-JP" altLang="en-US" sz="1200" dirty="0"/>
                            <a:t>一対比較行列 </a:t>
                          </a:r>
                          <a14:m>
                            <m:oMath xmlns:m="http://schemas.openxmlformats.org/officeDocument/2006/math">
                              <m:r>
                                <a:rPr kumimoji="1" lang="en-US" altLang="ja-JP" sz="1200" b="0" i="1" smtClean="0">
                                  <a:latin typeface="Cambria Math" panose="02040503050406030204" pitchFamily="18" charset="0"/>
                                </a:rPr>
                                <m:t>𝑖</m:t>
                              </m:r>
                              <m:r>
                                <a:rPr kumimoji="1" lang="en-US" altLang="ja-JP" sz="1200" b="0" i="1" smtClean="0">
                                  <a:latin typeface="Cambria Math" panose="02040503050406030204" pitchFamily="18" charset="0"/>
                                </a:rPr>
                                <m:t>=</m:t>
                              </m:r>
                              <m:d>
                                <m:dPr>
                                  <m:begChr m:val="{"/>
                                  <m:endChr m:val="}"/>
                                  <m:ctrlPr>
                                    <a:rPr kumimoji="1" lang="en-US" altLang="ja-JP" sz="1200" b="0" i="1" smtClean="0">
                                      <a:latin typeface="Cambria Math" panose="02040503050406030204" pitchFamily="18" charset="0"/>
                                    </a:rPr>
                                  </m:ctrlPr>
                                </m:dPr>
                                <m:e>
                                  <m:r>
                                    <a:rPr kumimoji="1" lang="en-US" altLang="ja-JP" sz="1200" b="0" i="1" smtClean="0">
                                      <a:latin typeface="Cambria Math" panose="02040503050406030204" pitchFamily="18" charset="0"/>
                                    </a:rPr>
                                    <m:t>1,…,</m:t>
                                  </m:r>
                                  <m:r>
                                    <a:rPr kumimoji="1" lang="en-US" altLang="ja-JP" sz="1200" b="0" i="1" smtClean="0">
                                      <a:latin typeface="Cambria Math" panose="02040503050406030204" pitchFamily="18" charset="0"/>
                                    </a:rPr>
                                    <m:t>𝑙</m:t>
                                  </m:r>
                                </m:e>
                              </m:d>
                            </m:oMath>
                          </a14:m>
                          <a:endParaRPr kumimoji="1" lang="ja-JP" altLang="en-US" sz="1200" dirty="0"/>
                        </a:p>
                      </a:txBody>
                      <a:tcPr anchor="ctr"/>
                    </a:tc>
                    <a:extLst>
                      <a:ext uri="{0D108BD9-81ED-4DB2-BD59-A6C34878D82A}">
                        <a16:rowId xmlns:a16="http://schemas.microsoft.com/office/drawing/2014/main" val="950966567"/>
                      </a:ext>
                    </a:extLst>
                  </a:tr>
                  <a:tr h="0">
                    <a:tc>
                      <a:txBody>
                        <a:bodyPr/>
                        <a:lstStyle/>
                        <a:p>
                          <a:pPr/>
                          <a14:m>
                            <m:oMathPara xmlns:m="http://schemas.openxmlformats.org/officeDocument/2006/math">
                              <m:oMath>
                                <m:sSub>
                                  <m:sSubPr>
                                    <m:ctrlPr>
                                      <a:rPr kumimoji="1" lang="en-US" altLang="ja-JP" sz="1200" b="1" i="1" dirty="0" smtClean="0">
                                        <a:latin typeface="Cambria Math" panose="02040503050406030204" pitchFamily="18" charset="0"/>
                                      </a:rPr>
                                    </m:ctrlPr>
                                  </m:sSubPr>
                                  <m:e>
                                    <m:r>
                                      <a:rPr kumimoji="1" lang="en-US" altLang="ja-JP" sz="1200" b="1" i="1" dirty="0" smtClean="0">
                                        <a:latin typeface="Cambria Math" panose="02040503050406030204" pitchFamily="18" charset="0"/>
                                      </a:rPr>
                                      <m:t>𝜽</m:t>
                                    </m:r>
                                  </m:e>
                                  <m:sub>
                                    <m:r>
                                      <a:rPr kumimoji="1" lang="en-US" altLang="ja-JP" sz="1200" b="0" i="1" dirty="0" smtClean="0">
                                        <a:latin typeface="Cambria Math" panose="02040503050406030204" pitchFamily="18" charset="0"/>
                                      </a:rPr>
                                      <m:t>𝐹𝑗</m:t>
                                    </m:r>
                                  </m:sub>
                                </m:sSub>
                              </m:oMath>
                            </m:oMathPara>
                          </a14:m>
                          <a:endParaRPr sz="1200" dirty="0"/>
                        </a:p>
                      </a:txBody>
                      <a:tcPr anchor="ctr"/>
                    </a:tc>
                    <a:tc>
                      <a:txBody>
                        <a:bodyPr/>
                        <a:lstStyle/>
                        <a:p>
                          <a:r>
                            <a:rPr kumimoji="1" lang="en-US" altLang="ja-JP" sz="1200" dirty="0"/>
                            <a:t>Fuzzy</a:t>
                          </a:r>
                          <a:r>
                            <a:rPr kumimoji="1" lang="ja-JP" altLang="en-US" sz="1200" dirty="0"/>
                            <a:t>パラメタ </a:t>
                          </a:r>
                          <a14:m>
                            <m:oMath xmlns:m="http://schemas.openxmlformats.org/officeDocument/2006/math">
                              <m:r>
                                <a:rPr kumimoji="1" lang="en-US" altLang="ja-JP" sz="1200" b="0" i="1" smtClean="0">
                                  <a:latin typeface="Cambria Math" panose="02040503050406030204" pitchFamily="18" charset="0"/>
                                </a:rPr>
                                <m:t>𝑗</m:t>
                              </m:r>
                              <m:r>
                                <a:rPr kumimoji="1" lang="en-US" altLang="ja-JP" sz="1200" b="0" i="1" smtClean="0">
                                  <a:latin typeface="Cambria Math" panose="02040503050406030204" pitchFamily="18" charset="0"/>
                                </a:rPr>
                                <m:t>={1,…,</m:t>
                              </m:r>
                              <m:r>
                                <a:rPr kumimoji="1" lang="en-US" altLang="ja-JP" sz="1200" b="0" i="1" smtClean="0">
                                  <a:latin typeface="Cambria Math" panose="02040503050406030204" pitchFamily="18" charset="0"/>
                                </a:rPr>
                                <m:t>𝑚</m:t>
                              </m:r>
                              <m:r>
                                <a:rPr kumimoji="1" lang="en-US" altLang="ja-JP" sz="1200" b="0" i="1" smtClean="0">
                                  <a:latin typeface="Cambria Math" panose="02040503050406030204" pitchFamily="18" charset="0"/>
                                </a:rPr>
                                <m:t>}</m:t>
                              </m:r>
                            </m:oMath>
                          </a14:m>
                          <a:endParaRPr kumimoji="1" lang="ja-JP" altLang="en-US" sz="1200" dirty="0"/>
                        </a:p>
                      </a:txBody>
                      <a:tcPr anchor="ctr"/>
                    </a:tc>
                    <a:extLst>
                      <a:ext uri="{0D108BD9-81ED-4DB2-BD59-A6C34878D82A}">
                        <a16:rowId xmlns:a16="http://schemas.microsoft.com/office/drawing/2014/main" val="888060706"/>
                      </a:ext>
                    </a:extLst>
                  </a:tr>
                  <a:tr h="0">
                    <a:tc>
                      <a:txBody>
                        <a:bodyPr/>
                        <a:lstStyle/>
                        <a:p>
                          <a:pPr/>
                          <a14:m>
                            <m:oMathPara xmlns:m="http://schemas.openxmlformats.org/officeDocument/2006/math">
                              <m:oMath>
                                <m:r>
                                  <a:rPr kumimoji="1" lang="en-US" altLang="ja-JP" sz="1200" b="1" i="1" dirty="0" smtClean="0">
                                    <a:latin typeface="Cambria Math" panose="02040503050406030204" pitchFamily="18" charset="0"/>
                                  </a:rPr>
                                  <m:t>𝜽</m:t>
                                </m:r>
                              </m:oMath>
                            </m:oMathPara>
                          </a14:m>
                          <a:endParaRPr sz="1200" dirty="0"/>
                        </a:p>
                      </a:txBody>
                      <a:tcPr anchor="ctr"/>
                    </a:tc>
                    <a:tc>
                      <a:txBody>
                        <a:bodyPr/>
                        <a:lstStyle/>
                        <a:p>
                          <a:pPr/>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のパラメタ</a:t>
                          </a:r>
                          <a:br>
                            <a:rPr kumimoji="1" lang="en-US" altLang="ja-JP" sz="1200" b="0" i="1" dirty="0">
                              <a:latin typeface="Cambria Math" panose="02040503050406030204" pitchFamily="18" charset="0"/>
                            </a:rPr>
                          </a:br>
                          <a14:m>
                            <m:oMathPara xmlns:m="http://schemas.openxmlformats.org/officeDocument/2006/math">
                              <m:oMath>
                                <m:r>
                                  <a:rPr kumimoji="1" lang="en-US" altLang="ja-JP" sz="1200" b="1" i="1" smtClean="0">
                                    <a:latin typeface="Cambria Math" panose="02040503050406030204" pitchFamily="18" charset="0"/>
                                  </a:rPr>
                                  <m:t>𝜽</m:t>
                                </m:r>
                                <m:r>
                                  <a:rPr kumimoji="1" lang="en-US" altLang="ja-JP" sz="1200" b="0" i="1" smtClean="0">
                                    <a:latin typeface="Cambria Math" panose="02040503050406030204" pitchFamily="18" charset="0"/>
                                  </a:rPr>
                                  <m:t>=</m:t>
                                </m:r>
                                <m:d>
                                  <m:dPr>
                                    <m:ctrlPr>
                                      <a:rPr kumimoji="1" lang="en-US" altLang="ja-JP" sz="1200" b="0" i="1" smtClean="0">
                                        <a:latin typeface="Cambria Math" panose="02040503050406030204" pitchFamily="18" charset="0"/>
                                      </a:rPr>
                                    </m:ctrlPr>
                                  </m:dPr>
                                  <m:e>
                                    <m:sSub>
                                      <m:sSubPr>
                                        <m:ctrlPr>
                                          <a:rPr kumimoji="1" lang="en-US" altLang="ja-JP" sz="1200" b="0" i="1" smtClean="0">
                                            <a:latin typeface="Cambria Math" panose="02040503050406030204" pitchFamily="18" charset="0"/>
                                          </a:rPr>
                                        </m:ctrlPr>
                                      </m:sSubPr>
                                      <m:e>
                                        <m:r>
                                          <a:rPr kumimoji="1" lang="en-US" altLang="ja-JP" sz="1200" b="0" i="1" smtClean="0">
                                            <a:latin typeface="Cambria Math" panose="02040503050406030204" pitchFamily="18" charset="0"/>
                                          </a:rPr>
                                          <m:t>𝐴</m:t>
                                        </m:r>
                                      </m:e>
                                      <m:sub>
                                        <m:r>
                                          <a:rPr kumimoji="1" lang="en-US" altLang="ja-JP" sz="1200" b="0" i="1" smtClean="0">
                                            <a:latin typeface="Cambria Math" panose="02040503050406030204" pitchFamily="18" charset="0"/>
                                          </a:rPr>
                                          <m:t>1</m:t>
                                        </m:r>
                                      </m:sub>
                                    </m:sSub>
                                    <m:r>
                                      <a:rPr kumimoji="1" lang="en-US" altLang="ja-JP" sz="1200" b="0" i="1" smtClean="0">
                                        <a:latin typeface="Cambria Math" panose="02040503050406030204" pitchFamily="18" charset="0"/>
                                      </a:rPr>
                                      <m:t>,…,</m:t>
                                    </m:r>
                                    <m:sSub>
                                      <m:sSubPr>
                                        <m:ctrlPr>
                                          <a:rPr kumimoji="1" lang="en-US" altLang="ja-JP" sz="1200" b="0" i="1" smtClean="0">
                                            <a:latin typeface="Cambria Math" panose="02040503050406030204" pitchFamily="18" charset="0"/>
                                          </a:rPr>
                                        </m:ctrlPr>
                                      </m:sSubPr>
                                      <m:e>
                                        <m:r>
                                          <a:rPr kumimoji="1" lang="en-US" altLang="ja-JP" sz="1200" b="0" i="1" smtClean="0">
                                            <a:latin typeface="Cambria Math" panose="02040503050406030204" pitchFamily="18" charset="0"/>
                                          </a:rPr>
                                          <m:t>𝐴</m:t>
                                        </m:r>
                                      </m:e>
                                      <m:sub>
                                        <m:r>
                                          <a:rPr kumimoji="1" lang="en-US" altLang="ja-JP" sz="1200" b="0" i="1" smtClean="0">
                                            <a:latin typeface="Cambria Math" panose="02040503050406030204" pitchFamily="18" charset="0"/>
                                          </a:rPr>
                                          <m:t>𝑙</m:t>
                                        </m:r>
                                      </m:sub>
                                    </m:sSub>
                                    <m:r>
                                      <a:rPr kumimoji="1" lang="en-US" altLang="ja-JP" sz="1200" b="0" i="1" smtClean="0">
                                        <a:latin typeface="Cambria Math" panose="02040503050406030204" pitchFamily="18" charset="0"/>
                                      </a:rPr>
                                      <m:t>,</m:t>
                                    </m:r>
                                    <m:sSub>
                                      <m:sSubPr>
                                        <m:ctrlPr>
                                          <a:rPr kumimoji="1" lang="en-US" altLang="ja-JP" sz="1200" b="1" i="1" smtClean="0">
                                            <a:latin typeface="Cambria Math" panose="02040503050406030204" pitchFamily="18" charset="0"/>
                                          </a:rPr>
                                        </m:ctrlPr>
                                      </m:sSubPr>
                                      <m:e>
                                        <m:r>
                                          <a:rPr kumimoji="1" lang="en-US" altLang="ja-JP" sz="1200" b="1" i="1" smtClean="0">
                                            <a:latin typeface="Cambria Math" panose="02040503050406030204" pitchFamily="18" charset="0"/>
                                          </a:rPr>
                                          <m:t>𝜽</m:t>
                                        </m:r>
                                      </m:e>
                                      <m:sub>
                                        <m:r>
                                          <a:rPr kumimoji="1" lang="en-US" altLang="ja-JP" sz="1200" b="0" i="1" smtClean="0">
                                            <a:latin typeface="Cambria Math" panose="02040503050406030204" pitchFamily="18" charset="0"/>
                                          </a:rPr>
                                          <m:t>𝐹</m:t>
                                        </m:r>
                                        <m:r>
                                          <a:rPr kumimoji="1" lang="en-US" altLang="ja-JP" sz="1200" b="0" i="1" smtClean="0">
                                            <a:latin typeface="Cambria Math" panose="02040503050406030204" pitchFamily="18" charset="0"/>
                                          </a:rPr>
                                          <m:t>1</m:t>
                                        </m:r>
                                      </m:sub>
                                    </m:sSub>
                                    <m:r>
                                      <a:rPr kumimoji="1" lang="en-US" altLang="ja-JP" sz="1200" b="0" i="1" smtClean="0">
                                        <a:latin typeface="Cambria Math" panose="02040503050406030204" pitchFamily="18" charset="0"/>
                                      </a:rPr>
                                      <m:t>,…,</m:t>
                                    </m:r>
                                    <m:sSub>
                                      <m:sSubPr>
                                        <m:ctrlPr>
                                          <a:rPr kumimoji="1" lang="en-US" altLang="ja-JP" sz="1200" b="1" i="1" smtClean="0">
                                            <a:latin typeface="Cambria Math" panose="02040503050406030204" pitchFamily="18" charset="0"/>
                                          </a:rPr>
                                        </m:ctrlPr>
                                      </m:sSubPr>
                                      <m:e>
                                        <m:r>
                                          <a:rPr kumimoji="1" lang="en-US" altLang="ja-JP" sz="1200" b="1" i="1" smtClean="0">
                                            <a:latin typeface="Cambria Math" panose="02040503050406030204" pitchFamily="18" charset="0"/>
                                          </a:rPr>
                                          <m:t>𝜽</m:t>
                                        </m:r>
                                      </m:e>
                                      <m:sub>
                                        <m:r>
                                          <a:rPr kumimoji="1" lang="en-US" altLang="ja-JP" sz="1200" b="0" i="1" smtClean="0">
                                            <a:latin typeface="Cambria Math" panose="02040503050406030204" pitchFamily="18" charset="0"/>
                                          </a:rPr>
                                          <m:t>𝐹𝑚</m:t>
                                        </m:r>
                                      </m:sub>
                                    </m:sSub>
                                  </m:e>
                                </m:d>
                              </m:oMath>
                            </m:oMathPara>
                          </a14:m>
                          <a:endParaRPr kumimoji="1" lang="ja-JP" altLang="en-US" sz="1200" dirty="0"/>
                        </a:p>
                      </a:txBody>
                      <a:tcPr anchor="ctr"/>
                    </a:tc>
                    <a:extLst>
                      <a:ext uri="{0D108BD9-81ED-4DB2-BD59-A6C34878D82A}">
                        <a16:rowId xmlns:a16="http://schemas.microsoft.com/office/drawing/2014/main" val="2047826207"/>
                      </a:ext>
                    </a:extLst>
                  </a:tr>
                  <a:tr h="0">
                    <a:tc>
                      <a:txBody>
                        <a:bodyPr/>
                        <a:lstStyle/>
                        <a:p>
                          <a:pPr/>
                          <a14:m>
                            <m:oMathPara xmlns:m="http://schemas.openxmlformats.org/officeDocument/2006/math">
                              <m:oMath>
                                <m:sSub>
                                  <m:sSubPr>
                                    <m:ctrlPr>
                                      <a:rPr kumimoji="1" lang="en-US" altLang="ja-JP" sz="1200" b="1" i="1" dirty="0" smtClean="0">
                                        <a:latin typeface="Cambria Math" panose="02040503050406030204" pitchFamily="18" charset="0"/>
                                      </a:rPr>
                                    </m:ctrlPr>
                                  </m:sSubPr>
                                  <m:e>
                                    <m:r>
                                      <a:rPr kumimoji="1" lang="en-US" altLang="ja-JP" sz="1200" b="1" i="1" dirty="0" smtClean="0">
                                        <a:latin typeface="Cambria Math" panose="02040503050406030204" pitchFamily="18" charset="0"/>
                                      </a:rPr>
                                      <m:t>𝒙</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の特徴量</a:t>
                          </a:r>
                        </a:p>
                      </a:txBody>
                      <a:tcPr anchor="ctr"/>
                    </a:tc>
                    <a:extLst>
                      <a:ext uri="{0D108BD9-81ED-4DB2-BD59-A6C34878D82A}">
                        <a16:rowId xmlns:a16="http://schemas.microsoft.com/office/drawing/2014/main" val="3997772173"/>
                      </a:ext>
                    </a:extLst>
                  </a:tr>
                  <a:tr h="0">
                    <a:tc>
                      <a:txBody>
                        <a:bodyPr/>
                        <a:lstStyle/>
                        <a:p>
                          <a:pPr/>
                          <a14:m>
                            <m:oMathPara xmlns:m="http://schemas.openxmlformats.org/officeDocument/2006/math">
                              <m:oMath>
                                <m:r>
                                  <a:rPr kumimoji="1" lang="en-US" altLang="ja-JP" sz="1200" i="1" dirty="0" smtClean="0">
                                    <a:latin typeface="Cambria Math" panose="02040503050406030204" pitchFamily="18" charset="0"/>
                                  </a:rPr>
                                  <m:t>𝐻</m:t>
                                </m:r>
                              </m:oMath>
                            </m:oMathPara>
                          </a14:m>
                          <a:endParaRPr sz="1200"/>
                        </a:p>
                      </a:txBody>
                      <a:tcPr anchor="ctr"/>
                    </a:tc>
                    <a:tc>
                      <a:txBody>
                        <a:bodyPr/>
                        <a:lstStyle/>
                        <a:p>
                          <a:r>
                            <a:rPr kumimoji="1" lang="ja-JP" altLang="en-US" sz="1200" dirty="0"/>
                            <a:t>階層モデル</a:t>
                          </a:r>
                        </a:p>
                      </a:txBody>
                      <a:tcPr anchor="ctr"/>
                    </a:tc>
                    <a:extLst>
                      <a:ext uri="{0D108BD9-81ED-4DB2-BD59-A6C34878D82A}">
                        <a16:rowId xmlns:a16="http://schemas.microsoft.com/office/drawing/2014/main" val="3376345640"/>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𝑦</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の危険度</a:t>
                          </a:r>
                        </a:p>
                      </a:txBody>
                      <a:tcPr anchor="ctr"/>
                    </a:tc>
                    <a:extLst>
                      <a:ext uri="{0D108BD9-81ED-4DB2-BD59-A6C34878D82A}">
                        <a16:rowId xmlns:a16="http://schemas.microsoft.com/office/drawing/2014/main" val="4290311576"/>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𝑟</m:t>
                                    </m:r>
                                  </m:e>
                                  <m:sub>
                                    <m:r>
                                      <a:rPr kumimoji="1" lang="en-US" altLang="ja-JP" sz="1200" b="0" i="1" dirty="0" smtClean="0">
                                        <a:latin typeface="Cambria Math" panose="02040503050406030204" pitchFamily="18" charset="0"/>
                                      </a:rPr>
                                      <m:t>𝑘</m:t>
                                    </m:r>
                                  </m:sub>
                                </m:sSub>
                              </m:oMath>
                            </m:oMathPara>
                          </a14:m>
                          <a:endParaRPr sz="120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dirty="0"/>
                            <a:t>比較対象</a:t>
                          </a:r>
                          <a14:m>
                            <m:oMath xmlns:m="http://schemas.openxmlformats.org/officeDocument/2006/math">
                              <m:r>
                                <a:rPr kumimoji="1" lang="en-US" altLang="ja-JP" sz="1200" i="1" dirty="0" smtClean="0">
                                  <a:latin typeface="Cambria Math" panose="02040503050406030204" pitchFamily="18" charset="0"/>
                                </a:rPr>
                                <m:t>𝑘</m:t>
                              </m:r>
                            </m:oMath>
                          </a14:m>
                          <a:r>
                            <a:rPr kumimoji="1" lang="ja-JP" altLang="en-US" sz="1200" dirty="0"/>
                            <a:t>の危険度順位</a:t>
                          </a:r>
                        </a:p>
                      </a:txBody>
                      <a:tcPr anchor="ctr"/>
                    </a:tc>
                    <a:extLst>
                      <a:ext uri="{0D108BD9-81ED-4DB2-BD59-A6C34878D82A}">
                        <a16:rowId xmlns:a16="http://schemas.microsoft.com/office/drawing/2014/main" val="2813000330"/>
                      </a:ext>
                    </a:extLst>
                  </a:tr>
                  <a:tr h="0">
                    <a:tc>
                      <a:txBody>
                        <a:bodyPr/>
                        <a:lstStyle/>
                        <a:p>
                          <a:pPr/>
                          <a14:m>
                            <m:oMathPara xmlns:m="http://schemas.openxmlformats.org/officeDocument/2006/math">
                              <m:oMath>
                                <m:r>
                                  <a:rPr kumimoji="1" lang="en-US" altLang="ja-JP" sz="1200" b="0" i="1" dirty="0" smtClean="0">
                                    <a:latin typeface="Cambria Math" panose="02040503050406030204" pitchFamily="18" charset="0"/>
                                  </a:rPr>
                                  <m:t>𝐶𝐼</m:t>
                                </m:r>
                              </m:oMath>
                            </m:oMathPara>
                          </a14:m>
                          <a:endParaRPr sz="1200" dirty="0"/>
                        </a:p>
                      </a:txBody>
                      <a:tcPr anchor="ctr"/>
                    </a:tc>
                    <a:tc>
                      <a:txBody>
                        <a:bodyPr/>
                        <a:lstStyle/>
                        <a:p>
                          <a:r>
                            <a:rPr kumimoji="1" lang="ja-JP" altLang="en-US" sz="1200" dirty="0"/>
                            <a:t>整合性指標</a:t>
                          </a:r>
                        </a:p>
                      </a:txBody>
                      <a:tcPr anchor="ctr"/>
                    </a:tc>
                    <a:extLst>
                      <a:ext uri="{0D108BD9-81ED-4DB2-BD59-A6C34878D82A}">
                        <a16:rowId xmlns:a16="http://schemas.microsoft.com/office/drawing/2014/main" val="4198478982"/>
                      </a:ext>
                    </a:extLst>
                  </a:tr>
                  <a:tr h="0">
                    <a:tc>
                      <a:txBody>
                        <a:bodyPr/>
                        <a:lstStyle/>
                        <a:p>
                          <a:pPr/>
                          <a14:m>
                            <m:oMathPara xmlns:m="http://schemas.openxmlformats.org/officeDocument/2006/math">
                              <m:oMath>
                                <m:sSub>
                                  <m:sSubPr>
                                    <m:ctrlPr>
                                      <a:rPr kumimoji="1" lang="en-US" altLang="ja-JP" sz="1200" b="0" i="1" dirty="0" smtClean="0">
                                        <a:latin typeface="Cambria Math" panose="02040503050406030204" pitchFamily="18" charset="0"/>
                                      </a:rPr>
                                    </m:ctrlPr>
                                  </m:sSubPr>
                                  <m:e>
                                    <m:r>
                                      <a:rPr kumimoji="1" lang="en-US" altLang="ja-JP" sz="1200" b="0" i="1" dirty="0" smtClean="0">
                                        <a:latin typeface="Cambria Math" panose="02040503050406030204" pitchFamily="18" charset="0"/>
                                      </a:rPr>
                                      <m:t>𝑐</m:t>
                                    </m:r>
                                  </m:e>
                                  <m:sub>
                                    <m:r>
                                      <a:rPr kumimoji="1" lang="en-US" altLang="ja-JP" sz="1200" b="0" i="1" dirty="0" smtClean="0">
                                        <a:latin typeface="Cambria Math" panose="02040503050406030204" pitchFamily="18" charset="0"/>
                                      </a:rPr>
                                      <m:t>𝑤𝑜𝑟𝑠𝑡</m:t>
                                    </m:r>
                                  </m:sub>
                                </m:sSub>
                              </m:oMath>
                            </m:oMathPara>
                          </a14:m>
                          <a:endParaRPr sz="1200"/>
                        </a:p>
                      </a:txBody>
                      <a:tcPr anchor="ctr"/>
                    </a:tc>
                    <a:tc>
                      <a:txBody>
                        <a:bodyPr/>
                        <a:lstStyle/>
                        <a:p>
                          <a:r>
                            <a:rPr kumimoji="1" lang="ja-JP" altLang="en-US" sz="1200" dirty="0"/>
                            <a:t>整合性指標の上限値</a:t>
                          </a:r>
                        </a:p>
                      </a:txBody>
                      <a:tcPr anchor="ctr"/>
                    </a:tc>
                    <a:extLst>
                      <a:ext uri="{0D108BD9-81ED-4DB2-BD59-A6C34878D82A}">
                        <a16:rowId xmlns:a16="http://schemas.microsoft.com/office/drawing/2014/main" val="3736557178"/>
                      </a:ext>
                    </a:extLst>
                  </a:tr>
                </a:tbl>
              </a:graphicData>
            </a:graphic>
          </p:graphicFrame>
        </mc:Choice>
        <mc:Fallback xmlns="">
          <p:graphicFrame>
            <p:nvGraphicFramePr>
              <p:cNvPr id="26" name="コンテンツ プレースホルダー 7">
                <a:extLst>
                  <a:ext uri="{FF2B5EF4-FFF2-40B4-BE49-F238E27FC236}">
                    <a16:creationId xmlns:a16="http://schemas.microsoft.com/office/drawing/2014/main" id="{44133A3C-B043-DADE-C003-29CF3CABC1A1}"/>
                  </a:ext>
                </a:extLst>
              </p:cNvPr>
              <p:cNvGraphicFramePr>
                <a:graphicFrameLocks/>
              </p:cNvGraphicFramePr>
              <p:nvPr>
                <p:extLst>
                  <p:ext uri="{D42A27DB-BD31-4B8C-83A1-F6EECF244321}">
                    <p14:modId xmlns:p14="http://schemas.microsoft.com/office/powerpoint/2010/main" val="399164439"/>
                  </p:ext>
                </p:extLst>
              </p:nvPr>
            </p:nvGraphicFramePr>
            <p:xfrm>
              <a:off x="7824408" y="2828146"/>
              <a:ext cx="2884361" cy="3763772"/>
            </p:xfrm>
            <a:graphic>
              <a:graphicData uri="http://schemas.openxmlformats.org/drawingml/2006/table">
                <a:tbl>
                  <a:tblPr firstRow="1" bandRow="1">
                    <a:tableStyleId>{073A0DAA-6AF3-43AB-8588-CEC1D06C72B9}</a:tableStyleId>
                  </a:tblPr>
                  <a:tblGrid>
                    <a:gridCol w="613918">
                      <a:extLst>
                        <a:ext uri="{9D8B030D-6E8A-4147-A177-3AD203B41FA5}">
                          <a16:colId xmlns:a16="http://schemas.microsoft.com/office/drawing/2014/main" val="2976928265"/>
                        </a:ext>
                      </a:extLst>
                    </a:gridCol>
                    <a:gridCol w="2270443">
                      <a:extLst>
                        <a:ext uri="{9D8B030D-6E8A-4147-A177-3AD203B41FA5}">
                          <a16:colId xmlns:a16="http://schemas.microsoft.com/office/drawing/2014/main" val="591180217"/>
                        </a:ext>
                      </a:extLst>
                    </a:gridCol>
                  </a:tblGrid>
                  <a:tr h="274320">
                    <a:tc>
                      <a:txBody>
                        <a:bodyPr/>
                        <a:lstStyle/>
                        <a:p>
                          <a:r>
                            <a:rPr kumimoji="1" lang="ja-JP" altLang="en-US" sz="1200" dirty="0"/>
                            <a:t>変数</a:t>
                          </a:r>
                        </a:p>
                      </a:txBody>
                      <a:tcPr anchor="ctr"/>
                    </a:tc>
                    <a:tc>
                      <a:txBody>
                        <a:bodyPr/>
                        <a:lstStyle/>
                        <a:p>
                          <a:r>
                            <a:rPr kumimoji="1" lang="ja-JP" altLang="en-US" sz="1200" dirty="0"/>
                            <a:t>定義</a:t>
                          </a:r>
                        </a:p>
                      </a:txBody>
                      <a:tcPr anchor="ctr"/>
                    </a:tc>
                    <a:extLst>
                      <a:ext uri="{0D108BD9-81ED-4DB2-BD59-A6C34878D82A}">
                        <a16:rowId xmlns:a16="http://schemas.microsoft.com/office/drawing/2014/main" val="2681140504"/>
                      </a:ext>
                    </a:extLst>
                  </a:tr>
                  <a:tr h="274320">
                    <a:tc>
                      <a:txBody>
                        <a:bodyPr/>
                        <a:lstStyle/>
                        <a:p>
                          <a:endParaRPr lang="ja-JP"/>
                        </a:p>
                      </a:txBody>
                      <a:tcPr anchor="ctr">
                        <a:blipFill>
                          <a:blip r:embed="rId7"/>
                          <a:stretch>
                            <a:fillRect l="-990" t="-102222" r="-373267" b="-1193333"/>
                          </a:stretch>
                        </a:blipFill>
                      </a:tcPr>
                    </a:tc>
                    <a:tc>
                      <a:txBody>
                        <a:bodyPr/>
                        <a:lstStyle/>
                        <a:p>
                          <a:r>
                            <a:rPr kumimoji="1" lang="ja-JP" altLang="en-US" sz="1200" dirty="0"/>
                            <a:t>階層モデル中の</a:t>
                          </a:r>
                          <a:r>
                            <a:rPr kumimoji="1" lang="en-US" altLang="ja-JP" sz="1200" dirty="0"/>
                            <a:t>AHP</a:t>
                          </a:r>
                          <a:r>
                            <a:rPr kumimoji="1" lang="ja-JP" altLang="en-US" sz="1200" dirty="0"/>
                            <a:t>の数</a:t>
                          </a:r>
                        </a:p>
                      </a:txBody>
                      <a:tcPr anchor="ctr"/>
                    </a:tc>
                    <a:extLst>
                      <a:ext uri="{0D108BD9-81ED-4DB2-BD59-A6C34878D82A}">
                        <a16:rowId xmlns:a16="http://schemas.microsoft.com/office/drawing/2014/main" val="2112526220"/>
                      </a:ext>
                    </a:extLst>
                  </a:tr>
                  <a:tr h="274320">
                    <a:tc>
                      <a:txBody>
                        <a:bodyPr/>
                        <a:lstStyle/>
                        <a:p>
                          <a:endParaRPr lang="ja-JP"/>
                        </a:p>
                      </a:txBody>
                      <a:tcPr anchor="ctr">
                        <a:blipFill>
                          <a:blip r:embed="rId7"/>
                          <a:stretch>
                            <a:fillRect l="-990" t="-202222" r="-373267" b="-1093333"/>
                          </a:stretch>
                        </a:blipFill>
                      </a:tcPr>
                    </a:tc>
                    <a:tc>
                      <a:txBody>
                        <a:bodyPr/>
                        <a:lstStyle/>
                        <a:p>
                          <a:r>
                            <a:rPr kumimoji="1" lang="ja-JP" altLang="en-US" sz="1200" dirty="0"/>
                            <a:t>階層モデル中の</a:t>
                          </a:r>
                          <a:r>
                            <a:rPr kumimoji="1" lang="en-US" altLang="ja-JP" sz="1200" dirty="0"/>
                            <a:t>Fuzzy</a:t>
                          </a:r>
                          <a:r>
                            <a:rPr kumimoji="1" lang="ja-JP" altLang="en-US" sz="1200" dirty="0"/>
                            <a:t>推論の数</a:t>
                          </a:r>
                        </a:p>
                      </a:txBody>
                      <a:tcPr anchor="ctr"/>
                    </a:tc>
                    <a:extLst>
                      <a:ext uri="{0D108BD9-81ED-4DB2-BD59-A6C34878D82A}">
                        <a16:rowId xmlns:a16="http://schemas.microsoft.com/office/drawing/2014/main" val="780508247"/>
                      </a:ext>
                    </a:extLst>
                  </a:tr>
                  <a:tr h="274320">
                    <a:tc>
                      <a:txBody>
                        <a:bodyPr/>
                        <a:lstStyle/>
                        <a:p>
                          <a:endParaRPr lang="ja-JP"/>
                        </a:p>
                      </a:txBody>
                      <a:tcPr anchor="ctr">
                        <a:blipFill>
                          <a:blip r:embed="rId7"/>
                          <a:stretch>
                            <a:fillRect l="-990" t="-302222" r="-373267" b="-993333"/>
                          </a:stretch>
                        </a:blipFill>
                      </a:tcPr>
                    </a:tc>
                    <a:tc>
                      <a:txBody>
                        <a:bodyPr/>
                        <a:lstStyle/>
                        <a:p>
                          <a:r>
                            <a:rPr kumimoji="1" lang="ja-JP" altLang="en-US" sz="1200" dirty="0"/>
                            <a:t>比較対象（患者）の数</a:t>
                          </a:r>
                        </a:p>
                      </a:txBody>
                      <a:tcPr anchor="ctr"/>
                    </a:tc>
                    <a:extLst>
                      <a:ext uri="{0D108BD9-81ED-4DB2-BD59-A6C34878D82A}">
                        <a16:rowId xmlns:a16="http://schemas.microsoft.com/office/drawing/2014/main" val="82173697"/>
                      </a:ext>
                    </a:extLst>
                  </a:tr>
                  <a:tr h="274320">
                    <a:tc>
                      <a:txBody>
                        <a:bodyPr/>
                        <a:lstStyle/>
                        <a:p>
                          <a:endParaRPr lang="ja-JP"/>
                        </a:p>
                      </a:txBody>
                      <a:tcPr anchor="ctr">
                        <a:blipFill>
                          <a:blip r:embed="rId7"/>
                          <a:stretch>
                            <a:fillRect l="-990" t="-393478" r="-373267" b="-871739"/>
                          </a:stretch>
                        </a:blipFill>
                      </a:tcPr>
                    </a:tc>
                    <a:tc>
                      <a:txBody>
                        <a:bodyPr/>
                        <a:lstStyle/>
                        <a:p>
                          <a:endParaRPr lang="ja-JP"/>
                        </a:p>
                      </a:txBody>
                      <a:tcPr anchor="ctr">
                        <a:blipFill>
                          <a:blip r:embed="rId7"/>
                          <a:stretch>
                            <a:fillRect l="-27346" t="-393478" r="-1072" b="-871739"/>
                          </a:stretch>
                        </a:blipFill>
                      </a:tcPr>
                    </a:tc>
                    <a:extLst>
                      <a:ext uri="{0D108BD9-81ED-4DB2-BD59-A6C34878D82A}">
                        <a16:rowId xmlns:a16="http://schemas.microsoft.com/office/drawing/2014/main" val="950966567"/>
                      </a:ext>
                    </a:extLst>
                  </a:tr>
                  <a:tr h="289052">
                    <a:tc>
                      <a:txBody>
                        <a:bodyPr/>
                        <a:lstStyle/>
                        <a:p>
                          <a:endParaRPr lang="ja-JP"/>
                        </a:p>
                      </a:txBody>
                      <a:tcPr anchor="ctr">
                        <a:blipFill>
                          <a:blip r:embed="rId7"/>
                          <a:stretch>
                            <a:fillRect l="-990" t="-482979" r="-373267" b="-753191"/>
                          </a:stretch>
                        </a:blipFill>
                      </a:tcPr>
                    </a:tc>
                    <a:tc>
                      <a:txBody>
                        <a:bodyPr/>
                        <a:lstStyle/>
                        <a:p>
                          <a:endParaRPr lang="ja-JP"/>
                        </a:p>
                      </a:txBody>
                      <a:tcPr anchor="ctr">
                        <a:blipFill>
                          <a:blip r:embed="rId7"/>
                          <a:stretch>
                            <a:fillRect l="-27346" t="-482979" r="-1072" b="-753191"/>
                          </a:stretch>
                        </a:blipFill>
                      </a:tcPr>
                    </a:tc>
                    <a:extLst>
                      <a:ext uri="{0D108BD9-81ED-4DB2-BD59-A6C34878D82A}">
                        <a16:rowId xmlns:a16="http://schemas.microsoft.com/office/drawing/2014/main" val="888060706"/>
                      </a:ext>
                    </a:extLst>
                  </a:tr>
                  <a:tr h="457200">
                    <a:tc>
                      <a:txBody>
                        <a:bodyPr/>
                        <a:lstStyle/>
                        <a:p>
                          <a:endParaRPr lang="ja-JP"/>
                        </a:p>
                      </a:txBody>
                      <a:tcPr anchor="ctr">
                        <a:blipFill>
                          <a:blip r:embed="rId7"/>
                          <a:stretch>
                            <a:fillRect l="-990" t="-365333" r="-373267" b="-372000"/>
                          </a:stretch>
                        </a:blipFill>
                      </a:tcPr>
                    </a:tc>
                    <a:tc>
                      <a:txBody>
                        <a:bodyPr/>
                        <a:lstStyle/>
                        <a:p>
                          <a:endParaRPr lang="ja-JP"/>
                        </a:p>
                      </a:txBody>
                      <a:tcPr anchor="ctr">
                        <a:blipFill>
                          <a:blip r:embed="rId7"/>
                          <a:stretch>
                            <a:fillRect l="-27346" t="-365333" r="-1072" b="-372000"/>
                          </a:stretch>
                        </a:blipFill>
                      </a:tcPr>
                    </a:tc>
                    <a:extLst>
                      <a:ext uri="{0D108BD9-81ED-4DB2-BD59-A6C34878D82A}">
                        <a16:rowId xmlns:a16="http://schemas.microsoft.com/office/drawing/2014/main" val="2047826207"/>
                      </a:ext>
                    </a:extLst>
                  </a:tr>
                  <a:tr h="274320">
                    <a:tc>
                      <a:txBody>
                        <a:bodyPr/>
                        <a:lstStyle/>
                        <a:p>
                          <a:endParaRPr lang="ja-JP"/>
                        </a:p>
                      </a:txBody>
                      <a:tcPr anchor="ctr">
                        <a:blipFill>
                          <a:blip r:embed="rId7"/>
                          <a:stretch>
                            <a:fillRect l="-990" t="-775556" r="-373267" b="-520000"/>
                          </a:stretch>
                        </a:blipFill>
                      </a:tcPr>
                    </a:tc>
                    <a:tc>
                      <a:txBody>
                        <a:bodyPr/>
                        <a:lstStyle/>
                        <a:p>
                          <a:endParaRPr lang="ja-JP"/>
                        </a:p>
                      </a:txBody>
                      <a:tcPr anchor="ctr">
                        <a:blipFill>
                          <a:blip r:embed="rId7"/>
                          <a:stretch>
                            <a:fillRect l="-27346" t="-775556" r="-1072" b="-520000"/>
                          </a:stretch>
                        </a:blipFill>
                      </a:tcPr>
                    </a:tc>
                    <a:extLst>
                      <a:ext uri="{0D108BD9-81ED-4DB2-BD59-A6C34878D82A}">
                        <a16:rowId xmlns:a16="http://schemas.microsoft.com/office/drawing/2014/main" val="3997772173"/>
                      </a:ext>
                    </a:extLst>
                  </a:tr>
                  <a:tr h="274320">
                    <a:tc>
                      <a:txBody>
                        <a:bodyPr/>
                        <a:lstStyle/>
                        <a:p>
                          <a:endParaRPr lang="ja-JP"/>
                        </a:p>
                      </a:txBody>
                      <a:tcPr anchor="ctr">
                        <a:blipFill>
                          <a:blip r:embed="rId7"/>
                          <a:stretch>
                            <a:fillRect l="-990" t="-856522" r="-373267" b="-408696"/>
                          </a:stretch>
                        </a:blipFill>
                      </a:tcPr>
                    </a:tc>
                    <a:tc>
                      <a:txBody>
                        <a:bodyPr/>
                        <a:lstStyle/>
                        <a:p>
                          <a:r>
                            <a:rPr kumimoji="1" lang="ja-JP" altLang="en-US" sz="1200" dirty="0"/>
                            <a:t>階層モデル</a:t>
                          </a:r>
                        </a:p>
                      </a:txBody>
                      <a:tcPr anchor="ctr"/>
                    </a:tc>
                    <a:extLst>
                      <a:ext uri="{0D108BD9-81ED-4DB2-BD59-A6C34878D82A}">
                        <a16:rowId xmlns:a16="http://schemas.microsoft.com/office/drawing/2014/main" val="3376345640"/>
                      </a:ext>
                    </a:extLst>
                  </a:tr>
                  <a:tr h="274320">
                    <a:tc>
                      <a:txBody>
                        <a:bodyPr/>
                        <a:lstStyle/>
                        <a:p>
                          <a:endParaRPr lang="ja-JP"/>
                        </a:p>
                      </a:txBody>
                      <a:tcPr anchor="ctr">
                        <a:blipFill>
                          <a:blip r:embed="rId7"/>
                          <a:stretch>
                            <a:fillRect l="-990" t="-977778" r="-373267" b="-317778"/>
                          </a:stretch>
                        </a:blipFill>
                      </a:tcPr>
                    </a:tc>
                    <a:tc>
                      <a:txBody>
                        <a:bodyPr/>
                        <a:lstStyle/>
                        <a:p>
                          <a:endParaRPr lang="ja-JP"/>
                        </a:p>
                      </a:txBody>
                      <a:tcPr anchor="ctr">
                        <a:blipFill>
                          <a:blip r:embed="rId7"/>
                          <a:stretch>
                            <a:fillRect l="-27346" t="-977778" r="-1072" b="-317778"/>
                          </a:stretch>
                        </a:blipFill>
                      </a:tcPr>
                    </a:tc>
                    <a:extLst>
                      <a:ext uri="{0D108BD9-81ED-4DB2-BD59-A6C34878D82A}">
                        <a16:rowId xmlns:a16="http://schemas.microsoft.com/office/drawing/2014/main" val="4290311576"/>
                      </a:ext>
                    </a:extLst>
                  </a:tr>
                  <a:tr h="274320">
                    <a:tc>
                      <a:txBody>
                        <a:bodyPr/>
                        <a:lstStyle/>
                        <a:p>
                          <a:endParaRPr lang="ja-JP"/>
                        </a:p>
                      </a:txBody>
                      <a:tcPr anchor="ctr">
                        <a:blipFill>
                          <a:blip r:embed="rId7"/>
                          <a:stretch>
                            <a:fillRect l="-990" t="-1077778" r="-373267" b="-217778"/>
                          </a:stretch>
                        </a:blipFill>
                      </a:tcPr>
                    </a:tc>
                    <a:tc>
                      <a:txBody>
                        <a:bodyPr/>
                        <a:lstStyle/>
                        <a:p>
                          <a:endParaRPr lang="ja-JP"/>
                        </a:p>
                      </a:txBody>
                      <a:tcPr anchor="ctr">
                        <a:blipFill>
                          <a:blip r:embed="rId7"/>
                          <a:stretch>
                            <a:fillRect l="-27346" t="-1077778" r="-1072" b="-217778"/>
                          </a:stretch>
                        </a:blipFill>
                      </a:tcPr>
                    </a:tc>
                    <a:extLst>
                      <a:ext uri="{0D108BD9-81ED-4DB2-BD59-A6C34878D82A}">
                        <a16:rowId xmlns:a16="http://schemas.microsoft.com/office/drawing/2014/main" val="2813000330"/>
                      </a:ext>
                    </a:extLst>
                  </a:tr>
                  <a:tr h="274320">
                    <a:tc>
                      <a:txBody>
                        <a:bodyPr/>
                        <a:lstStyle/>
                        <a:p>
                          <a:endParaRPr lang="ja-JP"/>
                        </a:p>
                      </a:txBody>
                      <a:tcPr anchor="ctr">
                        <a:blipFill>
                          <a:blip r:embed="rId7"/>
                          <a:stretch>
                            <a:fillRect l="-990" t="-1177778" r="-373267" b="-117778"/>
                          </a:stretch>
                        </a:blipFill>
                      </a:tcPr>
                    </a:tc>
                    <a:tc>
                      <a:txBody>
                        <a:bodyPr/>
                        <a:lstStyle/>
                        <a:p>
                          <a:r>
                            <a:rPr kumimoji="1" lang="ja-JP" altLang="en-US" sz="1200" dirty="0"/>
                            <a:t>整合性指標</a:t>
                          </a:r>
                        </a:p>
                      </a:txBody>
                      <a:tcPr anchor="ctr"/>
                    </a:tc>
                    <a:extLst>
                      <a:ext uri="{0D108BD9-81ED-4DB2-BD59-A6C34878D82A}">
                        <a16:rowId xmlns:a16="http://schemas.microsoft.com/office/drawing/2014/main" val="4198478982"/>
                      </a:ext>
                    </a:extLst>
                  </a:tr>
                  <a:tr h="274320">
                    <a:tc>
                      <a:txBody>
                        <a:bodyPr/>
                        <a:lstStyle/>
                        <a:p>
                          <a:endParaRPr lang="ja-JP"/>
                        </a:p>
                      </a:txBody>
                      <a:tcPr anchor="ctr">
                        <a:blipFill>
                          <a:blip r:embed="rId7"/>
                          <a:stretch>
                            <a:fillRect l="-990" t="-1277778" r="-373267" b="-17778"/>
                          </a:stretch>
                        </a:blipFill>
                      </a:tcPr>
                    </a:tc>
                    <a:tc>
                      <a:txBody>
                        <a:bodyPr/>
                        <a:lstStyle/>
                        <a:p>
                          <a:r>
                            <a:rPr kumimoji="1" lang="ja-JP" altLang="en-US" sz="1200" dirty="0"/>
                            <a:t>整合性指標の上限値</a:t>
                          </a:r>
                        </a:p>
                      </a:txBody>
                      <a:tcPr anchor="ctr"/>
                    </a:tc>
                    <a:extLst>
                      <a:ext uri="{0D108BD9-81ED-4DB2-BD59-A6C34878D82A}">
                        <a16:rowId xmlns:a16="http://schemas.microsoft.com/office/drawing/2014/main" val="3736557178"/>
                      </a:ext>
                    </a:extLst>
                  </a:tr>
                </a:tbl>
              </a:graphicData>
            </a:graphic>
          </p:graphicFrame>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43C78F9F-6582-EABE-AC20-C6445FCE9AC1}"/>
                  </a:ext>
                </a:extLst>
              </p:cNvPr>
              <p:cNvSpPr txBox="1"/>
              <p:nvPr/>
            </p:nvSpPr>
            <p:spPr>
              <a:xfrm>
                <a:off x="7463081" y="1268760"/>
                <a:ext cx="1542858" cy="452816"/>
              </a:xfrm>
              <a:prstGeom prst="rect">
                <a:avLst/>
              </a:prstGeom>
              <a:noFill/>
            </p:spPr>
            <p:txBody>
              <a:bodyPr wrap="none" rtlCol="0">
                <a:spAutoFit/>
              </a:bodyPr>
              <a:lstStyle/>
              <a:p>
                <a:pPr/>
                <a14:m>
                  <m:oMathPara xmlns:m="http://schemas.openxmlformats.org/officeDocument/2006/math">
                    <m:oMath>
                      <m:func>
                        <m:funcPr>
                          <m:ctrlPr>
                            <a:rPr kumimoji="1" lang="en-US" altLang="ja-JP" b="0" i="1" smtClean="0">
                              <a:latin typeface="Cambria Math" panose="02040503050406030204" pitchFamily="18" charset="0"/>
                            </a:rPr>
                          </m:ctrlPr>
                        </m:funcPr>
                        <m:fName>
                          <m:limLow>
                            <m:limLowPr>
                              <m:ctrlPr>
                                <a:rPr kumimoji="1" lang="en-US" altLang="ja-JP" b="0" i="0" smtClean="0">
                                  <a:latin typeface="Cambria Math" panose="02040503050406030204" pitchFamily="18" charset="0"/>
                                </a:rPr>
                              </m:ctrlPr>
                            </m:limLowPr>
                            <m:e>
                              <m:r>
                                <m:rPr>
                                  <m:sty m:val="p"/>
                                </m:rPr>
                                <a:rPr kumimoji="1" lang="en-US" altLang="ja-JP" b="0" i="0" smtClean="0">
                                  <a:latin typeface="Cambria Math" panose="02040503050406030204" pitchFamily="18" charset="0"/>
                                </a:rPr>
                                <m:t>min</m:t>
                              </m:r>
                            </m:e>
                            <m:lim>
                              <m:r>
                                <a:rPr kumimoji="1" lang="en-US" altLang="ja-JP" b="1" i="1" smtClean="0">
                                  <a:latin typeface="Cambria Math" panose="02040503050406030204" pitchFamily="18" charset="0"/>
                                </a:rPr>
                                <m:t>𝜽</m:t>
                              </m:r>
                            </m:lim>
                          </m:limLow>
                        </m:fName>
                        <m:e>
                          <m:d>
                            <m:dPr>
                              <m:begChr m:val="‖"/>
                              <m:endChr m:val="‖"/>
                              <m:ctrlPr>
                                <a:rPr lang="en-US" altLang="ja-JP" b="1" i="1">
                                  <a:latin typeface="Cambria Math" panose="02040503050406030204" pitchFamily="18" charset="0"/>
                                </a:rPr>
                              </m:ctrlPr>
                            </m:dPr>
                            <m:e>
                              <m:r>
                                <a:rPr lang="en-US" altLang="ja-JP" b="1" i="1">
                                  <a:latin typeface="Cambria Math" panose="02040503050406030204" pitchFamily="18" charset="0"/>
                                </a:rPr>
                                <m:t>𝜽</m:t>
                              </m:r>
                              <m:r>
                                <a:rPr lang="en-US" altLang="ja-JP" i="1">
                                  <a:latin typeface="Cambria Math" panose="02040503050406030204" pitchFamily="18" charset="0"/>
                                </a:rPr>
                                <m:t>−</m:t>
                              </m:r>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e>
                          </m:d>
                        </m:e>
                      </m:func>
                    </m:oMath>
                  </m:oMathPara>
                </a14:m>
                <a:endParaRPr kumimoji="1" lang="ja-JP" altLang="en-US" dirty="0"/>
              </a:p>
            </p:txBody>
          </p:sp>
        </mc:Choice>
        <mc:Fallback xmlns="">
          <p:sp>
            <p:nvSpPr>
              <p:cNvPr id="28" name="テキスト ボックス 27">
                <a:extLst>
                  <a:ext uri="{FF2B5EF4-FFF2-40B4-BE49-F238E27FC236}">
                    <a16:creationId xmlns:a16="http://schemas.microsoft.com/office/drawing/2014/main" id="{43C78F9F-6582-EABE-AC20-C6445FCE9AC1}"/>
                  </a:ext>
                </a:extLst>
              </p:cNvPr>
              <p:cNvSpPr txBox="1">
                <a:spLocks noRot="1" noChangeAspect="1" noMove="1" noResize="1" noEditPoints="1" noAdjustHandles="1" noChangeArrowheads="1" noChangeShapeType="1" noTextEdit="1"/>
              </p:cNvSpPr>
              <p:nvPr/>
            </p:nvSpPr>
            <p:spPr>
              <a:xfrm>
                <a:off x="7463081" y="1268760"/>
                <a:ext cx="1542858" cy="452816"/>
              </a:xfrm>
              <a:prstGeom prst="rect">
                <a:avLst/>
              </a:prstGeom>
              <a:blipFill>
                <a:blip r:embed="rId8"/>
                <a:stretch>
                  <a:fillRect b="-270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6A0F3F98-907E-D91C-FEA0-3C3652CE4A01}"/>
                  </a:ext>
                </a:extLst>
              </p:cNvPr>
              <p:cNvSpPr txBox="1"/>
              <p:nvPr/>
            </p:nvSpPr>
            <p:spPr>
              <a:xfrm>
                <a:off x="7463081" y="1832025"/>
                <a:ext cx="637482" cy="369332"/>
              </a:xfrm>
              <a:prstGeom prst="rect">
                <a:avLst/>
              </a:prstGeom>
              <a:noFill/>
            </p:spPr>
            <p:txBody>
              <a:bodyPr wrap="none" rtlCol="0">
                <a:spAutoFit/>
              </a:bodyPr>
              <a:lstStyle/>
              <a:p>
                <a:pPr/>
                <a14:m>
                  <m:oMathPara xmlns:m="http://schemas.openxmlformats.org/officeDocument/2006/math">
                    <m:oMath>
                      <m:r>
                        <a:rPr kumimoji="1" lang="en-US" altLang="ja-JP"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 </m:t>
                      </m:r>
                    </m:oMath>
                  </m:oMathPara>
                </a14:m>
                <a:endParaRPr kumimoji="1" lang="ja-JP" altLang="en-US" dirty="0"/>
              </a:p>
            </p:txBody>
          </p:sp>
        </mc:Choice>
        <mc:Fallback xmlns="">
          <p:sp>
            <p:nvSpPr>
              <p:cNvPr id="30" name="テキスト ボックス 29">
                <a:extLst>
                  <a:ext uri="{FF2B5EF4-FFF2-40B4-BE49-F238E27FC236}">
                    <a16:creationId xmlns:a16="http://schemas.microsoft.com/office/drawing/2014/main" id="{6A0F3F98-907E-D91C-FEA0-3C3652CE4A01}"/>
                  </a:ext>
                </a:extLst>
              </p:cNvPr>
              <p:cNvSpPr txBox="1">
                <a:spLocks noRot="1" noChangeAspect="1" noMove="1" noResize="1" noEditPoints="1" noAdjustHandles="1" noChangeArrowheads="1" noChangeShapeType="1" noTextEdit="1"/>
              </p:cNvSpPr>
              <p:nvPr/>
            </p:nvSpPr>
            <p:spPr>
              <a:xfrm>
                <a:off x="7463081" y="1832025"/>
                <a:ext cx="637482" cy="369332"/>
              </a:xfrm>
              <a:prstGeom prst="rect">
                <a:avLst/>
              </a:prstGeom>
              <a:blipFill>
                <a:blip r:embed="rId9"/>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A2B3C387-A5B1-1213-6769-675406289F76}"/>
                  </a:ext>
                </a:extLst>
              </p:cNvPr>
              <p:cNvSpPr txBox="1"/>
              <p:nvPr/>
            </p:nvSpPr>
            <p:spPr>
              <a:xfrm>
                <a:off x="8026400" y="1832025"/>
                <a:ext cx="3463833" cy="1200329"/>
              </a:xfrm>
              <a:prstGeom prst="rect">
                <a:avLst/>
              </a:prstGeom>
              <a:noFill/>
            </p:spPr>
            <p:txBody>
              <a:bodyPr wrap="none" rtlCol="0">
                <a:spAutoFit/>
              </a:bodyPr>
              <a:lstStyle/>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𝐻</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1" i="1">
                            <a:latin typeface="Cambria Math" panose="02040503050406030204" pitchFamily="18" charset="0"/>
                          </a:rPr>
                          <m:t>𝜽</m:t>
                        </m:r>
                      </m:e>
                    </m:d>
                    <m:r>
                      <a:rPr lang="en-US" altLang="ja-JP" i="1">
                        <a:latin typeface="Cambria Math" panose="02040503050406030204" pitchFamily="18" charset="0"/>
                      </a:rPr>
                      <m:t> </m:t>
                    </m:r>
                    <m:r>
                      <a:rPr lang="en-US" altLang="ja-JP" b="0" i="1" smtClean="0">
                        <a:latin typeface="Cambria Math" panose="02040503050406030204" pitchFamily="18" charset="0"/>
                      </a:rPr>
                      <m:t> </m:t>
                    </m:r>
                    <m:r>
                      <m:rPr>
                        <m:sty m:val="p"/>
                      </m:rPr>
                      <a:rPr lang="en-US" altLang="ja-JP" b="0" i="0" smtClean="0">
                        <a:latin typeface="Cambria Math" panose="02040503050406030204" pitchFamily="18" charset="0"/>
                      </a:rPr>
                      <m:t>for</m:t>
                    </m:r>
                    <m:r>
                      <a:rPr lang="en-US" altLang="ja-JP" b="0" i="1" smtClean="0">
                        <a:latin typeface="Cambria Math" panose="02040503050406030204" pitchFamily="18" charset="0"/>
                      </a:rPr>
                      <m:t> </m:t>
                    </m:r>
                    <m:r>
                      <a:rPr lang="en-US" altLang="ja-JP" b="0" i="1" smtClean="0">
                        <a:latin typeface="Cambria Math" panose="02040503050406030204" pitchFamily="18" charset="0"/>
                      </a:rPr>
                      <m:t>𝑖</m:t>
                    </m:r>
                    <m:r>
                      <a:rPr lang="en-US" altLang="ja-JP" b="0" i="1" smtClean="0">
                        <a:latin typeface="Cambria Math" panose="02040503050406030204" pitchFamily="18" charset="0"/>
                      </a:rPr>
                      <m:t> </m:t>
                    </m:r>
                    <m:r>
                      <m:rPr>
                        <m:sty m:val="p"/>
                      </m:rPr>
                      <a:rPr lang="en-US" altLang="ja-JP" b="0" i="0" smtClean="0">
                        <a:latin typeface="Cambria Math" panose="02040503050406030204" pitchFamily="18" charset="0"/>
                      </a:rPr>
                      <m:t>in</m:t>
                    </m:r>
                    <m:r>
                      <a:rPr lang="en-US" altLang="ja-JP" b="0" i="1" smtClean="0">
                        <a:latin typeface="Cambria Math" panose="02040503050406030204" pitchFamily="18" charset="0"/>
                      </a:rPr>
                      <m:t> {1,…,</m:t>
                    </m:r>
                    <m:r>
                      <a:rPr lang="en-US" altLang="ja-JP" b="0" i="1" smtClean="0">
                        <a:latin typeface="Cambria Math" panose="02040503050406030204" pitchFamily="18" charset="0"/>
                      </a:rPr>
                      <m:t>𝑛</m:t>
                    </m:r>
                    <m:r>
                      <a:rPr lang="en-US" altLang="ja-JP" b="0" i="1" smtClean="0">
                        <a:latin typeface="Cambria Math" panose="02040503050406030204" pitchFamily="18" charset="0"/>
                      </a:rPr>
                      <m:t>}</m:t>
                    </m:r>
                  </m:oMath>
                </a14:m>
                <a:r>
                  <a:rPr lang="en-US" altLang="ja-JP" i="1" dirty="0">
                    <a:latin typeface="Cambria Math" panose="02040503050406030204" pitchFamily="18" charset="0"/>
                  </a:rPr>
                  <a:t> </a:t>
                </a:r>
              </a:p>
              <a:p>
                <a14:m>
                  <m:oMath xmlns:m="http://schemas.openxmlformats.org/officeDocument/2006/math">
                    <m:r>
                      <a:rPr kumimoji="1" lang="en-US" altLang="ja-JP" b="1" i="1" smtClean="0">
                        <a:latin typeface="Cambria Math" panose="02040503050406030204" pitchFamily="18" charset="0"/>
                      </a:rPr>
                      <m:t>𝒓</m:t>
                    </m:r>
                    <m:r>
                      <a:rPr kumimoji="1" lang="en-US" altLang="ja-JP" b="0" i="1" smtClean="0">
                        <a:latin typeface="Cambria Math" panose="02040503050406030204" pitchFamily="18" charset="0"/>
                      </a:rPr>
                      <m:t>=</m:t>
                    </m:r>
                    <m:r>
                      <a:rPr kumimoji="1" lang="en-US" altLang="ja-JP" i="1" smtClean="0">
                        <a:latin typeface="Cambria Math" panose="02040503050406030204" pitchFamily="18" charset="0"/>
                      </a:rPr>
                      <m:t>𝑟</m:t>
                    </m:r>
                    <m:r>
                      <a:rPr kumimoji="1" lang="en-US" altLang="ja-JP" b="0" i="1" smtClean="0">
                        <a:latin typeface="Cambria Math" panose="02040503050406030204" pitchFamily="18" charset="0"/>
                      </a:rPr>
                      <m:t>𝑎𝑛𝑘𝑖𝑛𝑔</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𝑛</m:t>
                            </m:r>
                          </m:sub>
                        </m:sSub>
                      </m:e>
                    </m:d>
                    <m:r>
                      <a:rPr kumimoji="1" lang="en-US" altLang="ja-JP" b="0" i="1" smtClean="0">
                        <a:latin typeface="Cambria Math" panose="02040503050406030204" pitchFamily="18" charset="0"/>
                      </a:rPr>
                      <m:t>=</m:t>
                    </m:r>
                    <m:sSup>
                      <m:sSupPr>
                        <m:ctrlPr>
                          <a:rPr lang="en-US" altLang="ja-JP" b="1" i="1">
                            <a:latin typeface="Cambria Math" panose="02040503050406030204" pitchFamily="18" charset="0"/>
                          </a:rPr>
                        </m:ctrlPr>
                      </m:sSupPr>
                      <m:e>
                        <m:r>
                          <a:rPr lang="en-US" altLang="ja-JP" b="1" i="1">
                            <a:latin typeface="Cambria Math" panose="02040503050406030204" pitchFamily="18" charset="0"/>
                          </a:rPr>
                          <m:t>𝒓</m:t>
                        </m:r>
                      </m:e>
                      <m:sup>
                        <m:r>
                          <a:rPr lang="en-US" altLang="ja-JP" b="0" i="1" smtClean="0">
                            <a:latin typeface="Cambria Math" panose="02040503050406030204" pitchFamily="18" charset="0"/>
                          </a:rPr>
                          <m:t>∗</m:t>
                        </m:r>
                      </m:sup>
                    </m:sSup>
                  </m:oMath>
                </a14:m>
                <a:r>
                  <a:rPr kumimoji="1" lang="en-US" altLang="ja-JP" b="0" dirty="0"/>
                  <a:t> </a:t>
                </a:r>
              </a:p>
              <a:p>
                <a14:m>
                  <m:oMath xmlns:m="http://schemas.openxmlformats.org/officeDocument/2006/math">
                    <m:r>
                      <a:rPr lang="en-US" altLang="ja-JP" b="0" i="1" smtClean="0">
                        <a:latin typeface="Cambria Math" panose="02040503050406030204" pitchFamily="18" charset="0"/>
                      </a:rPr>
                      <m:t>𝐶𝐼</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𝐴</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&lt;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0" i="1" smtClean="0">
                            <a:latin typeface="Cambria Math" panose="02040503050406030204" pitchFamily="18" charset="0"/>
                          </a:rPr>
                          <m:t>𝑤𝑜𝑟𝑠𝑡</m:t>
                        </m:r>
                      </m:sub>
                    </m:sSub>
                    <m:r>
                      <a:rPr lang="en-US" altLang="ja-JP" i="1">
                        <a:latin typeface="Cambria Math" panose="02040503050406030204" pitchFamily="18" charset="0"/>
                      </a:rPr>
                      <m:t>  </m:t>
                    </m:r>
                    <m:r>
                      <m:rPr>
                        <m:sty m:val="p"/>
                      </m:rPr>
                      <a:rPr lang="en-US" altLang="ja-JP" i="0">
                        <a:latin typeface="Cambria Math" panose="02040503050406030204" pitchFamily="18" charset="0"/>
                      </a:rPr>
                      <m:t>for</m:t>
                    </m:r>
                    <m:r>
                      <a:rPr lang="en-US" altLang="ja-JP" i="1">
                        <a:latin typeface="Cambria Math" panose="02040503050406030204" pitchFamily="18" charset="0"/>
                      </a:rPr>
                      <m:t> </m:t>
                    </m:r>
                    <m:r>
                      <a:rPr lang="en-US" altLang="ja-JP" i="1">
                        <a:latin typeface="Cambria Math" panose="02040503050406030204" pitchFamily="18" charset="0"/>
                      </a:rPr>
                      <m:t>𝑖</m:t>
                    </m:r>
                    <m:r>
                      <a:rPr lang="en-US" altLang="ja-JP" i="1">
                        <a:latin typeface="Cambria Math" panose="02040503050406030204" pitchFamily="18" charset="0"/>
                      </a:rPr>
                      <m:t> </m:t>
                    </m:r>
                    <m:r>
                      <m:rPr>
                        <m:sty m:val="p"/>
                      </m:rPr>
                      <a:rPr lang="en-US" altLang="ja-JP" i="0">
                        <a:latin typeface="Cambria Math" panose="02040503050406030204" pitchFamily="18" charset="0"/>
                      </a:rPr>
                      <m:t>in</m:t>
                    </m:r>
                    <m:r>
                      <a:rPr lang="en-US" altLang="ja-JP" i="1">
                        <a:latin typeface="Cambria Math" panose="02040503050406030204" pitchFamily="18" charset="0"/>
                      </a:rPr>
                      <m:t> {1,…,</m:t>
                    </m:r>
                    <m:r>
                      <a:rPr lang="en-US" altLang="ja-JP" b="0" i="1" smtClean="0">
                        <a:latin typeface="Cambria Math" panose="02040503050406030204" pitchFamily="18" charset="0"/>
                      </a:rPr>
                      <m:t>𝑙</m:t>
                    </m:r>
                    <m:r>
                      <a:rPr lang="en-US" altLang="ja-JP" i="1">
                        <a:latin typeface="Cambria Math" panose="02040503050406030204" pitchFamily="18" charset="0"/>
                      </a:rPr>
                      <m:t>}</m:t>
                    </m:r>
                  </m:oMath>
                </a14:m>
                <a:r>
                  <a:rPr lang="en-US" altLang="ja-JP" i="1" dirty="0">
                    <a:latin typeface="Cambria Math" panose="02040503050406030204" pitchFamily="18" charset="0"/>
                  </a:rPr>
                  <a:t> </a:t>
                </a:r>
              </a:p>
              <a:p>
                <a:endParaRPr kumimoji="1" lang="ja-JP" altLang="en-US" dirty="0"/>
              </a:p>
            </p:txBody>
          </p:sp>
        </mc:Choice>
        <mc:Fallback xmlns="">
          <p:sp>
            <p:nvSpPr>
              <p:cNvPr id="32" name="テキスト ボックス 31">
                <a:extLst>
                  <a:ext uri="{FF2B5EF4-FFF2-40B4-BE49-F238E27FC236}">
                    <a16:creationId xmlns:a16="http://schemas.microsoft.com/office/drawing/2014/main" id="{A2B3C387-A5B1-1213-6769-675406289F76}"/>
                  </a:ext>
                </a:extLst>
              </p:cNvPr>
              <p:cNvSpPr txBox="1">
                <a:spLocks noRot="1" noChangeAspect="1" noMove="1" noResize="1" noEditPoints="1" noAdjustHandles="1" noChangeArrowheads="1" noChangeShapeType="1" noTextEdit="1"/>
              </p:cNvSpPr>
              <p:nvPr/>
            </p:nvSpPr>
            <p:spPr>
              <a:xfrm>
                <a:off x="8026400" y="1832025"/>
                <a:ext cx="3463833" cy="1200329"/>
              </a:xfrm>
              <a:prstGeom prst="rect">
                <a:avLst/>
              </a:prstGeom>
              <a:blipFill>
                <a:blip r:embed="rId10"/>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6259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5C19B1-7D48-A250-E58E-8F578D1E5DD9}"/>
              </a:ext>
            </a:extLst>
          </p:cNvPr>
          <p:cNvSpPr>
            <a:spLocks noGrp="1"/>
          </p:cNvSpPr>
          <p:nvPr>
            <p:ph type="title"/>
          </p:nvPr>
        </p:nvSpPr>
        <p:spPr/>
        <p:txBody>
          <a:bodyPr/>
          <a:lstStyle/>
          <a:p>
            <a:r>
              <a:rPr kumimoji="1" lang="ja-JP" altLang="en-US"/>
              <a:t>追加検証のたたき台</a:t>
            </a:r>
            <a:endParaRPr kumimoji="1" lang="ja-JP" altLang="en-US" dirty="0"/>
          </a:p>
        </p:txBody>
      </p:sp>
      <p:sp>
        <p:nvSpPr>
          <p:cNvPr id="4" name="日付プレースホルダー 3">
            <a:extLst>
              <a:ext uri="{FF2B5EF4-FFF2-40B4-BE49-F238E27FC236}">
                <a16:creationId xmlns:a16="http://schemas.microsoft.com/office/drawing/2014/main" id="{FBFE2EFE-D94A-4930-6FDB-A1A7F9464706}"/>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82FB240-3A44-5BB9-CA81-80D394255CDA}"/>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A042A9A4-454B-2E64-489E-F9C4DD76B8E7}"/>
              </a:ext>
            </a:extLst>
          </p:cNvPr>
          <p:cNvSpPr>
            <a:spLocks noGrp="1"/>
          </p:cNvSpPr>
          <p:nvPr>
            <p:ph type="sldNum" sz="quarter" idx="12"/>
          </p:nvPr>
        </p:nvSpPr>
        <p:spPr/>
        <p:txBody>
          <a:bodyPr/>
          <a:lstStyle/>
          <a:p>
            <a:fld id="{870B1737-2A00-4EFB-9FD3-149FCC30AA13}" type="slidenum">
              <a:rPr lang="ja-JP" altLang="en-US" smtClean="0"/>
              <a:pPr/>
              <a:t>11</a:t>
            </a:fld>
            <a:endParaRPr lang="ja-JP" altLang="en-US"/>
          </a:p>
        </p:txBody>
      </p:sp>
      <p:sp>
        <p:nvSpPr>
          <p:cNvPr id="15" name="コンテンツ プレースホルダー 14">
            <a:extLst>
              <a:ext uri="{FF2B5EF4-FFF2-40B4-BE49-F238E27FC236}">
                <a16:creationId xmlns:a16="http://schemas.microsoft.com/office/drawing/2014/main" id="{11829B90-8F37-5756-C50E-5CC796276F8A}"/>
              </a:ext>
            </a:extLst>
          </p:cNvPr>
          <p:cNvSpPr>
            <a:spLocks noGrp="1"/>
          </p:cNvSpPr>
          <p:nvPr>
            <p:ph idx="1"/>
          </p:nvPr>
        </p:nvSpPr>
        <p:spPr>
          <a:xfrm>
            <a:off x="119336" y="791726"/>
            <a:ext cx="5976664" cy="5661610"/>
          </a:xfrm>
        </p:spPr>
        <p:txBody>
          <a:bodyPr/>
          <a:lstStyle/>
          <a:p>
            <a:r>
              <a:rPr lang="ja-JP" altLang="en-US" dirty="0"/>
              <a:t>目的</a:t>
            </a:r>
            <a:endParaRPr lang="en-US" altLang="ja-JP" dirty="0"/>
          </a:p>
          <a:p>
            <a:pPr lvl="1"/>
            <a:r>
              <a:rPr lang="ja-JP" altLang="en-US" dirty="0"/>
              <a:t>判断知識の違いが、危険度順位を適切</a:t>
            </a:r>
            <a:r>
              <a:rPr lang="en-US" altLang="ja-JP" dirty="0"/>
              <a:t>*</a:t>
            </a:r>
            <a:r>
              <a:rPr lang="ja-JP" altLang="en-US" dirty="0"/>
              <a:t>に変化させることの証明</a:t>
            </a:r>
            <a:endParaRPr lang="en-US" altLang="ja-JP" dirty="0"/>
          </a:p>
          <a:p>
            <a:pPr lvl="4"/>
            <a:endParaRPr lang="en-US" altLang="ja-JP" dirty="0"/>
          </a:p>
          <a:p>
            <a:r>
              <a:rPr lang="ja-JP" altLang="en-US" dirty="0"/>
              <a:t>検証方法の概要</a:t>
            </a:r>
            <a:endParaRPr lang="en-US" altLang="ja-JP" dirty="0"/>
          </a:p>
          <a:p>
            <a:pPr lvl="1"/>
            <a:r>
              <a:rPr lang="ja-JP" altLang="en-US" dirty="0"/>
              <a:t>任意の危険度順位を実現するために必要な判断知識の変化量と、</a:t>
            </a:r>
            <a:br>
              <a:rPr lang="en-US" altLang="ja-JP" dirty="0"/>
            </a:br>
            <a:r>
              <a:rPr lang="ja-JP" altLang="en-US" dirty="0"/>
              <a:t>その判断知識の整合性指標を調べる</a:t>
            </a:r>
            <a:endParaRPr lang="en-US" altLang="ja-JP" dirty="0"/>
          </a:p>
          <a:p>
            <a:pPr lvl="4"/>
            <a:endParaRPr lang="en-US" altLang="ja-JP" dirty="0"/>
          </a:p>
          <a:p>
            <a:r>
              <a:rPr lang="ja-JP" altLang="en-US" dirty="0"/>
              <a:t>想定環境</a:t>
            </a:r>
            <a:endParaRPr lang="en-US" altLang="ja-JP" dirty="0"/>
          </a:p>
          <a:p>
            <a:pPr lvl="1"/>
            <a:r>
              <a:rPr lang="ja-JP" altLang="en-US" dirty="0"/>
              <a:t>患者</a:t>
            </a:r>
            <a:r>
              <a:rPr lang="en-US" altLang="ja-JP" dirty="0"/>
              <a:t>/</a:t>
            </a:r>
            <a:r>
              <a:rPr lang="ja-JP" altLang="en-US" dirty="0"/>
              <a:t>空間的文脈の異なる</a:t>
            </a:r>
            <a:r>
              <a:rPr lang="en-US" altLang="ja-JP" dirty="0"/>
              <a:t>A, B, C</a:t>
            </a:r>
            <a:r>
              <a:rPr lang="ja-JP" altLang="en-US" dirty="0"/>
              <a:t>をスタッフ</a:t>
            </a:r>
            <a:r>
              <a:rPr lang="en-US" altLang="ja-JP" dirty="0"/>
              <a:t>1</a:t>
            </a:r>
            <a:r>
              <a:rPr lang="ja-JP" altLang="en-US" dirty="0"/>
              <a:t>名が見守る場合</a:t>
            </a:r>
            <a:endParaRPr lang="en-US" altLang="ja-JP" dirty="0"/>
          </a:p>
        </p:txBody>
      </p:sp>
      <mc:AlternateContent xmlns:mc="http://schemas.openxmlformats.org/markup-compatibility/2006" xmlns:a14="http://schemas.microsoft.com/office/drawing/2010/main">
        <mc:Choice Requires="a14">
          <p:sp>
            <p:nvSpPr>
              <p:cNvPr id="18" name="コンテンツ プレースホルダー 14">
                <a:extLst>
                  <a:ext uri="{FF2B5EF4-FFF2-40B4-BE49-F238E27FC236}">
                    <a16:creationId xmlns:a16="http://schemas.microsoft.com/office/drawing/2014/main" id="{A32EB6E0-87E2-FF85-8B82-0CBF622E6193}"/>
                  </a:ext>
                </a:extLst>
              </p:cNvPr>
              <p:cNvSpPr txBox="1">
                <a:spLocks/>
              </p:cNvSpPr>
              <p:nvPr/>
            </p:nvSpPr>
            <p:spPr>
              <a:xfrm>
                <a:off x="6096000" y="791726"/>
                <a:ext cx="6096000" cy="56616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ja-JP" altLang="en-US" dirty="0"/>
                  <a:t>検証の流れ</a:t>
                </a:r>
                <a:endParaRPr lang="en-US" altLang="ja-JP" dirty="0"/>
              </a:p>
              <a:p>
                <a:pPr lvl="1"/>
                <a:r>
                  <a:rPr lang="ja-JP" altLang="en-US" dirty="0"/>
                  <a:t>計算</a:t>
                </a:r>
                <a:endParaRPr lang="en-US" altLang="ja-JP" dirty="0"/>
              </a:p>
              <a:p>
                <a:pPr lvl="2"/>
                <a:r>
                  <a:rPr lang="ja-JP" altLang="en-US" dirty="0"/>
                  <a:t>ベースとなる現場知識</a:t>
                </a:r>
                <a14:m>
                  <m:oMath xmlns:m="http://schemas.openxmlformats.org/officeDocument/2006/math">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oMath>
                </a14:m>
                <a:r>
                  <a:rPr lang="ja-JP" altLang="en-US" dirty="0"/>
                  <a:t> </a:t>
                </a:r>
                <a:r>
                  <a:rPr lang="en-US" altLang="ja-JP" dirty="0"/>
                  <a:t>(CI=0) </a:t>
                </a:r>
                <a:r>
                  <a:rPr lang="ja-JP" altLang="en-US" dirty="0"/>
                  <a:t>の定義</a:t>
                </a:r>
                <a:endParaRPr lang="en-US" altLang="ja-JP" dirty="0"/>
              </a:p>
              <a:p>
                <a:pPr lvl="2"/>
                <a:r>
                  <a:rPr lang="ja-JP" altLang="en-US" dirty="0"/>
                  <a:t>ある危険度順位となるために、</a:t>
                </a:r>
                <a:br>
                  <a:rPr lang="en-US" altLang="ja-JP" dirty="0"/>
                </a:br>
                <a:r>
                  <a:rPr lang="ja-JP" altLang="en-US" dirty="0"/>
                  <a:t>最小限必要な現場知識の変化量を最適化計算</a:t>
                </a:r>
                <a:br>
                  <a:rPr lang="en-US" altLang="ja-JP" b="0" i="0" dirty="0">
                    <a:latin typeface="Cambria Math" panose="02040503050406030204" pitchFamily="18" charset="0"/>
                  </a:rPr>
                </a:br>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𝜃</m:t>
                    </m:r>
                    <m:r>
                      <a:rPr lang="en-US" altLang="ja-JP" b="0" i="1" smtClean="0">
                        <a:latin typeface="Cambria Math" panose="02040503050406030204" pitchFamily="18" charset="0"/>
                      </a:rPr>
                      <m:t>=</m:t>
                    </m:r>
                    <m:d>
                      <m:dPr>
                        <m:begChr m:val="‖"/>
                        <m:endChr m:val="‖"/>
                        <m:ctrlPr>
                          <a:rPr lang="ja-JP" altLang="en-US" b="1" i="1">
                            <a:latin typeface="Cambria Math" panose="02040503050406030204" pitchFamily="18" charset="0"/>
                          </a:rPr>
                        </m:ctrlPr>
                      </m:dPr>
                      <m:e>
                        <m:sSup>
                          <m:sSupPr>
                            <m:ctrlPr>
                              <a:rPr lang="ja-JP" altLang="en-US" b="1" i="1">
                                <a:latin typeface="Cambria Math" panose="02040503050406030204" pitchFamily="18" charset="0"/>
                              </a:rPr>
                            </m:ctrlPr>
                          </m:sSupPr>
                          <m:e>
                            <m:r>
                              <a:rPr lang="ja-JP" altLang="en-US" b="1" i="1">
                                <a:latin typeface="Cambria Math" panose="02040503050406030204" pitchFamily="18" charset="0"/>
                              </a:rPr>
                              <m:t>𝜽</m:t>
                            </m:r>
                          </m:e>
                          <m:sup>
                            <m:r>
                              <a:rPr lang="ja-JP" altLang="en-US" i="1">
                                <a:latin typeface="Cambria Math" panose="02040503050406030204" pitchFamily="18" charset="0"/>
                              </a:rPr>
                              <m:t>∗</m:t>
                            </m:r>
                          </m:sup>
                        </m:sSup>
                        <m:r>
                          <a:rPr lang="ja-JP" altLang="en-US" i="1">
                            <a:latin typeface="Cambria Math" panose="02040503050406030204" pitchFamily="18" charset="0"/>
                          </a:rPr>
                          <m:t>−</m:t>
                        </m:r>
                        <m:sSub>
                          <m:sSubPr>
                            <m:ctrlPr>
                              <a:rPr lang="ja-JP" altLang="en-US" b="1" i="1">
                                <a:latin typeface="Cambria Math" panose="02040503050406030204" pitchFamily="18" charset="0"/>
                              </a:rPr>
                            </m:ctrlPr>
                          </m:sSubPr>
                          <m:e>
                            <m:r>
                              <a:rPr lang="ja-JP" altLang="en-US" b="1" i="1">
                                <a:latin typeface="Cambria Math" panose="02040503050406030204" pitchFamily="18" charset="0"/>
                              </a:rPr>
                              <m:t>𝜽</m:t>
                            </m:r>
                          </m:e>
                          <m:sub>
                            <m:r>
                              <a:rPr lang="en-US" altLang="ja-JP" i="1">
                                <a:latin typeface="Cambria Math" panose="02040503050406030204" pitchFamily="18" charset="0"/>
                              </a:rPr>
                              <m:t>0</m:t>
                            </m:r>
                          </m:sub>
                        </m:sSub>
                      </m:e>
                    </m:d>
                  </m:oMath>
                </a14:m>
                <a:endParaRPr lang="ja-JP" altLang="en-US" dirty="0"/>
              </a:p>
              <a:p>
                <a:pPr lvl="1"/>
                <a:r>
                  <a:rPr lang="ja-JP" altLang="en-US" dirty="0"/>
                  <a:t>考察</a:t>
                </a:r>
                <a:endParaRPr lang="en-US" altLang="ja-JP" dirty="0"/>
              </a:p>
            </p:txBody>
          </p:sp>
        </mc:Choice>
        <mc:Fallback xmlns="">
          <p:sp>
            <p:nvSpPr>
              <p:cNvPr id="18" name="コンテンツ プレースホルダー 14">
                <a:extLst>
                  <a:ext uri="{FF2B5EF4-FFF2-40B4-BE49-F238E27FC236}">
                    <a16:creationId xmlns:a16="http://schemas.microsoft.com/office/drawing/2014/main" id="{A32EB6E0-87E2-FF85-8B82-0CBF622E6193}"/>
                  </a:ext>
                </a:extLst>
              </p:cNvPr>
              <p:cNvSpPr txBox="1">
                <a:spLocks noRot="1" noChangeAspect="1" noMove="1" noResize="1" noEditPoints="1" noAdjustHandles="1" noChangeArrowheads="1" noChangeShapeType="1" noTextEdit="1"/>
              </p:cNvSpPr>
              <p:nvPr/>
            </p:nvSpPr>
            <p:spPr>
              <a:xfrm>
                <a:off x="6096000" y="791726"/>
                <a:ext cx="6096000" cy="5661610"/>
              </a:xfrm>
              <a:prstGeom prst="rect">
                <a:avLst/>
              </a:prstGeom>
              <a:blipFill>
                <a:blip r:embed="rId2"/>
                <a:stretch>
                  <a:fillRect l="-1000" t="-646" r="-800"/>
                </a:stretch>
              </a:blipFill>
            </p:spPr>
            <p:txBody>
              <a:bodyPr/>
              <a:lstStyle/>
              <a:p>
                <a:r>
                  <a:rPr lang="ja-JP" altLang="en-US">
                    <a:noFill/>
                  </a:rPr>
                  <a:t> </a:t>
                </a:r>
              </a:p>
            </p:txBody>
          </p:sp>
        </mc:Fallback>
      </mc:AlternateContent>
      <p:pic>
        <p:nvPicPr>
          <p:cNvPr id="20" name="図 19">
            <a:extLst>
              <a:ext uri="{FF2B5EF4-FFF2-40B4-BE49-F238E27FC236}">
                <a16:creationId xmlns:a16="http://schemas.microsoft.com/office/drawing/2014/main" id="{28D08CFF-E43E-A4BA-B838-A8F660ACA347}"/>
              </a:ext>
            </a:extLst>
          </p:cNvPr>
          <p:cNvPicPr>
            <a:picLocks noChangeAspect="1"/>
          </p:cNvPicPr>
          <p:nvPr/>
        </p:nvPicPr>
        <p:blipFill>
          <a:blip r:embed="rId3"/>
          <a:stretch>
            <a:fillRect/>
          </a:stretch>
        </p:blipFill>
        <p:spPr>
          <a:xfrm>
            <a:off x="1874968" y="4736942"/>
            <a:ext cx="2619268" cy="2121058"/>
          </a:xfrm>
          <a:prstGeom prst="rect">
            <a:avLst/>
          </a:prstGeom>
        </p:spPr>
      </p:pic>
      <mc:AlternateContent xmlns:mc="http://schemas.openxmlformats.org/markup-compatibility/2006" xmlns:a14="http://schemas.microsoft.com/office/drawing/2010/main">
        <mc:Choice Requires="a14">
          <p:graphicFrame>
            <p:nvGraphicFramePr>
              <p:cNvPr id="22" name="表 21">
                <a:extLst>
                  <a:ext uri="{FF2B5EF4-FFF2-40B4-BE49-F238E27FC236}">
                    <a16:creationId xmlns:a16="http://schemas.microsoft.com/office/drawing/2014/main" id="{C501C110-BDA0-4FC6-65B0-1B386D26C69C}"/>
                  </a:ext>
                </a:extLst>
              </p:cNvPr>
              <p:cNvGraphicFramePr>
                <a:graphicFrameLocks noGrp="1"/>
              </p:cNvGraphicFramePr>
              <p:nvPr>
                <p:extLst>
                  <p:ext uri="{D42A27DB-BD31-4B8C-83A1-F6EECF244321}">
                    <p14:modId xmlns:p14="http://schemas.microsoft.com/office/powerpoint/2010/main" val="2140373376"/>
                  </p:ext>
                </p:extLst>
              </p:nvPr>
            </p:nvGraphicFramePr>
            <p:xfrm>
              <a:off x="6421745"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192021">
                    <a:tc>
                      <a:txBody>
                        <a:bodyPr/>
                        <a:lstStyle/>
                        <a:p>
                          <a:r>
                            <a:rPr kumimoji="1" lang="ja-JP" altLang="en-US" sz="1400" dirty="0"/>
                            <a:t>順位</a:t>
                          </a:r>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&lt;0.1</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&lt;0.2</m:t>
                                </m:r>
                              </m:oMath>
                            </m:oMathPara>
                          </a14:m>
                          <a:endParaRPr kumimoji="1" lang="ja-JP" alt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&lt;0.3</m:t>
                                </m:r>
                              </m:oMath>
                            </m:oMathPara>
                          </a14:m>
                          <a:endParaRPr kumimoji="1" lang="ja-JP" altLang="en-US" sz="1400" dirty="0"/>
                        </a:p>
                      </a:txBody>
                      <a:tcPr/>
                    </a:tc>
                    <a:tc>
                      <a:txBody>
                        <a:bodyPr/>
                        <a:lstStyle/>
                        <a:p>
                          <a:pPr/>
                          <a14:m>
                            <m:oMathPara xmlns:m="http://schemas.openxmlformats.org/officeDocument/2006/math">
                              <m:oMath>
                                <m:sSub>
                                  <m:sSubPr>
                                    <m:ctrlPr>
                                      <a:rPr kumimoji="1" lang="en-US" altLang="ja-JP" sz="1400" b="0" i="1" smtClean="0">
                                        <a:latin typeface="Cambria Math" panose="02040503050406030204" pitchFamily="18" charset="0"/>
                                      </a:rPr>
                                    </m:ctrlPr>
                                  </m:sSubPr>
                                  <m:e>
                                    <m:r>
                                      <a:rPr kumimoji="1" lang="en-US" altLang="ja-JP" sz="1400" b="0" i="1" smtClean="0">
                                        <a:latin typeface="Cambria Math" panose="02040503050406030204" pitchFamily="18" charset="0"/>
                                      </a:rPr>
                                      <m:t>𝑐</m:t>
                                    </m:r>
                                  </m:e>
                                  <m:sub>
                                    <m:r>
                                      <a:rPr kumimoji="1" lang="en-US" altLang="ja-JP" sz="1400" b="0" i="1" smtClean="0">
                                        <a:latin typeface="Cambria Math" panose="02040503050406030204" pitchFamily="18" charset="0"/>
                                      </a:rPr>
                                      <m:t>𝑤𝑜𝑟𝑠𝑡</m:t>
                                    </m:r>
                                  </m:sub>
                                </m:sSub>
                                <m:r>
                                  <a:rPr kumimoji="1" lang="en-US" altLang="ja-JP" sz="1400" b="0" i="1" smtClean="0">
                                    <a:latin typeface="Cambria Math" panose="02040503050406030204" pitchFamily="18" charset="0"/>
                                  </a:rPr>
                                  <m:t>&lt;∞</m:t>
                                </m:r>
                              </m:oMath>
                            </m:oMathPara>
                          </a14:m>
                          <a:endParaRPr kumimoji="1" lang="ja-JP" altLang="en-US" sz="1400" dirty="0"/>
                        </a:p>
                      </a:txBody>
                      <a:tcPr/>
                    </a:tc>
                    <a:extLst>
                      <a:ext uri="{0D108BD9-81ED-4DB2-BD59-A6C34878D82A}">
                        <a16:rowId xmlns:a16="http://schemas.microsoft.com/office/drawing/2014/main" val="318744019"/>
                      </a:ext>
                    </a:extLst>
                  </a:tr>
                  <a:tr h="192021">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192021">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192021">
                    <a:tc>
                      <a:txBody>
                        <a:bodyPr/>
                        <a:lstStyle/>
                        <a:p>
                          <a:r>
                            <a:rPr kumimoji="1" lang="en-US" altLang="ja-JP" sz="1400" dirty="0"/>
                            <a:t>C&gt;A&gt;B</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192021">
                    <a:tc>
                      <a:txBody>
                        <a:bodyPr/>
                        <a:lstStyle/>
                        <a:p>
                          <a:r>
                            <a:rPr kumimoji="1" lang="en-US" altLang="ja-JP" sz="1400" dirty="0"/>
                            <a:t>C&gt;B&gt;A</a:t>
                          </a:r>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tc>
                      <a:txBody>
                        <a:bodyPr/>
                        <a:lstStyle/>
                        <a:p>
                          <a:pPr algn="ctr"/>
                          <a14:m>
                            <m:oMathPara xmlns:m="http://schemas.openxmlformats.org/officeDocument/2006/math">
                              <m:oMath>
                                <m:r>
                                  <a:rPr kumimoji="1" lang="ja-JP" altLang="en-US" sz="1400" b="0" i="1" u="none" strike="noStrike" kern="1200" cap="none" spc="0" normalizeH="0" baseline="0" noProof="0" smtClean="0">
                                    <a:ln>
                                      <a:noFill/>
                                    </a:ln>
                                    <a:solidFill>
                                      <a:srgbClr val="000000"/>
                                    </a:solidFill>
                                    <a:effectLst/>
                                    <a:uLnTx/>
                                    <a:uFillTx/>
                                    <a:latin typeface="Cambria Math" panose="02040503050406030204" pitchFamily="18" charset="0"/>
                                    <a:cs typeface="+mn-cs"/>
                                  </a:rPr>
                                  <m:t>解なし</m:t>
                                </m:r>
                              </m:oMath>
                            </m:oMathPara>
                          </a14:m>
                          <a:endParaRPr kumimoji="1" lang="ja-JP" altLang="en-US" sz="1400" dirty="0"/>
                        </a:p>
                      </a:txBody>
                      <a:tcPr/>
                    </a:tc>
                    <a:extLst>
                      <a:ext uri="{0D108BD9-81ED-4DB2-BD59-A6C34878D82A}">
                        <a16:rowId xmlns:a16="http://schemas.microsoft.com/office/drawing/2014/main" val="3035191193"/>
                      </a:ext>
                    </a:extLst>
                  </a:tr>
                </a:tbl>
              </a:graphicData>
            </a:graphic>
          </p:graphicFrame>
        </mc:Choice>
        <mc:Fallback xmlns="">
          <p:graphicFrame>
            <p:nvGraphicFramePr>
              <p:cNvPr id="22" name="表 21">
                <a:extLst>
                  <a:ext uri="{FF2B5EF4-FFF2-40B4-BE49-F238E27FC236}">
                    <a16:creationId xmlns:a16="http://schemas.microsoft.com/office/drawing/2014/main" id="{C501C110-BDA0-4FC6-65B0-1B386D26C69C}"/>
                  </a:ext>
                </a:extLst>
              </p:cNvPr>
              <p:cNvGraphicFramePr>
                <a:graphicFrameLocks noGrp="1"/>
              </p:cNvGraphicFramePr>
              <p:nvPr>
                <p:extLst>
                  <p:ext uri="{D42A27DB-BD31-4B8C-83A1-F6EECF244321}">
                    <p14:modId xmlns:p14="http://schemas.microsoft.com/office/powerpoint/2010/main" val="2140373376"/>
                  </p:ext>
                </p:extLst>
              </p:nvPr>
            </p:nvGraphicFramePr>
            <p:xfrm>
              <a:off x="6421745" y="3673878"/>
              <a:ext cx="5325174" cy="1828800"/>
            </p:xfrm>
            <a:graphic>
              <a:graphicData uri="http://schemas.openxmlformats.org/drawingml/2006/table">
                <a:tbl>
                  <a:tblPr firstRow="1" firstCol="1" bandRow="1">
                    <a:tableStyleId>{5940675A-B579-460E-94D1-54222C63F5DA}</a:tableStyleId>
                  </a:tblPr>
                  <a:tblGrid>
                    <a:gridCol w="794068">
                      <a:extLst>
                        <a:ext uri="{9D8B030D-6E8A-4147-A177-3AD203B41FA5}">
                          <a16:colId xmlns:a16="http://schemas.microsoft.com/office/drawing/2014/main" val="4215640284"/>
                        </a:ext>
                      </a:extLst>
                    </a:gridCol>
                    <a:gridCol w="1153414">
                      <a:extLst>
                        <a:ext uri="{9D8B030D-6E8A-4147-A177-3AD203B41FA5}">
                          <a16:colId xmlns:a16="http://schemas.microsoft.com/office/drawing/2014/main" val="420493400"/>
                        </a:ext>
                      </a:extLst>
                    </a:gridCol>
                    <a:gridCol w="1153414">
                      <a:extLst>
                        <a:ext uri="{9D8B030D-6E8A-4147-A177-3AD203B41FA5}">
                          <a16:colId xmlns:a16="http://schemas.microsoft.com/office/drawing/2014/main" val="1876235688"/>
                        </a:ext>
                      </a:extLst>
                    </a:gridCol>
                    <a:gridCol w="1153414">
                      <a:extLst>
                        <a:ext uri="{9D8B030D-6E8A-4147-A177-3AD203B41FA5}">
                          <a16:colId xmlns:a16="http://schemas.microsoft.com/office/drawing/2014/main" val="1227890287"/>
                        </a:ext>
                      </a:extLst>
                    </a:gridCol>
                    <a:gridCol w="1070864">
                      <a:extLst>
                        <a:ext uri="{9D8B030D-6E8A-4147-A177-3AD203B41FA5}">
                          <a16:colId xmlns:a16="http://schemas.microsoft.com/office/drawing/2014/main" val="1387661597"/>
                        </a:ext>
                      </a:extLst>
                    </a:gridCol>
                  </a:tblGrid>
                  <a:tr h="304800">
                    <a:tc>
                      <a:txBody>
                        <a:bodyPr/>
                        <a:lstStyle/>
                        <a:p>
                          <a:r>
                            <a:rPr kumimoji="1" lang="ja-JP" altLang="en-US" sz="1400" dirty="0"/>
                            <a:t>順位</a:t>
                          </a:r>
                        </a:p>
                      </a:txBody>
                      <a:tcPr/>
                    </a:tc>
                    <a:tc>
                      <a:txBody>
                        <a:bodyPr/>
                        <a:lstStyle/>
                        <a:p>
                          <a:endParaRPr lang="ja-JP"/>
                        </a:p>
                      </a:txBody>
                      <a:tcPr>
                        <a:blipFill>
                          <a:blip r:embed="rId4"/>
                          <a:stretch>
                            <a:fillRect l="-68947" t="-2000" r="-293158" b="-522000"/>
                          </a:stretch>
                        </a:blipFill>
                      </a:tcPr>
                    </a:tc>
                    <a:tc>
                      <a:txBody>
                        <a:bodyPr/>
                        <a:lstStyle/>
                        <a:p>
                          <a:endParaRPr lang="ja-JP"/>
                        </a:p>
                      </a:txBody>
                      <a:tcPr>
                        <a:blipFill>
                          <a:blip r:embed="rId4"/>
                          <a:stretch>
                            <a:fillRect l="-169841" t="-2000" r="-194709" b="-522000"/>
                          </a:stretch>
                        </a:blipFill>
                      </a:tcPr>
                    </a:tc>
                    <a:tc>
                      <a:txBody>
                        <a:bodyPr/>
                        <a:lstStyle/>
                        <a:p>
                          <a:endParaRPr lang="ja-JP"/>
                        </a:p>
                      </a:txBody>
                      <a:tcPr>
                        <a:blipFill>
                          <a:blip r:embed="rId4"/>
                          <a:stretch>
                            <a:fillRect l="-269841" t="-2000" r="-94709" b="-522000"/>
                          </a:stretch>
                        </a:blipFill>
                      </a:tcPr>
                    </a:tc>
                    <a:tc>
                      <a:txBody>
                        <a:bodyPr/>
                        <a:lstStyle/>
                        <a:p>
                          <a:endParaRPr lang="ja-JP"/>
                        </a:p>
                      </a:txBody>
                      <a:tcPr>
                        <a:blipFill>
                          <a:blip r:embed="rId4"/>
                          <a:stretch>
                            <a:fillRect l="-397159" t="-2000" r="-1705" b="-522000"/>
                          </a:stretch>
                        </a:blipFill>
                      </a:tcPr>
                    </a:tc>
                    <a:extLst>
                      <a:ext uri="{0D108BD9-81ED-4DB2-BD59-A6C34878D82A}">
                        <a16:rowId xmlns:a16="http://schemas.microsoft.com/office/drawing/2014/main" val="318744019"/>
                      </a:ext>
                    </a:extLst>
                  </a:tr>
                  <a:tr h="304800">
                    <a:tc>
                      <a:txBody>
                        <a:bodyPr/>
                        <a:lstStyle/>
                        <a:p>
                          <a:r>
                            <a:rPr kumimoji="1" lang="en-US" altLang="ja-JP" sz="1400" dirty="0"/>
                            <a:t>A&gt;B&gt;C</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tc>
                      <a:txBody>
                        <a:bodyPr/>
                        <a:lstStyle/>
                        <a:p>
                          <a:pPr algn="ctr"/>
                          <a:r>
                            <a:rPr kumimoji="1" lang="en-US" altLang="ja-JP" sz="1400" dirty="0"/>
                            <a:t>0</a:t>
                          </a:r>
                          <a:endParaRPr kumimoji="1" lang="ja-JP" altLang="en-US" sz="1400" dirty="0"/>
                        </a:p>
                      </a:txBody>
                      <a:tcPr/>
                    </a:tc>
                    <a:extLst>
                      <a:ext uri="{0D108BD9-81ED-4DB2-BD59-A6C34878D82A}">
                        <a16:rowId xmlns:a16="http://schemas.microsoft.com/office/drawing/2014/main" val="2713081866"/>
                      </a:ext>
                    </a:extLst>
                  </a:tr>
                  <a:tr h="304800">
                    <a:tc>
                      <a:txBody>
                        <a:bodyPr/>
                        <a:lstStyle/>
                        <a:p>
                          <a:r>
                            <a:rPr kumimoji="1" lang="en-US" altLang="ja-JP" sz="1400" dirty="0"/>
                            <a:t>A&gt;C&gt;B</a:t>
                          </a:r>
                          <a:endParaRPr kumimoji="1" lang="ja-JP" altLang="en-US" sz="1400" dirty="0"/>
                        </a:p>
                      </a:txBody>
                      <a:tcPr/>
                    </a:tc>
                    <a:tc>
                      <a:txBody>
                        <a:bodyPr/>
                        <a:lstStyle/>
                        <a:p>
                          <a:pPr algn="ctr"/>
                          <a:r>
                            <a:rPr kumimoji="1" lang="en-US" altLang="ja-JP" sz="1400" dirty="0"/>
                            <a:t>0.1</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956116139"/>
                      </a:ext>
                    </a:extLst>
                  </a:tr>
                  <a:tr h="304800">
                    <a:tc>
                      <a:txBody>
                        <a:bodyPr/>
                        <a:lstStyle/>
                        <a:p>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2342608442"/>
                      </a:ext>
                    </a:extLst>
                  </a:tr>
                  <a:tr h="304800">
                    <a:tc>
                      <a:txBody>
                        <a:bodyPr/>
                        <a:lstStyle/>
                        <a:p>
                          <a:r>
                            <a:rPr kumimoji="1" lang="en-US" altLang="ja-JP" sz="1400" dirty="0"/>
                            <a:t>C&gt;A&gt;B</a:t>
                          </a:r>
                          <a:endParaRPr kumimoji="1" lang="ja-JP" altLang="en-US" sz="1400" dirty="0"/>
                        </a:p>
                      </a:txBody>
                      <a:tcPr/>
                    </a:tc>
                    <a:tc>
                      <a:txBody>
                        <a:bodyPr/>
                        <a:lstStyle/>
                        <a:p>
                          <a:endParaRPr lang="ja-JP"/>
                        </a:p>
                      </a:txBody>
                      <a:tcPr>
                        <a:blipFill>
                          <a:blip r:embed="rId4"/>
                          <a:stretch>
                            <a:fillRect l="-68947" t="-404000" r="-293158" b="-120000"/>
                          </a:stretch>
                        </a:blipFill>
                      </a:tcPr>
                    </a:tc>
                    <a:tc>
                      <a:txBody>
                        <a:bodyPr/>
                        <a:lstStyle/>
                        <a:p>
                          <a:endParaRPr lang="ja-JP"/>
                        </a:p>
                      </a:txBody>
                      <a:tcPr>
                        <a:blipFill>
                          <a:blip r:embed="rId4"/>
                          <a:stretch>
                            <a:fillRect l="-169841" t="-404000" r="-194709" b="-120000"/>
                          </a:stretch>
                        </a:blipFill>
                      </a:tcPr>
                    </a:tc>
                    <a:tc>
                      <a:txBody>
                        <a:bodyPr/>
                        <a:lstStyle/>
                        <a:p>
                          <a:pPr algn="ctr"/>
                          <a:r>
                            <a:rPr kumimoji="1" lang="en-US" altLang="ja-JP" sz="1400" dirty="0"/>
                            <a:t>0.6</a:t>
                          </a:r>
                          <a:endParaRPr kumimoji="1" lang="ja-JP" altLang="en-US" sz="1400" dirty="0"/>
                        </a:p>
                      </a:txBody>
                      <a:tcPr/>
                    </a:tc>
                    <a:tc>
                      <a:txBody>
                        <a:bodyPr/>
                        <a:lstStyle/>
                        <a:p>
                          <a:pPr algn="ctr"/>
                          <a:r>
                            <a:rPr kumimoji="1" lang="en-US" altLang="ja-JP" sz="1400" dirty="0"/>
                            <a:t>-</a:t>
                          </a:r>
                          <a:endParaRPr kumimoji="1" lang="ja-JP" altLang="en-US" sz="1400" dirty="0"/>
                        </a:p>
                      </a:txBody>
                      <a:tcPr/>
                    </a:tc>
                    <a:extLst>
                      <a:ext uri="{0D108BD9-81ED-4DB2-BD59-A6C34878D82A}">
                        <a16:rowId xmlns:a16="http://schemas.microsoft.com/office/drawing/2014/main" val="3528349880"/>
                      </a:ext>
                    </a:extLst>
                  </a:tr>
                  <a:tr h="304800">
                    <a:tc>
                      <a:txBody>
                        <a:bodyPr/>
                        <a:lstStyle/>
                        <a:p>
                          <a:r>
                            <a:rPr kumimoji="1" lang="en-US" altLang="ja-JP" sz="1400" dirty="0"/>
                            <a:t>C&gt;B&gt;A</a:t>
                          </a:r>
                          <a:endParaRPr kumimoji="1" lang="ja-JP" altLang="en-US" sz="1400" dirty="0"/>
                        </a:p>
                      </a:txBody>
                      <a:tcPr/>
                    </a:tc>
                    <a:tc>
                      <a:txBody>
                        <a:bodyPr/>
                        <a:lstStyle/>
                        <a:p>
                          <a:endParaRPr lang="ja-JP"/>
                        </a:p>
                      </a:txBody>
                      <a:tcPr>
                        <a:blipFill>
                          <a:blip r:embed="rId4"/>
                          <a:stretch>
                            <a:fillRect l="-68947" t="-504000" r="-293158" b="-20000"/>
                          </a:stretch>
                        </a:blipFill>
                      </a:tcPr>
                    </a:tc>
                    <a:tc>
                      <a:txBody>
                        <a:bodyPr/>
                        <a:lstStyle/>
                        <a:p>
                          <a:endParaRPr lang="ja-JP"/>
                        </a:p>
                      </a:txBody>
                      <a:tcPr>
                        <a:blipFill>
                          <a:blip r:embed="rId4"/>
                          <a:stretch>
                            <a:fillRect l="-169841" t="-504000" r="-194709" b="-20000"/>
                          </a:stretch>
                        </a:blipFill>
                      </a:tcPr>
                    </a:tc>
                    <a:tc>
                      <a:txBody>
                        <a:bodyPr/>
                        <a:lstStyle/>
                        <a:p>
                          <a:endParaRPr lang="ja-JP"/>
                        </a:p>
                      </a:txBody>
                      <a:tcPr>
                        <a:blipFill>
                          <a:blip r:embed="rId4"/>
                          <a:stretch>
                            <a:fillRect l="-269841" t="-504000" r="-94709" b="-20000"/>
                          </a:stretch>
                        </a:blipFill>
                      </a:tcPr>
                    </a:tc>
                    <a:tc>
                      <a:txBody>
                        <a:bodyPr/>
                        <a:lstStyle/>
                        <a:p>
                          <a:endParaRPr lang="ja-JP"/>
                        </a:p>
                      </a:txBody>
                      <a:tcPr>
                        <a:blipFill>
                          <a:blip r:embed="rId4"/>
                          <a:stretch>
                            <a:fillRect l="-397159" t="-504000" r="-1705" b="-20000"/>
                          </a:stretch>
                        </a:blipFill>
                      </a:tcPr>
                    </a:tc>
                    <a:extLst>
                      <a:ext uri="{0D108BD9-81ED-4DB2-BD59-A6C34878D82A}">
                        <a16:rowId xmlns:a16="http://schemas.microsoft.com/office/drawing/2014/main" val="3035191193"/>
                      </a:ext>
                    </a:extLst>
                  </a:tr>
                </a:tbl>
              </a:graphicData>
            </a:graphic>
          </p:graphicFrame>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8059DDB7-A33C-ADF1-ADE9-C14C2C64EA62}"/>
                  </a:ext>
                </a:extLst>
              </p:cNvPr>
              <p:cNvSpPr txBox="1"/>
              <p:nvPr/>
            </p:nvSpPr>
            <p:spPr>
              <a:xfrm>
                <a:off x="6461434" y="3401989"/>
                <a:ext cx="5245796" cy="307777"/>
              </a:xfrm>
              <a:prstGeom prst="rect">
                <a:avLst/>
              </a:prstGeom>
              <a:noFill/>
            </p:spPr>
            <p:txBody>
              <a:bodyPr wrap="none" rtlCol="0">
                <a:spAutoFit/>
              </a:bodyPr>
              <a:lstStyle/>
              <a:p>
                <a:pPr algn="ctr"/>
                <a:r>
                  <a:rPr lang="ja-JP" altLang="en-US" sz="1400" dirty="0"/>
                  <a:t>表：</a:t>
                </a:r>
                <a:r>
                  <a:rPr lang="en-US" altLang="ja-JP" sz="1400" dirty="0"/>
                  <a:t>CI</a:t>
                </a:r>
                <a:r>
                  <a:rPr lang="ja-JP" altLang="en-US" sz="1400" dirty="0"/>
                  <a:t>の上限内で順位を実現した場合の、現場知識の変化量</a:t>
                </a:r>
                <a14:m>
                  <m:oMath xmlns:m="http://schemas.openxmlformats.org/officeDocument/2006/math">
                    <m:r>
                      <m:rPr>
                        <m:sty m:val="p"/>
                      </m:rPr>
                      <a:rPr lang="en-US" altLang="ja-JP" sz="1400">
                        <a:latin typeface="Cambria Math" panose="02040503050406030204" pitchFamily="18" charset="0"/>
                      </a:rPr>
                      <m:t>Δ</m:t>
                    </m:r>
                    <m:r>
                      <a:rPr lang="en-US" altLang="ja-JP" sz="1400" i="1">
                        <a:latin typeface="Cambria Math" panose="02040503050406030204" pitchFamily="18" charset="0"/>
                      </a:rPr>
                      <m:t>𝜃</m:t>
                    </m:r>
                  </m:oMath>
                </a14:m>
                <a:endParaRPr kumimoji="1" lang="ja-JP" altLang="en-US" sz="1400" dirty="0"/>
              </a:p>
            </p:txBody>
          </p:sp>
        </mc:Choice>
        <mc:Fallback xmlns="">
          <p:sp>
            <p:nvSpPr>
              <p:cNvPr id="23" name="テキスト ボックス 22">
                <a:extLst>
                  <a:ext uri="{FF2B5EF4-FFF2-40B4-BE49-F238E27FC236}">
                    <a16:creationId xmlns:a16="http://schemas.microsoft.com/office/drawing/2014/main" id="{8059DDB7-A33C-ADF1-ADE9-C14C2C64EA62}"/>
                  </a:ext>
                </a:extLst>
              </p:cNvPr>
              <p:cNvSpPr txBox="1">
                <a:spLocks noRot="1" noChangeAspect="1" noMove="1" noResize="1" noEditPoints="1" noAdjustHandles="1" noChangeArrowheads="1" noChangeShapeType="1" noTextEdit="1"/>
              </p:cNvSpPr>
              <p:nvPr/>
            </p:nvSpPr>
            <p:spPr>
              <a:xfrm>
                <a:off x="6461434" y="3401989"/>
                <a:ext cx="5245796" cy="307777"/>
              </a:xfrm>
              <a:prstGeom prst="rect">
                <a:avLst/>
              </a:prstGeom>
              <a:blipFill>
                <a:blip r:embed="rId5"/>
                <a:stretch>
                  <a:fillRect t="-7843" b="-2156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AD436FAD-632C-A4DA-0F9A-704093B18E98}"/>
                  </a:ext>
                </a:extLst>
              </p:cNvPr>
              <p:cNvSpPr txBox="1"/>
              <p:nvPr/>
            </p:nvSpPr>
            <p:spPr>
              <a:xfrm>
                <a:off x="6378424" y="5767012"/>
                <a:ext cx="2750625" cy="824906"/>
              </a:xfrm>
              <a:prstGeom prst="rect">
                <a:avLst/>
              </a:prstGeom>
              <a:noFill/>
            </p:spPr>
            <p:txBody>
              <a:bodyPr wrap="none" rtlCol="0">
                <a:spAutoFit/>
              </a:bodyPr>
              <a:lstStyle/>
              <a:p>
                <a:pPr/>
                <a14:m>
                  <m:oMathPara xmlns:m="http://schemas.openxmlformats.org/officeDocument/2006/math">
                    <m:oMath>
                      <m:sSup>
                        <m:sSupPr>
                          <m:ctrlPr>
                            <a:rPr kumimoji="1" lang="en-US" altLang="ja-JP" b="1" i="1" smtClean="0">
                              <a:latin typeface="Cambria Math" panose="02040503050406030204" pitchFamily="18" charset="0"/>
                            </a:rPr>
                          </m:ctrlPr>
                        </m:sSupPr>
                        <m:e>
                          <m:r>
                            <a:rPr kumimoji="1" lang="en-US" altLang="ja-JP" b="1" i="1" smtClean="0">
                              <a:latin typeface="Cambria Math" panose="02040503050406030204" pitchFamily="18" charset="0"/>
                            </a:rPr>
                            <m:t>𝜽</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𝜽</m:t>
                          </m:r>
                        </m:e>
                        <m:sub>
                          <m:r>
                            <a:rPr kumimoji="1" lang="en-US" altLang="ja-JP" b="0" i="1" smtClean="0">
                              <a:latin typeface="Cambria Math" panose="02040503050406030204" pitchFamily="18" charset="0"/>
                            </a:rPr>
                            <m:t>0</m:t>
                          </m:r>
                        </m:sub>
                      </m:sSub>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m>
                            <m:mPr>
                              <m:mcs>
                                <m:mc>
                                  <m:mcPr>
                                    <m:count m:val="3"/>
                                    <m:mcJc m:val="center"/>
                                  </m:mcPr>
                                </m:mc>
                              </m:mcs>
                              <m:ctrlPr>
                                <a:rPr kumimoji="1" lang="en-US" altLang="ja-JP" b="0" i="1" smtClean="0">
                                  <a:latin typeface="Cambria Math" panose="02040503050406030204" pitchFamily="18" charset="0"/>
                                </a:rPr>
                              </m:ctrlPr>
                            </m:mPr>
                            <m:mr>
                              <m:e>
                                <m:r>
                                  <m:rPr>
                                    <m:brk m:alnAt="7"/>
                                  </m:rP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e>
                                <m:r>
                                  <a:rPr kumimoji="1" lang="en-US" altLang="ja-JP" b="0" i="1" smtClean="0">
                                    <a:latin typeface="Cambria Math" panose="02040503050406030204" pitchFamily="18" charset="0"/>
                                  </a:rPr>
                                  <m:t>++</m:t>
                                </m:r>
                              </m:e>
                            </m:mr>
                            <m:mr>
                              <m:e/>
                              <m:e>
                                <m:r>
                                  <a:rPr kumimoji="1" lang="en-US" altLang="ja-JP" b="0" i="1" smtClean="0">
                                    <a:latin typeface="Cambria Math" panose="02040503050406030204" pitchFamily="18" charset="0"/>
                                  </a:rPr>
                                  <m:t>0</m:t>
                                </m:r>
                              </m:e>
                              <m:e>
                                <m:r>
                                  <a:rPr kumimoji="1" lang="en-US" altLang="ja-JP" b="0" i="1" smtClean="0">
                                    <a:latin typeface="Cambria Math" panose="02040503050406030204" pitchFamily="18" charset="0"/>
                                  </a:rPr>
                                  <m:t>+</m:t>
                                </m:r>
                              </m:e>
                            </m:mr>
                            <m:mr>
                              <m:e/>
                              <m:e/>
                              <m:e>
                                <m:r>
                                  <a:rPr kumimoji="1" lang="en-US" altLang="ja-JP" b="0" i="1" smtClean="0">
                                    <a:latin typeface="Cambria Math" panose="02040503050406030204" pitchFamily="18" charset="0"/>
                                  </a:rPr>
                                  <m:t>0</m:t>
                                </m:r>
                              </m:e>
                            </m:mr>
                          </m:m>
                        </m:e>
                      </m:d>
                    </m:oMath>
                  </m:oMathPara>
                </a14:m>
                <a:endParaRPr kumimoji="1" lang="ja-JP" altLang="en-US" dirty="0"/>
              </a:p>
            </p:txBody>
          </p:sp>
        </mc:Choice>
        <mc:Fallback xmlns="">
          <p:sp>
            <p:nvSpPr>
              <p:cNvPr id="24" name="テキスト ボックス 23">
                <a:extLst>
                  <a:ext uri="{FF2B5EF4-FFF2-40B4-BE49-F238E27FC236}">
                    <a16:creationId xmlns:a16="http://schemas.microsoft.com/office/drawing/2014/main" id="{AD436FAD-632C-A4DA-0F9A-704093B18E98}"/>
                  </a:ext>
                </a:extLst>
              </p:cNvPr>
              <p:cNvSpPr txBox="1">
                <a:spLocks noRot="1" noChangeAspect="1" noMove="1" noResize="1" noEditPoints="1" noAdjustHandles="1" noChangeArrowheads="1" noChangeShapeType="1" noTextEdit="1"/>
              </p:cNvSpPr>
              <p:nvPr/>
            </p:nvSpPr>
            <p:spPr>
              <a:xfrm>
                <a:off x="6378424" y="5767012"/>
                <a:ext cx="2750625" cy="824906"/>
              </a:xfrm>
              <a:prstGeom prst="rect">
                <a:avLst/>
              </a:prstGeom>
              <a:blipFill>
                <a:blip r:embed="rId6"/>
                <a:stretch>
                  <a:fillRect/>
                </a:stretch>
              </a:blipFill>
            </p:spPr>
            <p:txBody>
              <a:bodyPr/>
              <a:lstStyle/>
              <a:p>
                <a:r>
                  <a:rPr lang="ja-JP" altLang="en-US">
                    <a:noFill/>
                  </a:rPr>
                  <a:t> </a:t>
                </a:r>
              </a:p>
            </p:txBody>
          </p:sp>
        </mc:Fallback>
      </mc:AlternateContent>
      <p:sp>
        <p:nvSpPr>
          <p:cNvPr id="25" name="正方形/長方形 24">
            <a:extLst>
              <a:ext uri="{FF2B5EF4-FFF2-40B4-BE49-F238E27FC236}">
                <a16:creationId xmlns:a16="http://schemas.microsoft.com/office/drawing/2014/main" id="{70053B38-D10E-DD41-6FE6-445C26E1AA8B}"/>
              </a:ext>
            </a:extLst>
          </p:cNvPr>
          <p:cNvSpPr/>
          <p:nvPr/>
        </p:nvSpPr>
        <p:spPr>
          <a:xfrm>
            <a:off x="6378424" y="5189661"/>
            <a:ext cx="5368495" cy="307777"/>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856738FE-B450-E519-3DA1-6396CF832CE3}"/>
              </a:ext>
            </a:extLst>
          </p:cNvPr>
          <p:cNvSpPr/>
          <p:nvPr/>
        </p:nvSpPr>
        <p:spPr>
          <a:xfrm>
            <a:off x="9552385" y="3673878"/>
            <a:ext cx="1080120" cy="151054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1D7D7534-7530-AAAB-F266-76BF674CE141}"/>
              </a:ext>
            </a:extLst>
          </p:cNvPr>
          <p:cNvSpPr txBox="1"/>
          <p:nvPr/>
        </p:nvSpPr>
        <p:spPr>
          <a:xfrm>
            <a:off x="10560496" y="4265112"/>
            <a:ext cx="1584176" cy="523220"/>
          </a:xfrm>
          <a:prstGeom prst="wedgeRectCallout">
            <a:avLst>
              <a:gd name="adj1" fmla="val -44883"/>
              <a:gd name="adj2" fmla="val 78277"/>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kumimoji="1" lang="en-US" altLang="ja-JP" sz="1400" b="1" dirty="0">
                <a:solidFill>
                  <a:schemeClr val="accent6"/>
                </a:solidFill>
              </a:rPr>
              <a:t>C&gt;A&gt;B</a:t>
            </a:r>
            <a:r>
              <a:rPr kumimoji="1" lang="ja-JP" altLang="en-US" sz="1400" b="1" dirty="0">
                <a:solidFill>
                  <a:schemeClr val="accent6"/>
                </a:solidFill>
              </a:rPr>
              <a:t>は出るが、回答の矛盾大</a:t>
            </a:r>
          </a:p>
        </p:txBody>
      </p:sp>
      <p:sp>
        <p:nvSpPr>
          <p:cNvPr id="28" name="テキスト ボックス 27">
            <a:extLst>
              <a:ext uri="{FF2B5EF4-FFF2-40B4-BE49-F238E27FC236}">
                <a16:creationId xmlns:a16="http://schemas.microsoft.com/office/drawing/2014/main" id="{4F2CAEE6-113F-2D53-AFFD-3F3E2A2005AD}"/>
              </a:ext>
            </a:extLst>
          </p:cNvPr>
          <p:cNvSpPr txBox="1"/>
          <p:nvPr/>
        </p:nvSpPr>
        <p:spPr>
          <a:xfrm>
            <a:off x="10404970" y="5598241"/>
            <a:ext cx="1728192" cy="523220"/>
          </a:xfrm>
          <a:prstGeom prst="wedgeRectCallout">
            <a:avLst>
              <a:gd name="adj1" fmla="val -34862"/>
              <a:gd name="adj2" fmla="val -72214"/>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ja-JP" altLang="en-US" sz="1400" b="1" dirty="0">
                <a:solidFill>
                  <a:schemeClr val="accent1"/>
                </a:solidFill>
              </a:rPr>
              <a:t>この順位は理論上、出力し得ない</a:t>
            </a:r>
          </a:p>
        </p:txBody>
      </p:sp>
      <p:sp>
        <p:nvSpPr>
          <p:cNvPr id="29" name="テキスト ボックス 28">
            <a:extLst>
              <a:ext uri="{FF2B5EF4-FFF2-40B4-BE49-F238E27FC236}">
                <a16:creationId xmlns:a16="http://schemas.microsoft.com/office/drawing/2014/main" id="{B0E918B9-112E-DE6C-BB04-12BF6FDF2581}"/>
              </a:ext>
            </a:extLst>
          </p:cNvPr>
          <p:cNvSpPr txBox="1"/>
          <p:nvPr/>
        </p:nvSpPr>
        <p:spPr>
          <a:xfrm>
            <a:off x="9136806" y="6183392"/>
            <a:ext cx="1728192" cy="307777"/>
          </a:xfrm>
          <a:prstGeom prst="wedgeRectCallout">
            <a:avLst>
              <a:gd name="adj1" fmla="val -63522"/>
              <a:gd name="adj2" fmla="val -80709"/>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kumimoji="1" lang="en-US" altLang="ja-JP" sz="1400" b="1" dirty="0" err="1">
                <a:solidFill>
                  <a:schemeClr val="accent1"/>
                </a:solidFill>
              </a:rPr>
              <a:t>Xx</a:t>
            </a:r>
            <a:r>
              <a:rPr kumimoji="1" lang="ja-JP" altLang="en-US" sz="1400" b="1" dirty="0">
                <a:solidFill>
                  <a:schemeClr val="accent1"/>
                </a:solidFill>
              </a:rPr>
              <a:t>を重視する回答</a:t>
            </a:r>
          </a:p>
        </p:txBody>
      </p:sp>
    </p:spTree>
    <p:extLst>
      <p:ext uri="{BB962C8B-B14F-4D97-AF65-F5344CB8AC3E}">
        <p14:creationId xmlns:p14="http://schemas.microsoft.com/office/powerpoint/2010/main" val="4215417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7EB6F1-8755-7B4A-7E02-F6C2C8B2C9B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A6B7E613-9CC7-4353-6003-398C753AD7C9}"/>
              </a:ext>
            </a:extLst>
          </p:cNvPr>
          <p:cNvSpPr>
            <a:spLocks noGrp="1"/>
          </p:cNvSpPr>
          <p:nvPr>
            <p:ph idx="1"/>
          </p:nvPr>
        </p:nvSpPr>
        <p:spPr/>
        <p:txBody>
          <a:bodyPr/>
          <a:lstStyle/>
          <a:p>
            <a:r>
              <a:rPr kumimoji="1" lang="ja-JP" altLang="en-US" dirty="0"/>
              <a:t>最適化問題の定式化</a:t>
            </a:r>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ja-JP" altLang="en-US" dirty="0"/>
          </a:p>
        </p:txBody>
      </p:sp>
      <p:sp>
        <p:nvSpPr>
          <p:cNvPr id="4" name="日付プレースホルダー 3">
            <a:extLst>
              <a:ext uri="{FF2B5EF4-FFF2-40B4-BE49-F238E27FC236}">
                <a16:creationId xmlns:a16="http://schemas.microsoft.com/office/drawing/2014/main" id="{F1CB18F2-EA41-8B23-F680-4A176BF989D4}"/>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951897AC-E875-F1F4-2CB8-394DF110BB2D}"/>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FB50F94D-8E47-FAE3-FFBB-9402A93D1E50}"/>
              </a:ext>
            </a:extLst>
          </p:cNvPr>
          <p:cNvSpPr>
            <a:spLocks noGrp="1"/>
          </p:cNvSpPr>
          <p:nvPr>
            <p:ph type="sldNum" sz="quarter" idx="12"/>
          </p:nvPr>
        </p:nvSpPr>
        <p:spPr/>
        <p:txBody>
          <a:bodyPr/>
          <a:lstStyle/>
          <a:p>
            <a:fld id="{870B1737-2A00-4EFB-9FD3-149FCC30AA13}" type="slidenum">
              <a:rPr lang="ja-JP" altLang="en-US" smtClean="0"/>
              <a:pPr/>
              <a:t>12</a:t>
            </a:fld>
            <a:endParaRPr lang="ja-JP" altLang="en-US"/>
          </a:p>
        </p:txBody>
      </p:sp>
      <mc:AlternateContent xmlns:mc="http://schemas.openxmlformats.org/markup-compatibility/2006" xmlns:a14="http://schemas.microsoft.com/office/drawing/2010/main">
        <mc:Choice Requires="a14">
          <p:graphicFrame>
            <p:nvGraphicFramePr>
              <p:cNvPr id="8" name="コンテンツ プレースホルダー 7">
                <a:extLst>
                  <a:ext uri="{FF2B5EF4-FFF2-40B4-BE49-F238E27FC236}">
                    <a16:creationId xmlns:a16="http://schemas.microsoft.com/office/drawing/2014/main" id="{ADB9F697-4F04-7D93-353A-5B83CE1A8DD4}"/>
                  </a:ext>
                </a:extLst>
              </p:cNvPr>
              <p:cNvGraphicFramePr>
                <a:graphicFrameLocks/>
              </p:cNvGraphicFramePr>
              <p:nvPr>
                <p:extLst>
                  <p:ext uri="{D42A27DB-BD31-4B8C-83A1-F6EECF244321}">
                    <p14:modId xmlns:p14="http://schemas.microsoft.com/office/powerpoint/2010/main" val="1824667482"/>
                  </p:ext>
                </p:extLst>
              </p:nvPr>
            </p:nvGraphicFramePr>
            <p:xfrm>
              <a:off x="7680176" y="792163"/>
              <a:ext cx="4416552" cy="5107178"/>
            </p:xfrm>
            <a:graphic>
              <a:graphicData uri="http://schemas.openxmlformats.org/drawingml/2006/table">
                <a:tbl>
                  <a:tblPr firstRow="1" bandRow="1">
                    <a:tableStyleId>{073A0DAA-6AF3-43AB-8588-CEC1D06C72B9}</a:tableStyleId>
                  </a:tblPr>
                  <a:tblGrid>
                    <a:gridCol w="936752">
                      <a:extLst>
                        <a:ext uri="{9D8B030D-6E8A-4147-A177-3AD203B41FA5}">
                          <a16:colId xmlns:a16="http://schemas.microsoft.com/office/drawing/2014/main" val="2976928265"/>
                        </a:ext>
                      </a:extLst>
                    </a:gridCol>
                    <a:gridCol w="3479800">
                      <a:extLst>
                        <a:ext uri="{9D8B030D-6E8A-4147-A177-3AD203B41FA5}">
                          <a16:colId xmlns:a16="http://schemas.microsoft.com/office/drawing/2014/main" val="591180217"/>
                        </a:ext>
                      </a:extLst>
                    </a:gridCol>
                  </a:tblGrid>
                  <a:tr h="370840">
                    <a:tc>
                      <a:txBody>
                        <a:bodyPr/>
                        <a:lstStyle/>
                        <a:p>
                          <a:r>
                            <a:rPr kumimoji="1" lang="ja-JP" altLang="en-US" dirty="0"/>
                            <a:t>変数</a:t>
                          </a:r>
                        </a:p>
                      </a:txBody>
                      <a:tcPr anchor="ctr"/>
                    </a:tc>
                    <a:tc>
                      <a:txBody>
                        <a:bodyPr/>
                        <a:lstStyle/>
                        <a:p>
                          <a:r>
                            <a:rPr kumimoji="1" lang="ja-JP" altLang="en-US" dirty="0"/>
                            <a:t>定義</a:t>
                          </a:r>
                        </a:p>
                      </a:txBody>
                      <a:tcPr anchor="ctr"/>
                    </a:tc>
                    <a:extLst>
                      <a:ext uri="{0D108BD9-81ED-4DB2-BD59-A6C34878D82A}">
                        <a16:rowId xmlns:a16="http://schemas.microsoft.com/office/drawing/2014/main" val="2681140504"/>
                      </a:ext>
                    </a:extLst>
                  </a:tr>
                  <a:tr h="370840">
                    <a:tc>
                      <a:txBody>
                        <a:bodyPr/>
                        <a:lstStyle/>
                        <a:p>
                          <a:pPr/>
                          <a14:m>
                            <m:oMathPara xmlns:m="http://schemas.openxmlformats.org/officeDocument/2006/math">
                              <m:oMath>
                                <m:r>
                                  <a:rPr kumimoji="1" lang="en-US" altLang="ja-JP" i="1" dirty="0" smtClean="0">
                                    <a:latin typeface="Cambria Math" panose="02040503050406030204" pitchFamily="18" charset="0"/>
                                  </a:rPr>
                                  <m:t>𝑙</m:t>
                                </m:r>
                              </m:oMath>
                            </m:oMathPara>
                          </a14:m>
                          <a:endParaRPr/>
                        </a:p>
                      </a:txBody>
                      <a:tcPr anchor="ctr"/>
                    </a:tc>
                    <a:tc>
                      <a:txBody>
                        <a:bodyPr/>
                        <a:lstStyle/>
                        <a:p>
                          <a:r>
                            <a:rPr kumimoji="1" lang="ja-JP" altLang="en-US" dirty="0"/>
                            <a:t>階層モデル中の</a:t>
                          </a:r>
                          <a:r>
                            <a:rPr kumimoji="1" lang="en-US" altLang="ja-JP" dirty="0"/>
                            <a:t>AHP</a:t>
                          </a:r>
                          <a:r>
                            <a:rPr kumimoji="1" lang="ja-JP" altLang="en-US" dirty="0"/>
                            <a:t>の数</a:t>
                          </a:r>
                        </a:p>
                      </a:txBody>
                      <a:tcPr anchor="ctr"/>
                    </a:tc>
                    <a:extLst>
                      <a:ext uri="{0D108BD9-81ED-4DB2-BD59-A6C34878D82A}">
                        <a16:rowId xmlns:a16="http://schemas.microsoft.com/office/drawing/2014/main" val="2112526220"/>
                      </a:ext>
                    </a:extLst>
                  </a:tr>
                  <a:tr h="370840">
                    <a:tc>
                      <a:txBody>
                        <a:bodyPr/>
                        <a:lstStyle/>
                        <a:p>
                          <a:pPr/>
                          <a14:m>
                            <m:oMathPara xmlns:m="http://schemas.openxmlformats.org/officeDocument/2006/math">
                              <m:oMath>
                                <m:r>
                                  <a:rPr kumimoji="1" lang="en-US" altLang="ja-JP" i="1" dirty="0" smtClean="0">
                                    <a:latin typeface="Cambria Math" panose="02040503050406030204" pitchFamily="18" charset="0"/>
                                  </a:rPr>
                                  <m:t>𝑚</m:t>
                                </m:r>
                              </m:oMath>
                            </m:oMathPara>
                          </a14:m>
                          <a:endParaRPr/>
                        </a:p>
                      </a:txBody>
                      <a:tcPr anchor="ctr"/>
                    </a:tc>
                    <a:tc>
                      <a:txBody>
                        <a:bodyPr/>
                        <a:lstStyle/>
                        <a:p>
                          <a:r>
                            <a:rPr kumimoji="1" lang="ja-JP" altLang="en-US" dirty="0"/>
                            <a:t>階層モデル中の</a:t>
                          </a:r>
                          <a:r>
                            <a:rPr kumimoji="1" lang="en-US" altLang="ja-JP" dirty="0"/>
                            <a:t>Fuzzy</a:t>
                          </a:r>
                          <a:r>
                            <a:rPr kumimoji="1" lang="ja-JP" altLang="en-US" dirty="0"/>
                            <a:t>推論の数</a:t>
                          </a:r>
                        </a:p>
                      </a:txBody>
                      <a:tcPr anchor="ctr"/>
                    </a:tc>
                    <a:extLst>
                      <a:ext uri="{0D108BD9-81ED-4DB2-BD59-A6C34878D82A}">
                        <a16:rowId xmlns:a16="http://schemas.microsoft.com/office/drawing/2014/main" val="780508247"/>
                      </a:ext>
                    </a:extLst>
                  </a:tr>
                  <a:tr h="370840">
                    <a:tc>
                      <a:txBody>
                        <a:bodyPr/>
                        <a:lstStyle/>
                        <a:p>
                          <a:pPr/>
                          <a14:m>
                            <m:oMathPara xmlns:m="http://schemas.openxmlformats.org/officeDocument/2006/math">
                              <m:oMath>
                                <m:r>
                                  <a:rPr kumimoji="1" lang="en-US" altLang="ja-JP" i="1" dirty="0" smtClean="0">
                                    <a:latin typeface="Cambria Math" panose="02040503050406030204" pitchFamily="18" charset="0"/>
                                  </a:rPr>
                                  <m:t>𝑛</m:t>
                                </m:r>
                              </m:oMath>
                            </m:oMathPara>
                          </a14:m>
                          <a:endParaRPr/>
                        </a:p>
                      </a:txBody>
                      <a:tcPr anchor="ctr"/>
                    </a:tc>
                    <a:tc>
                      <a:txBody>
                        <a:bodyPr/>
                        <a:lstStyle/>
                        <a:p>
                          <a:r>
                            <a:rPr kumimoji="1" lang="ja-JP" altLang="en-US" dirty="0"/>
                            <a:t>比較対象（患者）の数</a:t>
                          </a:r>
                        </a:p>
                      </a:txBody>
                      <a:tcPr anchor="ctr"/>
                    </a:tc>
                    <a:extLst>
                      <a:ext uri="{0D108BD9-81ED-4DB2-BD59-A6C34878D82A}">
                        <a16:rowId xmlns:a16="http://schemas.microsoft.com/office/drawing/2014/main" val="82173697"/>
                      </a:ext>
                    </a:extLst>
                  </a:tr>
                  <a:tr h="370840">
                    <a:tc>
                      <a:txBody>
                        <a:bodyPr/>
                        <a:lstStyle/>
                        <a:p>
                          <a:pPr/>
                          <a14:m>
                            <m:oMathPara xmlns:m="http://schemas.openxmlformats.org/officeDocument/2006/math">
                              <m:oMath>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𝐴</m:t>
                                    </m:r>
                                  </m:e>
                                  <m:sub>
                                    <m:r>
                                      <a:rPr kumimoji="1" lang="en-US" altLang="ja-JP" b="0" i="1" dirty="0" smtClean="0">
                                        <a:latin typeface="Cambria Math" panose="02040503050406030204" pitchFamily="18" charset="0"/>
                                      </a:rPr>
                                      <m:t>𝑖</m:t>
                                    </m:r>
                                  </m:sub>
                                </m:sSub>
                              </m:oMath>
                            </m:oMathPara>
                          </a14:m>
                          <a:endParaRPr dirty="0"/>
                        </a:p>
                      </a:txBody>
                      <a:tcPr anchor="ctr"/>
                    </a:tc>
                    <a:tc>
                      <a:txBody>
                        <a:bodyPr/>
                        <a:lstStyle/>
                        <a:p>
                          <a:r>
                            <a:rPr kumimoji="1" lang="en-US" altLang="ja-JP" dirty="0"/>
                            <a:t>AHP</a:t>
                          </a:r>
                          <a:r>
                            <a:rPr kumimoji="1" lang="ja-JP" altLang="en-US" dirty="0"/>
                            <a:t>一対比較行列 </a:t>
                          </a:r>
                          <a14:m>
                            <m:oMath xmlns:m="http://schemas.openxmlformats.org/officeDocument/2006/math">
                              <m:r>
                                <a:rPr kumimoji="1" lang="en-US" altLang="ja-JP" b="0" i="1" smtClean="0">
                                  <a:latin typeface="Cambria Math" panose="02040503050406030204" pitchFamily="18" charset="0"/>
                                </a:rPr>
                                <m:t>𝑖</m:t>
                              </m:r>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1,…,</m:t>
                                  </m:r>
                                  <m:r>
                                    <a:rPr kumimoji="1" lang="en-US" altLang="ja-JP" b="0" i="1" smtClean="0">
                                      <a:latin typeface="Cambria Math" panose="02040503050406030204" pitchFamily="18" charset="0"/>
                                    </a:rPr>
                                    <m:t>𝑙</m:t>
                                  </m:r>
                                </m:e>
                              </m:d>
                            </m:oMath>
                          </a14:m>
                          <a:endParaRPr kumimoji="1" lang="ja-JP" altLang="en-US" dirty="0"/>
                        </a:p>
                      </a:txBody>
                      <a:tcPr anchor="ctr"/>
                    </a:tc>
                    <a:extLst>
                      <a:ext uri="{0D108BD9-81ED-4DB2-BD59-A6C34878D82A}">
                        <a16:rowId xmlns:a16="http://schemas.microsoft.com/office/drawing/2014/main" val="950966567"/>
                      </a:ext>
                    </a:extLst>
                  </a:tr>
                  <a:tr h="370840">
                    <a:tc>
                      <a:txBody>
                        <a:bodyPr/>
                        <a:lstStyle/>
                        <a:p>
                          <a:pPr/>
                          <a14:m>
                            <m:oMathPara xmlns:m="http://schemas.openxmlformats.org/officeDocument/2006/math">
                              <m:oMath>
                                <m:sSub>
                                  <m:sSubPr>
                                    <m:ctrlPr>
                                      <a:rPr kumimoji="1" lang="en-US" altLang="ja-JP" b="1" i="1" dirty="0" smtClean="0">
                                        <a:latin typeface="Cambria Math" panose="02040503050406030204" pitchFamily="18" charset="0"/>
                                      </a:rPr>
                                    </m:ctrlPr>
                                  </m:sSubPr>
                                  <m:e>
                                    <m:r>
                                      <a:rPr kumimoji="1" lang="en-US" altLang="ja-JP" b="1" i="1" dirty="0" smtClean="0">
                                        <a:latin typeface="Cambria Math" panose="02040503050406030204" pitchFamily="18" charset="0"/>
                                      </a:rPr>
                                      <m:t>𝜽</m:t>
                                    </m:r>
                                  </m:e>
                                  <m:sub>
                                    <m:r>
                                      <a:rPr kumimoji="1" lang="en-US" altLang="ja-JP" b="0" i="1" dirty="0" smtClean="0">
                                        <a:latin typeface="Cambria Math" panose="02040503050406030204" pitchFamily="18" charset="0"/>
                                      </a:rPr>
                                      <m:t>𝐹𝑗</m:t>
                                    </m:r>
                                  </m:sub>
                                </m:sSub>
                              </m:oMath>
                            </m:oMathPara>
                          </a14:m>
                          <a:endParaRPr dirty="0"/>
                        </a:p>
                      </a:txBody>
                      <a:tcPr anchor="ctr"/>
                    </a:tc>
                    <a:tc>
                      <a:txBody>
                        <a:bodyPr/>
                        <a:lstStyle/>
                        <a:p>
                          <a:r>
                            <a:rPr kumimoji="1" lang="en-US" altLang="ja-JP" dirty="0"/>
                            <a:t>Fuzzy</a:t>
                          </a:r>
                          <a:r>
                            <a:rPr kumimoji="1" lang="ja-JP" altLang="en-US" dirty="0"/>
                            <a:t>パラメタ </a:t>
                          </a:r>
                          <a14:m>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r>
                                <a:rPr kumimoji="1" lang="en-US" altLang="ja-JP" b="0" i="1" smtClean="0">
                                  <a:latin typeface="Cambria Math" panose="02040503050406030204" pitchFamily="18" charset="0"/>
                                </a:rPr>
                                <m:t>𝑚</m:t>
                              </m:r>
                              <m:r>
                                <a:rPr kumimoji="1" lang="en-US" altLang="ja-JP" b="0" i="1" smtClean="0">
                                  <a:latin typeface="Cambria Math" panose="02040503050406030204" pitchFamily="18" charset="0"/>
                                </a:rPr>
                                <m:t>}</m:t>
                              </m:r>
                            </m:oMath>
                          </a14:m>
                          <a:endParaRPr kumimoji="1" lang="ja-JP" altLang="en-US" dirty="0"/>
                        </a:p>
                      </a:txBody>
                      <a:tcPr anchor="ctr"/>
                    </a:tc>
                    <a:extLst>
                      <a:ext uri="{0D108BD9-81ED-4DB2-BD59-A6C34878D82A}">
                        <a16:rowId xmlns:a16="http://schemas.microsoft.com/office/drawing/2014/main" val="888060706"/>
                      </a:ext>
                    </a:extLst>
                  </a:tr>
                  <a:tr h="370840">
                    <a:tc>
                      <a:txBody>
                        <a:bodyPr/>
                        <a:lstStyle/>
                        <a:p>
                          <a:pPr/>
                          <a14:m>
                            <m:oMathPara xmlns:m="http://schemas.openxmlformats.org/officeDocument/2006/math">
                              <m:oMath>
                                <m:r>
                                  <a:rPr kumimoji="1" lang="en-US" altLang="ja-JP" b="1" i="1" dirty="0" smtClean="0">
                                    <a:latin typeface="Cambria Math" panose="02040503050406030204" pitchFamily="18" charset="0"/>
                                  </a:rPr>
                                  <m:t>𝜽</m:t>
                                </m:r>
                              </m:oMath>
                            </m:oMathPara>
                          </a14:m>
                          <a:endParaRPr dirty="0"/>
                        </a:p>
                      </a:txBody>
                      <a:tcPr anchor="ctr"/>
                    </a:tc>
                    <a:tc>
                      <a:txBody>
                        <a:bodyPr/>
                        <a:lstStyle/>
                        <a:p>
                          <a:pPr/>
                          <a:r>
                            <a:rPr kumimoji="1" lang="ja-JP" altLang="en-US" dirty="0"/>
                            <a:t>比較対象</a:t>
                          </a:r>
                          <a14:m>
                            <m:oMath xmlns:m="http://schemas.openxmlformats.org/officeDocument/2006/math">
                              <m:r>
                                <a:rPr kumimoji="1" lang="en-US" altLang="ja-JP" i="1" dirty="0" smtClean="0">
                                  <a:latin typeface="Cambria Math" panose="02040503050406030204" pitchFamily="18" charset="0"/>
                                </a:rPr>
                                <m:t>𝑘</m:t>
                              </m:r>
                            </m:oMath>
                          </a14:m>
                          <a:r>
                            <a:rPr kumimoji="1" lang="ja-JP" altLang="en-US" dirty="0"/>
                            <a:t>のパラメタ</a:t>
                          </a:r>
                          <a:br>
                            <a:rPr kumimoji="1" lang="en-US" altLang="ja-JP" b="0" i="1" dirty="0">
                              <a:latin typeface="Cambria Math" panose="02040503050406030204" pitchFamily="18" charset="0"/>
                            </a:rPr>
                          </a:br>
                          <a14:m>
                            <m:oMathPara xmlns:m="http://schemas.openxmlformats.org/officeDocument/2006/math">
                              <m:oMath>
                                <m:r>
                                  <a:rPr kumimoji="1" lang="en-US" altLang="ja-JP" b="1" i="1" smtClean="0">
                                    <a:latin typeface="Cambria Math" panose="02040503050406030204" pitchFamily="18" charset="0"/>
                                  </a:rPr>
                                  <m:t>𝜽</m:t>
                                </m:r>
                                <m:r>
                                  <a:rPr kumimoji="1" lang="en-US" altLang="ja-JP" b="0" i="1" smtClean="0">
                                    <a:latin typeface="Cambria Math" panose="02040503050406030204" pitchFamily="18" charset="0"/>
                                  </a:rPr>
                                  <m:t>=</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𝐴</m:t>
                                        </m:r>
                                      </m:e>
                                      <m:sub>
                                        <m:r>
                                          <a:rPr kumimoji="1" lang="en-US" altLang="ja-JP" b="0" i="1" smtClean="0">
                                            <a:latin typeface="Cambria Math" panose="02040503050406030204" pitchFamily="18" charset="0"/>
                                          </a:rPr>
                                          <m:t>𝑙</m:t>
                                        </m:r>
                                      </m:sub>
                                    </m:sSub>
                                    <m:r>
                                      <a:rPr kumimoji="1" lang="en-US" altLang="ja-JP" b="0"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𝜽</m:t>
                                        </m:r>
                                      </m:e>
                                      <m:sub>
                                        <m:r>
                                          <a:rPr kumimoji="1" lang="en-US" altLang="ja-JP" b="0" i="1" smtClean="0">
                                            <a:latin typeface="Cambria Math" panose="02040503050406030204" pitchFamily="18" charset="0"/>
                                          </a:rPr>
                                          <m:t>𝐹</m:t>
                                        </m:r>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1" i="1" smtClean="0">
                                            <a:latin typeface="Cambria Math" panose="02040503050406030204" pitchFamily="18" charset="0"/>
                                          </a:rPr>
                                        </m:ctrlPr>
                                      </m:sSubPr>
                                      <m:e>
                                        <m:r>
                                          <a:rPr kumimoji="1" lang="en-US" altLang="ja-JP" b="1" i="1" smtClean="0">
                                            <a:latin typeface="Cambria Math" panose="02040503050406030204" pitchFamily="18" charset="0"/>
                                          </a:rPr>
                                          <m:t>𝜽</m:t>
                                        </m:r>
                                      </m:e>
                                      <m:sub>
                                        <m:r>
                                          <a:rPr kumimoji="1" lang="en-US" altLang="ja-JP" b="0" i="1" smtClean="0">
                                            <a:latin typeface="Cambria Math" panose="02040503050406030204" pitchFamily="18" charset="0"/>
                                          </a:rPr>
                                          <m:t>𝐹𝑚</m:t>
                                        </m:r>
                                      </m:sub>
                                    </m:sSub>
                                  </m:e>
                                </m:d>
                              </m:oMath>
                            </m:oMathPara>
                          </a14:m>
                          <a:endParaRPr kumimoji="1" lang="ja-JP" altLang="en-US" dirty="0"/>
                        </a:p>
                      </a:txBody>
                      <a:tcPr anchor="ctr"/>
                    </a:tc>
                    <a:extLst>
                      <a:ext uri="{0D108BD9-81ED-4DB2-BD59-A6C34878D82A}">
                        <a16:rowId xmlns:a16="http://schemas.microsoft.com/office/drawing/2014/main" val="2047826207"/>
                      </a:ext>
                    </a:extLst>
                  </a:tr>
                  <a:tr h="370840">
                    <a:tc>
                      <a:txBody>
                        <a:bodyPr/>
                        <a:lstStyle/>
                        <a:p>
                          <a:pPr/>
                          <a14:m>
                            <m:oMathPara xmlns:m="http://schemas.openxmlformats.org/officeDocument/2006/math">
                              <m:oMath>
                                <m:sSub>
                                  <m:sSubPr>
                                    <m:ctrlPr>
                                      <a:rPr kumimoji="1" lang="en-US" altLang="ja-JP" b="1" i="1" dirty="0" smtClean="0">
                                        <a:latin typeface="Cambria Math" panose="02040503050406030204" pitchFamily="18" charset="0"/>
                                      </a:rPr>
                                    </m:ctrlPr>
                                  </m:sSubPr>
                                  <m:e>
                                    <m:r>
                                      <a:rPr kumimoji="1" lang="en-US" altLang="ja-JP" b="1" i="1" dirty="0" smtClean="0">
                                        <a:latin typeface="Cambria Math" panose="02040503050406030204" pitchFamily="18" charset="0"/>
                                      </a:rPr>
                                      <m:t>𝒙</m:t>
                                    </m:r>
                                  </m:e>
                                  <m:sub>
                                    <m:r>
                                      <a:rPr kumimoji="1" lang="en-US" altLang="ja-JP" b="0" i="1" dirty="0" smtClean="0">
                                        <a:latin typeface="Cambria Math" panose="02040503050406030204" pitchFamily="18" charset="0"/>
                                      </a:rPr>
                                      <m:t>𝑘</m:t>
                                    </m:r>
                                  </m:sub>
                                </m:sSub>
                              </m:oMath>
                            </m:oMathPara>
                          </a14:m>
                          <a:endParaRPr/>
                        </a:p>
                      </a:txBody>
                      <a:tcPr anchor="ctr"/>
                    </a:tc>
                    <a:tc>
                      <a:txBody>
                        <a:bodyPr/>
                        <a:lstStyle/>
                        <a:p>
                          <a:r>
                            <a:rPr kumimoji="1" lang="ja-JP" altLang="en-US" dirty="0"/>
                            <a:t>比較対象</a:t>
                          </a:r>
                          <a14:m>
                            <m:oMath xmlns:m="http://schemas.openxmlformats.org/officeDocument/2006/math">
                              <m:r>
                                <a:rPr kumimoji="1" lang="en-US" altLang="ja-JP" i="1" dirty="0" smtClean="0">
                                  <a:latin typeface="Cambria Math" panose="02040503050406030204" pitchFamily="18" charset="0"/>
                                </a:rPr>
                                <m:t>𝑘</m:t>
                              </m:r>
                            </m:oMath>
                          </a14:m>
                          <a:r>
                            <a:rPr kumimoji="1" lang="ja-JP" altLang="en-US" dirty="0"/>
                            <a:t>の特徴量</a:t>
                          </a:r>
                        </a:p>
                      </a:txBody>
                      <a:tcPr anchor="ctr"/>
                    </a:tc>
                    <a:extLst>
                      <a:ext uri="{0D108BD9-81ED-4DB2-BD59-A6C34878D82A}">
                        <a16:rowId xmlns:a16="http://schemas.microsoft.com/office/drawing/2014/main" val="3997772173"/>
                      </a:ext>
                    </a:extLst>
                  </a:tr>
                  <a:tr h="370840">
                    <a:tc>
                      <a:txBody>
                        <a:bodyPr/>
                        <a:lstStyle/>
                        <a:p>
                          <a:pPr/>
                          <a14:m>
                            <m:oMathPara xmlns:m="http://schemas.openxmlformats.org/officeDocument/2006/math">
                              <m:oMath>
                                <m:r>
                                  <a:rPr kumimoji="1" lang="en-US" altLang="ja-JP" i="1" dirty="0" smtClean="0">
                                    <a:latin typeface="Cambria Math" panose="02040503050406030204" pitchFamily="18" charset="0"/>
                                  </a:rPr>
                                  <m:t>𝐻</m:t>
                                </m:r>
                              </m:oMath>
                            </m:oMathPara>
                          </a14:m>
                          <a:endParaRPr/>
                        </a:p>
                      </a:txBody>
                      <a:tcPr anchor="ctr"/>
                    </a:tc>
                    <a:tc>
                      <a:txBody>
                        <a:bodyPr/>
                        <a:lstStyle/>
                        <a:p>
                          <a:r>
                            <a:rPr kumimoji="1" lang="ja-JP" altLang="en-US" dirty="0"/>
                            <a:t>階層モデル</a:t>
                          </a:r>
                        </a:p>
                      </a:txBody>
                      <a:tcPr anchor="ctr"/>
                    </a:tc>
                    <a:extLst>
                      <a:ext uri="{0D108BD9-81ED-4DB2-BD59-A6C34878D82A}">
                        <a16:rowId xmlns:a16="http://schemas.microsoft.com/office/drawing/2014/main" val="3376345640"/>
                      </a:ext>
                    </a:extLst>
                  </a:tr>
                  <a:tr h="370840">
                    <a:tc>
                      <a:txBody>
                        <a:bodyPr/>
                        <a:lstStyle/>
                        <a:p>
                          <a:pPr/>
                          <a14:m>
                            <m:oMathPara xmlns:m="http://schemas.openxmlformats.org/officeDocument/2006/math">
                              <m:oMath>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𝑦</m:t>
                                    </m:r>
                                  </m:e>
                                  <m:sub>
                                    <m:r>
                                      <a:rPr kumimoji="1" lang="en-US" altLang="ja-JP" b="0" i="1" dirty="0" smtClean="0">
                                        <a:latin typeface="Cambria Math" panose="02040503050406030204" pitchFamily="18" charset="0"/>
                                      </a:rPr>
                                      <m:t>𝑘</m:t>
                                    </m:r>
                                  </m:sub>
                                </m:sSub>
                              </m:oMath>
                            </m:oMathPara>
                          </a14:m>
                          <a:endParaRPr/>
                        </a:p>
                      </a:txBody>
                      <a:tcPr anchor="ctr"/>
                    </a:tc>
                    <a:tc>
                      <a:txBody>
                        <a:bodyPr/>
                        <a:lstStyle/>
                        <a:p>
                          <a:r>
                            <a:rPr kumimoji="1" lang="ja-JP" altLang="en-US" dirty="0"/>
                            <a:t>比較対象</a:t>
                          </a:r>
                          <a14:m>
                            <m:oMath xmlns:m="http://schemas.openxmlformats.org/officeDocument/2006/math">
                              <m:r>
                                <a:rPr kumimoji="1" lang="en-US" altLang="ja-JP" i="1" dirty="0" smtClean="0">
                                  <a:latin typeface="Cambria Math" panose="02040503050406030204" pitchFamily="18" charset="0"/>
                                </a:rPr>
                                <m:t>𝑘</m:t>
                              </m:r>
                            </m:oMath>
                          </a14:m>
                          <a:r>
                            <a:rPr kumimoji="1" lang="ja-JP" altLang="en-US" dirty="0"/>
                            <a:t>の危険度</a:t>
                          </a:r>
                        </a:p>
                      </a:txBody>
                      <a:tcPr anchor="ctr"/>
                    </a:tc>
                    <a:extLst>
                      <a:ext uri="{0D108BD9-81ED-4DB2-BD59-A6C34878D82A}">
                        <a16:rowId xmlns:a16="http://schemas.microsoft.com/office/drawing/2014/main" val="4290311576"/>
                      </a:ext>
                    </a:extLst>
                  </a:tr>
                  <a:tr h="370840">
                    <a:tc>
                      <a:txBody>
                        <a:bodyPr/>
                        <a:lstStyle/>
                        <a:p>
                          <a:pPr/>
                          <a14:m>
                            <m:oMathPara xmlns:m="http://schemas.openxmlformats.org/officeDocument/2006/math">
                              <m:oMath>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𝑟</m:t>
                                    </m:r>
                                  </m:e>
                                  <m:sub>
                                    <m:r>
                                      <a:rPr kumimoji="1" lang="en-US" altLang="ja-JP" b="0" i="1" dirty="0" smtClean="0">
                                        <a:latin typeface="Cambria Math" panose="02040503050406030204" pitchFamily="18" charset="0"/>
                                      </a:rPr>
                                      <m:t>𝑘</m:t>
                                    </m:r>
                                  </m:sub>
                                </m:sSub>
                              </m:oMath>
                            </m:oMathPara>
                          </a14:m>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比較対象</a:t>
                          </a:r>
                          <a14:m>
                            <m:oMath xmlns:m="http://schemas.openxmlformats.org/officeDocument/2006/math">
                              <m:r>
                                <a:rPr kumimoji="1" lang="en-US" altLang="ja-JP" i="1" dirty="0" smtClean="0">
                                  <a:latin typeface="Cambria Math" panose="02040503050406030204" pitchFamily="18" charset="0"/>
                                </a:rPr>
                                <m:t>𝑘</m:t>
                              </m:r>
                            </m:oMath>
                          </a14:m>
                          <a:r>
                            <a:rPr kumimoji="1" lang="ja-JP" altLang="en-US" dirty="0"/>
                            <a:t>の危険度順位</a:t>
                          </a:r>
                        </a:p>
                      </a:txBody>
                      <a:tcPr anchor="ctr"/>
                    </a:tc>
                    <a:extLst>
                      <a:ext uri="{0D108BD9-81ED-4DB2-BD59-A6C34878D82A}">
                        <a16:rowId xmlns:a16="http://schemas.microsoft.com/office/drawing/2014/main" val="2813000330"/>
                      </a:ext>
                    </a:extLst>
                  </a:tr>
                  <a:tr h="370840">
                    <a:tc>
                      <a:txBody>
                        <a:bodyPr/>
                        <a:lstStyle/>
                        <a:p>
                          <a:pPr/>
                          <a14:m>
                            <m:oMathPara xmlns:m="http://schemas.openxmlformats.org/officeDocument/2006/math">
                              <m:oMath>
                                <m:r>
                                  <a:rPr kumimoji="1" lang="en-US" altLang="ja-JP" b="0" i="1" dirty="0" smtClean="0">
                                    <a:latin typeface="Cambria Math" panose="02040503050406030204" pitchFamily="18" charset="0"/>
                                  </a:rPr>
                                  <m:t>𝐶𝐼</m:t>
                                </m:r>
                              </m:oMath>
                            </m:oMathPara>
                          </a14:m>
                          <a:endParaRPr dirty="0"/>
                        </a:p>
                      </a:txBody>
                      <a:tcPr anchor="ctr"/>
                    </a:tc>
                    <a:tc>
                      <a:txBody>
                        <a:bodyPr/>
                        <a:lstStyle/>
                        <a:p>
                          <a:r>
                            <a:rPr kumimoji="1" lang="ja-JP" altLang="en-US" dirty="0"/>
                            <a:t>整合性指標</a:t>
                          </a:r>
                        </a:p>
                      </a:txBody>
                      <a:tcPr anchor="ctr"/>
                    </a:tc>
                    <a:extLst>
                      <a:ext uri="{0D108BD9-81ED-4DB2-BD59-A6C34878D82A}">
                        <a16:rowId xmlns:a16="http://schemas.microsoft.com/office/drawing/2014/main" val="4198478982"/>
                      </a:ext>
                    </a:extLst>
                  </a:tr>
                  <a:tr h="370840">
                    <a:tc>
                      <a:txBody>
                        <a:bodyPr/>
                        <a:lstStyle/>
                        <a:p>
                          <a:pPr/>
                          <a14:m>
                            <m:oMathPara xmlns:m="http://schemas.openxmlformats.org/officeDocument/2006/math">
                              <m:oMath>
                                <m:sSub>
                                  <m:sSubPr>
                                    <m:ctrlPr>
                                      <a:rPr kumimoji="1" lang="en-US" altLang="ja-JP" b="0" i="1" dirty="0" smtClean="0">
                                        <a:latin typeface="Cambria Math" panose="02040503050406030204" pitchFamily="18" charset="0"/>
                                      </a:rPr>
                                    </m:ctrlPr>
                                  </m:sSubPr>
                                  <m:e>
                                    <m:r>
                                      <a:rPr kumimoji="1" lang="en-US" altLang="ja-JP" b="0" i="1" dirty="0" smtClean="0">
                                        <a:latin typeface="Cambria Math" panose="02040503050406030204" pitchFamily="18" charset="0"/>
                                      </a:rPr>
                                      <m:t>𝑐</m:t>
                                    </m:r>
                                  </m:e>
                                  <m:sub>
                                    <m:r>
                                      <a:rPr kumimoji="1" lang="en-US" altLang="ja-JP" b="0" i="1" dirty="0" smtClean="0">
                                        <a:latin typeface="Cambria Math" panose="02040503050406030204" pitchFamily="18" charset="0"/>
                                      </a:rPr>
                                      <m:t>𝑤𝑜𝑟𝑠𝑡</m:t>
                                    </m:r>
                                  </m:sub>
                                </m:sSub>
                              </m:oMath>
                            </m:oMathPara>
                          </a14:m>
                          <a:endParaRPr/>
                        </a:p>
                      </a:txBody>
                      <a:tcPr anchor="ctr"/>
                    </a:tc>
                    <a:tc>
                      <a:txBody>
                        <a:bodyPr/>
                        <a:lstStyle/>
                        <a:p>
                          <a:r>
                            <a:rPr kumimoji="1" lang="ja-JP" altLang="en-US" dirty="0"/>
                            <a:t>整合性指標の上限値</a:t>
                          </a:r>
                        </a:p>
                      </a:txBody>
                      <a:tcPr anchor="ctr"/>
                    </a:tc>
                    <a:extLst>
                      <a:ext uri="{0D108BD9-81ED-4DB2-BD59-A6C34878D82A}">
                        <a16:rowId xmlns:a16="http://schemas.microsoft.com/office/drawing/2014/main" val="3736557178"/>
                      </a:ext>
                    </a:extLst>
                  </a:tr>
                </a:tbl>
              </a:graphicData>
            </a:graphic>
          </p:graphicFrame>
        </mc:Choice>
        <mc:Fallback xmlns="">
          <p:graphicFrame>
            <p:nvGraphicFramePr>
              <p:cNvPr id="8" name="コンテンツ プレースホルダー 7">
                <a:extLst>
                  <a:ext uri="{FF2B5EF4-FFF2-40B4-BE49-F238E27FC236}">
                    <a16:creationId xmlns:a16="http://schemas.microsoft.com/office/drawing/2014/main" id="{ADB9F697-4F04-7D93-353A-5B83CE1A8DD4}"/>
                  </a:ext>
                </a:extLst>
              </p:cNvPr>
              <p:cNvGraphicFramePr>
                <a:graphicFrameLocks/>
              </p:cNvGraphicFramePr>
              <p:nvPr>
                <p:extLst>
                  <p:ext uri="{D42A27DB-BD31-4B8C-83A1-F6EECF244321}">
                    <p14:modId xmlns:p14="http://schemas.microsoft.com/office/powerpoint/2010/main" val="1824667482"/>
                  </p:ext>
                </p:extLst>
              </p:nvPr>
            </p:nvGraphicFramePr>
            <p:xfrm>
              <a:off x="7680176" y="792163"/>
              <a:ext cx="4416552" cy="5107178"/>
            </p:xfrm>
            <a:graphic>
              <a:graphicData uri="http://schemas.openxmlformats.org/drawingml/2006/table">
                <a:tbl>
                  <a:tblPr firstRow="1" bandRow="1">
                    <a:tableStyleId>{073A0DAA-6AF3-43AB-8588-CEC1D06C72B9}</a:tableStyleId>
                  </a:tblPr>
                  <a:tblGrid>
                    <a:gridCol w="936752">
                      <a:extLst>
                        <a:ext uri="{9D8B030D-6E8A-4147-A177-3AD203B41FA5}">
                          <a16:colId xmlns:a16="http://schemas.microsoft.com/office/drawing/2014/main" val="2976928265"/>
                        </a:ext>
                      </a:extLst>
                    </a:gridCol>
                    <a:gridCol w="3479800">
                      <a:extLst>
                        <a:ext uri="{9D8B030D-6E8A-4147-A177-3AD203B41FA5}">
                          <a16:colId xmlns:a16="http://schemas.microsoft.com/office/drawing/2014/main" val="591180217"/>
                        </a:ext>
                      </a:extLst>
                    </a:gridCol>
                  </a:tblGrid>
                  <a:tr h="370840">
                    <a:tc>
                      <a:txBody>
                        <a:bodyPr/>
                        <a:lstStyle/>
                        <a:p>
                          <a:r>
                            <a:rPr kumimoji="1" lang="ja-JP" altLang="en-US" dirty="0"/>
                            <a:t>変数</a:t>
                          </a:r>
                        </a:p>
                      </a:txBody>
                      <a:tcPr anchor="ctr"/>
                    </a:tc>
                    <a:tc>
                      <a:txBody>
                        <a:bodyPr/>
                        <a:lstStyle/>
                        <a:p>
                          <a:r>
                            <a:rPr kumimoji="1" lang="ja-JP" altLang="en-US" dirty="0"/>
                            <a:t>定義</a:t>
                          </a:r>
                        </a:p>
                      </a:txBody>
                      <a:tcPr anchor="ctr"/>
                    </a:tc>
                    <a:extLst>
                      <a:ext uri="{0D108BD9-81ED-4DB2-BD59-A6C34878D82A}">
                        <a16:rowId xmlns:a16="http://schemas.microsoft.com/office/drawing/2014/main" val="2681140504"/>
                      </a:ext>
                    </a:extLst>
                  </a:tr>
                  <a:tr h="370840">
                    <a:tc>
                      <a:txBody>
                        <a:bodyPr/>
                        <a:lstStyle/>
                        <a:p>
                          <a:endParaRPr lang="ja-JP"/>
                        </a:p>
                      </a:txBody>
                      <a:tcPr anchor="ctr">
                        <a:blipFill>
                          <a:blip r:embed="rId2"/>
                          <a:stretch>
                            <a:fillRect l="-649" t="-103279" r="-374026" b="-1203279"/>
                          </a:stretch>
                        </a:blipFill>
                      </a:tcPr>
                    </a:tc>
                    <a:tc>
                      <a:txBody>
                        <a:bodyPr/>
                        <a:lstStyle/>
                        <a:p>
                          <a:r>
                            <a:rPr kumimoji="1" lang="ja-JP" altLang="en-US" dirty="0"/>
                            <a:t>階層モデル中の</a:t>
                          </a:r>
                          <a:r>
                            <a:rPr kumimoji="1" lang="en-US" altLang="ja-JP" dirty="0"/>
                            <a:t>AHP</a:t>
                          </a:r>
                          <a:r>
                            <a:rPr kumimoji="1" lang="ja-JP" altLang="en-US" dirty="0"/>
                            <a:t>の数</a:t>
                          </a:r>
                        </a:p>
                      </a:txBody>
                      <a:tcPr anchor="ctr"/>
                    </a:tc>
                    <a:extLst>
                      <a:ext uri="{0D108BD9-81ED-4DB2-BD59-A6C34878D82A}">
                        <a16:rowId xmlns:a16="http://schemas.microsoft.com/office/drawing/2014/main" val="2112526220"/>
                      </a:ext>
                    </a:extLst>
                  </a:tr>
                  <a:tr h="370840">
                    <a:tc>
                      <a:txBody>
                        <a:bodyPr/>
                        <a:lstStyle/>
                        <a:p>
                          <a:endParaRPr lang="ja-JP"/>
                        </a:p>
                      </a:txBody>
                      <a:tcPr anchor="ctr">
                        <a:blipFill>
                          <a:blip r:embed="rId2"/>
                          <a:stretch>
                            <a:fillRect l="-649" t="-203279" r="-374026" b="-1103279"/>
                          </a:stretch>
                        </a:blipFill>
                      </a:tcPr>
                    </a:tc>
                    <a:tc>
                      <a:txBody>
                        <a:bodyPr/>
                        <a:lstStyle/>
                        <a:p>
                          <a:r>
                            <a:rPr kumimoji="1" lang="ja-JP" altLang="en-US" dirty="0"/>
                            <a:t>階層モデル中の</a:t>
                          </a:r>
                          <a:r>
                            <a:rPr kumimoji="1" lang="en-US" altLang="ja-JP" dirty="0"/>
                            <a:t>Fuzzy</a:t>
                          </a:r>
                          <a:r>
                            <a:rPr kumimoji="1" lang="ja-JP" altLang="en-US" dirty="0"/>
                            <a:t>推論の数</a:t>
                          </a:r>
                        </a:p>
                      </a:txBody>
                      <a:tcPr anchor="ctr"/>
                    </a:tc>
                    <a:extLst>
                      <a:ext uri="{0D108BD9-81ED-4DB2-BD59-A6C34878D82A}">
                        <a16:rowId xmlns:a16="http://schemas.microsoft.com/office/drawing/2014/main" val="780508247"/>
                      </a:ext>
                    </a:extLst>
                  </a:tr>
                  <a:tr h="370840">
                    <a:tc>
                      <a:txBody>
                        <a:bodyPr/>
                        <a:lstStyle/>
                        <a:p>
                          <a:endParaRPr lang="ja-JP"/>
                        </a:p>
                      </a:txBody>
                      <a:tcPr anchor="ctr">
                        <a:blipFill>
                          <a:blip r:embed="rId2"/>
                          <a:stretch>
                            <a:fillRect l="-649" t="-303279" r="-374026" b="-1003279"/>
                          </a:stretch>
                        </a:blipFill>
                      </a:tcPr>
                    </a:tc>
                    <a:tc>
                      <a:txBody>
                        <a:bodyPr/>
                        <a:lstStyle/>
                        <a:p>
                          <a:r>
                            <a:rPr kumimoji="1" lang="ja-JP" altLang="en-US" dirty="0"/>
                            <a:t>比較対象（患者）の数</a:t>
                          </a:r>
                        </a:p>
                      </a:txBody>
                      <a:tcPr anchor="ctr"/>
                    </a:tc>
                    <a:extLst>
                      <a:ext uri="{0D108BD9-81ED-4DB2-BD59-A6C34878D82A}">
                        <a16:rowId xmlns:a16="http://schemas.microsoft.com/office/drawing/2014/main" val="82173697"/>
                      </a:ext>
                    </a:extLst>
                  </a:tr>
                  <a:tr h="370840">
                    <a:tc>
                      <a:txBody>
                        <a:bodyPr/>
                        <a:lstStyle/>
                        <a:p>
                          <a:endParaRPr lang="ja-JP"/>
                        </a:p>
                      </a:txBody>
                      <a:tcPr anchor="ctr">
                        <a:blipFill>
                          <a:blip r:embed="rId2"/>
                          <a:stretch>
                            <a:fillRect l="-649" t="-403279" r="-374026" b="-903279"/>
                          </a:stretch>
                        </a:blipFill>
                      </a:tcPr>
                    </a:tc>
                    <a:tc>
                      <a:txBody>
                        <a:bodyPr/>
                        <a:lstStyle/>
                        <a:p>
                          <a:endParaRPr lang="ja-JP"/>
                        </a:p>
                      </a:txBody>
                      <a:tcPr anchor="ctr">
                        <a:blipFill>
                          <a:blip r:embed="rId2"/>
                          <a:stretch>
                            <a:fillRect l="-27098" t="-403279" r="-699" b="-903279"/>
                          </a:stretch>
                        </a:blipFill>
                      </a:tcPr>
                    </a:tc>
                    <a:extLst>
                      <a:ext uri="{0D108BD9-81ED-4DB2-BD59-A6C34878D82A}">
                        <a16:rowId xmlns:a16="http://schemas.microsoft.com/office/drawing/2014/main" val="950966567"/>
                      </a:ext>
                    </a:extLst>
                  </a:tr>
                  <a:tr h="387858">
                    <a:tc>
                      <a:txBody>
                        <a:bodyPr/>
                        <a:lstStyle/>
                        <a:p>
                          <a:endParaRPr lang="ja-JP"/>
                        </a:p>
                      </a:txBody>
                      <a:tcPr anchor="ctr">
                        <a:blipFill>
                          <a:blip r:embed="rId2"/>
                          <a:stretch>
                            <a:fillRect l="-649" t="-487302" r="-374026" b="-774603"/>
                          </a:stretch>
                        </a:blipFill>
                      </a:tcPr>
                    </a:tc>
                    <a:tc>
                      <a:txBody>
                        <a:bodyPr/>
                        <a:lstStyle/>
                        <a:p>
                          <a:endParaRPr lang="ja-JP"/>
                        </a:p>
                      </a:txBody>
                      <a:tcPr anchor="ctr">
                        <a:blipFill>
                          <a:blip r:embed="rId2"/>
                          <a:stretch>
                            <a:fillRect l="-27098" t="-487302" r="-699" b="-774603"/>
                          </a:stretch>
                        </a:blipFill>
                      </a:tcPr>
                    </a:tc>
                    <a:extLst>
                      <a:ext uri="{0D108BD9-81ED-4DB2-BD59-A6C34878D82A}">
                        <a16:rowId xmlns:a16="http://schemas.microsoft.com/office/drawing/2014/main" val="888060706"/>
                      </a:ext>
                    </a:extLst>
                  </a:tr>
                  <a:tr h="640080">
                    <a:tc>
                      <a:txBody>
                        <a:bodyPr/>
                        <a:lstStyle/>
                        <a:p>
                          <a:endParaRPr lang="ja-JP"/>
                        </a:p>
                      </a:txBody>
                      <a:tcPr anchor="ctr">
                        <a:blipFill>
                          <a:blip r:embed="rId2"/>
                          <a:stretch>
                            <a:fillRect l="-649" t="-352381" r="-374026" b="-364762"/>
                          </a:stretch>
                        </a:blipFill>
                      </a:tcPr>
                    </a:tc>
                    <a:tc>
                      <a:txBody>
                        <a:bodyPr/>
                        <a:lstStyle/>
                        <a:p>
                          <a:endParaRPr lang="ja-JP"/>
                        </a:p>
                      </a:txBody>
                      <a:tcPr anchor="ctr">
                        <a:blipFill>
                          <a:blip r:embed="rId2"/>
                          <a:stretch>
                            <a:fillRect l="-27098" t="-352381" r="-699" b="-364762"/>
                          </a:stretch>
                        </a:blipFill>
                      </a:tcPr>
                    </a:tc>
                    <a:extLst>
                      <a:ext uri="{0D108BD9-81ED-4DB2-BD59-A6C34878D82A}">
                        <a16:rowId xmlns:a16="http://schemas.microsoft.com/office/drawing/2014/main" val="2047826207"/>
                      </a:ext>
                    </a:extLst>
                  </a:tr>
                  <a:tr h="370840">
                    <a:tc>
                      <a:txBody>
                        <a:bodyPr/>
                        <a:lstStyle/>
                        <a:p>
                          <a:endParaRPr lang="ja-JP"/>
                        </a:p>
                      </a:txBody>
                      <a:tcPr anchor="ctr">
                        <a:blipFill>
                          <a:blip r:embed="rId2"/>
                          <a:stretch>
                            <a:fillRect l="-649" t="-778689" r="-374026" b="-527869"/>
                          </a:stretch>
                        </a:blipFill>
                      </a:tcPr>
                    </a:tc>
                    <a:tc>
                      <a:txBody>
                        <a:bodyPr/>
                        <a:lstStyle/>
                        <a:p>
                          <a:endParaRPr lang="ja-JP"/>
                        </a:p>
                      </a:txBody>
                      <a:tcPr anchor="ctr">
                        <a:blipFill>
                          <a:blip r:embed="rId2"/>
                          <a:stretch>
                            <a:fillRect l="-27098" t="-778689" r="-699" b="-527869"/>
                          </a:stretch>
                        </a:blipFill>
                      </a:tcPr>
                    </a:tc>
                    <a:extLst>
                      <a:ext uri="{0D108BD9-81ED-4DB2-BD59-A6C34878D82A}">
                        <a16:rowId xmlns:a16="http://schemas.microsoft.com/office/drawing/2014/main" val="3997772173"/>
                      </a:ext>
                    </a:extLst>
                  </a:tr>
                  <a:tr h="370840">
                    <a:tc>
                      <a:txBody>
                        <a:bodyPr/>
                        <a:lstStyle/>
                        <a:p>
                          <a:endParaRPr lang="ja-JP"/>
                        </a:p>
                      </a:txBody>
                      <a:tcPr anchor="ctr">
                        <a:blipFill>
                          <a:blip r:embed="rId2"/>
                          <a:stretch>
                            <a:fillRect l="-649" t="-878689" r="-374026" b="-427869"/>
                          </a:stretch>
                        </a:blipFill>
                      </a:tcPr>
                    </a:tc>
                    <a:tc>
                      <a:txBody>
                        <a:bodyPr/>
                        <a:lstStyle/>
                        <a:p>
                          <a:r>
                            <a:rPr kumimoji="1" lang="ja-JP" altLang="en-US" dirty="0"/>
                            <a:t>階層モデル</a:t>
                          </a:r>
                        </a:p>
                      </a:txBody>
                      <a:tcPr anchor="ctr"/>
                    </a:tc>
                    <a:extLst>
                      <a:ext uri="{0D108BD9-81ED-4DB2-BD59-A6C34878D82A}">
                        <a16:rowId xmlns:a16="http://schemas.microsoft.com/office/drawing/2014/main" val="3376345640"/>
                      </a:ext>
                    </a:extLst>
                  </a:tr>
                  <a:tr h="370840">
                    <a:tc>
                      <a:txBody>
                        <a:bodyPr/>
                        <a:lstStyle/>
                        <a:p>
                          <a:endParaRPr lang="ja-JP"/>
                        </a:p>
                      </a:txBody>
                      <a:tcPr anchor="ctr">
                        <a:blipFill>
                          <a:blip r:embed="rId2"/>
                          <a:stretch>
                            <a:fillRect l="-649" t="-978689" r="-374026" b="-327869"/>
                          </a:stretch>
                        </a:blipFill>
                      </a:tcPr>
                    </a:tc>
                    <a:tc>
                      <a:txBody>
                        <a:bodyPr/>
                        <a:lstStyle/>
                        <a:p>
                          <a:endParaRPr lang="ja-JP"/>
                        </a:p>
                      </a:txBody>
                      <a:tcPr anchor="ctr">
                        <a:blipFill>
                          <a:blip r:embed="rId2"/>
                          <a:stretch>
                            <a:fillRect l="-27098" t="-978689" r="-699" b="-327869"/>
                          </a:stretch>
                        </a:blipFill>
                      </a:tcPr>
                    </a:tc>
                    <a:extLst>
                      <a:ext uri="{0D108BD9-81ED-4DB2-BD59-A6C34878D82A}">
                        <a16:rowId xmlns:a16="http://schemas.microsoft.com/office/drawing/2014/main" val="4290311576"/>
                      </a:ext>
                    </a:extLst>
                  </a:tr>
                  <a:tr h="370840">
                    <a:tc>
                      <a:txBody>
                        <a:bodyPr/>
                        <a:lstStyle/>
                        <a:p>
                          <a:endParaRPr lang="ja-JP"/>
                        </a:p>
                      </a:txBody>
                      <a:tcPr anchor="ctr">
                        <a:blipFill>
                          <a:blip r:embed="rId2"/>
                          <a:stretch>
                            <a:fillRect l="-649" t="-1078689" r="-374026" b="-227869"/>
                          </a:stretch>
                        </a:blipFill>
                      </a:tcPr>
                    </a:tc>
                    <a:tc>
                      <a:txBody>
                        <a:bodyPr/>
                        <a:lstStyle/>
                        <a:p>
                          <a:endParaRPr lang="ja-JP"/>
                        </a:p>
                      </a:txBody>
                      <a:tcPr anchor="ctr">
                        <a:blipFill>
                          <a:blip r:embed="rId2"/>
                          <a:stretch>
                            <a:fillRect l="-27098" t="-1078689" r="-699" b="-227869"/>
                          </a:stretch>
                        </a:blipFill>
                      </a:tcPr>
                    </a:tc>
                    <a:extLst>
                      <a:ext uri="{0D108BD9-81ED-4DB2-BD59-A6C34878D82A}">
                        <a16:rowId xmlns:a16="http://schemas.microsoft.com/office/drawing/2014/main" val="2813000330"/>
                      </a:ext>
                    </a:extLst>
                  </a:tr>
                  <a:tr h="370840">
                    <a:tc>
                      <a:txBody>
                        <a:bodyPr/>
                        <a:lstStyle/>
                        <a:p>
                          <a:endParaRPr lang="ja-JP"/>
                        </a:p>
                      </a:txBody>
                      <a:tcPr anchor="ctr">
                        <a:blipFill>
                          <a:blip r:embed="rId2"/>
                          <a:stretch>
                            <a:fillRect l="-649" t="-1178689" r="-374026" b="-127869"/>
                          </a:stretch>
                        </a:blipFill>
                      </a:tcPr>
                    </a:tc>
                    <a:tc>
                      <a:txBody>
                        <a:bodyPr/>
                        <a:lstStyle/>
                        <a:p>
                          <a:r>
                            <a:rPr kumimoji="1" lang="ja-JP" altLang="en-US" dirty="0"/>
                            <a:t>整合性指標</a:t>
                          </a:r>
                        </a:p>
                      </a:txBody>
                      <a:tcPr anchor="ctr"/>
                    </a:tc>
                    <a:extLst>
                      <a:ext uri="{0D108BD9-81ED-4DB2-BD59-A6C34878D82A}">
                        <a16:rowId xmlns:a16="http://schemas.microsoft.com/office/drawing/2014/main" val="4198478982"/>
                      </a:ext>
                    </a:extLst>
                  </a:tr>
                  <a:tr h="370840">
                    <a:tc>
                      <a:txBody>
                        <a:bodyPr/>
                        <a:lstStyle/>
                        <a:p>
                          <a:endParaRPr lang="ja-JP"/>
                        </a:p>
                      </a:txBody>
                      <a:tcPr anchor="ctr">
                        <a:blipFill>
                          <a:blip r:embed="rId2"/>
                          <a:stretch>
                            <a:fillRect l="-649" t="-1278689" r="-374026" b="-27869"/>
                          </a:stretch>
                        </a:blipFill>
                      </a:tcPr>
                    </a:tc>
                    <a:tc>
                      <a:txBody>
                        <a:bodyPr/>
                        <a:lstStyle/>
                        <a:p>
                          <a:r>
                            <a:rPr kumimoji="1" lang="ja-JP" altLang="en-US" dirty="0"/>
                            <a:t>整合性指標の上限値</a:t>
                          </a:r>
                        </a:p>
                      </a:txBody>
                      <a:tcPr anchor="ctr"/>
                    </a:tc>
                    <a:extLst>
                      <a:ext uri="{0D108BD9-81ED-4DB2-BD59-A6C34878D82A}">
                        <a16:rowId xmlns:a16="http://schemas.microsoft.com/office/drawing/2014/main" val="3736557178"/>
                      </a:ext>
                    </a:extLst>
                  </a:tr>
                </a:tbl>
              </a:graphicData>
            </a:graphic>
          </p:graphicFrame>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57669457-BF00-3AD9-805D-1A2FB7A7EC24}"/>
                  </a:ext>
                </a:extLst>
              </p:cNvPr>
              <p:cNvSpPr txBox="1"/>
              <p:nvPr/>
            </p:nvSpPr>
            <p:spPr>
              <a:xfrm>
                <a:off x="540344" y="1268760"/>
                <a:ext cx="1542858" cy="452816"/>
              </a:xfrm>
              <a:prstGeom prst="rect">
                <a:avLst/>
              </a:prstGeom>
              <a:noFill/>
            </p:spPr>
            <p:txBody>
              <a:bodyPr wrap="none" rtlCol="0">
                <a:spAutoFit/>
              </a:bodyPr>
              <a:lstStyle/>
              <a:p>
                <a:pPr/>
                <a14:m>
                  <m:oMathPara xmlns:m="http://schemas.openxmlformats.org/officeDocument/2006/math">
                    <m:oMath>
                      <m:func>
                        <m:funcPr>
                          <m:ctrlPr>
                            <a:rPr kumimoji="1" lang="en-US" altLang="ja-JP" b="0" i="1" smtClean="0">
                              <a:latin typeface="Cambria Math" panose="02040503050406030204" pitchFamily="18" charset="0"/>
                            </a:rPr>
                          </m:ctrlPr>
                        </m:funcPr>
                        <m:fName>
                          <m:limLow>
                            <m:limLowPr>
                              <m:ctrlPr>
                                <a:rPr kumimoji="1" lang="en-US" altLang="ja-JP" b="0" i="0" smtClean="0">
                                  <a:latin typeface="Cambria Math" panose="02040503050406030204" pitchFamily="18" charset="0"/>
                                </a:rPr>
                              </m:ctrlPr>
                            </m:limLowPr>
                            <m:e>
                              <m:r>
                                <m:rPr>
                                  <m:sty m:val="p"/>
                                </m:rPr>
                                <a:rPr kumimoji="1" lang="en-US" altLang="ja-JP" b="0" i="0" smtClean="0">
                                  <a:latin typeface="Cambria Math" panose="02040503050406030204" pitchFamily="18" charset="0"/>
                                </a:rPr>
                                <m:t>min</m:t>
                              </m:r>
                            </m:e>
                            <m:lim>
                              <m:r>
                                <a:rPr kumimoji="1" lang="en-US" altLang="ja-JP" b="1" i="1" smtClean="0">
                                  <a:latin typeface="Cambria Math" panose="02040503050406030204" pitchFamily="18" charset="0"/>
                                </a:rPr>
                                <m:t>𝜽</m:t>
                              </m:r>
                            </m:lim>
                          </m:limLow>
                        </m:fName>
                        <m:e>
                          <m:d>
                            <m:dPr>
                              <m:begChr m:val="‖"/>
                              <m:endChr m:val="‖"/>
                              <m:ctrlPr>
                                <a:rPr lang="en-US" altLang="ja-JP" b="1" i="1">
                                  <a:latin typeface="Cambria Math" panose="02040503050406030204" pitchFamily="18" charset="0"/>
                                </a:rPr>
                              </m:ctrlPr>
                            </m:dPr>
                            <m:e>
                              <m:r>
                                <a:rPr lang="en-US" altLang="ja-JP" b="1" i="1">
                                  <a:latin typeface="Cambria Math" panose="02040503050406030204" pitchFamily="18" charset="0"/>
                                </a:rPr>
                                <m:t>𝜽</m:t>
                              </m:r>
                              <m:r>
                                <a:rPr lang="en-US" altLang="ja-JP" i="1">
                                  <a:latin typeface="Cambria Math" panose="02040503050406030204" pitchFamily="18" charset="0"/>
                                </a:rPr>
                                <m:t>−</m:t>
                              </m:r>
                              <m:sSub>
                                <m:sSubPr>
                                  <m:ctrlPr>
                                    <a:rPr lang="en-US" altLang="ja-JP" b="1" i="1">
                                      <a:latin typeface="Cambria Math" panose="02040503050406030204" pitchFamily="18" charset="0"/>
                                    </a:rPr>
                                  </m:ctrlPr>
                                </m:sSubPr>
                                <m:e>
                                  <m:r>
                                    <a:rPr lang="en-US" altLang="ja-JP" b="1" i="1">
                                      <a:latin typeface="Cambria Math" panose="02040503050406030204" pitchFamily="18" charset="0"/>
                                    </a:rPr>
                                    <m:t>𝜽</m:t>
                                  </m:r>
                                </m:e>
                                <m:sub>
                                  <m:r>
                                    <a:rPr lang="en-US" altLang="ja-JP" i="1">
                                      <a:latin typeface="Cambria Math" panose="02040503050406030204" pitchFamily="18" charset="0"/>
                                    </a:rPr>
                                    <m:t>0</m:t>
                                  </m:r>
                                </m:sub>
                              </m:sSub>
                            </m:e>
                          </m:d>
                        </m:e>
                      </m:func>
                    </m:oMath>
                  </m:oMathPara>
                </a14:m>
                <a:endParaRPr kumimoji="1" lang="ja-JP" altLang="en-US" dirty="0"/>
              </a:p>
            </p:txBody>
          </p:sp>
        </mc:Choice>
        <mc:Fallback xmlns="">
          <p:sp>
            <p:nvSpPr>
              <p:cNvPr id="9" name="テキスト ボックス 8">
                <a:extLst>
                  <a:ext uri="{FF2B5EF4-FFF2-40B4-BE49-F238E27FC236}">
                    <a16:creationId xmlns:a16="http://schemas.microsoft.com/office/drawing/2014/main" id="{57669457-BF00-3AD9-805D-1A2FB7A7EC24}"/>
                  </a:ext>
                </a:extLst>
              </p:cNvPr>
              <p:cNvSpPr txBox="1">
                <a:spLocks noRot="1" noChangeAspect="1" noMove="1" noResize="1" noEditPoints="1" noAdjustHandles="1" noChangeArrowheads="1" noChangeShapeType="1" noTextEdit="1"/>
              </p:cNvSpPr>
              <p:nvPr/>
            </p:nvSpPr>
            <p:spPr>
              <a:xfrm>
                <a:off x="540344" y="1268760"/>
                <a:ext cx="1542858" cy="452816"/>
              </a:xfrm>
              <a:prstGeom prst="rect">
                <a:avLst/>
              </a:prstGeom>
              <a:blipFill>
                <a:blip r:embed="rId3"/>
                <a:stretch>
                  <a:fillRect b="-270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2B4980C1-BA56-BB21-4F48-E5A4434707D1}"/>
                  </a:ext>
                </a:extLst>
              </p:cNvPr>
              <p:cNvSpPr txBox="1"/>
              <p:nvPr/>
            </p:nvSpPr>
            <p:spPr>
              <a:xfrm>
                <a:off x="540344" y="1832025"/>
                <a:ext cx="637482" cy="369332"/>
              </a:xfrm>
              <a:prstGeom prst="rect">
                <a:avLst/>
              </a:prstGeom>
              <a:noFill/>
            </p:spPr>
            <p:txBody>
              <a:bodyPr wrap="none" rtlCol="0">
                <a:spAutoFit/>
              </a:bodyPr>
              <a:lstStyle/>
              <a:p>
                <a:pPr/>
                <a14:m>
                  <m:oMathPara xmlns:m="http://schemas.openxmlformats.org/officeDocument/2006/math">
                    <m:oMath>
                      <m:r>
                        <a:rPr kumimoji="1" lang="en-US" altLang="ja-JP"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 </m:t>
                      </m:r>
                    </m:oMath>
                  </m:oMathPara>
                </a14:m>
                <a:endParaRPr kumimoji="1" lang="ja-JP" altLang="en-US" dirty="0"/>
              </a:p>
            </p:txBody>
          </p:sp>
        </mc:Choice>
        <mc:Fallback xmlns="">
          <p:sp>
            <p:nvSpPr>
              <p:cNvPr id="10" name="テキスト ボックス 9">
                <a:extLst>
                  <a:ext uri="{FF2B5EF4-FFF2-40B4-BE49-F238E27FC236}">
                    <a16:creationId xmlns:a16="http://schemas.microsoft.com/office/drawing/2014/main" id="{2B4980C1-BA56-BB21-4F48-E5A4434707D1}"/>
                  </a:ext>
                </a:extLst>
              </p:cNvPr>
              <p:cNvSpPr txBox="1">
                <a:spLocks noRot="1" noChangeAspect="1" noMove="1" noResize="1" noEditPoints="1" noAdjustHandles="1" noChangeArrowheads="1" noChangeShapeType="1" noTextEdit="1"/>
              </p:cNvSpPr>
              <p:nvPr/>
            </p:nvSpPr>
            <p:spPr>
              <a:xfrm>
                <a:off x="540344" y="1832025"/>
                <a:ext cx="637482"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72F351F-E09B-53B6-0AF5-781A003B0540}"/>
                  </a:ext>
                </a:extLst>
              </p:cNvPr>
              <p:cNvSpPr txBox="1"/>
              <p:nvPr/>
            </p:nvSpPr>
            <p:spPr>
              <a:xfrm>
                <a:off x="1103663" y="1832025"/>
                <a:ext cx="3463833" cy="1200329"/>
              </a:xfrm>
              <a:prstGeom prst="rect">
                <a:avLst/>
              </a:prstGeom>
              <a:noFill/>
            </p:spPr>
            <p:txBody>
              <a:bodyPr wrap="none" rtlCol="0">
                <a:spAutoFit/>
              </a:bodyPr>
              <a:lstStyle/>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𝑦</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i="1">
                        <a:latin typeface="Cambria Math" panose="02040503050406030204" pitchFamily="18" charset="0"/>
                      </a:rPr>
                      <m:t>𝐻</m:t>
                    </m:r>
                    <m:d>
                      <m:dPr>
                        <m:ctrlPr>
                          <a:rPr lang="en-US" altLang="ja-JP" i="1">
                            <a:latin typeface="Cambria Math" panose="02040503050406030204" pitchFamily="18" charset="0"/>
                          </a:rPr>
                        </m:ctrlPr>
                      </m:dPr>
                      <m:e>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r>
                          <a:rPr lang="en-US" altLang="ja-JP" b="1" i="1">
                            <a:latin typeface="Cambria Math" panose="02040503050406030204" pitchFamily="18" charset="0"/>
                          </a:rPr>
                          <m:t>𝜽</m:t>
                        </m:r>
                      </m:e>
                    </m:d>
                    <m:r>
                      <a:rPr lang="en-US" altLang="ja-JP" i="1">
                        <a:latin typeface="Cambria Math" panose="02040503050406030204" pitchFamily="18" charset="0"/>
                      </a:rPr>
                      <m:t> </m:t>
                    </m:r>
                    <m:r>
                      <a:rPr lang="en-US" altLang="ja-JP" b="0" i="1" smtClean="0">
                        <a:latin typeface="Cambria Math" panose="02040503050406030204" pitchFamily="18" charset="0"/>
                      </a:rPr>
                      <m:t> </m:t>
                    </m:r>
                    <m:r>
                      <a:rPr lang="en-US" altLang="ja-JP" b="0" i="1" smtClean="0">
                        <a:latin typeface="Cambria Math" panose="02040503050406030204" pitchFamily="18" charset="0"/>
                      </a:rPr>
                      <m:t>𝑓𝑜𝑟</m:t>
                    </m:r>
                    <m:r>
                      <a:rPr lang="en-US" altLang="ja-JP" b="0" i="1" smtClean="0">
                        <a:latin typeface="Cambria Math" panose="02040503050406030204" pitchFamily="18" charset="0"/>
                      </a:rPr>
                      <m:t> </m:t>
                    </m:r>
                    <m:r>
                      <a:rPr lang="en-US" altLang="ja-JP" b="0" i="1" smtClean="0">
                        <a:latin typeface="Cambria Math" panose="02040503050406030204" pitchFamily="18" charset="0"/>
                      </a:rPr>
                      <m:t>𝑖</m:t>
                    </m:r>
                    <m:r>
                      <a:rPr lang="en-US" altLang="ja-JP" b="0" i="1" smtClean="0">
                        <a:latin typeface="Cambria Math" panose="02040503050406030204" pitchFamily="18" charset="0"/>
                      </a:rPr>
                      <m:t> </m:t>
                    </m:r>
                    <m:r>
                      <a:rPr lang="en-US" altLang="ja-JP" b="0" i="1" smtClean="0">
                        <a:latin typeface="Cambria Math" panose="02040503050406030204" pitchFamily="18" charset="0"/>
                      </a:rPr>
                      <m:t>𝑖𝑛</m:t>
                    </m:r>
                    <m:r>
                      <a:rPr lang="en-US" altLang="ja-JP" b="0" i="1" smtClean="0">
                        <a:latin typeface="Cambria Math" panose="02040503050406030204" pitchFamily="18" charset="0"/>
                      </a:rPr>
                      <m:t> {1,…,</m:t>
                    </m:r>
                    <m:r>
                      <a:rPr lang="en-US" altLang="ja-JP" b="0" i="1" smtClean="0">
                        <a:latin typeface="Cambria Math" panose="02040503050406030204" pitchFamily="18" charset="0"/>
                      </a:rPr>
                      <m:t>𝑛</m:t>
                    </m:r>
                    <m:r>
                      <a:rPr lang="en-US" altLang="ja-JP" b="0" i="1" smtClean="0">
                        <a:latin typeface="Cambria Math" panose="02040503050406030204" pitchFamily="18" charset="0"/>
                      </a:rPr>
                      <m:t>}</m:t>
                    </m:r>
                  </m:oMath>
                </a14:m>
                <a:r>
                  <a:rPr lang="en-US" altLang="ja-JP" i="1" dirty="0">
                    <a:latin typeface="Cambria Math" panose="02040503050406030204" pitchFamily="18" charset="0"/>
                  </a:rPr>
                  <a:t> </a:t>
                </a:r>
              </a:p>
              <a:p>
                <a14:m>
                  <m:oMath xmlns:m="http://schemas.openxmlformats.org/officeDocument/2006/math">
                    <m:r>
                      <a:rPr kumimoji="1" lang="en-US" altLang="ja-JP" b="1" i="1" smtClean="0">
                        <a:latin typeface="Cambria Math" panose="02040503050406030204" pitchFamily="18" charset="0"/>
                      </a:rPr>
                      <m:t>𝒓</m:t>
                    </m:r>
                    <m:r>
                      <a:rPr kumimoji="1" lang="en-US" altLang="ja-JP" b="0" i="1" smtClean="0">
                        <a:latin typeface="Cambria Math" panose="02040503050406030204" pitchFamily="18" charset="0"/>
                      </a:rPr>
                      <m:t>=</m:t>
                    </m:r>
                    <m:r>
                      <a:rPr kumimoji="1" lang="en-US" altLang="ja-JP" i="1" smtClean="0">
                        <a:latin typeface="Cambria Math" panose="02040503050406030204" pitchFamily="18" charset="0"/>
                      </a:rPr>
                      <m:t>𝑟</m:t>
                    </m:r>
                    <m:r>
                      <a:rPr kumimoji="1" lang="en-US" altLang="ja-JP" b="0" i="1" smtClean="0">
                        <a:latin typeface="Cambria Math" panose="02040503050406030204" pitchFamily="18" charset="0"/>
                      </a:rPr>
                      <m:t>𝑎𝑛𝑘𝑖𝑛𝑔</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𝑦</m:t>
                            </m:r>
                          </m:e>
                          <m:sub>
                            <m:r>
                              <a:rPr kumimoji="1" lang="en-US" altLang="ja-JP" b="0" i="1" smtClean="0">
                                <a:latin typeface="Cambria Math" panose="02040503050406030204" pitchFamily="18" charset="0"/>
                              </a:rPr>
                              <m:t>𝑛</m:t>
                            </m:r>
                          </m:sub>
                        </m:sSub>
                      </m:e>
                    </m:d>
                    <m:r>
                      <a:rPr kumimoji="1" lang="en-US" altLang="ja-JP" b="0" i="1" smtClean="0">
                        <a:latin typeface="Cambria Math" panose="02040503050406030204" pitchFamily="18" charset="0"/>
                      </a:rPr>
                      <m:t>=</m:t>
                    </m:r>
                    <m:sSup>
                      <m:sSupPr>
                        <m:ctrlPr>
                          <a:rPr lang="en-US" altLang="ja-JP" b="1" i="1">
                            <a:latin typeface="Cambria Math" panose="02040503050406030204" pitchFamily="18" charset="0"/>
                          </a:rPr>
                        </m:ctrlPr>
                      </m:sSupPr>
                      <m:e>
                        <m:r>
                          <a:rPr lang="en-US" altLang="ja-JP" b="1" i="1">
                            <a:latin typeface="Cambria Math" panose="02040503050406030204" pitchFamily="18" charset="0"/>
                          </a:rPr>
                          <m:t>𝒓</m:t>
                        </m:r>
                      </m:e>
                      <m:sup>
                        <m:r>
                          <a:rPr lang="en-US" altLang="ja-JP" b="0" i="1" smtClean="0">
                            <a:latin typeface="Cambria Math" panose="02040503050406030204" pitchFamily="18" charset="0"/>
                          </a:rPr>
                          <m:t>∗</m:t>
                        </m:r>
                      </m:sup>
                    </m:sSup>
                  </m:oMath>
                </a14:m>
                <a:r>
                  <a:rPr kumimoji="1" lang="en-US" altLang="ja-JP" b="0" dirty="0"/>
                  <a:t> </a:t>
                </a:r>
              </a:p>
              <a:p>
                <a14:m>
                  <m:oMath xmlns:m="http://schemas.openxmlformats.org/officeDocument/2006/math">
                    <m:r>
                      <a:rPr lang="en-US" altLang="ja-JP" b="0" i="1" smtClean="0">
                        <a:latin typeface="Cambria Math" panose="02040503050406030204" pitchFamily="18" charset="0"/>
                      </a:rPr>
                      <m:t>𝐶𝐼</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𝐴</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&lt;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𝑐</m:t>
                        </m:r>
                      </m:e>
                      <m:sub>
                        <m:r>
                          <a:rPr lang="en-US" altLang="ja-JP" b="0" i="1" smtClean="0">
                            <a:latin typeface="Cambria Math" panose="02040503050406030204" pitchFamily="18" charset="0"/>
                          </a:rPr>
                          <m:t>𝑤𝑜𝑟𝑠𝑡</m:t>
                        </m:r>
                      </m:sub>
                    </m:sSub>
                    <m:r>
                      <a:rPr lang="en-US" altLang="ja-JP" i="1">
                        <a:latin typeface="Cambria Math" panose="02040503050406030204" pitchFamily="18" charset="0"/>
                      </a:rPr>
                      <m:t>  </m:t>
                    </m:r>
                    <m:r>
                      <a:rPr lang="en-US" altLang="ja-JP" i="1">
                        <a:latin typeface="Cambria Math" panose="02040503050406030204" pitchFamily="18" charset="0"/>
                      </a:rPr>
                      <m:t>𝑓𝑜𝑟</m:t>
                    </m:r>
                    <m:r>
                      <a:rPr lang="en-US" altLang="ja-JP" i="1">
                        <a:latin typeface="Cambria Math" panose="02040503050406030204" pitchFamily="18" charset="0"/>
                      </a:rPr>
                      <m:t> </m:t>
                    </m:r>
                    <m:r>
                      <a:rPr lang="en-US" altLang="ja-JP" i="1">
                        <a:latin typeface="Cambria Math" panose="02040503050406030204" pitchFamily="18" charset="0"/>
                      </a:rPr>
                      <m:t>𝑖</m:t>
                    </m:r>
                    <m:r>
                      <a:rPr lang="en-US" altLang="ja-JP" i="1">
                        <a:latin typeface="Cambria Math" panose="02040503050406030204" pitchFamily="18" charset="0"/>
                      </a:rPr>
                      <m:t> </m:t>
                    </m:r>
                    <m:r>
                      <a:rPr lang="en-US" altLang="ja-JP" i="1">
                        <a:latin typeface="Cambria Math" panose="02040503050406030204" pitchFamily="18" charset="0"/>
                      </a:rPr>
                      <m:t>𝑖𝑛</m:t>
                    </m:r>
                    <m:r>
                      <a:rPr lang="en-US" altLang="ja-JP" i="1">
                        <a:latin typeface="Cambria Math" panose="02040503050406030204" pitchFamily="18" charset="0"/>
                      </a:rPr>
                      <m:t> {1,…,</m:t>
                    </m:r>
                    <m:r>
                      <a:rPr lang="en-US" altLang="ja-JP" b="0" i="1" smtClean="0">
                        <a:latin typeface="Cambria Math" panose="02040503050406030204" pitchFamily="18" charset="0"/>
                      </a:rPr>
                      <m:t>𝑙</m:t>
                    </m:r>
                    <m:r>
                      <a:rPr lang="en-US" altLang="ja-JP" i="1">
                        <a:latin typeface="Cambria Math" panose="02040503050406030204" pitchFamily="18" charset="0"/>
                      </a:rPr>
                      <m:t>}</m:t>
                    </m:r>
                  </m:oMath>
                </a14:m>
                <a:r>
                  <a:rPr lang="en-US" altLang="ja-JP" i="1" dirty="0">
                    <a:latin typeface="Cambria Math" panose="02040503050406030204" pitchFamily="18" charset="0"/>
                  </a:rPr>
                  <a:t> </a:t>
                </a:r>
              </a:p>
              <a:p>
                <a:endParaRPr kumimoji="1" lang="ja-JP" altLang="en-US" dirty="0"/>
              </a:p>
            </p:txBody>
          </p:sp>
        </mc:Choice>
        <mc:Fallback xmlns="">
          <p:sp>
            <p:nvSpPr>
              <p:cNvPr id="11" name="テキスト ボックス 10">
                <a:extLst>
                  <a:ext uri="{FF2B5EF4-FFF2-40B4-BE49-F238E27FC236}">
                    <a16:creationId xmlns:a16="http://schemas.microsoft.com/office/drawing/2014/main" id="{572F351F-E09B-53B6-0AF5-781A003B0540}"/>
                  </a:ext>
                </a:extLst>
              </p:cNvPr>
              <p:cNvSpPr txBox="1">
                <a:spLocks noRot="1" noChangeAspect="1" noMove="1" noResize="1" noEditPoints="1" noAdjustHandles="1" noChangeArrowheads="1" noChangeShapeType="1" noTextEdit="1"/>
              </p:cNvSpPr>
              <p:nvPr/>
            </p:nvSpPr>
            <p:spPr>
              <a:xfrm>
                <a:off x="1103663" y="1832025"/>
                <a:ext cx="3463833" cy="1200329"/>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362098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F6812-2B5C-2C35-AB28-D67C18C7185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671A3C5-C5E4-F0A5-1772-553C550619D8}"/>
              </a:ext>
            </a:extLst>
          </p:cNvPr>
          <p:cNvSpPr>
            <a:spLocks noGrp="1"/>
          </p:cNvSpPr>
          <p:nvPr>
            <p:ph type="ctrTitle"/>
          </p:nvPr>
        </p:nvSpPr>
        <p:spPr>
          <a:effectLst/>
        </p:spPr>
        <p:txBody>
          <a:bodyPr>
            <a:normAutofit/>
          </a:bodyPr>
          <a:lstStyle/>
          <a:p>
            <a:r>
              <a:rPr lang="ja-JP" altLang="en-US" sz="3200" dirty="0"/>
              <a:t>博士課程 研究構想についてのご相談</a:t>
            </a:r>
            <a:br>
              <a:rPr lang="en-US" altLang="ja-JP" sz="3200" dirty="0"/>
            </a:br>
            <a:r>
              <a:rPr lang="en-US" altLang="ja-JP" sz="2000" dirty="0"/>
              <a:t>~</a:t>
            </a:r>
            <a:r>
              <a:rPr lang="ja-JP" altLang="en-US" sz="2000" dirty="0"/>
              <a:t>博士研究の学術的コア議論</a:t>
            </a:r>
            <a:r>
              <a:rPr lang="en-US" altLang="ja-JP" sz="2000" dirty="0"/>
              <a:t>v1~</a:t>
            </a:r>
            <a:endParaRPr lang="ja-JP" altLang="en-US" sz="3200" dirty="0"/>
          </a:p>
        </p:txBody>
      </p:sp>
      <p:sp>
        <p:nvSpPr>
          <p:cNvPr id="3" name="字幕 2">
            <a:extLst>
              <a:ext uri="{FF2B5EF4-FFF2-40B4-BE49-F238E27FC236}">
                <a16:creationId xmlns:a16="http://schemas.microsoft.com/office/drawing/2014/main" id="{7951C15F-E91E-58A4-35BE-077F8FA28F77}"/>
              </a:ext>
            </a:extLst>
          </p:cNvPr>
          <p:cNvSpPr>
            <a:spLocks noGrp="1"/>
          </p:cNvSpPr>
          <p:nvPr>
            <p:ph type="subTitle" idx="1"/>
          </p:nvPr>
        </p:nvSpPr>
        <p:spPr>
          <a:xfrm>
            <a:off x="6096000" y="4149080"/>
            <a:ext cx="5184576" cy="1752600"/>
          </a:xfrm>
        </p:spPr>
        <p:txBody>
          <a:bodyPr>
            <a:normAutofit/>
          </a:bodyPr>
          <a:lstStyle/>
          <a:p>
            <a:pPr algn="r"/>
            <a:r>
              <a:rPr lang="ja-JP" altLang="en-US" sz="2000" dirty="0"/>
              <a:t>林出和之</a:t>
            </a:r>
            <a:endParaRPr kumimoji="1" lang="ja-JP" altLang="en-US" sz="2000" dirty="0"/>
          </a:p>
        </p:txBody>
      </p:sp>
      <p:sp>
        <p:nvSpPr>
          <p:cNvPr id="4" name="テキスト ボックス 3">
            <a:extLst>
              <a:ext uri="{FF2B5EF4-FFF2-40B4-BE49-F238E27FC236}">
                <a16:creationId xmlns:a16="http://schemas.microsoft.com/office/drawing/2014/main" id="{422A892D-A964-10F8-F1AF-ED45F9FA74D1}"/>
              </a:ext>
            </a:extLst>
          </p:cNvPr>
          <p:cNvSpPr txBox="1"/>
          <p:nvPr/>
        </p:nvSpPr>
        <p:spPr>
          <a:xfrm>
            <a:off x="479376" y="3778022"/>
            <a:ext cx="4801314" cy="1569660"/>
          </a:xfrm>
          <a:prstGeom prst="rect">
            <a:avLst/>
          </a:prstGeom>
          <a:noFill/>
        </p:spPr>
        <p:txBody>
          <a:bodyPr wrap="none" rtlCol="0">
            <a:spAutoFit/>
          </a:bodyPr>
          <a:lstStyle/>
          <a:p>
            <a:r>
              <a:rPr kumimoji="1" lang="ja-JP" altLang="en-US" sz="2400" b="1" dirty="0"/>
              <a:t>ご相談事項</a:t>
            </a:r>
            <a:endParaRPr kumimoji="1" lang="en-US" altLang="ja-JP" sz="2400" b="1" dirty="0"/>
          </a:p>
          <a:p>
            <a:r>
              <a:rPr kumimoji="1" lang="ja-JP" altLang="en-US" b="1" dirty="0"/>
              <a:t>新規研究について</a:t>
            </a:r>
          </a:p>
          <a:p>
            <a:r>
              <a:rPr kumimoji="1" lang="ja-JP" altLang="en-US" dirty="0"/>
              <a:t>　やりたいことの再掲</a:t>
            </a:r>
            <a:endParaRPr kumimoji="1" lang="en-US" altLang="ja-JP" dirty="0"/>
          </a:p>
          <a:p>
            <a:r>
              <a:rPr lang="ja-JP" altLang="en-US" dirty="0"/>
              <a:t>　課題の整理</a:t>
            </a:r>
            <a:endParaRPr lang="en-US" altLang="ja-JP" dirty="0"/>
          </a:p>
          <a:p>
            <a:r>
              <a:rPr kumimoji="1" lang="ja-JP" altLang="en-US" dirty="0"/>
              <a:t>　課題解決に必要な、学術的コアの整理状況</a:t>
            </a:r>
            <a:endParaRPr kumimoji="1" lang="en-US" altLang="ja-JP" dirty="0"/>
          </a:p>
        </p:txBody>
      </p:sp>
    </p:spTree>
    <p:extLst>
      <p:ext uri="{BB962C8B-B14F-4D97-AF65-F5344CB8AC3E}">
        <p14:creationId xmlns:p14="http://schemas.microsoft.com/office/powerpoint/2010/main" val="2884642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472E4-8003-E40E-069D-B7A90BBA1F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5E648C-4C62-41B9-7B1B-C2AD0BB97E3F}"/>
              </a:ext>
            </a:extLst>
          </p:cNvPr>
          <p:cNvSpPr>
            <a:spLocks noGrp="1"/>
          </p:cNvSpPr>
          <p:nvPr>
            <p:ph type="title"/>
          </p:nvPr>
        </p:nvSpPr>
        <p:spPr/>
        <p:txBody>
          <a:bodyPr/>
          <a:lstStyle/>
          <a:p>
            <a:r>
              <a:rPr kumimoji="1" lang="ja-JP" altLang="en-US" dirty="0"/>
              <a:t>やりたいこと・実現に際する課題</a:t>
            </a:r>
          </a:p>
        </p:txBody>
      </p:sp>
      <p:sp>
        <p:nvSpPr>
          <p:cNvPr id="3" name="コンテンツ プレースホルダー 2">
            <a:extLst>
              <a:ext uri="{FF2B5EF4-FFF2-40B4-BE49-F238E27FC236}">
                <a16:creationId xmlns:a16="http://schemas.microsoft.com/office/drawing/2014/main" id="{7817FEA4-B6FC-07C0-F7B6-5CD8D6311897}"/>
              </a:ext>
            </a:extLst>
          </p:cNvPr>
          <p:cNvSpPr>
            <a:spLocks noGrp="1"/>
          </p:cNvSpPr>
          <p:nvPr>
            <p:ph idx="1"/>
          </p:nvPr>
        </p:nvSpPr>
        <p:spPr/>
        <p:txBody>
          <a:bodyPr/>
          <a:lstStyle/>
          <a:p>
            <a:r>
              <a:rPr kumimoji="1" lang="ja-JP" altLang="en-US" dirty="0"/>
              <a:t>博士研究でやりたいこと</a:t>
            </a:r>
            <a:endParaRPr kumimoji="1" lang="en-US" altLang="ja-JP" dirty="0"/>
          </a:p>
          <a:p>
            <a:endParaRPr lang="en-US" altLang="ja-JP" dirty="0"/>
          </a:p>
          <a:p>
            <a:endParaRPr kumimoji="1" lang="en-US" altLang="ja-JP" dirty="0"/>
          </a:p>
          <a:p>
            <a:pPr lvl="1"/>
            <a:endParaRPr lang="en-US" altLang="ja-JP" dirty="0"/>
          </a:p>
          <a:p>
            <a:pPr lvl="1"/>
            <a:endParaRPr lang="en-US" altLang="ja-JP" dirty="0"/>
          </a:p>
          <a:p>
            <a:pPr lvl="4"/>
            <a:endParaRPr lang="en-US" altLang="ja-JP" dirty="0"/>
          </a:p>
          <a:p>
            <a:r>
              <a:rPr kumimoji="1" lang="ja-JP" altLang="en-US" dirty="0"/>
              <a:t>上記実現に際する課題</a:t>
            </a:r>
            <a:endParaRPr kumimoji="1" lang="en-US" altLang="ja-JP" dirty="0"/>
          </a:p>
          <a:p>
            <a:pPr marL="815975" lvl="1" indent="-457200">
              <a:buFont typeface="+mj-lt"/>
              <a:buAutoNum type="alphaUcParenR"/>
            </a:pPr>
            <a:r>
              <a:rPr lang="ja-JP" altLang="en-US" dirty="0"/>
              <a:t>システムによる通知や見守りロボットのタスクが実行された際に、</a:t>
            </a:r>
            <a:br>
              <a:rPr lang="en-US" altLang="ja-JP" dirty="0"/>
            </a:br>
            <a:r>
              <a:rPr lang="ja-JP" altLang="en-US" dirty="0"/>
              <a:t>病棟で生じる安全性や業務負荷の変化を予測すること</a:t>
            </a:r>
            <a:br>
              <a:rPr lang="en-US" altLang="ja-JP" dirty="0"/>
            </a:br>
            <a:endParaRPr lang="en-US" altLang="ja-JP" dirty="0"/>
          </a:p>
          <a:p>
            <a:pPr marL="815975" lvl="1" indent="-457200">
              <a:buFont typeface="+mj-lt"/>
              <a:buAutoNum type="alphaUcParenR"/>
            </a:pPr>
            <a:endParaRPr lang="en-US" altLang="ja-JP" dirty="0"/>
          </a:p>
          <a:p>
            <a:pPr marL="815975" lvl="1" indent="-457200">
              <a:buFont typeface="+mj-lt"/>
              <a:buAutoNum type="alphaUcParenR"/>
            </a:pPr>
            <a:r>
              <a:rPr kumimoji="1" lang="ja-JP" altLang="en-US" dirty="0"/>
              <a:t>予測結果に基づいて、患者の安全確保とスタッフの業務負荷低減を両立する、</a:t>
            </a:r>
            <a:br>
              <a:rPr kumimoji="1" lang="en-US" altLang="ja-JP" dirty="0"/>
            </a:br>
            <a:r>
              <a:rPr kumimoji="1" lang="ja-JP" altLang="en-US" dirty="0"/>
              <a:t>通知や見守りロボットのタスクを計画すること</a:t>
            </a:r>
          </a:p>
        </p:txBody>
      </p:sp>
      <p:sp>
        <p:nvSpPr>
          <p:cNvPr id="4" name="日付プレースホルダー 3">
            <a:extLst>
              <a:ext uri="{FF2B5EF4-FFF2-40B4-BE49-F238E27FC236}">
                <a16:creationId xmlns:a16="http://schemas.microsoft.com/office/drawing/2014/main" id="{1AFDA50B-E876-1783-4A2F-B42954651FDC}"/>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B5FC5910-3676-6892-78D6-10418A62D52F}"/>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6FBB9966-DDCC-879D-687F-A17994740DB5}"/>
              </a:ext>
            </a:extLst>
          </p:cNvPr>
          <p:cNvSpPr>
            <a:spLocks noGrp="1"/>
          </p:cNvSpPr>
          <p:nvPr>
            <p:ph type="sldNum" sz="quarter" idx="12"/>
          </p:nvPr>
        </p:nvSpPr>
        <p:spPr/>
        <p:txBody>
          <a:bodyPr/>
          <a:lstStyle/>
          <a:p>
            <a:fld id="{870B1737-2A00-4EFB-9FD3-149FCC30AA13}" type="slidenum">
              <a:rPr lang="ja-JP" altLang="en-US" smtClean="0"/>
              <a:pPr/>
              <a:t>14</a:t>
            </a:fld>
            <a:endParaRPr lang="ja-JP" altLang="en-US"/>
          </a:p>
        </p:txBody>
      </p:sp>
      <p:sp>
        <p:nvSpPr>
          <p:cNvPr id="7" name="正方形/長方形 6">
            <a:extLst>
              <a:ext uri="{FF2B5EF4-FFF2-40B4-BE49-F238E27FC236}">
                <a16:creationId xmlns:a16="http://schemas.microsoft.com/office/drawing/2014/main" id="{15639EDB-0EF8-324F-CD70-BC53E5C227CE}"/>
              </a:ext>
            </a:extLst>
          </p:cNvPr>
          <p:cNvSpPr/>
          <p:nvPr/>
        </p:nvSpPr>
        <p:spPr>
          <a:xfrm>
            <a:off x="839416" y="1268760"/>
            <a:ext cx="10513168" cy="7200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システムが病棟全体の安全や業務負荷にもたらす影響を陽に考慮して、</a:t>
            </a:r>
            <a:endParaRPr kumimoji="1" lang="en-US" altLang="ja-JP" b="1" dirty="0"/>
          </a:p>
          <a:p>
            <a:pPr algn="ctr"/>
            <a:r>
              <a:rPr lang="ja-JP" altLang="en-US" b="1" dirty="0"/>
              <a:t>通知や見守りロボットのタスクを計画できる、見守りシステムの実現</a:t>
            </a:r>
            <a:endParaRPr kumimoji="1" lang="ja-JP" altLang="en-US" b="1" dirty="0"/>
          </a:p>
        </p:txBody>
      </p:sp>
      <p:sp>
        <p:nvSpPr>
          <p:cNvPr id="8" name="正方形/長方形 7">
            <a:extLst>
              <a:ext uri="{FF2B5EF4-FFF2-40B4-BE49-F238E27FC236}">
                <a16:creationId xmlns:a16="http://schemas.microsoft.com/office/drawing/2014/main" id="{6CF3EFE3-EAC2-9E2E-AFFF-DCDF3B3F42AD}"/>
              </a:ext>
            </a:extLst>
          </p:cNvPr>
          <p:cNvSpPr/>
          <p:nvPr/>
        </p:nvSpPr>
        <p:spPr>
          <a:xfrm>
            <a:off x="983432" y="4116519"/>
            <a:ext cx="8568952" cy="72008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dirty="0"/>
              <a:t>例：デイルームを見守る</a:t>
            </a:r>
            <a:r>
              <a:rPr lang="en-US" altLang="ja-JP" sz="1600" dirty="0"/>
              <a:t>NS</a:t>
            </a:r>
            <a:r>
              <a:rPr lang="ja-JP" altLang="en-US" sz="1600" dirty="0"/>
              <a:t>にナースコールを配信すると、</a:t>
            </a:r>
            <a:br>
              <a:rPr lang="en-US" altLang="ja-JP" sz="1600" dirty="0"/>
            </a:br>
            <a:r>
              <a:rPr lang="ja-JP" altLang="en-US" sz="1600" dirty="0"/>
              <a:t>　　見守りの継続が難しくなり、見守り対象者の事故リスクが上がるだろう</a:t>
            </a:r>
            <a:endParaRPr kumimoji="1" lang="ja-JP" altLang="en-US" sz="1600" b="1" dirty="0"/>
          </a:p>
        </p:txBody>
      </p:sp>
      <p:sp>
        <p:nvSpPr>
          <p:cNvPr id="9" name="正方形/長方形 8">
            <a:extLst>
              <a:ext uri="{FF2B5EF4-FFF2-40B4-BE49-F238E27FC236}">
                <a16:creationId xmlns:a16="http://schemas.microsoft.com/office/drawing/2014/main" id="{CD4F18AA-15B9-6AF9-634F-275328572318}"/>
              </a:ext>
            </a:extLst>
          </p:cNvPr>
          <p:cNvSpPr/>
          <p:nvPr/>
        </p:nvSpPr>
        <p:spPr>
          <a:xfrm>
            <a:off x="983432" y="5589240"/>
            <a:ext cx="8568952" cy="72008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dirty="0"/>
              <a:t>例：</a:t>
            </a:r>
            <a:r>
              <a:rPr lang="en-US" altLang="ja-JP" sz="1600" dirty="0"/>
              <a:t>NS</a:t>
            </a:r>
            <a:r>
              <a:rPr lang="ja-JP" altLang="en-US" sz="1600" dirty="0"/>
              <a:t>の業務負荷を低減しつつ、デイルームの患者と徘徊中の患者の安全を確保するには、</a:t>
            </a:r>
            <a:endParaRPr lang="en-US" altLang="ja-JP" sz="1600" dirty="0"/>
          </a:p>
          <a:p>
            <a:r>
              <a:rPr kumimoji="1" lang="ja-JP" altLang="en-US" sz="1600" b="1" dirty="0"/>
              <a:t>　　</a:t>
            </a:r>
            <a:r>
              <a:rPr kumimoji="1" lang="ja-JP" altLang="en-US" sz="1600" dirty="0"/>
              <a:t>徘徊中の患者をロボットが確認しに行くべきだ</a:t>
            </a:r>
            <a:endParaRPr kumimoji="1" lang="ja-JP" altLang="en-US" sz="1600" b="1" dirty="0"/>
          </a:p>
        </p:txBody>
      </p:sp>
      <p:sp>
        <p:nvSpPr>
          <p:cNvPr id="10" name="正方形/長方形 9">
            <a:extLst>
              <a:ext uri="{FF2B5EF4-FFF2-40B4-BE49-F238E27FC236}">
                <a16:creationId xmlns:a16="http://schemas.microsoft.com/office/drawing/2014/main" id="{F70C4001-F823-68E6-F869-0DA9CC778144}"/>
              </a:ext>
            </a:extLst>
          </p:cNvPr>
          <p:cNvSpPr/>
          <p:nvPr/>
        </p:nvSpPr>
        <p:spPr>
          <a:xfrm>
            <a:off x="839416" y="2124895"/>
            <a:ext cx="8712968" cy="720080"/>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dirty="0"/>
              <a:t>例：デイルームを見守る</a:t>
            </a:r>
            <a:r>
              <a:rPr lang="en-US" altLang="ja-JP" sz="1600" dirty="0"/>
              <a:t>NS</a:t>
            </a:r>
            <a:r>
              <a:rPr lang="ja-JP" altLang="en-US" sz="1600" dirty="0"/>
              <a:t>の代わりに、ロボットが徘徊患者を確認し、</a:t>
            </a:r>
            <a:r>
              <a:rPr lang="en-US" altLang="ja-JP" sz="1600" dirty="0"/>
              <a:t>NS</a:t>
            </a:r>
            <a:r>
              <a:rPr lang="ja-JP" altLang="en-US" sz="1600" dirty="0"/>
              <a:t>に映像を中継</a:t>
            </a:r>
            <a:br>
              <a:rPr lang="en-US" altLang="ja-JP" sz="1600" dirty="0"/>
            </a:br>
            <a:r>
              <a:rPr lang="ja-JP" altLang="en-US" sz="1600" dirty="0"/>
              <a:t>　　➡デイルーム患者・徘徊患者の安全と、</a:t>
            </a:r>
            <a:r>
              <a:rPr lang="en-US" altLang="ja-JP" sz="1600" dirty="0"/>
              <a:t>NS</a:t>
            </a:r>
            <a:r>
              <a:rPr lang="ja-JP" altLang="en-US" sz="1600" dirty="0"/>
              <a:t>の業務負荷低減を両立</a:t>
            </a:r>
            <a:endParaRPr lang="en-US" altLang="ja-JP" sz="1600" dirty="0"/>
          </a:p>
        </p:txBody>
      </p:sp>
      <p:pic>
        <p:nvPicPr>
          <p:cNvPr id="1026" name="Picture 2">
            <a:extLst>
              <a:ext uri="{FF2B5EF4-FFF2-40B4-BE49-F238E27FC236}">
                <a16:creationId xmlns:a16="http://schemas.microsoft.com/office/drawing/2014/main" id="{B0BC2CC6-4393-BB34-11A7-F08935EBE9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7879" r="41925"/>
          <a:stretch>
            <a:fillRect/>
          </a:stretch>
        </p:blipFill>
        <p:spPr bwMode="auto">
          <a:xfrm>
            <a:off x="9746921" y="2124895"/>
            <a:ext cx="2160241" cy="11970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トヨタ自動車、生活支援ロボットの実用化に向けて研究機関等と技術開発を推進するコミュニティを発足 | トヨタ自動車株式会社 公式企業サイト">
            <a:extLst>
              <a:ext uri="{FF2B5EF4-FFF2-40B4-BE49-F238E27FC236}">
                <a16:creationId xmlns:a16="http://schemas.microsoft.com/office/drawing/2014/main" id="{230F84FB-FA9B-A3EB-3C0D-896D179E8A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931" t="1212" r="28931" b="39300"/>
          <a:stretch>
            <a:fillRect/>
          </a:stretch>
        </p:blipFill>
        <p:spPr bwMode="auto">
          <a:xfrm>
            <a:off x="10344472" y="2401652"/>
            <a:ext cx="301566" cy="28406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0" name="Picture 6" descr="徘徊するお婆さんのイラスト（認知症）">
            <a:extLst>
              <a:ext uri="{FF2B5EF4-FFF2-40B4-BE49-F238E27FC236}">
                <a16:creationId xmlns:a16="http://schemas.microsoft.com/office/drawing/2014/main" id="{800346CF-BEA4-D040-3CC9-0106806BFDF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0000" b="94750" l="10000" r="90000">
                        <a14:foregroundMark x1="23250" y1="13250" x2="28500" y2="12750"/>
                        <a14:foregroundMark x1="28750" y1="24500" x2="29000" y2="25000"/>
                        <a14:foregroundMark x1="69750" y1="11000" x2="71500" y2="12500"/>
                        <a14:foregroundMark x1="66500" y1="23250" x2="66250" y2="24000"/>
                        <a14:foregroundMark x1="37250" y1="93250" x2="37500" y2="94250"/>
                        <a14:foregroundMark x1="47000" y1="94500" x2="49250" y2="94750"/>
                        <a14:foregroundMark x1="66250" y1="79500" x2="66250" y2="81750"/>
                        <a14:foregroundMark x1="62250" y1="62750" x2="63000" y2="62250"/>
                        <a14:backgroundMark x1="19750" y1="85000" x2="19000" y2="81250"/>
                        <a14:backgroundMark x1="42500" y1="89750" x2="42750" y2="89000"/>
                        <a14:backgroundMark x1="58250" y1="87500" x2="58750" y2="86500"/>
                      </a14:backgroundRemoval>
                    </a14:imgEffect>
                  </a14:imgLayer>
                </a14:imgProps>
              </a:ext>
              <a:ext uri="{28A0092B-C50C-407E-A947-70E740481C1C}">
                <a14:useLocalDpi xmlns:a14="http://schemas.microsoft.com/office/drawing/2010/main" val="0"/>
              </a:ext>
            </a:extLst>
          </a:blip>
          <a:srcRect/>
          <a:stretch>
            <a:fillRect/>
          </a:stretch>
        </p:blipFill>
        <p:spPr bwMode="auto">
          <a:xfrm>
            <a:off x="9664432" y="2229515"/>
            <a:ext cx="485503" cy="48550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ベテラン看護師さんのイラスト">
            <a:extLst>
              <a:ext uri="{FF2B5EF4-FFF2-40B4-BE49-F238E27FC236}">
                <a16:creationId xmlns:a16="http://schemas.microsoft.com/office/drawing/2014/main" id="{3DF122DB-5C31-5E42-B2F7-DA159476C5B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56720"/>
          <a:stretch>
            <a:fillRect/>
          </a:stretch>
        </p:blipFill>
        <p:spPr bwMode="auto">
          <a:xfrm flipH="1">
            <a:off x="11319605" y="2276872"/>
            <a:ext cx="446872" cy="315337"/>
          </a:xfrm>
          <a:prstGeom prst="rect">
            <a:avLst/>
          </a:prstGeom>
          <a:extLst>
            <a:ext uri="{909E8E84-426E-40DD-AFC4-6F175D3DCCD1}">
              <a14:hiddenFill xmlns:a14="http://schemas.microsoft.com/office/drawing/2010/main">
                <a:solidFill>
                  <a:srgbClr val="FFFFFF"/>
                </a:solidFill>
              </a14:hiddenFill>
            </a:ext>
          </a:extLst>
        </p:spPr>
      </p:pic>
      <p:pic>
        <p:nvPicPr>
          <p:cNvPr id="1036" name="Picture 12" descr="車椅子に乗ったお婆さんの表情イラスト（笑顔）">
            <a:extLst>
              <a:ext uri="{FF2B5EF4-FFF2-40B4-BE49-F238E27FC236}">
                <a16:creationId xmlns:a16="http://schemas.microsoft.com/office/drawing/2014/main" id="{293E9387-40BD-982C-FB27-4B06CAB930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95304" y="2689924"/>
            <a:ext cx="217320" cy="344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938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8EDF90-FD6B-90D0-9C67-B7859BB36858}"/>
              </a:ext>
            </a:extLst>
          </p:cNvPr>
          <p:cNvSpPr>
            <a:spLocks noGrp="1"/>
          </p:cNvSpPr>
          <p:nvPr>
            <p:ph type="title"/>
          </p:nvPr>
        </p:nvSpPr>
        <p:spPr/>
        <p:txBody>
          <a:bodyPr/>
          <a:lstStyle/>
          <a:p>
            <a:r>
              <a:rPr kumimoji="1" lang="ja-JP" altLang="en-US" dirty="0"/>
              <a:t>課題の取捨選択</a:t>
            </a:r>
          </a:p>
        </p:txBody>
      </p:sp>
      <p:sp>
        <p:nvSpPr>
          <p:cNvPr id="3" name="コンテンツ プレースホルダー 2">
            <a:extLst>
              <a:ext uri="{FF2B5EF4-FFF2-40B4-BE49-F238E27FC236}">
                <a16:creationId xmlns:a16="http://schemas.microsoft.com/office/drawing/2014/main" id="{B4D4FF4E-86F4-4A93-6407-925E9C555DFE}"/>
              </a:ext>
            </a:extLst>
          </p:cNvPr>
          <p:cNvSpPr>
            <a:spLocks noGrp="1"/>
          </p:cNvSpPr>
          <p:nvPr>
            <p:ph idx="1"/>
          </p:nvPr>
        </p:nvSpPr>
        <p:spPr/>
        <p:txBody>
          <a:bodyPr/>
          <a:lstStyle/>
          <a:p>
            <a:r>
              <a:rPr kumimoji="1" lang="ja-JP" altLang="en-US" dirty="0"/>
              <a:t>博士研究で取り上げる課題</a:t>
            </a:r>
            <a:endParaRPr kumimoji="1" lang="en-US" altLang="ja-JP" dirty="0"/>
          </a:p>
          <a:p>
            <a:pPr marL="815975" lvl="1" indent="-457200">
              <a:buFont typeface="+mj-lt"/>
              <a:buAutoNum type="alphaUcParenR"/>
            </a:pPr>
            <a:r>
              <a:rPr lang="ja-JP" altLang="en-US" dirty="0"/>
              <a:t>病棟で生じる安全性や業務負荷の変化の予測</a:t>
            </a:r>
            <a:endParaRPr lang="en-US" altLang="ja-JP" dirty="0"/>
          </a:p>
          <a:p>
            <a:pPr lvl="2"/>
            <a:r>
              <a:rPr kumimoji="1" lang="ja-JP" altLang="en-US" dirty="0"/>
              <a:t>患者・スタッフの行動予測技術が鍵</a:t>
            </a:r>
            <a:endParaRPr kumimoji="1" lang="en-US" altLang="ja-JP" dirty="0"/>
          </a:p>
          <a:p>
            <a:pPr lvl="2"/>
            <a:r>
              <a:rPr lang="ja-JP" altLang="en-US" dirty="0"/>
              <a:t>上記は先行研究が豊富なほか、世界モデル</a:t>
            </a:r>
            <a:r>
              <a:rPr lang="en-US" altLang="ja-JP" dirty="0"/>
              <a:t>*</a:t>
            </a:r>
            <a:r>
              <a:rPr lang="ja-JP" altLang="en-US" dirty="0"/>
              <a:t>との組合せにより、今後発展が期待される</a:t>
            </a:r>
            <a:endParaRPr lang="en-US" altLang="ja-JP" dirty="0"/>
          </a:p>
          <a:p>
            <a:pPr marL="628650" lvl="2" indent="0">
              <a:buNone/>
            </a:pPr>
            <a:r>
              <a:rPr lang="ja-JP" altLang="en-US" dirty="0">
                <a:solidFill>
                  <a:srgbClr val="FF0000"/>
                </a:solidFill>
              </a:rPr>
              <a:t>➡ 研究の主眼とはせず、既存技術の引用・転用を基本とする</a:t>
            </a:r>
            <a:endParaRPr lang="en-US" altLang="ja-JP" dirty="0">
              <a:solidFill>
                <a:srgbClr val="FF0000"/>
              </a:solidFill>
            </a:endParaRPr>
          </a:p>
          <a:p>
            <a:pPr marL="815975" lvl="1" indent="-457200">
              <a:buFont typeface="+mj-lt"/>
              <a:buAutoNum type="alphaUcParenR"/>
            </a:pPr>
            <a:r>
              <a:rPr kumimoji="1" lang="ja-JP" altLang="en-US" dirty="0"/>
              <a:t>患者の安全確保とスタッフの業務負荷低減を両立する、通知やロボットのタスク計画</a:t>
            </a:r>
            <a:endParaRPr kumimoji="1" lang="en-US" altLang="ja-JP" dirty="0"/>
          </a:p>
          <a:p>
            <a:pPr lvl="2"/>
            <a:r>
              <a:rPr kumimoji="1" lang="ja-JP" altLang="en-US" dirty="0"/>
              <a:t>着眼</a:t>
            </a:r>
            <a:endParaRPr kumimoji="1" lang="en-US" altLang="ja-JP" dirty="0"/>
          </a:p>
          <a:p>
            <a:pPr lvl="3"/>
            <a:r>
              <a:rPr lang="ja-JP" altLang="en-US" u="sng" dirty="0"/>
              <a:t>①患者の安全確保 </a:t>
            </a:r>
            <a:r>
              <a:rPr lang="ja-JP" altLang="en-US" dirty="0"/>
              <a:t>と </a:t>
            </a:r>
            <a:r>
              <a:rPr lang="ja-JP" altLang="en-US" u="sng" dirty="0"/>
              <a:t>②スタッフの業務負担低減</a:t>
            </a:r>
            <a:r>
              <a:rPr lang="ja-JP" altLang="en-US" dirty="0"/>
              <a:t>は、トレードオフ関係にあること</a:t>
            </a:r>
            <a:endParaRPr lang="en-US" altLang="ja-JP" dirty="0"/>
          </a:p>
          <a:p>
            <a:pPr lvl="3"/>
            <a:endParaRPr lang="en-US" altLang="ja-JP" dirty="0"/>
          </a:p>
          <a:p>
            <a:pPr lvl="3"/>
            <a:endParaRPr lang="en-US" altLang="ja-JP" dirty="0"/>
          </a:p>
          <a:p>
            <a:pPr lvl="3"/>
            <a:r>
              <a:rPr kumimoji="1" lang="ja-JP" altLang="en-US" dirty="0"/>
              <a:t>①②は、スタッフの暗黙知で評価されており、定量指標というより、論理体系によって評価されること</a:t>
            </a:r>
            <a:r>
              <a:rPr kumimoji="1" lang="en-US" altLang="ja-JP" dirty="0"/>
              <a:t>**</a:t>
            </a:r>
          </a:p>
          <a:p>
            <a:pPr lvl="3"/>
            <a:endParaRPr lang="en-US" altLang="ja-JP" dirty="0"/>
          </a:p>
          <a:p>
            <a:pPr lvl="3"/>
            <a:endParaRPr lang="en-US" altLang="ja-JP" dirty="0"/>
          </a:p>
          <a:p>
            <a:pPr lvl="4"/>
            <a:endParaRPr lang="en-US" altLang="ja-JP" dirty="0"/>
          </a:p>
          <a:p>
            <a:pPr lvl="4"/>
            <a:endParaRPr lang="en-US" altLang="ja-JP" dirty="0"/>
          </a:p>
          <a:p>
            <a:pPr lvl="4"/>
            <a:endParaRPr lang="en-US" altLang="ja-JP" dirty="0"/>
          </a:p>
          <a:p>
            <a:pPr lvl="3"/>
            <a:r>
              <a:rPr lang="ja-JP" altLang="en-US" dirty="0"/>
              <a:t>①②は論理構造だけではなく、時空間構造も考慮して初めて、評価できること</a:t>
            </a:r>
            <a:endParaRPr kumimoji="1" lang="ja-JP" altLang="en-US" dirty="0"/>
          </a:p>
        </p:txBody>
      </p:sp>
      <p:sp>
        <p:nvSpPr>
          <p:cNvPr id="4" name="日付プレースホルダー 3">
            <a:extLst>
              <a:ext uri="{FF2B5EF4-FFF2-40B4-BE49-F238E27FC236}">
                <a16:creationId xmlns:a16="http://schemas.microsoft.com/office/drawing/2014/main" id="{E5DF87CD-A3E3-B533-B8AE-1D20B59DCD2E}"/>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952000DC-2AC0-4230-2559-8AEB9A90BBB5}"/>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751DFA06-B495-7F86-602A-D2FCC5C1FA0C}"/>
              </a:ext>
            </a:extLst>
          </p:cNvPr>
          <p:cNvSpPr>
            <a:spLocks noGrp="1"/>
          </p:cNvSpPr>
          <p:nvPr>
            <p:ph type="sldNum" sz="quarter" idx="12"/>
          </p:nvPr>
        </p:nvSpPr>
        <p:spPr/>
        <p:txBody>
          <a:bodyPr/>
          <a:lstStyle/>
          <a:p>
            <a:fld id="{870B1737-2A00-4EFB-9FD3-149FCC30AA13}" type="slidenum">
              <a:rPr lang="ja-JP" altLang="en-US" smtClean="0"/>
              <a:pPr/>
              <a:t>15</a:t>
            </a:fld>
            <a:endParaRPr lang="ja-JP" altLang="en-US"/>
          </a:p>
        </p:txBody>
      </p:sp>
      <p:sp>
        <p:nvSpPr>
          <p:cNvPr id="7" name="テキスト ボックス 6">
            <a:extLst>
              <a:ext uri="{FF2B5EF4-FFF2-40B4-BE49-F238E27FC236}">
                <a16:creationId xmlns:a16="http://schemas.microsoft.com/office/drawing/2014/main" id="{5FEE331C-7269-801D-DBB1-4E29818E9E60}"/>
              </a:ext>
            </a:extLst>
          </p:cNvPr>
          <p:cNvSpPr txBox="1"/>
          <p:nvPr/>
        </p:nvSpPr>
        <p:spPr>
          <a:xfrm>
            <a:off x="5627382" y="112294"/>
            <a:ext cx="5923416" cy="553998"/>
          </a:xfrm>
          <a:prstGeom prst="rect">
            <a:avLst/>
          </a:prstGeom>
          <a:noFill/>
        </p:spPr>
        <p:txBody>
          <a:bodyPr wrap="none" rtlCol="0">
            <a:spAutoFit/>
          </a:bodyPr>
          <a:lstStyle/>
          <a:p>
            <a:r>
              <a:rPr kumimoji="1" lang="en-US" altLang="ja-JP" sz="1000" dirty="0"/>
              <a:t>* Vision Transformer, Physical AI</a:t>
            </a:r>
            <a:r>
              <a:rPr kumimoji="1" lang="ja-JP" altLang="en-US" sz="1000" dirty="0"/>
              <a:t>の文脈で話題の技術。</a:t>
            </a:r>
            <a:br>
              <a:rPr lang="en-US" altLang="ja-JP" sz="1000" dirty="0"/>
            </a:br>
            <a:r>
              <a:rPr lang="en-US" altLang="ja-JP" sz="1000" dirty="0"/>
              <a:t>   </a:t>
            </a:r>
            <a:r>
              <a:rPr kumimoji="1" lang="ja-JP" altLang="en-US" sz="1000" dirty="0"/>
              <a:t>ロボットが環境に作用した際の環境の変化を、データドリブンで予測する技術と理解しています。</a:t>
            </a:r>
            <a:endParaRPr kumimoji="1" lang="en-US" altLang="ja-JP" sz="1000" dirty="0"/>
          </a:p>
          <a:p>
            <a:r>
              <a:rPr kumimoji="1" lang="en-US" altLang="ja-JP" sz="1000" dirty="0"/>
              <a:t>** </a:t>
            </a:r>
            <a:r>
              <a:rPr kumimoji="1" lang="ja-JP" altLang="en-US" sz="1000" dirty="0"/>
              <a:t>この点はまだ、個人的な仮説が入っていそうです。</a:t>
            </a:r>
          </a:p>
        </p:txBody>
      </p:sp>
      <p:sp>
        <p:nvSpPr>
          <p:cNvPr id="8" name="正方形/長方形 7">
            <a:extLst>
              <a:ext uri="{FF2B5EF4-FFF2-40B4-BE49-F238E27FC236}">
                <a16:creationId xmlns:a16="http://schemas.microsoft.com/office/drawing/2014/main" id="{13409F79-3764-0BE7-9850-6ECAA315F375}"/>
              </a:ext>
            </a:extLst>
          </p:cNvPr>
          <p:cNvSpPr/>
          <p:nvPr/>
        </p:nvSpPr>
        <p:spPr>
          <a:xfrm>
            <a:off x="1199456" y="3789040"/>
            <a:ext cx="10729192" cy="648072"/>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lang="ja-JP" altLang="en-US" sz="1600" dirty="0"/>
              <a:t>例：全患者に見守りスタッフを配置すれば、危険性は低減するが、</a:t>
            </a:r>
            <a:br>
              <a:rPr lang="en-US" altLang="ja-JP" sz="1600" dirty="0"/>
            </a:br>
            <a:r>
              <a:rPr lang="ja-JP" altLang="en-US" sz="1600" dirty="0"/>
              <a:t>　　記録業務との並列を要する等、スタッフにとっての業務負荷が増大する</a:t>
            </a:r>
            <a:endParaRPr kumimoji="1" lang="ja-JP" altLang="en-US" sz="1600" b="1" dirty="0"/>
          </a:p>
        </p:txBody>
      </p:sp>
      <p:sp>
        <p:nvSpPr>
          <p:cNvPr id="9" name="正方形/長方形 8">
            <a:extLst>
              <a:ext uri="{FF2B5EF4-FFF2-40B4-BE49-F238E27FC236}">
                <a16:creationId xmlns:a16="http://schemas.microsoft.com/office/drawing/2014/main" id="{DCB651FD-A0B6-3176-F7DE-522FB5D20EEE}"/>
              </a:ext>
            </a:extLst>
          </p:cNvPr>
          <p:cNvSpPr/>
          <p:nvPr/>
        </p:nvSpPr>
        <p:spPr>
          <a:xfrm>
            <a:off x="1199456" y="4797152"/>
            <a:ext cx="10729192" cy="864096"/>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600" dirty="0"/>
              <a:t>△：危険リスクが</a:t>
            </a:r>
            <a:r>
              <a:rPr kumimoji="1" lang="en-US" altLang="ja-JP" sz="1600" dirty="0"/>
              <a:t>60</a:t>
            </a:r>
            <a:r>
              <a:rPr kumimoji="1" lang="ja-JP" altLang="en-US" sz="1600" dirty="0"/>
              <a:t>点で、タスク負荷が</a:t>
            </a:r>
            <a:r>
              <a:rPr kumimoji="1" lang="en-US" altLang="ja-JP" sz="1600" dirty="0"/>
              <a:t>40</a:t>
            </a:r>
            <a:r>
              <a:rPr kumimoji="1" lang="ja-JP" altLang="en-US" sz="1600" dirty="0"/>
              <a:t>点だから、見守りをしよう</a:t>
            </a:r>
            <a:endParaRPr kumimoji="1" lang="en-US" altLang="ja-JP" sz="1600" dirty="0"/>
          </a:p>
          <a:p>
            <a:r>
              <a:rPr lang="ja-JP" altLang="en-US" sz="1600" dirty="0"/>
              <a:t>◎：他にこの患者を見ている人がいないから、私が見守りを行う必要がある</a:t>
            </a:r>
            <a:endParaRPr lang="en-US" altLang="ja-JP" sz="1600" dirty="0"/>
          </a:p>
          <a:p>
            <a:r>
              <a:rPr lang="ja-JP" altLang="en-US" sz="1600" dirty="0"/>
              <a:t>　　</a:t>
            </a:r>
            <a:r>
              <a:rPr lang="ja-JP" altLang="en-US" sz="1200" dirty="0"/>
              <a:t>↑定量指標の演算（重み和・制約論理含む）による評価結果が、現場感覚と合致するにはパラスタが大変</a:t>
            </a:r>
            <a:r>
              <a:rPr lang="en-US" altLang="ja-JP" sz="1200" dirty="0"/>
              <a:t>**</a:t>
            </a:r>
            <a:r>
              <a:rPr lang="ja-JP" altLang="en-US" sz="1200" dirty="0"/>
              <a:t>。知識グラフベースで評価できないか？</a:t>
            </a:r>
            <a:endParaRPr kumimoji="1" lang="ja-JP" altLang="en-US" sz="1600" dirty="0"/>
          </a:p>
        </p:txBody>
      </p:sp>
      <p:sp>
        <p:nvSpPr>
          <p:cNvPr id="10" name="正方形/長方形 9">
            <a:extLst>
              <a:ext uri="{FF2B5EF4-FFF2-40B4-BE49-F238E27FC236}">
                <a16:creationId xmlns:a16="http://schemas.microsoft.com/office/drawing/2014/main" id="{93592AEB-4A10-603A-2A9B-8810DF28EB0C}"/>
              </a:ext>
            </a:extLst>
          </p:cNvPr>
          <p:cNvSpPr/>
          <p:nvPr/>
        </p:nvSpPr>
        <p:spPr>
          <a:xfrm>
            <a:off x="1199456" y="6052977"/>
            <a:ext cx="10729192" cy="544375"/>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600" dirty="0"/>
              <a:t>△：スタッフが見ていないならば、危ない（論理・知識体系でしかなく、安全性評価にならない）</a:t>
            </a:r>
            <a:endParaRPr kumimoji="1" lang="en-US" altLang="ja-JP" sz="1600" dirty="0"/>
          </a:p>
          <a:p>
            <a:r>
              <a:rPr lang="ja-JP" altLang="en-US" sz="1600" dirty="0"/>
              <a:t>◎：</a:t>
            </a:r>
            <a:r>
              <a:rPr lang="ja-JP" altLang="en-US" sz="1600" u="sng" dirty="0"/>
              <a:t>直近</a:t>
            </a:r>
            <a:r>
              <a:rPr lang="en-US" altLang="ja-JP" sz="1600" u="sng" dirty="0"/>
              <a:t>30</a:t>
            </a:r>
            <a:r>
              <a:rPr lang="ja-JP" altLang="en-US" sz="1600" u="sng" dirty="0"/>
              <a:t>秒で、患者は</a:t>
            </a:r>
            <a:r>
              <a:rPr lang="en-US" altLang="ja-JP" sz="1600" u="sng" dirty="0"/>
              <a:t>NS</a:t>
            </a:r>
            <a:r>
              <a:rPr lang="ja-JP" altLang="en-US" sz="1600" u="sng" dirty="0"/>
              <a:t>から見て死角にあるから、</a:t>
            </a:r>
            <a:r>
              <a:rPr lang="ja-JP" altLang="en-US" sz="1600" dirty="0"/>
              <a:t>スタッフが見ておらず、危ない</a:t>
            </a:r>
            <a:endParaRPr kumimoji="1" lang="ja-JP" altLang="en-US" sz="1600" dirty="0"/>
          </a:p>
        </p:txBody>
      </p:sp>
    </p:spTree>
    <p:extLst>
      <p:ext uri="{BB962C8B-B14F-4D97-AF65-F5344CB8AC3E}">
        <p14:creationId xmlns:p14="http://schemas.microsoft.com/office/powerpoint/2010/main" val="2610535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14E4F-0EA1-4BD3-C6DD-0860C4FF34E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F9D4CC-7E29-967B-DE71-8B98B42E0070}"/>
              </a:ext>
            </a:extLst>
          </p:cNvPr>
          <p:cNvSpPr>
            <a:spLocks noGrp="1"/>
          </p:cNvSpPr>
          <p:nvPr>
            <p:ph type="title"/>
          </p:nvPr>
        </p:nvSpPr>
        <p:spPr/>
        <p:txBody>
          <a:bodyPr/>
          <a:lstStyle/>
          <a:p>
            <a:r>
              <a:rPr kumimoji="1" lang="ja-JP" altLang="en-US" dirty="0"/>
              <a:t>課題解決に必要な、学術的コア</a:t>
            </a:r>
          </a:p>
        </p:txBody>
      </p:sp>
      <p:sp>
        <p:nvSpPr>
          <p:cNvPr id="3" name="コンテンツ プレースホルダー 2">
            <a:extLst>
              <a:ext uri="{FF2B5EF4-FFF2-40B4-BE49-F238E27FC236}">
                <a16:creationId xmlns:a16="http://schemas.microsoft.com/office/drawing/2014/main" id="{54179D42-6E0A-54A4-727C-51DA4EFFB34A}"/>
              </a:ext>
            </a:extLst>
          </p:cNvPr>
          <p:cNvSpPr>
            <a:spLocks noGrp="1"/>
          </p:cNvSpPr>
          <p:nvPr>
            <p:ph idx="1"/>
          </p:nvPr>
        </p:nvSpPr>
        <p:spPr/>
        <p:txBody>
          <a:bodyPr>
            <a:normAutofit lnSpcReduction="10000"/>
          </a:bodyPr>
          <a:lstStyle/>
          <a:p>
            <a:r>
              <a:rPr lang="ja-JP" altLang="en-US" dirty="0"/>
              <a:t>博士研究で着目する課題</a:t>
            </a:r>
            <a:endParaRPr kumimoji="1" lang="en-US" altLang="ja-JP" dirty="0"/>
          </a:p>
          <a:p>
            <a:pPr marL="815975" lvl="1" indent="-457200">
              <a:buFont typeface="+mj-lt"/>
              <a:buAutoNum type="alphaUcParenR" startAt="2"/>
            </a:pPr>
            <a:r>
              <a:rPr kumimoji="1" lang="ja-JP" altLang="en-US" dirty="0"/>
              <a:t>患者の安全確保とスタッフの業務負荷低減を両立する、通知やロボットのタスク計画</a:t>
            </a:r>
            <a:endParaRPr kumimoji="1" lang="en-US" altLang="ja-JP" dirty="0"/>
          </a:p>
          <a:p>
            <a:pPr lvl="2"/>
            <a:r>
              <a:rPr kumimoji="1" lang="ja-JP" altLang="en-US" dirty="0"/>
              <a:t>着眼</a:t>
            </a:r>
            <a:endParaRPr kumimoji="1" lang="en-US" altLang="ja-JP" dirty="0"/>
          </a:p>
          <a:p>
            <a:pPr lvl="3"/>
            <a:r>
              <a:rPr lang="ja-JP" altLang="en-US" u="sng" dirty="0"/>
              <a:t>①患者の安全確保 </a:t>
            </a:r>
            <a:r>
              <a:rPr lang="ja-JP" altLang="en-US" dirty="0"/>
              <a:t>と </a:t>
            </a:r>
            <a:r>
              <a:rPr lang="ja-JP" altLang="en-US" u="sng" dirty="0"/>
              <a:t>②スタッフの業務負担低減</a:t>
            </a:r>
            <a:r>
              <a:rPr lang="ja-JP" altLang="en-US" dirty="0"/>
              <a:t>は、トレードオフ関係にあること</a:t>
            </a:r>
            <a:endParaRPr lang="en-US" altLang="ja-JP" dirty="0"/>
          </a:p>
          <a:p>
            <a:pPr lvl="3"/>
            <a:r>
              <a:rPr kumimoji="1" lang="ja-JP" altLang="en-US" dirty="0"/>
              <a:t>①②は、スタッフの暗黙知で評価されており、定量指標というより、論理体系によって評価されること</a:t>
            </a:r>
            <a:endParaRPr kumimoji="1" lang="en-US" altLang="ja-JP" dirty="0"/>
          </a:p>
          <a:p>
            <a:pPr lvl="3"/>
            <a:r>
              <a:rPr lang="ja-JP" altLang="en-US" dirty="0"/>
              <a:t>①②は論理構造だけではなく、時空間構造も考慮して初めて、評価できること</a:t>
            </a:r>
            <a:endParaRPr lang="en-US" altLang="ja-JP" dirty="0"/>
          </a:p>
          <a:p>
            <a:r>
              <a:rPr kumimoji="1" lang="ja-JP" altLang="en-US" dirty="0"/>
              <a:t>学術的コア</a:t>
            </a:r>
            <a:endParaRPr kumimoji="1" lang="en-US" altLang="ja-JP" dirty="0"/>
          </a:p>
          <a:p>
            <a:endParaRPr lang="en-US" altLang="ja-JP" dirty="0"/>
          </a:p>
          <a:p>
            <a:endParaRPr kumimoji="1" lang="en-US" altLang="ja-JP" dirty="0"/>
          </a:p>
          <a:p>
            <a:pPr lvl="1"/>
            <a:r>
              <a:rPr lang="ja-JP" altLang="en-US" dirty="0"/>
              <a:t>論理と時空間を統合した体系</a:t>
            </a:r>
            <a:r>
              <a:rPr lang="ja-JP" altLang="en-US" sz="1400" dirty="0"/>
              <a:t>（知識・施設構造グラフの融合）</a:t>
            </a:r>
            <a:r>
              <a:rPr lang="ja-JP" altLang="en-US" dirty="0"/>
              <a:t>による見守り計画例は少ない</a:t>
            </a:r>
            <a:r>
              <a:rPr lang="ja-JP" altLang="en-US" sz="1400" dirty="0"/>
              <a:t>（未発見）</a:t>
            </a:r>
            <a:endParaRPr lang="en-US" altLang="ja-JP" dirty="0"/>
          </a:p>
          <a:p>
            <a:pPr lvl="1"/>
            <a:r>
              <a:rPr kumimoji="1" lang="ja-JP" altLang="en-US" dirty="0"/>
              <a:t>論理モデル部分については、現場知識の反映が求められ、知見は未成熟</a:t>
            </a:r>
            <a:endParaRPr kumimoji="1" lang="en-US" altLang="ja-JP" dirty="0"/>
          </a:p>
          <a:p>
            <a:pPr lvl="2"/>
            <a:r>
              <a:rPr kumimoji="1" lang="en-US" altLang="ja-JP" dirty="0"/>
              <a:t>LLM/RAG</a:t>
            </a:r>
            <a:r>
              <a:rPr kumimoji="1" lang="ja-JP" altLang="en-US" dirty="0"/>
              <a:t>の発展により、</a:t>
            </a:r>
            <a:r>
              <a:rPr kumimoji="1" lang="en-US" altLang="ja-JP" dirty="0"/>
              <a:t>Hot</a:t>
            </a:r>
            <a:r>
              <a:rPr kumimoji="1" lang="ja-JP" altLang="en-US" dirty="0"/>
              <a:t>な分野ではある</a:t>
            </a:r>
            <a:endParaRPr kumimoji="1" lang="en-US" altLang="ja-JP" dirty="0"/>
          </a:p>
          <a:p>
            <a:pPr lvl="1"/>
            <a:r>
              <a:rPr lang="ja-JP" altLang="en-US" dirty="0"/>
              <a:t>統合体系は恐らくグラフ構造であり、計画問題はグラフを用いた多目的最適化に</a:t>
            </a:r>
            <a:br>
              <a:rPr lang="en-US" altLang="ja-JP" dirty="0"/>
            </a:br>
            <a:r>
              <a:rPr lang="ja-JP" altLang="en-US" dirty="0"/>
              <a:t>帰着されるが、統合体系が新しい以上、新しい定式化が必要だろう</a:t>
            </a:r>
            <a:endParaRPr lang="en-US" altLang="ja-JP" dirty="0"/>
          </a:p>
          <a:p>
            <a:pPr lvl="2"/>
            <a:r>
              <a:rPr kumimoji="1" lang="ja-JP" altLang="en-US" dirty="0"/>
              <a:t>「論理的に、多目的最適である」とは何か？また、その計画過程は説明可能か？体系的か？</a:t>
            </a:r>
            <a:endParaRPr kumimoji="1" lang="en-US" altLang="ja-JP" dirty="0"/>
          </a:p>
          <a:p>
            <a:pPr lvl="2"/>
            <a:endParaRPr kumimoji="1" lang="ja-JP" altLang="en-US" dirty="0"/>
          </a:p>
        </p:txBody>
      </p:sp>
      <p:sp>
        <p:nvSpPr>
          <p:cNvPr id="4" name="日付プレースホルダー 3">
            <a:extLst>
              <a:ext uri="{FF2B5EF4-FFF2-40B4-BE49-F238E27FC236}">
                <a16:creationId xmlns:a16="http://schemas.microsoft.com/office/drawing/2014/main" id="{C33C8F8F-EE12-B483-F226-9C24AACAECA1}"/>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C376F0A9-FA76-8BDB-4C81-BD9D62F0705D}"/>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E8A3E7C0-2D09-E25F-6561-8B0204F492C3}"/>
              </a:ext>
            </a:extLst>
          </p:cNvPr>
          <p:cNvSpPr>
            <a:spLocks noGrp="1"/>
          </p:cNvSpPr>
          <p:nvPr>
            <p:ph type="sldNum" sz="quarter" idx="12"/>
          </p:nvPr>
        </p:nvSpPr>
        <p:spPr/>
        <p:txBody>
          <a:bodyPr/>
          <a:lstStyle/>
          <a:p>
            <a:fld id="{870B1737-2A00-4EFB-9FD3-149FCC30AA13}" type="slidenum">
              <a:rPr lang="ja-JP" altLang="en-US" smtClean="0"/>
              <a:pPr/>
              <a:t>16</a:t>
            </a:fld>
            <a:endParaRPr lang="ja-JP" altLang="en-US"/>
          </a:p>
        </p:txBody>
      </p:sp>
      <p:sp>
        <p:nvSpPr>
          <p:cNvPr id="11" name="正方形/長方形 10">
            <a:extLst>
              <a:ext uri="{FF2B5EF4-FFF2-40B4-BE49-F238E27FC236}">
                <a16:creationId xmlns:a16="http://schemas.microsoft.com/office/drawing/2014/main" id="{FD2ED5A1-51DF-8C32-0C7A-6F46795339CB}"/>
              </a:ext>
            </a:extLst>
          </p:cNvPr>
          <p:cNvSpPr/>
          <p:nvPr/>
        </p:nvSpPr>
        <p:spPr>
          <a:xfrm>
            <a:off x="695400" y="3226273"/>
            <a:ext cx="10801200" cy="7200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論理モデル</a:t>
            </a:r>
            <a:r>
              <a:rPr kumimoji="1" lang="en-US" altLang="ja-JP" b="1" dirty="0"/>
              <a:t>×</a:t>
            </a:r>
            <a:r>
              <a:rPr kumimoji="1" lang="ja-JP" altLang="en-US" b="1" dirty="0"/>
              <a:t>時空間モデル の「統合体系」上で、安全と業務負荷というトレードオフをバランスする、</a:t>
            </a:r>
            <a:endParaRPr kumimoji="1" lang="en-US" altLang="ja-JP" b="1" dirty="0"/>
          </a:p>
          <a:p>
            <a:pPr algn="ctr"/>
            <a:r>
              <a:rPr lang="ja-JP" altLang="en-US" b="1" dirty="0"/>
              <a:t>システムの振る舞いを計画するには、どうすればよいか？</a:t>
            </a:r>
            <a:endParaRPr kumimoji="1" lang="ja-JP" altLang="en-US" b="1" dirty="0"/>
          </a:p>
        </p:txBody>
      </p:sp>
      <p:sp>
        <p:nvSpPr>
          <p:cNvPr id="12" name="正方形/長方形 11">
            <a:extLst>
              <a:ext uri="{FF2B5EF4-FFF2-40B4-BE49-F238E27FC236}">
                <a16:creationId xmlns:a16="http://schemas.microsoft.com/office/drawing/2014/main" id="{D12B69D4-BEB1-A843-799E-13104331B157}"/>
              </a:ext>
            </a:extLst>
          </p:cNvPr>
          <p:cNvSpPr/>
          <p:nvPr/>
        </p:nvSpPr>
        <p:spPr>
          <a:xfrm>
            <a:off x="1199455" y="6052977"/>
            <a:ext cx="10873209" cy="805023"/>
          </a:xfrm>
          <a:prstGeom prst="rect">
            <a:avLst/>
          </a:prstGeom>
          <a:solidFill>
            <a:schemeClr val="bg1">
              <a:lumMod val="95000"/>
            </a:schemeClr>
          </a:solidFill>
          <a:ln>
            <a:noFill/>
          </a:ln>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sz="1600" dirty="0"/>
              <a:t>例：デイルーム・廊下にそれぞれ要監視患者がおり、</a:t>
            </a:r>
            <a:r>
              <a:rPr kumimoji="1" lang="en-US" altLang="ja-JP" sz="1600" dirty="0"/>
              <a:t>NS1</a:t>
            </a:r>
            <a:r>
              <a:rPr kumimoji="1" lang="ja-JP" altLang="en-US" sz="1600" dirty="0"/>
              <a:t>名がデイルームを監視しているとき、</a:t>
            </a:r>
            <a:br>
              <a:rPr kumimoji="1" lang="en-US" altLang="ja-JP" sz="1600" dirty="0"/>
            </a:br>
            <a:r>
              <a:rPr kumimoji="1" lang="ja-JP" altLang="en-US" sz="1600" dirty="0"/>
              <a:t>　　「ロボが廊下にいる患者を確認し、</a:t>
            </a:r>
            <a:r>
              <a:rPr kumimoji="1" lang="en-US" altLang="ja-JP" sz="1600" dirty="0"/>
              <a:t>NS</a:t>
            </a:r>
            <a:r>
              <a:rPr kumimoji="1" lang="ja-JP" altLang="en-US" sz="1600" dirty="0"/>
              <a:t>に伝える」と、「デイルーム見守りをロボが交代し、</a:t>
            </a:r>
            <a:r>
              <a:rPr kumimoji="1" lang="en-US" altLang="ja-JP" sz="1600" dirty="0"/>
              <a:t>NS</a:t>
            </a:r>
            <a:r>
              <a:rPr kumimoji="1" lang="ja-JP" altLang="en-US" sz="1600" dirty="0"/>
              <a:t>が廊下を確認」は</a:t>
            </a:r>
            <a:br>
              <a:rPr kumimoji="1" lang="en-US" altLang="ja-JP" sz="1600" dirty="0"/>
            </a:br>
            <a:r>
              <a:rPr kumimoji="1" lang="ja-JP" altLang="en-US" sz="1600" dirty="0"/>
              <a:t>　　いずれが最適か？それはなぜか？（重み和で考えるのでは、場当たり的で</a:t>
            </a:r>
            <a:r>
              <a:rPr kumimoji="1" lang="ja-JP" altLang="en-US" sz="1600"/>
              <a:t>、パラスタ勝負だろう）</a:t>
            </a:r>
            <a:endParaRPr kumimoji="1" lang="ja-JP" altLang="en-US" sz="1600" dirty="0"/>
          </a:p>
        </p:txBody>
      </p:sp>
    </p:spTree>
    <p:extLst>
      <p:ext uri="{BB962C8B-B14F-4D97-AF65-F5344CB8AC3E}">
        <p14:creationId xmlns:p14="http://schemas.microsoft.com/office/powerpoint/2010/main" val="2830738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CEB25-1FDB-DF39-5BEB-A2C813104C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F63CB0-8C2D-9445-7467-41D9F3D12490}"/>
              </a:ext>
            </a:extLst>
          </p:cNvPr>
          <p:cNvSpPr>
            <a:spLocks noGrp="1"/>
          </p:cNvSpPr>
          <p:nvPr>
            <p:ph type="ctrTitle"/>
          </p:nvPr>
        </p:nvSpPr>
        <p:spPr>
          <a:effectLst/>
        </p:spPr>
        <p:txBody>
          <a:bodyPr>
            <a:normAutofit/>
          </a:bodyPr>
          <a:lstStyle/>
          <a:p>
            <a:r>
              <a:rPr lang="ja-JP" altLang="en-US" sz="3200" dirty="0"/>
              <a:t>博士課程 研究構想についてのご相談</a:t>
            </a:r>
            <a:br>
              <a:rPr lang="en-US" altLang="ja-JP" sz="3200" dirty="0"/>
            </a:br>
            <a:r>
              <a:rPr lang="en-US" altLang="ja-JP" sz="2000" dirty="0"/>
              <a:t>~</a:t>
            </a:r>
            <a:r>
              <a:rPr lang="ja-JP" altLang="en-US" sz="2000" dirty="0"/>
              <a:t>博士研究でやりたいこと</a:t>
            </a:r>
            <a:r>
              <a:rPr lang="en-US" altLang="ja-JP" sz="2000" dirty="0"/>
              <a:t>~</a:t>
            </a:r>
            <a:endParaRPr lang="ja-JP" altLang="en-US" sz="3200" dirty="0"/>
          </a:p>
        </p:txBody>
      </p:sp>
      <p:sp>
        <p:nvSpPr>
          <p:cNvPr id="3" name="字幕 2">
            <a:extLst>
              <a:ext uri="{FF2B5EF4-FFF2-40B4-BE49-F238E27FC236}">
                <a16:creationId xmlns:a16="http://schemas.microsoft.com/office/drawing/2014/main" id="{7476EC9F-0DAF-8803-F60A-DA45174EAD1B}"/>
              </a:ext>
            </a:extLst>
          </p:cNvPr>
          <p:cNvSpPr>
            <a:spLocks noGrp="1"/>
          </p:cNvSpPr>
          <p:nvPr>
            <p:ph type="subTitle" idx="1"/>
          </p:nvPr>
        </p:nvSpPr>
        <p:spPr>
          <a:xfrm>
            <a:off x="6096000" y="4149080"/>
            <a:ext cx="5184576" cy="1752600"/>
          </a:xfrm>
        </p:spPr>
        <p:txBody>
          <a:bodyPr>
            <a:normAutofit/>
          </a:bodyPr>
          <a:lstStyle/>
          <a:p>
            <a:pPr algn="r"/>
            <a:r>
              <a:rPr lang="ja-JP" altLang="en-US" sz="2000" dirty="0"/>
              <a:t>林出和之</a:t>
            </a:r>
            <a:endParaRPr kumimoji="1" lang="ja-JP" altLang="en-US" sz="2000" dirty="0"/>
          </a:p>
        </p:txBody>
      </p:sp>
      <p:sp>
        <p:nvSpPr>
          <p:cNvPr id="4" name="テキスト ボックス 3">
            <a:extLst>
              <a:ext uri="{FF2B5EF4-FFF2-40B4-BE49-F238E27FC236}">
                <a16:creationId xmlns:a16="http://schemas.microsoft.com/office/drawing/2014/main" id="{690A78EB-6BD8-D0EC-0C53-0CBC1D2D7E93}"/>
              </a:ext>
            </a:extLst>
          </p:cNvPr>
          <p:cNvSpPr txBox="1"/>
          <p:nvPr/>
        </p:nvSpPr>
        <p:spPr>
          <a:xfrm>
            <a:off x="479376" y="3778022"/>
            <a:ext cx="6417141" cy="2123658"/>
          </a:xfrm>
          <a:prstGeom prst="rect">
            <a:avLst/>
          </a:prstGeom>
          <a:noFill/>
        </p:spPr>
        <p:txBody>
          <a:bodyPr wrap="none" rtlCol="0">
            <a:spAutoFit/>
          </a:bodyPr>
          <a:lstStyle/>
          <a:p>
            <a:r>
              <a:rPr kumimoji="1" lang="ja-JP" altLang="en-US" sz="2400" b="1" dirty="0"/>
              <a:t>ご相談事項</a:t>
            </a:r>
            <a:endParaRPr kumimoji="1" lang="en-US" altLang="ja-JP" sz="2400" b="1" dirty="0"/>
          </a:p>
          <a:p>
            <a:r>
              <a:rPr kumimoji="1" lang="ja-JP" altLang="en-US" b="1" dirty="0"/>
              <a:t>新規研究について</a:t>
            </a:r>
          </a:p>
          <a:p>
            <a:r>
              <a:rPr kumimoji="1" lang="ja-JP" altLang="en-US" dirty="0"/>
              <a:t>　課題設定についてのアドバイス</a:t>
            </a:r>
          </a:p>
          <a:p>
            <a:r>
              <a:rPr kumimoji="1" lang="ja-JP" altLang="en-US" dirty="0"/>
              <a:t>　解決のアプローチ・モデル検討に関する所感・アドバイス</a:t>
            </a:r>
          </a:p>
          <a:p>
            <a:r>
              <a:rPr kumimoji="1" lang="ja-JP" altLang="en-US" b="1" dirty="0"/>
              <a:t>その他</a:t>
            </a:r>
          </a:p>
          <a:p>
            <a:r>
              <a:rPr kumimoji="1" lang="ja-JP" altLang="en-US" dirty="0"/>
              <a:t>　修論研究の論文投稿に向けた、プロット案のご添削</a:t>
            </a:r>
          </a:p>
          <a:p>
            <a:r>
              <a:rPr kumimoji="1" lang="ja-JP" altLang="en-US" dirty="0"/>
              <a:t> </a:t>
            </a:r>
          </a:p>
        </p:txBody>
      </p:sp>
    </p:spTree>
    <p:extLst>
      <p:ext uri="{BB962C8B-B14F-4D97-AF65-F5344CB8AC3E}">
        <p14:creationId xmlns:p14="http://schemas.microsoft.com/office/powerpoint/2010/main" val="1095394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28F681-DF73-FEB2-145E-71F40BBCF450}"/>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9A18FF3E-A86E-30B1-F509-2C2179CECD03}"/>
              </a:ext>
            </a:extLst>
          </p:cNvPr>
          <p:cNvSpPr>
            <a:spLocks noGrp="1"/>
          </p:cNvSpPr>
          <p:nvPr>
            <p:ph idx="1"/>
          </p:nvPr>
        </p:nvSpPr>
        <p:spPr/>
        <p:txBody>
          <a:bodyPr/>
          <a:lstStyle/>
          <a:p>
            <a:r>
              <a:rPr kumimoji="1" lang="ja-JP" altLang="en-US" dirty="0"/>
              <a:t>学部～博士の研究全体像と、博士課程での新規研究で取り組みたいこと</a:t>
            </a:r>
            <a:endParaRPr kumimoji="1" lang="en-US" altLang="ja-JP" dirty="0"/>
          </a:p>
          <a:p>
            <a:endParaRPr kumimoji="1" lang="en-US" altLang="ja-JP" dirty="0"/>
          </a:p>
          <a:p>
            <a:r>
              <a:rPr lang="ja-JP" altLang="en-US" dirty="0"/>
              <a:t>博士課程での新規研究</a:t>
            </a:r>
            <a:endParaRPr lang="en-US" altLang="ja-JP" dirty="0"/>
          </a:p>
          <a:p>
            <a:pPr lvl="1"/>
            <a:r>
              <a:rPr kumimoji="1" lang="ja-JP" altLang="en-US" dirty="0"/>
              <a:t>研究背景・</a:t>
            </a:r>
            <a:r>
              <a:rPr kumimoji="1" lang="en-US" altLang="ja-JP" dirty="0"/>
              <a:t>As-Is</a:t>
            </a:r>
            <a:r>
              <a:rPr kumimoji="1" lang="ja-JP" altLang="en-US" dirty="0"/>
              <a:t>の説明</a:t>
            </a:r>
            <a:endParaRPr kumimoji="1" lang="en-US" altLang="ja-JP" dirty="0"/>
          </a:p>
          <a:p>
            <a:pPr lvl="1"/>
            <a:r>
              <a:rPr lang="en-US" altLang="ja-JP" dirty="0"/>
              <a:t>To-Be</a:t>
            </a:r>
            <a:r>
              <a:rPr lang="ja-JP" altLang="en-US" dirty="0"/>
              <a:t>の提案</a:t>
            </a:r>
            <a:endParaRPr lang="en-US" altLang="ja-JP" dirty="0"/>
          </a:p>
          <a:p>
            <a:pPr lvl="1"/>
            <a:r>
              <a:rPr kumimoji="1" lang="ja-JP" altLang="en-US" dirty="0"/>
              <a:t>研究課題・関連研究</a:t>
            </a:r>
            <a:endParaRPr kumimoji="1" lang="en-US" altLang="ja-JP" dirty="0"/>
          </a:p>
          <a:p>
            <a:pPr lvl="1"/>
            <a:r>
              <a:rPr lang="ja-JP" altLang="en-US" dirty="0"/>
              <a:t>解決のアプローチ</a:t>
            </a:r>
            <a:endParaRPr lang="en-US" altLang="ja-JP" dirty="0"/>
          </a:p>
          <a:p>
            <a:pPr lvl="1"/>
            <a:r>
              <a:rPr kumimoji="1" lang="ja-JP" altLang="en-US" dirty="0"/>
              <a:t>検討中のモデル</a:t>
            </a:r>
            <a:endParaRPr kumimoji="1" lang="en-US" altLang="ja-JP" dirty="0"/>
          </a:p>
          <a:p>
            <a:pPr lvl="2"/>
            <a:r>
              <a:rPr lang="ja-JP" altLang="en-US" dirty="0"/>
              <a:t>時空間モデル</a:t>
            </a:r>
            <a:endParaRPr lang="en-US" altLang="ja-JP" dirty="0"/>
          </a:p>
          <a:p>
            <a:pPr lvl="2"/>
            <a:r>
              <a:rPr kumimoji="1" lang="ja-JP" altLang="en-US" dirty="0"/>
              <a:t>動的構造化因果モデル</a:t>
            </a:r>
            <a:endParaRPr kumimoji="1" lang="en-US" altLang="ja-JP" dirty="0"/>
          </a:p>
          <a:p>
            <a:pPr lvl="1"/>
            <a:r>
              <a:rPr lang="ja-JP" altLang="en-US" dirty="0"/>
              <a:t>検討中のポイント</a:t>
            </a:r>
            <a:endParaRPr lang="en-US" altLang="ja-JP" dirty="0"/>
          </a:p>
          <a:p>
            <a:pPr lvl="1"/>
            <a:r>
              <a:rPr kumimoji="1" lang="ja-JP" altLang="en-US" dirty="0"/>
              <a:t>めざす</a:t>
            </a:r>
            <a:r>
              <a:rPr lang="ja-JP" altLang="en-US" dirty="0"/>
              <a:t>新規性・ご相談事項</a:t>
            </a:r>
            <a:endParaRPr kumimoji="1" lang="ja-JP" altLang="en-US" dirty="0"/>
          </a:p>
        </p:txBody>
      </p:sp>
      <p:sp>
        <p:nvSpPr>
          <p:cNvPr id="4" name="日付プレースホルダー 3">
            <a:extLst>
              <a:ext uri="{FF2B5EF4-FFF2-40B4-BE49-F238E27FC236}">
                <a16:creationId xmlns:a16="http://schemas.microsoft.com/office/drawing/2014/main" id="{3BB0BCD7-40D4-34B4-325A-B4D0948703CF}"/>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B6C677C7-E720-DCD7-3ACD-644F2FE53CEC}"/>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1FD629C7-0C36-05D1-C0D5-1E54B7DA1676}"/>
              </a:ext>
            </a:extLst>
          </p:cNvPr>
          <p:cNvSpPr>
            <a:spLocks noGrp="1"/>
          </p:cNvSpPr>
          <p:nvPr>
            <p:ph type="sldNum" sz="quarter" idx="12"/>
          </p:nvPr>
        </p:nvSpPr>
        <p:spPr/>
        <p:txBody>
          <a:bodyPr/>
          <a:lstStyle/>
          <a:p>
            <a:fld id="{870B1737-2A00-4EFB-9FD3-149FCC30AA13}" type="slidenum">
              <a:rPr lang="ja-JP" altLang="en-US" smtClean="0"/>
              <a:pPr/>
              <a:t>18</a:t>
            </a:fld>
            <a:endParaRPr lang="ja-JP" altLang="en-US"/>
          </a:p>
        </p:txBody>
      </p:sp>
    </p:spTree>
    <p:extLst>
      <p:ext uri="{BB962C8B-B14F-4D97-AF65-F5344CB8AC3E}">
        <p14:creationId xmlns:p14="http://schemas.microsoft.com/office/powerpoint/2010/main" val="3876040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9B891C-827A-4159-3A14-579EFE780440}"/>
              </a:ext>
            </a:extLst>
          </p:cNvPr>
          <p:cNvSpPr>
            <a:spLocks noGrp="1"/>
          </p:cNvSpPr>
          <p:nvPr>
            <p:ph type="title"/>
          </p:nvPr>
        </p:nvSpPr>
        <p:spPr/>
        <p:txBody>
          <a:bodyPr/>
          <a:lstStyle/>
          <a:p>
            <a:r>
              <a:rPr kumimoji="1" lang="ja-JP" altLang="en-US" dirty="0"/>
              <a:t>学部～博士の研究全体像</a:t>
            </a:r>
          </a:p>
        </p:txBody>
      </p:sp>
      <p:sp>
        <p:nvSpPr>
          <p:cNvPr id="3" name="コンテンツ プレースホルダー 2">
            <a:extLst>
              <a:ext uri="{FF2B5EF4-FFF2-40B4-BE49-F238E27FC236}">
                <a16:creationId xmlns:a16="http://schemas.microsoft.com/office/drawing/2014/main" id="{E0AB15B5-07D8-90D3-E7A8-E7FAF65740B3}"/>
              </a:ext>
            </a:extLst>
          </p:cNvPr>
          <p:cNvSpPr>
            <a:spLocks noGrp="1"/>
          </p:cNvSpPr>
          <p:nvPr>
            <p:ph idx="1"/>
          </p:nvPr>
        </p:nvSpPr>
        <p:spPr>
          <a:xfrm>
            <a:off x="119336" y="791726"/>
            <a:ext cx="11953328" cy="6093658"/>
          </a:xfrm>
        </p:spPr>
        <p:txBody>
          <a:bodyPr>
            <a:normAutofit lnSpcReduction="10000"/>
          </a:bodyPr>
          <a:lstStyle/>
          <a:p>
            <a:r>
              <a:rPr kumimoji="1" lang="ja-JP" altLang="en-US" dirty="0"/>
              <a:t>大テーマ</a:t>
            </a:r>
            <a:endParaRPr kumimoji="1" lang="en-US" altLang="ja-JP" dirty="0"/>
          </a:p>
          <a:p>
            <a:endParaRPr lang="en-US" altLang="ja-JP" dirty="0"/>
          </a:p>
          <a:p>
            <a:pPr lvl="4"/>
            <a:endParaRPr lang="en-US" altLang="ja-JP" dirty="0"/>
          </a:p>
          <a:p>
            <a:r>
              <a:rPr kumimoji="1" lang="ja-JP" altLang="en-US" dirty="0"/>
              <a:t>個別研究テーマ</a:t>
            </a:r>
            <a:endParaRPr kumimoji="1"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lang="en-US" altLang="ja-JP" dirty="0"/>
          </a:p>
          <a:p>
            <a:endParaRPr kumimoji="1" lang="en-US" altLang="ja-JP" dirty="0"/>
          </a:p>
          <a:p>
            <a:r>
              <a:rPr lang="ja-JP" altLang="en-US" dirty="0"/>
              <a:t>博士課程で新たに取り組みたい新規研究</a:t>
            </a:r>
            <a:endParaRPr lang="en-US" altLang="ja-JP" dirty="0"/>
          </a:p>
          <a:p>
            <a:pPr lvl="1"/>
            <a:r>
              <a:rPr lang="ja-JP" altLang="en-US" dirty="0"/>
              <a:t>上記整理より、フロア全体の見守りを実現したい</a:t>
            </a:r>
            <a:endParaRPr lang="en-US" altLang="ja-JP" dirty="0"/>
          </a:p>
          <a:p>
            <a:pPr lvl="1"/>
            <a:r>
              <a:rPr lang="ja-JP" altLang="en-US" dirty="0"/>
              <a:t>長崎訪問を通じてヒアリングした、「通知過多による疲労・混乱」の課題を解決したい</a:t>
            </a:r>
            <a:endParaRPr lang="en-US" altLang="ja-JP" dirty="0"/>
          </a:p>
          <a:p>
            <a:pPr marL="628650" lvl="2" indent="0">
              <a:buNone/>
            </a:pPr>
            <a:r>
              <a:rPr lang="ja-JP" altLang="en-US" dirty="0"/>
              <a:t>➡次頁より示す、研究案を検討中</a:t>
            </a:r>
          </a:p>
          <a:p>
            <a:pPr lvl="1"/>
            <a:endParaRPr kumimoji="1" lang="ja-JP" altLang="en-US" dirty="0"/>
          </a:p>
        </p:txBody>
      </p:sp>
      <p:sp>
        <p:nvSpPr>
          <p:cNvPr id="4" name="日付プレースホルダー 3">
            <a:extLst>
              <a:ext uri="{FF2B5EF4-FFF2-40B4-BE49-F238E27FC236}">
                <a16:creationId xmlns:a16="http://schemas.microsoft.com/office/drawing/2014/main" id="{C9C2519A-EEA7-C71F-032A-FDA2E6B32A67}"/>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4AEAFC93-2707-14C4-B675-F2CF1E0F0B86}"/>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C845AB53-B7C6-D020-C1F8-1E05B5E369B2}"/>
              </a:ext>
            </a:extLst>
          </p:cNvPr>
          <p:cNvSpPr>
            <a:spLocks noGrp="1"/>
          </p:cNvSpPr>
          <p:nvPr>
            <p:ph type="sldNum" sz="quarter" idx="12"/>
          </p:nvPr>
        </p:nvSpPr>
        <p:spPr/>
        <p:txBody>
          <a:bodyPr/>
          <a:lstStyle/>
          <a:p>
            <a:fld id="{870B1737-2A00-4EFB-9FD3-149FCC30AA13}" type="slidenum">
              <a:rPr lang="ja-JP" altLang="en-US" smtClean="0"/>
              <a:pPr/>
              <a:t>19</a:t>
            </a:fld>
            <a:endParaRPr lang="ja-JP" altLang="en-US"/>
          </a:p>
        </p:txBody>
      </p:sp>
      <p:sp>
        <p:nvSpPr>
          <p:cNvPr id="7" name="正方形/長方形 6">
            <a:extLst>
              <a:ext uri="{FF2B5EF4-FFF2-40B4-BE49-F238E27FC236}">
                <a16:creationId xmlns:a16="http://schemas.microsoft.com/office/drawing/2014/main" id="{EC811780-A68E-907F-6E5F-75EC5B51B86E}"/>
              </a:ext>
            </a:extLst>
          </p:cNvPr>
          <p:cNvSpPr/>
          <p:nvPr/>
        </p:nvSpPr>
        <p:spPr>
          <a:xfrm>
            <a:off x="839416" y="1196752"/>
            <a:ext cx="10513168"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病棟における「患者の事故リスク低減」と「スタッフの負荷低減」を両立する見守りの実現</a:t>
            </a:r>
          </a:p>
        </p:txBody>
      </p:sp>
      <p:grpSp>
        <p:nvGrpSpPr>
          <p:cNvPr id="90" name="グループ化 89">
            <a:extLst>
              <a:ext uri="{FF2B5EF4-FFF2-40B4-BE49-F238E27FC236}">
                <a16:creationId xmlns:a16="http://schemas.microsoft.com/office/drawing/2014/main" id="{F454D6F9-D90E-1EA0-6023-4C0237B00F78}"/>
              </a:ext>
            </a:extLst>
          </p:cNvPr>
          <p:cNvGrpSpPr/>
          <p:nvPr/>
        </p:nvGrpSpPr>
        <p:grpSpPr>
          <a:xfrm>
            <a:off x="8574736" y="2237985"/>
            <a:ext cx="3414961" cy="2490348"/>
            <a:chOff x="8841144" y="2389777"/>
            <a:chExt cx="2779557" cy="2026979"/>
          </a:xfrm>
        </p:grpSpPr>
        <p:grpSp>
          <p:nvGrpSpPr>
            <p:cNvPr id="8" name="グループ化 7">
              <a:extLst>
                <a:ext uri="{FF2B5EF4-FFF2-40B4-BE49-F238E27FC236}">
                  <a16:creationId xmlns:a16="http://schemas.microsoft.com/office/drawing/2014/main" id="{270987E2-7BA4-70EC-05E1-7D17E5E81229}"/>
                </a:ext>
              </a:extLst>
            </p:cNvPr>
            <p:cNvGrpSpPr/>
            <p:nvPr/>
          </p:nvGrpSpPr>
          <p:grpSpPr>
            <a:xfrm>
              <a:off x="8841144" y="2389777"/>
              <a:ext cx="2779557" cy="2026979"/>
              <a:chOff x="3875042" y="1483939"/>
              <a:chExt cx="4662150" cy="3399849"/>
            </a:xfrm>
          </p:grpSpPr>
          <p:cxnSp>
            <p:nvCxnSpPr>
              <p:cNvPr id="9" name="直線矢印コネクタ 8">
                <a:extLst>
                  <a:ext uri="{FF2B5EF4-FFF2-40B4-BE49-F238E27FC236}">
                    <a16:creationId xmlns:a16="http://schemas.microsoft.com/office/drawing/2014/main" id="{6A7FA9B2-4150-F5C4-D59A-09E2966C5243}"/>
                  </a:ext>
                </a:extLst>
              </p:cNvPr>
              <p:cNvCxnSpPr>
                <a:cxnSpLocks/>
              </p:cNvCxnSpPr>
              <p:nvPr/>
            </p:nvCxnSpPr>
            <p:spPr>
              <a:xfrm>
                <a:off x="4007768" y="4509120"/>
                <a:ext cx="30963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37BD3641-FDA4-DECA-339D-37ECA83036A7}"/>
                  </a:ext>
                </a:extLst>
              </p:cNvPr>
              <p:cNvCxnSpPr>
                <a:cxnSpLocks/>
              </p:cNvCxnSpPr>
              <p:nvPr/>
            </p:nvCxnSpPr>
            <p:spPr>
              <a:xfrm flipV="1">
                <a:off x="4295800" y="2457692"/>
                <a:ext cx="3272016" cy="2150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CC7E099A-7478-68C5-B7DA-B83A6F5544D4}"/>
                  </a:ext>
                </a:extLst>
              </p:cNvPr>
              <p:cNvCxnSpPr>
                <a:cxnSpLocks/>
              </p:cNvCxnSpPr>
              <p:nvPr/>
            </p:nvCxnSpPr>
            <p:spPr>
              <a:xfrm flipV="1">
                <a:off x="4439816" y="2127727"/>
                <a:ext cx="0" cy="2669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033A6AF-EA3E-82FD-5EE0-A1729671C0C8}"/>
                  </a:ext>
                </a:extLst>
              </p:cNvPr>
              <p:cNvCxnSpPr>
                <a:cxnSpLocks/>
              </p:cNvCxnSpPr>
              <p:nvPr/>
            </p:nvCxnSpPr>
            <p:spPr>
              <a:xfrm>
                <a:off x="5015880" y="4149080"/>
                <a:ext cx="224124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FD4A6FC2-A652-C0A1-4EC0-126698A8648D}"/>
                  </a:ext>
                </a:extLst>
              </p:cNvPr>
              <p:cNvCxnSpPr>
                <a:cxnSpLocks/>
              </p:cNvCxnSpPr>
              <p:nvPr/>
            </p:nvCxnSpPr>
            <p:spPr>
              <a:xfrm>
                <a:off x="5519936" y="3789040"/>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7CDEB5FE-18A1-A9B0-2A9D-49CA9B1B5B59}"/>
                  </a:ext>
                </a:extLst>
              </p:cNvPr>
              <p:cNvCxnSpPr>
                <a:cxnSpLocks/>
              </p:cNvCxnSpPr>
              <p:nvPr/>
            </p:nvCxnSpPr>
            <p:spPr>
              <a:xfrm>
                <a:off x="6096000" y="3429000"/>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DACCC74B-A164-18DE-91F9-099339A05860}"/>
                  </a:ext>
                </a:extLst>
              </p:cNvPr>
              <p:cNvCxnSpPr>
                <a:cxnSpLocks/>
              </p:cNvCxnSpPr>
              <p:nvPr/>
            </p:nvCxnSpPr>
            <p:spPr>
              <a:xfrm flipV="1">
                <a:off x="5216038" y="3140968"/>
                <a:ext cx="2074095"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117BE85-4E6D-745D-1123-0BA0022AC47E}"/>
                  </a:ext>
                </a:extLst>
              </p:cNvPr>
              <p:cNvCxnSpPr>
                <a:cxnSpLocks/>
              </p:cNvCxnSpPr>
              <p:nvPr/>
            </p:nvCxnSpPr>
            <p:spPr>
              <a:xfrm flipV="1">
                <a:off x="5978122" y="3140968"/>
                <a:ext cx="2074096"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65D6B1B5-DF54-C587-0A1A-819F3817C526}"/>
                  </a:ext>
                </a:extLst>
              </p:cNvPr>
              <p:cNvCxnSpPr>
                <a:cxnSpLocks/>
              </p:cNvCxnSpPr>
              <p:nvPr/>
            </p:nvCxnSpPr>
            <p:spPr>
              <a:xfrm flipV="1">
                <a:off x="6744072" y="3459347"/>
                <a:ext cx="1585740" cy="1042058"/>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87C47FA-8D2D-5D63-12B0-2D6DFA5DCC07}"/>
                  </a:ext>
                </a:extLst>
              </p:cNvPr>
              <p:cNvCxnSpPr>
                <a:cxnSpLocks/>
                <a:endCxn id="36" idx="0"/>
              </p:cNvCxnSpPr>
              <p:nvPr/>
            </p:nvCxnSpPr>
            <p:spPr>
              <a:xfrm flipV="1">
                <a:off x="5014715" y="2198355"/>
                <a:ext cx="0" cy="194711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C4C84037-5528-E386-1E10-9370A049F42B}"/>
                  </a:ext>
                </a:extLst>
              </p:cNvPr>
              <p:cNvCxnSpPr>
                <a:cxnSpLocks/>
              </p:cNvCxnSpPr>
              <p:nvPr/>
            </p:nvCxnSpPr>
            <p:spPr>
              <a:xfrm flipV="1">
                <a:off x="5532810" y="1836263"/>
                <a:ext cx="0" cy="196897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8910A2A4-4FC0-4ED1-7642-9E2F974804E7}"/>
                  </a:ext>
                </a:extLst>
              </p:cNvPr>
              <p:cNvCxnSpPr>
                <a:cxnSpLocks/>
              </p:cNvCxnSpPr>
              <p:nvPr/>
            </p:nvCxnSpPr>
            <p:spPr>
              <a:xfrm flipV="1">
                <a:off x="6096000" y="1484784"/>
                <a:ext cx="0" cy="206562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D365EC7C-0BAD-6A38-B8CA-14F67162BA43}"/>
                  </a:ext>
                </a:extLst>
              </p:cNvPr>
              <p:cNvCxnSpPr>
                <a:cxnSpLocks/>
              </p:cNvCxnSpPr>
              <p:nvPr/>
            </p:nvCxnSpPr>
            <p:spPr>
              <a:xfrm flipV="1">
                <a:off x="4448453" y="2488616"/>
                <a:ext cx="2079595" cy="13665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22DAFE1D-D22C-3192-8EDA-1266E6A790D1}"/>
                  </a:ext>
                </a:extLst>
              </p:cNvPr>
              <p:cNvCxnSpPr>
                <a:cxnSpLocks/>
              </p:cNvCxnSpPr>
              <p:nvPr/>
            </p:nvCxnSpPr>
            <p:spPr>
              <a:xfrm flipV="1">
                <a:off x="4448453" y="2127727"/>
                <a:ext cx="1636063" cy="107512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1A8BC50-7B1D-061A-6E7C-5AB19F84E0C8}"/>
                  </a:ext>
                </a:extLst>
              </p:cNvPr>
              <p:cNvCxnSpPr>
                <a:cxnSpLocks/>
              </p:cNvCxnSpPr>
              <p:nvPr/>
            </p:nvCxnSpPr>
            <p:spPr>
              <a:xfrm flipV="1">
                <a:off x="4443160" y="1491588"/>
                <a:ext cx="1616682" cy="10623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507415EB-E6A5-CF45-30BC-CD26B4567F79}"/>
                  </a:ext>
                </a:extLst>
              </p:cNvPr>
              <p:cNvCxnSpPr>
                <a:cxnSpLocks/>
              </p:cNvCxnSpPr>
              <p:nvPr/>
            </p:nvCxnSpPr>
            <p:spPr>
              <a:xfrm>
                <a:off x="6096000" y="2780928"/>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7D9D5552-3D27-5430-ECAA-2BCE3CF03344}"/>
                  </a:ext>
                </a:extLst>
              </p:cNvPr>
              <p:cNvCxnSpPr>
                <a:cxnSpLocks/>
              </p:cNvCxnSpPr>
              <p:nvPr/>
            </p:nvCxnSpPr>
            <p:spPr>
              <a:xfrm>
                <a:off x="6096000" y="2132856"/>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6A9F67AF-6BDD-16C9-52F4-23F156B40B76}"/>
                  </a:ext>
                </a:extLst>
              </p:cNvPr>
              <p:cNvCxnSpPr>
                <a:cxnSpLocks/>
              </p:cNvCxnSpPr>
              <p:nvPr/>
            </p:nvCxnSpPr>
            <p:spPr>
              <a:xfrm>
                <a:off x="6096000" y="1484784"/>
                <a:ext cx="232225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79B6761C-9AD0-BAFA-3616-7077717A10B8}"/>
                  </a:ext>
                </a:extLst>
              </p:cNvPr>
              <p:cNvCxnSpPr>
                <a:cxnSpLocks/>
              </p:cNvCxnSpPr>
              <p:nvPr/>
            </p:nvCxnSpPr>
            <p:spPr>
              <a:xfrm flipV="1">
                <a:off x="688808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C771A2D8-815B-EFD5-C088-D7A9682E6FD9}"/>
                  </a:ext>
                </a:extLst>
              </p:cNvPr>
              <p:cNvCxnSpPr>
                <a:cxnSpLocks/>
              </p:cNvCxnSpPr>
              <p:nvPr/>
            </p:nvCxnSpPr>
            <p:spPr>
              <a:xfrm flipV="1">
                <a:off x="760816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8983ADFF-6CC2-8898-42C8-E34F8F99C119}"/>
                  </a:ext>
                </a:extLst>
              </p:cNvPr>
              <p:cNvCxnSpPr>
                <a:cxnSpLocks/>
              </p:cNvCxnSpPr>
              <p:nvPr/>
            </p:nvCxnSpPr>
            <p:spPr>
              <a:xfrm flipV="1">
                <a:off x="8400256" y="1484784"/>
                <a:ext cx="0" cy="197456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F3D4F2C3-4E23-0237-14FE-FC08B91F3CCA}"/>
                  </a:ext>
                </a:extLst>
              </p:cNvPr>
              <p:cNvCxnSpPr>
                <a:cxnSpLocks/>
              </p:cNvCxnSpPr>
              <p:nvPr/>
            </p:nvCxnSpPr>
            <p:spPr>
              <a:xfrm flipV="1">
                <a:off x="6348027" y="1483939"/>
                <a:ext cx="2063714" cy="135615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ADEDF326-384C-FD89-EAA5-AD49D4465538}"/>
                  </a:ext>
                </a:extLst>
              </p:cNvPr>
              <p:cNvCxnSpPr>
                <a:cxnSpLocks/>
              </p:cNvCxnSpPr>
              <p:nvPr/>
            </p:nvCxnSpPr>
            <p:spPr>
              <a:xfrm>
                <a:off x="5519936" y="3140968"/>
                <a:ext cx="2448272"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フリーフォーム: 図形 31">
                <a:extLst>
                  <a:ext uri="{FF2B5EF4-FFF2-40B4-BE49-F238E27FC236}">
                    <a16:creationId xmlns:a16="http://schemas.microsoft.com/office/drawing/2014/main" id="{F9E86E8B-19DF-2D9D-53CE-887F44E42971}"/>
                  </a:ext>
                </a:extLst>
              </p:cNvPr>
              <p:cNvSpPr/>
              <p:nvPr/>
            </p:nvSpPr>
            <p:spPr>
              <a:xfrm>
                <a:off x="6296025" y="2774156"/>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27CFAD3E-3F6E-10C1-54DB-23EF5D0B0CD2}"/>
                  </a:ext>
                </a:extLst>
              </p:cNvPr>
              <p:cNvGrpSpPr/>
              <p:nvPr/>
            </p:nvGrpSpPr>
            <p:grpSpPr>
              <a:xfrm>
                <a:off x="6294021" y="2767211"/>
                <a:ext cx="2124238" cy="1032913"/>
                <a:chOff x="6294021" y="2767211"/>
                <a:chExt cx="2124238" cy="1032913"/>
              </a:xfrm>
            </p:grpSpPr>
            <p:cxnSp>
              <p:nvCxnSpPr>
                <p:cNvPr id="74" name="直線矢印コネクタ 73">
                  <a:extLst>
                    <a:ext uri="{FF2B5EF4-FFF2-40B4-BE49-F238E27FC236}">
                      <a16:creationId xmlns:a16="http://schemas.microsoft.com/office/drawing/2014/main" id="{3873223C-61A9-9F96-8B7C-877A13DCB162}"/>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5" name="直線矢印コネクタ 74">
                  <a:extLst>
                    <a:ext uri="{FF2B5EF4-FFF2-40B4-BE49-F238E27FC236}">
                      <a16:creationId xmlns:a16="http://schemas.microsoft.com/office/drawing/2014/main" id="{D463B5C2-5184-05BA-DA33-E0A89CBC9547}"/>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6" name="直線矢印コネクタ 75">
                  <a:extLst>
                    <a:ext uri="{FF2B5EF4-FFF2-40B4-BE49-F238E27FC236}">
                      <a16:creationId xmlns:a16="http://schemas.microsoft.com/office/drawing/2014/main" id="{1BEB3C5B-EB9D-11AB-BC04-216D5365DF33}"/>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7" name="直線矢印コネクタ 76">
                  <a:extLst>
                    <a:ext uri="{FF2B5EF4-FFF2-40B4-BE49-F238E27FC236}">
                      <a16:creationId xmlns:a16="http://schemas.microsoft.com/office/drawing/2014/main" id="{F09B439D-394D-C8DC-433F-FB086BABBC6B}"/>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8" name="直線矢印コネクタ 77">
                  <a:extLst>
                    <a:ext uri="{FF2B5EF4-FFF2-40B4-BE49-F238E27FC236}">
                      <a16:creationId xmlns:a16="http://schemas.microsoft.com/office/drawing/2014/main" id="{EAE7AEAE-40BB-5099-578F-DBC5ACACE2DE}"/>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9" name="直線矢印コネクタ 78">
                  <a:extLst>
                    <a:ext uri="{FF2B5EF4-FFF2-40B4-BE49-F238E27FC236}">
                      <a16:creationId xmlns:a16="http://schemas.microsoft.com/office/drawing/2014/main" id="{21E698DB-420C-52B6-22BB-DC6A6B91B0E6}"/>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0" name="直線矢印コネクタ 79">
                  <a:extLst>
                    <a:ext uri="{FF2B5EF4-FFF2-40B4-BE49-F238E27FC236}">
                      <a16:creationId xmlns:a16="http://schemas.microsoft.com/office/drawing/2014/main" id="{4DF11333-0656-87D4-DA42-5D1455A744FC}"/>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1" name="直線矢印コネクタ 80">
                  <a:extLst>
                    <a:ext uri="{FF2B5EF4-FFF2-40B4-BE49-F238E27FC236}">
                      <a16:creationId xmlns:a16="http://schemas.microsoft.com/office/drawing/2014/main" id="{1EFC8326-6D39-1544-3F62-2885C19744F4}"/>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2" name="直線矢印コネクタ 81">
                  <a:extLst>
                    <a:ext uri="{FF2B5EF4-FFF2-40B4-BE49-F238E27FC236}">
                      <a16:creationId xmlns:a16="http://schemas.microsoft.com/office/drawing/2014/main" id="{2440ED9A-7714-F63C-F105-651733E08BFC}"/>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3" name="直線矢印コネクタ 82">
                  <a:extLst>
                    <a:ext uri="{FF2B5EF4-FFF2-40B4-BE49-F238E27FC236}">
                      <a16:creationId xmlns:a16="http://schemas.microsoft.com/office/drawing/2014/main" id="{FC4C0F9E-5B37-AC27-F055-33B3BED88A53}"/>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4" name="直線矢印コネクタ 83">
                  <a:extLst>
                    <a:ext uri="{FF2B5EF4-FFF2-40B4-BE49-F238E27FC236}">
                      <a16:creationId xmlns:a16="http://schemas.microsoft.com/office/drawing/2014/main" id="{3F562730-3D3E-F9A6-38B7-572E564F65E1}"/>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5" name="直線矢印コネクタ 84">
                  <a:extLst>
                    <a:ext uri="{FF2B5EF4-FFF2-40B4-BE49-F238E27FC236}">
                      <a16:creationId xmlns:a16="http://schemas.microsoft.com/office/drawing/2014/main" id="{706E97CF-81EB-F4F7-5773-6F5D1C63AE0E}"/>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34" name="フリーフォーム: 図形 33">
                <a:extLst>
                  <a:ext uri="{FF2B5EF4-FFF2-40B4-BE49-F238E27FC236}">
                    <a16:creationId xmlns:a16="http://schemas.microsoft.com/office/drawing/2014/main" id="{515566C9-8C8A-EF28-AAC0-284D5B1F4E9A}"/>
                  </a:ext>
                </a:extLst>
              </p:cNvPr>
              <p:cNvSpPr/>
              <p:nvPr/>
            </p:nvSpPr>
            <p:spPr>
              <a:xfrm>
                <a:off x="5273489" y="2540674"/>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35" name="グループ化 34">
                <a:extLst>
                  <a:ext uri="{FF2B5EF4-FFF2-40B4-BE49-F238E27FC236}">
                    <a16:creationId xmlns:a16="http://schemas.microsoft.com/office/drawing/2014/main" id="{3477E7F6-830D-997D-85C3-F246D5502160}"/>
                  </a:ext>
                </a:extLst>
              </p:cNvPr>
              <p:cNvGrpSpPr/>
              <p:nvPr/>
            </p:nvGrpSpPr>
            <p:grpSpPr>
              <a:xfrm>
                <a:off x="5273543" y="2539661"/>
                <a:ext cx="2124238" cy="1032913"/>
                <a:chOff x="6294021" y="2767211"/>
                <a:chExt cx="2124238" cy="1032913"/>
              </a:xfrm>
            </p:grpSpPr>
            <p:cxnSp>
              <p:nvCxnSpPr>
                <p:cNvPr id="62" name="直線矢印コネクタ 61">
                  <a:extLst>
                    <a:ext uri="{FF2B5EF4-FFF2-40B4-BE49-F238E27FC236}">
                      <a16:creationId xmlns:a16="http://schemas.microsoft.com/office/drawing/2014/main" id="{8F02390A-23EE-F952-DAF6-931144BFD6CC}"/>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3" name="直線矢印コネクタ 62">
                  <a:extLst>
                    <a:ext uri="{FF2B5EF4-FFF2-40B4-BE49-F238E27FC236}">
                      <a16:creationId xmlns:a16="http://schemas.microsoft.com/office/drawing/2014/main" id="{61445585-AFBB-649C-5B36-7A02D837F2DB}"/>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4" name="直線矢印コネクタ 63">
                  <a:extLst>
                    <a:ext uri="{FF2B5EF4-FFF2-40B4-BE49-F238E27FC236}">
                      <a16:creationId xmlns:a16="http://schemas.microsoft.com/office/drawing/2014/main" id="{A5D6D627-2B2F-7E7B-8159-BB40A91A6D32}"/>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5" name="直線矢印コネクタ 64">
                  <a:extLst>
                    <a:ext uri="{FF2B5EF4-FFF2-40B4-BE49-F238E27FC236}">
                      <a16:creationId xmlns:a16="http://schemas.microsoft.com/office/drawing/2014/main" id="{75F5ECCB-81E9-9BFA-CB42-F698C82C93BC}"/>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6" name="直線矢印コネクタ 65">
                  <a:extLst>
                    <a:ext uri="{FF2B5EF4-FFF2-40B4-BE49-F238E27FC236}">
                      <a16:creationId xmlns:a16="http://schemas.microsoft.com/office/drawing/2014/main" id="{570A713F-854B-08D5-D890-60BE572FEBFE}"/>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7" name="直線矢印コネクタ 66">
                  <a:extLst>
                    <a:ext uri="{FF2B5EF4-FFF2-40B4-BE49-F238E27FC236}">
                      <a16:creationId xmlns:a16="http://schemas.microsoft.com/office/drawing/2014/main" id="{B18CC189-2D18-2BC5-FFC9-0E28856388EF}"/>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8" name="直線矢印コネクタ 67">
                  <a:extLst>
                    <a:ext uri="{FF2B5EF4-FFF2-40B4-BE49-F238E27FC236}">
                      <a16:creationId xmlns:a16="http://schemas.microsoft.com/office/drawing/2014/main" id="{E77D4E00-2C58-AE74-943A-839FC9A3D463}"/>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9" name="直線矢印コネクタ 68">
                  <a:extLst>
                    <a:ext uri="{FF2B5EF4-FFF2-40B4-BE49-F238E27FC236}">
                      <a16:creationId xmlns:a16="http://schemas.microsoft.com/office/drawing/2014/main" id="{9B4242CF-B81A-91B4-5692-23BF4563D955}"/>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0" name="直線矢印コネクタ 69">
                  <a:extLst>
                    <a:ext uri="{FF2B5EF4-FFF2-40B4-BE49-F238E27FC236}">
                      <a16:creationId xmlns:a16="http://schemas.microsoft.com/office/drawing/2014/main" id="{F956EA6D-0307-87B0-4FAC-FF62EDCD5D9B}"/>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1" name="直線矢印コネクタ 70">
                  <a:extLst>
                    <a:ext uri="{FF2B5EF4-FFF2-40B4-BE49-F238E27FC236}">
                      <a16:creationId xmlns:a16="http://schemas.microsoft.com/office/drawing/2014/main" id="{102B038F-1A51-F733-6E02-F439DE4D205C}"/>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2" name="直線矢印コネクタ 71">
                  <a:extLst>
                    <a:ext uri="{FF2B5EF4-FFF2-40B4-BE49-F238E27FC236}">
                      <a16:creationId xmlns:a16="http://schemas.microsoft.com/office/drawing/2014/main" id="{2EA324D1-A3EB-B41A-60C5-3E83EB16B2F7}"/>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3" name="直線矢印コネクタ 72">
                  <a:extLst>
                    <a:ext uri="{FF2B5EF4-FFF2-40B4-BE49-F238E27FC236}">
                      <a16:creationId xmlns:a16="http://schemas.microsoft.com/office/drawing/2014/main" id="{3B155442-E5DC-2920-3BFC-7F15BAE03423}"/>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36" name="フリーフォーム: 図形 35">
                <a:extLst>
                  <a:ext uri="{FF2B5EF4-FFF2-40B4-BE49-F238E27FC236}">
                    <a16:creationId xmlns:a16="http://schemas.microsoft.com/office/drawing/2014/main" id="{0C6D98DD-4AD5-587D-8AB2-91D1024AC1DD}"/>
                  </a:ext>
                </a:extLst>
              </p:cNvPr>
              <p:cNvSpPr/>
              <p:nvPr/>
            </p:nvSpPr>
            <p:spPr>
              <a:xfrm>
                <a:off x="4417021" y="2198355"/>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grpSp>
            <p:nvGrpSpPr>
              <p:cNvPr id="37" name="グループ化 36">
                <a:extLst>
                  <a:ext uri="{FF2B5EF4-FFF2-40B4-BE49-F238E27FC236}">
                    <a16:creationId xmlns:a16="http://schemas.microsoft.com/office/drawing/2014/main" id="{89757B44-2C04-5555-0063-ED6074F542D7}"/>
                  </a:ext>
                </a:extLst>
              </p:cNvPr>
              <p:cNvGrpSpPr/>
              <p:nvPr/>
            </p:nvGrpSpPr>
            <p:grpSpPr>
              <a:xfrm>
                <a:off x="4425156" y="2182728"/>
                <a:ext cx="2124238" cy="1032913"/>
                <a:chOff x="6294021" y="2767211"/>
                <a:chExt cx="2124238" cy="1032913"/>
              </a:xfrm>
            </p:grpSpPr>
            <p:cxnSp>
              <p:nvCxnSpPr>
                <p:cNvPr id="50" name="直線矢印コネクタ 49">
                  <a:extLst>
                    <a:ext uri="{FF2B5EF4-FFF2-40B4-BE49-F238E27FC236}">
                      <a16:creationId xmlns:a16="http://schemas.microsoft.com/office/drawing/2014/main" id="{A6174F8E-C5DB-9762-7826-F2074A33B133}"/>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50B56089-0566-20AE-F9DB-C2DE5E7BADF9}"/>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BCBBC0F8-247E-4AC6-2B6A-129416B6D142}"/>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D2615389-33C0-CBE4-169B-73563E22ED93}"/>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51284F4D-778D-AC47-03E0-F3D38EA37CA0}"/>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C334F64A-8E83-727B-4B3A-E95A46F81EB5}"/>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AA061287-90D6-FF32-CDAD-B9BBA3D25F6B}"/>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3EBADFD8-E9A8-A359-7D2A-136ABF3FBF68}"/>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8DF6D583-7A4A-3D7D-CA64-37B03E1A39EA}"/>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5F61E0EB-6AEF-8D3E-24A2-93EE548A06EA}"/>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E5F29109-5A38-8D10-E1B3-E714157B0886}"/>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04AC0D2-49D8-74D6-8B6B-D3DFE4588729}"/>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8" name="直線矢印コネクタ 37">
                <a:extLst>
                  <a:ext uri="{FF2B5EF4-FFF2-40B4-BE49-F238E27FC236}">
                    <a16:creationId xmlns:a16="http://schemas.microsoft.com/office/drawing/2014/main" id="{B0F06627-41E8-3AE3-E702-7432E23126C7}"/>
                  </a:ext>
                </a:extLst>
              </p:cNvPr>
              <p:cNvCxnSpPr>
                <a:cxnSpLocks/>
              </p:cNvCxnSpPr>
              <p:nvPr/>
            </p:nvCxnSpPr>
            <p:spPr>
              <a:xfrm flipV="1">
                <a:off x="6744072" y="2573990"/>
                <a:ext cx="0" cy="193513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BAA0D6DC-7C34-82D3-17C0-B4153632FE14}"/>
                  </a:ext>
                </a:extLst>
              </p:cNvPr>
              <p:cNvCxnSpPr>
                <a:cxnSpLocks/>
              </p:cNvCxnSpPr>
              <p:nvPr/>
            </p:nvCxnSpPr>
            <p:spPr>
              <a:xfrm>
                <a:off x="4439816" y="2564904"/>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9CBBBA08-A665-2DD0-FCE3-6669130E15D8}"/>
                  </a:ext>
                </a:extLst>
              </p:cNvPr>
              <p:cNvCxnSpPr>
                <a:cxnSpLocks/>
              </p:cNvCxnSpPr>
              <p:nvPr/>
            </p:nvCxnSpPr>
            <p:spPr>
              <a:xfrm flipV="1">
                <a:off x="6803714"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B766EE12-B053-D758-B135-93A4DE896219}"/>
                  </a:ext>
                </a:extLst>
              </p:cNvPr>
              <p:cNvCxnSpPr>
                <a:cxnSpLocks/>
              </p:cNvCxnSpPr>
              <p:nvPr/>
            </p:nvCxnSpPr>
            <p:spPr>
              <a:xfrm flipV="1">
                <a:off x="5273489"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CCFF6C77-12A6-977B-C6C2-C0EB6F906C76}"/>
                  </a:ext>
                </a:extLst>
              </p:cNvPr>
              <p:cNvCxnSpPr>
                <a:cxnSpLocks/>
              </p:cNvCxnSpPr>
              <p:nvPr/>
            </p:nvCxnSpPr>
            <p:spPr>
              <a:xfrm flipV="1">
                <a:off x="5879976" y="3570051"/>
                <a:ext cx="0" cy="218989"/>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C252A438-556E-76B5-1286-949C66A99554}"/>
                  </a:ext>
                </a:extLst>
              </p:cNvPr>
              <p:cNvSpPr txBox="1"/>
              <p:nvPr/>
            </p:nvSpPr>
            <p:spPr>
              <a:xfrm>
                <a:off x="3875042" y="1552628"/>
                <a:ext cx="1197514" cy="504216"/>
              </a:xfrm>
              <a:prstGeom prst="rect">
                <a:avLst/>
              </a:prstGeom>
              <a:noFill/>
            </p:spPr>
            <p:txBody>
              <a:bodyPr wrap="none" rtlCol="0">
                <a:spAutoFit/>
              </a:bodyPr>
              <a:lstStyle/>
              <a:p>
                <a:pPr algn="ctr"/>
                <a:r>
                  <a:rPr lang="ja-JP" altLang="en-US" b="1" dirty="0"/>
                  <a:t>解像度</a:t>
                </a:r>
                <a:endParaRPr kumimoji="1" lang="ja-JP" altLang="en-US" b="1" dirty="0"/>
              </a:p>
            </p:txBody>
          </p:sp>
          <p:sp>
            <p:nvSpPr>
              <p:cNvPr id="44" name="テキスト ボックス 43">
                <a:extLst>
                  <a:ext uri="{FF2B5EF4-FFF2-40B4-BE49-F238E27FC236}">
                    <a16:creationId xmlns:a16="http://schemas.microsoft.com/office/drawing/2014/main" id="{08627EC9-11D0-F3B2-D7CE-4202B08A7971}"/>
                  </a:ext>
                </a:extLst>
              </p:cNvPr>
              <p:cNvSpPr txBox="1"/>
              <p:nvPr/>
            </p:nvSpPr>
            <p:spPr>
              <a:xfrm>
                <a:off x="7152218" y="4379572"/>
                <a:ext cx="882379" cy="504216"/>
              </a:xfrm>
              <a:prstGeom prst="rect">
                <a:avLst/>
              </a:prstGeom>
              <a:noFill/>
            </p:spPr>
            <p:txBody>
              <a:bodyPr wrap="none" rtlCol="0">
                <a:spAutoFit/>
              </a:bodyPr>
              <a:lstStyle/>
              <a:p>
                <a:pPr algn="ctr"/>
                <a:r>
                  <a:rPr kumimoji="1" lang="ja-JP" altLang="en-US" b="1" dirty="0"/>
                  <a:t>空間</a:t>
                </a:r>
              </a:p>
            </p:txBody>
          </p:sp>
          <p:sp>
            <p:nvSpPr>
              <p:cNvPr id="45" name="テキスト ボックス 44">
                <a:extLst>
                  <a:ext uri="{FF2B5EF4-FFF2-40B4-BE49-F238E27FC236}">
                    <a16:creationId xmlns:a16="http://schemas.microsoft.com/office/drawing/2014/main" id="{C06E9E30-2105-31EA-667C-D59897307590}"/>
                  </a:ext>
                </a:extLst>
              </p:cNvPr>
              <p:cNvSpPr txBox="1"/>
              <p:nvPr/>
            </p:nvSpPr>
            <p:spPr>
              <a:xfrm>
                <a:off x="7654813" y="2324575"/>
                <a:ext cx="882379" cy="504216"/>
              </a:xfrm>
              <a:prstGeom prst="rect">
                <a:avLst/>
              </a:prstGeom>
              <a:noFill/>
            </p:spPr>
            <p:txBody>
              <a:bodyPr wrap="none" rtlCol="0">
                <a:spAutoFit/>
              </a:bodyPr>
              <a:lstStyle/>
              <a:p>
                <a:pPr algn="ctr"/>
                <a:r>
                  <a:rPr kumimoji="1" lang="ja-JP" altLang="en-US" b="1" dirty="0"/>
                  <a:t>時間</a:t>
                </a:r>
              </a:p>
            </p:txBody>
          </p:sp>
          <p:cxnSp>
            <p:nvCxnSpPr>
              <p:cNvPr id="46" name="直線矢印コネクタ 45">
                <a:extLst>
                  <a:ext uri="{FF2B5EF4-FFF2-40B4-BE49-F238E27FC236}">
                    <a16:creationId xmlns:a16="http://schemas.microsoft.com/office/drawing/2014/main" id="{20260F20-8531-B381-24F2-B377CD9B4149}"/>
                  </a:ext>
                </a:extLst>
              </p:cNvPr>
              <p:cNvCxnSpPr>
                <a:cxnSpLocks/>
              </p:cNvCxnSpPr>
              <p:nvPr/>
            </p:nvCxnSpPr>
            <p:spPr>
              <a:xfrm flipV="1">
                <a:off x="7378515" y="3190367"/>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F372C729-F362-F7AC-3419-A72CFB6F56B9}"/>
                  </a:ext>
                </a:extLst>
              </p:cNvPr>
              <p:cNvCxnSpPr>
                <a:cxnSpLocks/>
              </p:cNvCxnSpPr>
              <p:nvPr/>
            </p:nvCxnSpPr>
            <p:spPr>
              <a:xfrm flipV="1">
                <a:off x="5969163"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BD495F61-2E69-130D-0CFA-0DCD777E5091}"/>
                  </a:ext>
                </a:extLst>
              </p:cNvPr>
              <p:cNvCxnSpPr>
                <a:cxnSpLocks/>
              </p:cNvCxnSpPr>
              <p:nvPr/>
            </p:nvCxnSpPr>
            <p:spPr>
              <a:xfrm flipV="1">
                <a:off x="4439816"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87129B9E-49CB-175D-8495-33DE2B6F3506}"/>
                  </a:ext>
                </a:extLst>
              </p:cNvPr>
              <p:cNvCxnSpPr>
                <a:cxnSpLocks/>
              </p:cNvCxnSpPr>
              <p:nvPr/>
            </p:nvCxnSpPr>
            <p:spPr>
              <a:xfrm flipV="1">
                <a:off x="6522047" y="2844840"/>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6" name="テキスト ボックス 85">
              <a:extLst>
                <a:ext uri="{FF2B5EF4-FFF2-40B4-BE49-F238E27FC236}">
                  <a16:creationId xmlns:a16="http://schemas.microsoft.com/office/drawing/2014/main" id="{35536640-93AB-10D6-FD97-9D87BAE13B5B}"/>
                </a:ext>
              </a:extLst>
            </p:cNvPr>
            <p:cNvSpPr txBox="1"/>
            <p:nvPr/>
          </p:nvSpPr>
          <p:spPr>
            <a:xfrm>
              <a:off x="9476544" y="3212688"/>
              <a:ext cx="466794" cy="261610"/>
            </a:xfrm>
            <a:prstGeom prst="rect">
              <a:avLst/>
            </a:prstGeom>
            <a:noFill/>
          </p:spPr>
          <p:txBody>
            <a:bodyPr wrap="none" rtlCol="0">
              <a:spAutoFit/>
            </a:bodyPr>
            <a:lstStyle/>
            <a:p>
              <a:r>
                <a:rPr kumimoji="1" lang="ja-JP" altLang="en-US" sz="1050" dirty="0">
                  <a:highlight>
                    <a:srgbClr val="FFFF00"/>
                  </a:highlight>
                </a:rPr>
                <a:t>学部</a:t>
              </a:r>
            </a:p>
          </p:txBody>
        </p:sp>
        <p:sp>
          <p:nvSpPr>
            <p:cNvPr id="87" name="テキスト ボックス 86">
              <a:extLst>
                <a:ext uri="{FF2B5EF4-FFF2-40B4-BE49-F238E27FC236}">
                  <a16:creationId xmlns:a16="http://schemas.microsoft.com/office/drawing/2014/main" id="{57E091A3-0E71-8C61-C4FD-B38ADAB4ED0F}"/>
                </a:ext>
              </a:extLst>
            </p:cNvPr>
            <p:cNvSpPr txBox="1"/>
            <p:nvPr/>
          </p:nvSpPr>
          <p:spPr>
            <a:xfrm>
              <a:off x="9948338" y="3423294"/>
              <a:ext cx="453970" cy="253916"/>
            </a:xfrm>
            <a:prstGeom prst="rect">
              <a:avLst/>
            </a:prstGeom>
            <a:noFill/>
          </p:spPr>
          <p:txBody>
            <a:bodyPr wrap="none" rtlCol="0">
              <a:spAutoFit/>
            </a:bodyPr>
            <a:lstStyle/>
            <a:p>
              <a:r>
                <a:rPr kumimoji="1" lang="ja-JP" altLang="en-US" sz="1050" dirty="0">
                  <a:highlight>
                    <a:srgbClr val="FFFF00"/>
                  </a:highlight>
                </a:rPr>
                <a:t>修士</a:t>
              </a:r>
            </a:p>
          </p:txBody>
        </p:sp>
        <p:sp>
          <p:nvSpPr>
            <p:cNvPr id="88" name="テキスト ボックス 87">
              <a:extLst>
                <a:ext uri="{FF2B5EF4-FFF2-40B4-BE49-F238E27FC236}">
                  <a16:creationId xmlns:a16="http://schemas.microsoft.com/office/drawing/2014/main" id="{3E90150C-6499-4EC2-E19B-01E0E8DC35DD}"/>
                </a:ext>
              </a:extLst>
            </p:cNvPr>
            <p:cNvSpPr txBox="1"/>
            <p:nvPr/>
          </p:nvSpPr>
          <p:spPr>
            <a:xfrm>
              <a:off x="10637513" y="3552524"/>
              <a:ext cx="453970" cy="253916"/>
            </a:xfrm>
            <a:prstGeom prst="rect">
              <a:avLst/>
            </a:prstGeom>
            <a:noFill/>
          </p:spPr>
          <p:txBody>
            <a:bodyPr wrap="none" rtlCol="0">
              <a:spAutoFit/>
            </a:bodyPr>
            <a:lstStyle/>
            <a:p>
              <a:r>
                <a:rPr kumimoji="1" lang="ja-JP" altLang="en-US" sz="1050" dirty="0">
                  <a:highlight>
                    <a:srgbClr val="FFFF00"/>
                  </a:highlight>
                </a:rPr>
                <a:t>博士</a:t>
              </a:r>
            </a:p>
          </p:txBody>
        </p:sp>
      </p:grpSp>
      <p:graphicFrame>
        <p:nvGraphicFramePr>
          <p:cNvPr id="89" name="表 88">
            <a:extLst>
              <a:ext uri="{FF2B5EF4-FFF2-40B4-BE49-F238E27FC236}">
                <a16:creationId xmlns:a16="http://schemas.microsoft.com/office/drawing/2014/main" id="{CB1F7AF5-C079-1909-E051-76BB2F08C653}"/>
              </a:ext>
            </a:extLst>
          </p:cNvPr>
          <p:cNvGraphicFramePr>
            <a:graphicFrameLocks noGrp="1"/>
          </p:cNvGraphicFramePr>
          <p:nvPr>
            <p:extLst>
              <p:ext uri="{D42A27DB-BD31-4B8C-83A1-F6EECF244321}">
                <p14:modId xmlns:p14="http://schemas.microsoft.com/office/powerpoint/2010/main" val="72847308"/>
              </p:ext>
            </p:extLst>
          </p:nvPr>
        </p:nvGraphicFramePr>
        <p:xfrm>
          <a:off x="701040" y="2171206"/>
          <a:ext cx="7623885" cy="2021840"/>
        </p:xfrm>
        <a:graphic>
          <a:graphicData uri="http://schemas.openxmlformats.org/drawingml/2006/table">
            <a:tbl>
              <a:tblPr firstRow="1" firstCol="1" bandRow="1">
                <a:tableStyleId>{073A0DAA-6AF3-43AB-8588-CEC1D06C72B9}</a:tableStyleId>
              </a:tblPr>
              <a:tblGrid>
                <a:gridCol w="925830">
                  <a:extLst>
                    <a:ext uri="{9D8B030D-6E8A-4147-A177-3AD203B41FA5}">
                      <a16:colId xmlns:a16="http://schemas.microsoft.com/office/drawing/2014/main" val="3835628758"/>
                    </a:ext>
                  </a:extLst>
                </a:gridCol>
                <a:gridCol w="2297430">
                  <a:extLst>
                    <a:ext uri="{9D8B030D-6E8A-4147-A177-3AD203B41FA5}">
                      <a16:colId xmlns:a16="http://schemas.microsoft.com/office/drawing/2014/main" val="2816856444"/>
                    </a:ext>
                  </a:extLst>
                </a:gridCol>
                <a:gridCol w="1937327">
                  <a:extLst>
                    <a:ext uri="{9D8B030D-6E8A-4147-A177-3AD203B41FA5}">
                      <a16:colId xmlns:a16="http://schemas.microsoft.com/office/drawing/2014/main" val="1797696917"/>
                    </a:ext>
                  </a:extLst>
                </a:gridCol>
                <a:gridCol w="2463298">
                  <a:extLst>
                    <a:ext uri="{9D8B030D-6E8A-4147-A177-3AD203B41FA5}">
                      <a16:colId xmlns:a16="http://schemas.microsoft.com/office/drawing/2014/main" val="4244154941"/>
                    </a:ext>
                  </a:extLst>
                </a:gridCol>
              </a:tblGrid>
              <a:tr h="370840">
                <a:tc>
                  <a:txBody>
                    <a:bodyPr/>
                    <a:lstStyle/>
                    <a:p>
                      <a:endParaRPr kumimoji="1" lang="ja-JP" altLang="en-US" dirty="0"/>
                    </a:p>
                  </a:txBody>
                  <a:tcPr/>
                </a:tc>
                <a:tc>
                  <a:txBody>
                    <a:bodyPr/>
                    <a:lstStyle/>
                    <a:p>
                      <a:r>
                        <a:rPr kumimoji="1" lang="ja-JP" altLang="en-US" dirty="0"/>
                        <a:t>学部</a:t>
                      </a:r>
                    </a:p>
                  </a:txBody>
                  <a:tcPr/>
                </a:tc>
                <a:tc>
                  <a:txBody>
                    <a:bodyPr/>
                    <a:lstStyle/>
                    <a:p>
                      <a:r>
                        <a:rPr kumimoji="1" lang="ja-JP" altLang="en-US" dirty="0"/>
                        <a:t>修士</a:t>
                      </a:r>
                    </a:p>
                  </a:txBody>
                  <a:tcPr/>
                </a:tc>
                <a:tc>
                  <a:txBody>
                    <a:bodyPr/>
                    <a:lstStyle/>
                    <a:p>
                      <a:r>
                        <a:rPr kumimoji="1" lang="ja-JP" altLang="en-US" dirty="0"/>
                        <a:t>博士</a:t>
                      </a:r>
                    </a:p>
                  </a:txBody>
                  <a:tcPr/>
                </a:tc>
                <a:extLst>
                  <a:ext uri="{0D108BD9-81ED-4DB2-BD59-A6C34878D82A}">
                    <a16:rowId xmlns:a16="http://schemas.microsoft.com/office/drawing/2014/main" val="3804160308"/>
                  </a:ext>
                </a:extLst>
              </a:tr>
              <a:tr h="370840">
                <a:tc>
                  <a:txBody>
                    <a:bodyPr/>
                    <a:lstStyle/>
                    <a:p>
                      <a:r>
                        <a:rPr kumimoji="1" lang="ja-JP" altLang="en-US" dirty="0"/>
                        <a:t>空間</a:t>
                      </a:r>
                    </a:p>
                  </a:txBody>
                  <a:tcPr/>
                </a:tc>
                <a:tc>
                  <a:txBody>
                    <a:bodyPr/>
                    <a:lstStyle/>
                    <a:p>
                      <a:r>
                        <a:rPr kumimoji="1" lang="ja-JP" altLang="en-US" dirty="0"/>
                        <a:t>患者</a:t>
                      </a:r>
                      <a:r>
                        <a:rPr kumimoji="1" lang="en-US" altLang="ja-JP" dirty="0"/>
                        <a:t>1</a:t>
                      </a:r>
                      <a:r>
                        <a:rPr kumimoji="1" lang="ja-JP" altLang="en-US" dirty="0"/>
                        <a:t>人</a:t>
                      </a:r>
                    </a:p>
                  </a:txBody>
                  <a:tcPr/>
                </a:tc>
                <a:tc>
                  <a:txBody>
                    <a:bodyPr/>
                    <a:lstStyle/>
                    <a:p>
                      <a:r>
                        <a:rPr kumimoji="1" lang="ja-JP" altLang="en-US" dirty="0"/>
                        <a:t>患者数人</a:t>
                      </a:r>
                      <a:endParaRPr kumimoji="1" lang="en-US" altLang="ja-JP" dirty="0"/>
                    </a:p>
                    <a:p>
                      <a:r>
                        <a:rPr kumimoji="1" lang="ja-JP" altLang="en-US" dirty="0"/>
                        <a:t>（同一室内）</a:t>
                      </a:r>
                    </a:p>
                  </a:txBody>
                  <a:tcPr/>
                </a:tc>
                <a:tc>
                  <a:txBody>
                    <a:bodyPr/>
                    <a:lstStyle/>
                    <a:p>
                      <a:r>
                        <a:rPr kumimoji="1" lang="ja-JP" altLang="en-US" dirty="0"/>
                        <a:t>フロア全体（スタッフ含む）</a:t>
                      </a:r>
                    </a:p>
                  </a:txBody>
                  <a:tcPr/>
                </a:tc>
                <a:extLst>
                  <a:ext uri="{0D108BD9-81ED-4DB2-BD59-A6C34878D82A}">
                    <a16:rowId xmlns:a16="http://schemas.microsoft.com/office/drawing/2014/main" val="3602142491"/>
                  </a:ext>
                </a:extLst>
              </a:tr>
              <a:tr h="370840">
                <a:tc>
                  <a:txBody>
                    <a:bodyPr/>
                    <a:lstStyle/>
                    <a:p>
                      <a:r>
                        <a:rPr kumimoji="1" lang="ja-JP" altLang="en-US" dirty="0"/>
                        <a:t>時間</a:t>
                      </a:r>
                    </a:p>
                  </a:txBody>
                  <a:tcPr/>
                </a:tc>
                <a:tc>
                  <a:txBody>
                    <a:bodyPr/>
                    <a:lstStyle/>
                    <a:p>
                      <a:r>
                        <a:rPr kumimoji="1" lang="ja-JP" altLang="en-US" dirty="0"/>
                        <a:t>数秒</a:t>
                      </a:r>
                    </a:p>
                  </a:txBody>
                  <a:tcPr/>
                </a:tc>
                <a:tc>
                  <a:txBody>
                    <a:bodyPr/>
                    <a:lstStyle/>
                    <a:p>
                      <a:r>
                        <a:rPr kumimoji="1" lang="ja-JP" altLang="en-US" dirty="0"/>
                        <a:t>数秒～数分</a:t>
                      </a:r>
                    </a:p>
                  </a:txBody>
                  <a:tcPr/>
                </a:tc>
                <a:tc>
                  <a:txBody>
                    <a:bodyPr/>
                    <a:lstStyle/>
                    <a:p>
                      <a:r>
                        <a:rPr kumimoji="1" lang="ja-JP" altLang="en-US" dirty="0"/>
                        <a:t>数分～数時間</a:t>
                      </a:r>
                    </a:p>
                  </a:txBody>
                  <a:tcPr/>
                </a:tc>
                <a:extLst>
                  <a:ext uri="{0D108BD9-81ED-4DB2-BD59-A6C34878D82A}">
                    <a16:rowId xmlns:a16="http://schemas.microsoft.com/office/drawing/2014/main" val="638677596"/>
                  </a:ext>
                </a:extLst>
              </a:tr>
              <a:tr h="370840">
                <a:tc>
                  <a:txBody>
                    <a:bodyPr/>
                    <a:lstStyle/>
                    <a:p>
                      <a:r>
                        <a:rPr kumimoji="1" lang="ja-JP" altLang="en-US" dirty="0"/>
                        <a:t>解像度</a:t>
                      </a:r>
                    </a:p>
                  </a:txBody>
                  <a:tcPr/>
                </a:tc>
                <a:tc>
                  <a:txBody>
                    <a:bodyPr/>
                    <a:lstStyle/>
                    <a:p>
                      <a:r>
                        <a:rPr kumimoji="1" lang="ja-JP" altLang="en-US" dirty="0"/>
                        <a:t>高</a:t>
                      </a:r>
                      <a:endParaRPr kumimoji="1" lang="en-US" altLang="ja-JP" dirty="0"/>
                    </a:p>
                    <a:p>
                      <a:r>
                        <a:rPr kumimoji="1" lang="ja-JP" altLang="en-US" dirty="0"/>
                        <a:t>（表情・関節角度）</a:t>
                      </a:r>
                    </a:p>
                  </a:txBody>
                  <a:tcPr/>
                </a:tc>
                <a:tc>
                  <a:txBody>
                    <a:bodyPr/>
                    <a:lstStyle/>
                    <a:p>
                      <a:r>
                        <a:rPr kumimoji="1" lang="ja-JP" altLang="en-US" dirty="0"/>
                        <a:t>中</a:t>
                      </a:r>
                      <a:endParaRPr kumimoji="1" lang="en-US" altLang="ja-JP" dirty="0"/>
                    </a:p>
                    <a:p>
                      <a:r>
                        <a:rPr kumimoji="1" lang="ja-JP" altLang="en-US" dirty="0"/>
                        <a:t>（行動ラベル）</a:t>
                      </a:r>
                    </a:p>
                  </a:txBody>
                  <a:tcPr/>
                </a:tc>
                <a:tc>
                  <a:txBody>
                    <a:bodyPr/>
                    <a:lstStyle/>
                    <a:p>
                      <a:r>
                        <a:rPr kumimoji="1" lang="ja-JP" altLang="en-US" dirty="0"/>
                        <a:t>低</a:t>
                      </a:r>
                      <a:endParaRPr kumimoji="1" lang="en-US" altLang="ja-JP" dirty="0"/>
                    </a:p>
                    <a:p>
                      <a:r>
                        <a:rPr kumimoji="1" lang="ja-JP" altLang="en-US" dirty="0"/>
                        <a:t>（位置情報）</a:t>
                      </a:r>
                    </a:p>
                  </a:txBody>
                  <a:tcPr/>
                </a:tc>
                <a:extLst>
                  <a:ext uri="{0D108BD9-81ED-4DB2-BD59-A6C34878D82A}">
                    <a16:rowId xmlns:a16="http://schemas.microsoft.com/office/drawing/2014/main" val="3383703615"/>
                  </a:ext>
                </a:extLst>
              </a:tr>
            </a:tbl>
          </a:graphicData>
        </a:graphic>
      </p:graphicFrame>
      <p:sp>
        <p:nvSpPr>
          <p:cNvPr id="95" name="正方形/長方形 94">
            <a:extLst>
              <a:ext uri="{FF2B5EF4-FFF2-40B4-BE49-F238E27FC236}">
                <a16:creationId xmlns:a16="http://schemas.microsoft.com/office/drawing/2014/main" id="{E444EA36-849C-21ED-BBFB-1AB0D29D0BB8}"/>
              </a:ext>
            </a:extLst>
          </p:cNvPr>
          <p:cNvSpPr/>
          <p:nvPr/>
        </p:nvSpPr>
        <p:spPr>
          <a:xfrm>
            <a:off x="701040" y="4592433"/>
            <a:ext cx="7623885"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dirty="0"/>
              <a:t>病棟全体を複数レイヤ・解像度で捉え、過不足ない見守りを実現</a:t>
            </a:r>
          </a:p>
        </p:txBody>
      </p:sp>
      <p:sp>
        <p:nvSpPr>
          <p:cNvPr id="96" name="矢印: 下 95">
            <a:extLst>
              <a:ext uri="{FF2B5EF4-FFF2-40B4-BE49-F238E27FC236}">
                <a16:creationId xmlns:a16="http://schemas.microsoft.com/office/drawing/2014/main" id="{37EE7B55-35AD-3590-1857-24420B8DD233}"/>
              </a:ext>
            </a:extLst>
          </p:cNvPr>
          <p:cNvSpPr/>
          <p:nvPr/>
        </p:nvSpPr>
        <p:spPr>
          <a:xfrm>
            <a:off x="3745479" y="4268163"/>
            <a:ext cx="1368152" cy="2911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18994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A0F211-CC16-1B61-7793-5C007248F322}"/>
              </a:ext>
            </a:extLst>
          </p:cNvPr>
          <p:cNvSpPr>
            <a:spLocks noGrp="1"/>
          </p:cNvSpPr>
          <p:nvPr>
            <p:ph type="title"/>
          </p:nvPr>
        </p:nvSpPr>
        <p:spPr/>
        <p:txBody>
          <a:bodyPr/>
          <a:lstStyle/>
          <a:p>
            <a:r>
              <a:rPr kumimoji="1" lang="ja-JP" altLang="en-US" dirty="0"/>
              <a:t>研究背景</a:t>
            </a:r>
          </a:p>
        </p:txBody>
      </p:sp>
      <p:sp>
        <p:nvSpPr>
          <p:cNvPr id="3" name="コンテンツ プレースホルダー 2">
            <a:extLst>
              <a:ext uri="{FF2B5EF4-FFF2-40B4-BE49-F238E27FC236}">
                <a16:creationId xmlns:a16="http://schemas.microsoft.com/office/drawing/2014/main" id="{589B311E-D4AC-80DB-A257-97F7577D5916}"/>
              </a:ext>
            </a:extLst>
          </p:cNvPr>
          <p:cNvSpPr>
            <a:spLocks noGrp="1"/>
          </p:cNvSpPr>
          <p:nvPr>
            <p:ph idx="1"/>
          </p:nvPr>
        </p:nvSpPr>
        <p:spPr/>
        <p:txBody>
          <a:bodyPr/>
          <a:lstStyle/>
          <a:p>
            <a:r>
              <a:rPr kumimoji="1" lang="ja-JP" altLang="en-US" dirty="0"/>
              <a:t>社会背景</a:t>
            </a:r>
            <a:endParaRPr kumimoji="1" lang="en-US" altLang="ja-JP" dirty="0"/>
          </a:p>
          <a:p>
            <a:pPr lvl="1"/>
            <a:r>
              <a:rPr lang="ja-JP" altLang="en-US" dirty="0"/>
              <a:t>少子高齢化・非拘束看護により、見守りを要する患者が増大</a:t>
            </a:r>
            <a:endParaRPr lang="en-US" altLang="ja-JP" dirty="0"/>
          </a:p>
          <a:p>
            <a:pPr lvl="1"/>
            <a:r>
              <a:rPr lang="ja-JP" altLang="en-US" dirty="0"/>
              <a:t>医療現場における慢性的な人手不足</a:t>
            </a:r>
            <a:br>
              <a:rPr lang="en-US" altLang="ja-JP" dirty="0"/>
            </a:br>
            <a:endParaRPr lang="en-US" altLang="ja-JP" dirty="0"/>
          </a:p>
          <a:p>
            <a:pPr lvl="4"/>
            <a:endParaRPr kumimoji="1" lang="en-US" altLang="ja-JP" dirty="0"/>
          </a:p>
          <a:p>
            <a:r>
              <a:rPr kumimoji="1" lang="ja-JP" altLang="en-US" dirty="0"/>
              <a:t>現場課題</a:t>
            </a:r>
            <a:endParaRPr kumimoji="1" lang="en-US" altLang="ja-JP" dirty="0"/>
          </a:p>
          <a:p>
            <a:pPr lvl="1"/>
            <a:r>
              <a:rPr lang="ja-JP" altLang="en-US" dirty="0"/>
              <a:t>離床・転倒の検知センサが普及した一方、以下の問題点が残る</a:t>
            </a:r>
            <a:endParaRPr lang="en-US" altLang="ja-JP" dirty="0"/>
          </a:p>
          <a:p>
            <a:pPr lvl="2"/>
            <a:r>
              <a:rPr lang="ja-JP" altLang="en-US" dirty="0"/>
              <a:t>通知回数が多い</a:t>
            </a:r>
            <a:endParaRPr lang="en-US" altLang="ja-JP" dirty="0"/>
          </a:p>
          <a:p>
            <a:pPr lvl="2"/>
            <a:r>
              <a:rPr lang="ja-JP" altLang="en-US" dirty="0"/>
              <a:t>通知が画一的で、通知対処の分担が不明瞭</a:t>
            </a:r>
            <a:endParaRPr lang="en-US" altLang="ja-JP" dirty="0"/>
          </a:p>
          <a:p>
            <a:pPr lvl="4"/>
            <a:endParaRPr lang="en-US" altLang="ja-JP" dirty="0"/>
          </a:p>
          <a:p>
            <a:pPr lvl="1"/>
            <a:r>
              <a:rPr lang="ja-JP" altLang="en-US" dirty="0"/>
              <a:t>見守り業務の増大を招き、かえって事故を誘発する可能性</a:t>
            </a:r>
            <a:endParaRPr lang="en-US" altLang="ja-JP" dirty="0"/>
          </a:p>
          <a:p>
            <a:pPr lvl="4"/>
            <a:endParaRPr lang="en-US" altLang="ja-JP" dirty="0"/>
          </a:p>
          <a:p>
            <a:r>
              <a:rPr kumimoji="1" lang="ja-JP" altLang="en-US" dirty="0"/>
              <a:t>現場課題の構造（仮説）</a:t>
            </a:r>
          </a:p>
        </p:txBody>
      </p:sp>
      <p:sp>
        <p:nvSpPr>
          <p:cNvPr id="4" name="日付プレースホルダー 3">
            <a:extLst>
              <a:ext uri="{FF2B5EF4-FFF2-40B4-BE49-F238E27FC236}">
                <a16:creationId xmlns:a16="http://schemas.microsoft.com/office/drawing/2014/main" id="{0BF44035-0732-CE47-39C9-CB41768040A6}"/>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96F80FE6-F83C-5306-5BC6-94BE9B54BDAC}"/>
              </a:ext>
            </a:extLst>
          </p:cNvPr>
          <p:cNvSpPr>
            <a:spLocks noGrp="1"/>
          </p:cNvSpPr>
          <p:nvPr>
            <p:ph type="ftr" sz="quarter" idx="11"/>
          </p:nvPr>
        </p:nvSpPr>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23905B21-2C5E-C4B7-B5CB-6B7525A3D4AC}"/>
              </a:ext>
            </a:extLst>
          </p:cNvPr>
          <p:cNvSpPr>
            <a:spLocks noGrp="1"/>
          </p:cNvSpPr>
          <p:nvPr>
            <p:ph type="sldNum" sz="quarter" idx="12"/>
          </p:nvPr>
        </p:nvSpPr>
        <p:spPr/>
        <p:txBody>
          <a:bodyPr/>
          <a:lstStyle/>
          <a:p>
            <a:fld id="{870B1737-2A00-4EFB-9FD3-149FCC30AA13}" type="slidenum">
              <a:rPr lang="ja-JP" altLang="en-US" smtClean="0"/>
              <a:pPr/>
              <a:t>20</a:t>
            </a:fld>
            <a:endParaRPr lang="ja-JP" altLang="en-US"/>
          </a:p>
        </p:txBody>
      </p:sp>
      <p:pic>
        <p:nvPicPr>
          <p:cNvPr id="10" name="図 9">
            <a:extLst>
              <a:ext uri="{FF2B5EF4-FFF2-40B4-BE49-F238E27FC236}">
                <a16:creationId xmlns:a16="http://schemas.microsoft.com/office/drawing/2014/main" id="{A3F8181E-FA11-BFA4-1F7B-1C98164F6D6B}"/>
              </a:ext>
            </a:extLst>
          </p:cNvPr>
          <p:cNvPicPr>
            <a:picLocks noChangeAspect="1"/>
          </p:cNvPicPr>
          <p:nvPr/>
        </p:nvPicPr>
        <p:blipFill>
          <a:blip r:embed="rId2"/>
          <a:stretch>
            <a:fillRect/>
          </a:stretch>
        </p:blipFill>
        <p:spPr>
          <a:xfrm>
            <a:off x="9338406" y="2276871"/>
            <a:ext cx="2844800" cy="4267199"/>
          </a:xfrm>
          <a:prstGeom prst="rect">
            <a:avLst/>
          </a:prstGeom>
        </p:spPr>
      </p:pic>
      <p:cxnSp>
        <p:nvCxnSpPr>
          <p:cNvPr id="12" name="直線矢印コネクタ 11">
            <a:extLst>
              <a:ext uri="{FF2B5EF4-FFF2-40B4-BE49-F238E27FC236}">
                <a16:creationId xmlns:a16="http://schemas.microsoft.com/office/drawing/2014/main" id="{06DE6E41-921E-624E-5362-108723A0923A}"/>
              </a:ext>
            </a:extLst>
          </p:cNvPr>
          <p:cNvCxnSpPr>
            <a:cxnSpLocks/>
          </p:cNvCxnSpPr>
          <p:nvPr/>
        </p:nvCxnSpPr>
        <p:spPr>
          <a:xfrm>
            <a:off x="6023992" y="3861048"/>
            <a:ext cx="33843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63D98C87-6178-80E4-61BB-73A9F79155A1}"/>
              </a:ext>
            </a:extLst>
          </p:cNvPr>
          <p:cNvCxnSpPr>
            <a:cxnSpLocks/>
          </p:cNvCxnSpPr>
          <p:nvPr/>
        </p:nvCxnSpPr>
        <p:spPr>
          <a:xfrm>
            <a:off x="8112224" y="4293096"/>
            <a:ext cx="1296144" cy="504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1122D793-BC4C-00E6-6A02-C46AD9628850}"/>
              </a:ext>
            </a:extLst>
          </p:cNvPr>
          <p:cNvCxnSpPr>
            <a:cxnSpLocks/>
          </p:cNvCxnSpPr>
          <p:nvPr/>
        </p:nvCxnSpPr>
        <p:spPr>
          <a:xfrm>
            <a:off x="8112224" y="4293096"/>
            <a:ext cx="1296144" cy="1584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A56AADCD-FF94-9B4A-B9C4-00ED07198C97}"/>
              </a:ext>
            </a:extLst>
          </p:cNvPr>
          <p:cNvSpPr/>
          <p:nvPr/>
        </p:nvSpPr>
        <p:spPr>
          <a:xfrm>
            <a:off x="395656" y="5266282"/>
            <a:ext cx="1565206" cy="1008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見守り業務の</a:t>
            </a:r>
            <a:br>
              <a:rPr kumimoji="1" lang="en-US" altLang="ja-JP" dirty="0"/>
            </a:br>
            <a:r>
              <a:rPr kumimoji="1" lang="ja-JP" altLang="en-US" dirty="0"/>
              <a:t>分担不足</a:t>
            </a:r>
          </a:p>
        </p:txBody>
      </p:sp>
      <p:sp>
        <p:nvSpPr>
          <p:cNvPr id="21" name="正方形/長方形 20">
            <a:extLst>
              <a:ext uri="{FF2B5EF4-FFF2-40B4-BE49-F238E27FC236}">
                <a16:creationId xmlns:a16="http://schemas.microsoft.com/office/drawing/2014/main" id="{AD4C7C6E-6CB2-FC3F-5ED2-05E6842590ED}"/>
              </a:ext>
            </a:extLst>
          </p:cNvPr>
          <p:cNvSpPr/>
          <p:nvPr/>
        </p:nvSpPr>
        <p:spPr>
          <a:xfrm>
            <a:off x="3843353" y="5266282"/>
            <a:ext cx="1856686" cy="366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通知の多さ</a:t>
            </a:r>
          </a:p>
        </p:txBody>
      </p:sp>
      <p:sp>
        <p:nvSpPr>
          <p:cNvPr id="23" name="正方形/長方形 22">
            <a:extLst>
              <a:ext uri="{FF2B5EF4-FFF2-40B4-BE49-F238E27FC236}">
                <a16:creationId xmlns:a16="http://schemas.microsoft.com/office/drawing/2014/main" id="{4F0E54C6-2031-6D98-81E3-9E13FEA16CAF}"/>
              </a:ext>
            </a:extLst>
          </p:cNvPr>
          <p:cNvSpPr/>
          <p:nvPr/>
        </p:nvSpPr>
        <p:spPr>
          <a:xfrm>
            <a:off x="6987786" y="5266282"/>
            <a:ext cx="1565206" cy="1008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事故の発生</a:t>
            </a:r>
          </a:p>
        </p:txBody>
      </p:sp>
      <p:cxnSp>
        <p:nvCxnSpPr>
          <p:cNvPr id="24" name="直線矢印コネクタ 23">
            <a:extLst>
              <a:ext uri="{FF2B5EF4-FFF2-40B4-BE49-F238E27FC236}">
                <a16:creationId xmlns:a16="http://schemas.microsoft.com/office/drawing/2014/main" id="{7E9A309D-4971-26CB-38CF-400A91AF8680}"/>
              </a:ext>
            </a:extLst>
          </p:cNvPr>
          <p:cNvCxnSpPr>
            <a:cxnSpLocks/>
            <a:endCxn id="21" idx="1"/>
          </p:cNvCxnSpPr>
          <p:nvPr/>
        </p:nvCxnSpPr>
        <p:spPr>
          <a:xfrm>
            <a:off x="1960862" y="5449573"/>
            <a:ext cx="18824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6EF20B2-08A8-61FE-EDF8-1A4858185FE8}"/>
              </a:ext>
            </a:extLst>
          </p:cNvPr>
          <p:cNvCxnSpPr>
            <a:cxnSpLocks/>
          </p:cNvCxnSpPr>
          <p:nvPr/>
        </p:nvCxnSpPr>
        <p:spPr>
          <a:xfrm>
            <a:off x="2603207" y="6057200"/>
            <a:ext cx="11785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6B2031E-A7BB-0C94-13E3-E8A8872E6046}"/>
              </a:ext>
            </a:extLst>
          </p:cNvPr>
          <p:cNvCxnSpPr>
            <a:cxnSpLocks/>
            <a:stCxn id="21" idx="3"/>
          </p:cNvCxnSpPr>
          <p:nvPr/>
        </p:nvCxnSpPr>
        <p:spPr>
          <a:xfrm>
            <a:off x="5700039" y="5449573"/>
            <a:ext cx="1287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B95A37C-F65B-3174-5982-A94C6A6A2538}"/>
              </a:ext>
            </a:extLst>
          </p:cNvPr>
          <p:cNvCxnSpPr>
            <a:cxnSpLocks/>
            <a:stCxn id="11" idx="3"/>
          </p:cNvCxnSpPr>
          <p:nvPr/>
        </p:nvCxnSpPr>
        <p:spPr>
          <a:xfrm flipV="1">
            <a:off x="6570458" y="6057199"/>
            <a:ext cx="41732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225BF624-1928-7F88-55B8-101FAA4DA0F7}"/>
              </a:ext>
            </a:extLst>
          </p:cNvPr>
          <p:cNvSpPr txBox="1"/>
          <p:nvPr/>
        </p:nvSpPr>
        <p:spPr>
          <a:xfrm>
            <a:off x="2255062" y="5239021"/>
            <a:ext cx="1232526" cy="332959"/>
          </a:xfrm>
          <a:prstGeom prst="rect">
            <a:avLst/>
          </a:prstGeom>
          <a:noFill/>
        </p:spPr>
        <p:txBody>
          <a:bodyPr wrap="none" rtlCol="0">
            <a:spAutoFit/>
          </a:bodyPr>
          <a:lstStyle/>
          <a:p>
            <a:pPr algn="ctr"/>
            <a:r>
              <a:rPr kumimoji="1" lang="ja-JP" altLang="en-US" sz="1050" dirty="0"/>
              <a:t>画一的な通知</a:t>
            </a:r>
          </a:p>
        </p:txBody>
      </p:sp>
      <p:sp>
        <p:nvSpPr>
          <p:cNvPr id="36" name="テキスト ボックス 35">
            <a:extLst>
              <a:ext uri="{FF2B5EF4-FFF2-40B4-BE49-F238E27FC236}">
                <a16:creationId xmlns:a16="http://schemas.microsoft.com/office/drawing/2014/main" id="{D8192807-0F1F-4104-E616-40012A160376}"/>
              </a:ext>
            </a:extLst>
          </p:cNvPr>
          <p:cNvSpPr txBox="1"/>
          <p:nvPr/>
        </p:nvSpPr>
        <p:spPr>
          <a:xfrm>
            <a:off x="5860468" y="5249005"/>
            <a:ext cx="1025573" cy="528816"/>
          </a:xfrm>
          <a:prstGeom prst="rect">
            <a:avLst/>
          </a:prstGeom>
          <a:noFill/>
        </p:spPr>
        <p:txBody>
          <a:bodyPr wrap="none" rtlCol="0">
            <a:spAutoFit/>
          </a:bodyPr>
          <a:lstStyle/>
          <a:p>
            <a:pPr algn="ctr"/>
            <a:r>
              <a:rPr kumimoji="1" lang="ja-JP" altLang="en-US" sz="1050" dirty="0"/>
              <a:t>見落としの</a:t>
            </a:r>
            <a:br>
              <a:rPr kumimoji="1" lang="en-US" altLang="ja-JP" sz="1050" dirty="0"/>
            </a:br>
            <a:r>
              <a:rPr kumimoji="1" lang="ja-JP" altLang="en-US" sz="1050" dirty="0"/>
              <a:t>発生</a:t>
            </a:r>
          </a:p>
        </p:txBody>
      </p:sp>
      <p:sp>
        <p:nvSpPr>
          <p:cNvPr id="11" name="正方形/長方形 10">
            <a:extLst>
              <a:ext uri="{FF2B5EF4-FFF2-40B4-BE49-F238E27FC236}">
                <a16:creationId xmlns:a16="http://schemas.microsoft.com/office/drawing/2014/main" id="{780A5E01-25D4-C221-54AC-26B7D251CBF0}"/>
              </a:ext>
            </a:extLst>
          </p:cNvPr>
          <p:cNvSpPr/>
          <p:nvPr/>
        </p:nvSpPr>
        <p:spPr>
          <a:xfrm>
            <a:off x="4713772" y="5873909"/>
            <a:ext cx="1856686" cy="366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000" dirty="0"/>
              <a:t>(</a:t>
            </a:r>
            <a:r>
              <a:rPr lang="ja-JP" altLang="en-US" sz="1000" dirty="0"/>
              <a:t>分担を含めると</a:t>
            </a:r>
            <a:r>
              <a:rPr lang="en-US" altLang="ja-JP" sz="1000" dirty="0"/>
              <a:t>)</a:t>
            </a:r>
            <a:br>
              <a:rPr lang="en-US" altLang="ja-JP" sz="1000" dirty="0"/>
            </a:br>
            <a:r>
              <a:rPr lang="ja-JP" altLang="en-US" sz="1400" dirty="0"/>
              <a:t>見守り業務増大</a:t>
            </a:r>
          </a:p>
        </p:txBody>
      </p:sp>
      <p:sp>
        <p:nvSpPr>
          <p:cNvPr id="14" name="正方形/長方形 13">
            <a:extLst>
              <a:ext uri="{FF2B5EF4-FFF2-40B4-BE49-F238E27FC236}">
                <a16:creationId xmlns:a16="http://schemas.microsoft.com/office/drawing/2014/main" id="{535C77EA-B061-AC8B-3C39-28CA18C8D906}"/>
              </a:ext>
            </a:extLst>
          </p:cNvPr>
          <p:cNvSpPr/>
          <p:nvPr/>
        </p:nvSpPr>
        <p:spPr>
          <a:xfrm>
            <a:off x="2378192" y="5873909"/>
            <a:ext cx="1856686" cy="366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分担検討が必要</a:t>
            </a:r>
            <a:endParaRPr lang="en-US" altLang="ja-JP" sz="1200" dirty="0"/>
          </a:p>
          <a:p>
            <a:pPr algn="ctr"/>
            <a:r>
              <a:rPr lang="ja-JP" altLang="en-US" sz="1200" dirty="0"/>
              <a:t>「誰行きますか？」等</a:t>
            </a:r>
          </a:p>
        </p:txBody>
      </p:sp>
      <p:sp>
        <p:nvSpPr>
          <p:cNvPr id="38" name="テキスト ボックス 37">
            <a:extLst>
              <a:ext uri="{FF2B5EF4-FFF2-40B4-BE49-F238E27FC236}">
                <a16:creationId xmlns:a16="http://schemas.microsoft.com/office/drawing/2014/main" id="{8B359C05-A314-D035-DCD2-C755674112C0}"/>
              </a:ext>
            </a:extLst>
          </p:cNvPr>
          <p:cNvSpPr txBox="1"/>
          <p:nvPr/>
        </p:nvSpPr>
        <p:spPr>
          <a:xfrm>
            <a:off x="8953152" y="1246126"/>
            <a:ext cx="2547912" cy="830997"/>
          </a:xfrm>
          <a:prstGeom prst="rect">
            <a:avLst/>
          </a:prstGeom>
          <a:noFill/>
        </p:spPr>
        <p:txBody>
          <a:bodyPr wrap="square">
            <a:spAutoFit/>
          </a:bodyPr>
          <a:lstStyle/>
          <a:p>
            <a:pPr algn="ctr"/>
            <a:r>
              <a:rPr lang="ja-JP" altLang="en-US" sz="2400" b="1" dirty="0"/>
              <a:t>病棟スタッフの</a:t>
            </a:r>
            <a:br>
              <a:rPr lang="en-US" altLang="ja-JP" sz="2400" b="1" dirty="0"/>
            </a:br>
            <a:r>
              <a:rPr lang="ja-JP" altLang="en-US" sz="2400" b="1" dirty="0"/>
              <a:t>見守り業務増大</a:t>
            </a:r>
          </a:p>
        </p:txBody>
      </p:sp>
      <p:sp>
        <p:nvSpPr>
          <p:cNvPr id="41" name="テキスト ボックス 40">
            <a:extLst>
              <a:ext uri="{FF2B5EF4-FFF2-40B4-BE49-F238E27FC236}">
                <a16:creationId xmlns:a16="http://schemas.microsoft.com/office/drawing/2014/main" id="{0FA17779-87F6-7EF3-AEDC-79B6763ED45C}"/>
              </a:ext>
            </a:extLst>
          </p:cNvPr>
          <p:cNvSpPr txBox="1"/>
          <p:nvPr/>
        </p:nvSpPr>
        <p:spPr>
          <a:xfrm>
            <a:off x="4602273" y="123614"/>
            <a:ext cx="7109640" cy="369332"/>
          </a:xfrm>
          <a:prstGeom prst="rect">
            <a:avLst/>
          </a:prstGeom>
          <a:noFill/>
        </p:spPr>
        <p:txBody>
          <a:bodyPr wrap="none" rtlCol="0">
            <a:spAutoFit/>
          </a:bodyPr>
          <a:lstStyle/>
          <a:p>
            <a:pPr algn="r"/>
            <a:r>
              <a:rPr kumimoji="1" lang="en-US" altLang="ja-JP" dirty="0"/>
              <a:t>※</a:t>
            </a:r>
            <a:r>
              <a:rPr kumimoji="1" lang="ja-JP" altLang="en-US" dirty="0"/>
              <a:t>見守り業務：自由に動く患者の、危険な行動の予防・確認・制止</a:t>
            </a:r>
          </a:p>
        </p:txBody>
      </p:sp>
      <p:sp>
        <p:nvSpPr>
          <p:cNvPr id="44" name="矢印: 右 43">
            <a:extLst>
              <a:ext uri="{FF2B5EF4-FFF2-40B4-BE49-F238E27FC236}">
                <a16:creationId xmlns:a16="http://schemas.microsoft.com/office/drawing/2014/main" id="{0F750367-7023-3C1B-A468-5414D2C81D65}"/>
              </a:ext>
            </a:extLst>
          </p:cNvPr>
          <p:cNvSpPr/>
          <p:nvPr/>
        </p:nvSpPr>
        <p:spPr>
          <a:xfrm>
            <a:off x="8688288" y="1069009"/>
            <a:ext cx="288032" cy="108012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ja-JP" altLang="en-US"/>
          </a:p>
        </p:txBody>
      </p:sp>
      <p:cxnSp>
        <p:nvCxnSpPr>
          <p:cNvPr id="19" name="直線矢印コネクタ 18">
            <a:extLst>
              <a:ext uri="{FF2B5EF4-FFF2-40B4-BE49-F238E27FC236}">
                <a16:creationId xmlns:a16="http://schemas.microsoft.com/office/drawing/2014/main" id="{09B38FC3-9084-5937-0E4A-95667D5157FC}"/>
              </a:ext>
            </a:extLst>
          </p:cNvPr>
          <p:cNvCxnSpPr>
            <a:cxnSpLocks/>
            <a:stCxn id="14" idx="3"/>
            <a:endCxn id="11" idx="1"/>
          </p:cNvCxnSpPr>
          <p:nvPr/>
        </p:nvCxnSpPr>
        <p:spPr>
          <a:xfrm>
            <a:off x="4234878" y="6057200"/>
            <a:ext cx="4788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A93327A9-4D77-5645-3483-9991A9149326}"/>
              </a:ext>
            </a:extLst>
          </p:cNvPr>
          <p:cNvCxnSpPr>
            <a:cxnSpLocks/>
            <a:endCxn id="14" idx="1"/>
          </p:cNvCxnSpPr>
          <p:nvPr/>
        </p:nvCxnSpPr>
        <p:spPr>
          <a:xfrm>
            <a:off x="1960862" y="6057200"/>
            <a:ext cx="4173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7061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図 31">
            <a:extLst>
              <a:ext uri="{FF2B5EF4-FFF2-40B4-BE49-F238E27FC236}">
                <a16:creationId xmlns:a16="http://schemas.microsoft.com/office/drawing/2014/main" id="{63FCBA16-0981-FFE1-576F-EC695D645D69}"/>
              </a:ext>
            </a:extLst>
          </p:cNvPr>
          <p:cNvPicPr>
            <a:picLocks noChangeAspect="1"/>
          </p:cNvPicPr>
          <p:nvPr/>
        </p:nvPicPr>
        <p:blipFill>
          <a:blip r:embed="rId3"/>
          <a:stretch>
            <a:fillRect/>
          </a:stretch>
        </p:blipFill>
        <p:spPr>
          <a:xfrm>
            <a:off x="9157685" y="620688"/>
            <a:ext cx="2833147" cy="4249721"/>
          </a:xfrm>
          <a:prstGeom prst="rect">
            <a:avLst/>
          </a:prstGeom>
        </p:spPr>
      </p:pic>
      <p:sp>
        <p:nvSpPr>
          <p:cNvPr id="2" name="タイトル 1">
            <a:extLst>
              <a:ext uri="{FF2B5EF4-FFF2-40B4-BE49-F238E27FC236}">
                <a16:creationId xmlns:a16="http://schemas.microsoft.com/office/drawing/2014/main" id="{AB2B9737-B8CA-AD64-79DA-7092AA106B96}"/>
              </a:ext>
            </a:extLst>
          </p:cNvPr>
          <p:cNvSpPr>
            <a:spLocks noGrp="1"/>
          </p:cNvSpPr>
          <p:nvPr>
            <p:ph type="title"/>
          </p:nvPr>
        </p:nvSpPr>
        <p:spPr/>
        <p:txBody>
          <a:bodyPr/>
          <a:lstStyle/>
          <a:p>
            <a:r>
              <a:rPr kumimoji="1" lang="ja-JP" altLang="en-US" dirty="0"/>
              <a:t>見守り業務に関する、理想像の提案</a:t>
            </a:r>
          </a:p>
        </p:txBody>
      </p:sp>
      <p:sp>
        <p:nvSpPr>
          <p:cNvPr id="3" name="コンテンツ プレースホルダー 2">
            <a:extLst>
              <a:ext uri="{FF2B5EF4-FFF2-40B4-BE49-F238E27FC236}">
                <a16:creationId xmlns:a16="http://schemas.microsoft.com/office/drawing/2014/main" id="{902CA2C5-A704-4053-693E-F7E313D0C939}"/>
              </a:ext>
            </a:extLst>
          </p:cNvPr>
          <p:cNvSpPr>
            <a:spLocks noGrp="1"/>
          </p:cNvSpPr>
          <p:nvPr>
            <p:ph idx="1"/>
          </p:nvPr>
        </p:nvSpPr>
        <p:spPr>
          <a:xfrm>
            <a:off x="119336" y="938054"/>
            <a:ext cx="11953328" cy="5780456"/>
          </a:xfrm>
        </p:spPr>
        <p:txBody>
          <a:bodyPr>
            <a:normAutofit/>
          </a:bodyPr>
          <a:lstStyle/>
          <a:p>
            <a:r>
              <a:rPr lang="ja-JP" altLang="en-US" dirty="0"/>
              <a:t>見守り業務の</a:t>
            </a:r>
            <a:r>
              <a:rPr kumimoji="1" lang="ja-JP" altLang="en-US" dirty="0"/>
              <a:t>理想像</a:t>
            </a:r>
            <a:endParaRPr kumimoji="1" lang="en-US" altLang="ja-JP" dirty="0"/>
          </a:p>
          <a:p>
            <a:pPr lvl="1"/>
            <a:r>
              <a:rPr lang="ja-JP" altLang="en-US" dirty="0"/>
              <a:t>通知対応によってスタッフが業務過多に陥らないよう、通知を調整</a:t>
            </a:r>
            <a:endParaRPr lang="en-US" altLang="ja-JP" dirty="0"/>
          </a:p>
          <a:p>
            <a:pPr lvl="2"/>
            <a:r>
              <a:rPr lang="ja-JP" altLang="en-US" dirty="0"/>
              <a:t>例）通知宛先の自動割当</a:t>
            </a:r>
            <a:endParaRPr lang="en-US" altLang="ja-JP" dirty="0"/>
          </a:p>
          <a:p>
            <a:pPr lvl="3"/>
            <a:r>
              <a:rPr lang="ja-JP" altLang="en-US" dirty="0"/>
              <a:t>デイルームの看護師は見守り中➡別室のスタッフを呼ぶべき</a:t>
            </a:r>
            <a:endParaRPr lang="en-US" altLang="ja-JP" dirty="0"/>
          </a:p>
          <a:p>
            <a:pPr lvl="1"/>
            <a:r>
              <a:rPr lang="ja-JP" altLang="en-US" dirty="0"/>
              <a:t>「通知</a:t>
            </a:r>
            <a:r>
              <a:rPr lang="en-US" altLang="ja-JP" dirty="0"/>
              <a:t>+</a:t>
            </a:r>
            <a:r>
              <a:rPr lang="ja-JP" altLang="en-US" dirty="0"/>
              <a:t>人手対応」に頼らず、対応可能な選択肢を自動実行</a:t>
            </a:r>
            <a:endParaRPr lang="en-US" altLang="ja-JP" dirty="0"/>
          </a:p>
          <a:p>
            <a:pPr lvl="2"/>
            <a:r>
              <a:rPr lang="ja-JP" altLang="en-US" dirty="0"/>
              <a:t>看護師に病室訪問を依頼せず、ロボットが訪問し、</a:t>
            </a:r>
            <a:br>
              <a:rPr lang="en-US" altLang="ja-JP" dirty="0"/>
            </a:br>
            <a:r>
              <a:rPr lang="ja-JP" altLang="en-US" dirty="0"/>
              <a:t>看護師には中継映像の確認を依頼</a:t>
            </a:r>
            <a:endParaRPr lang="en-US" altLang="ja-JP" dirty="0"/>
          </a:p>
          <a:p>
            <a:r>
              <a:rPr kumimoji="1" lang="ja-JP" altLang="en-US" dirty="0"/>
              <a:t>課題解決の構造</a:t>
            </a:r>
            <a:endParaRPr kumimoji="1" lang="en-US" altLang="ja-JP" dirty="0"/>
          </a:p>
          <a:p>
            <a:endParaRPr lang="en-US" altLang="ja-JP" dirty="0"/>
          </a:p>
          <a:p>
            <a:endParaRPr lang="en-US" altLang="ja-JP" dirty="0"/>
          </a:p>
          <a:p>
            <a:endParaRPr lang="en-US" altLang="ja-JP" dirty="0"/>
          </a:p>
          <a:p>
            <a:r>
              <a:rPr lang="ja-JP" altLang="en-US" dirty="0"/>
              <a:t>リサーチクエスチョン</a:t>
            </a:r>
            <a:endParaRPr lang="en-US" altLang="ja-JP" dirty="0"/>
          </a:p>
        </p:txBody>
      </p:sp>
      <p:sp>
        <p:nvSpPr>
          <p:cNvPr id="4" name="日付プレースホルダー 3">
            <a:extLst>
              <a:ext uri="{FF2B5EF4-FFF2-40B4-BE49-F238E27FC236}">
                <a16:creationId xmlns:a16="http://schemas.microsoft.com/office/drawing/2014/main" id="{8BDBF7D5-0450-11C2-2C18-F1FBB2951B5F}"/>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D9A2394-416B-0D88-C570-DDD55D450A2D}"/>
              </a:ext>
            </a:extLst>
          </p:cNvPr>
          <p:cNvSpPr>
            <a:spLocks noGrp="1"/>
          </p:cNvSpPr>
          <p:nvPr>
            <p:ph type="ftr" sz="quarter" idx="11"/>
          </p:nvPr>
        </p:nvSpPr>
        <p:spPr/>
        <p:txBody>
          <a:bodyPr/>
          <a:lstStyle/>
          <a:p>
            <a:r>
              <a:rPr kumimoji="1" lang="ja-JP" altLang="en-US" dirty="0"/>
              <a:t>髙橋研究室　林出和之</a:t>
            </a:r>
          </a:p>
        </p:txBody>
      </p:sp>
      <p:sp>
        <p:nvSpPr>
          <p:cNvPr id="6" name="スライド番号プレースホルダー 5">
            <a:extLst>
              <a:ext uri="{FF2B5EF4-FFF2-40B4-BE49-F238E27FC236}">
                <a16:creationId xmlns:a16="http://schemas.microsoft.com/office/drawing/2014/main" id="{07EDFB9F-FBEA-E794-C7B9-27A2955DE460}"/>
              </a:ext>
            </a:extLst>
          </p:cNvPr>
          <p:cNvSpPr>
            <a:spLocks noGrp="1"/>
          </p:cNvSpPr>
          <p:nvPr>
            <p:ph type="sldNum" sz="quarter" idx="12"/>
          </p:nvPr>
        </p:nvSpPr>
        <p:spPr/>
        <p:txBody>
          <a:bodyPr/>
          <a:lstStyle/>
          <a:p>
            <a:fld id="{870B1737-2A00-4EFB-9FD3-149FCC30AA13}" type="slidenum">
              <a:rPr lang="ja-JP" altLang="en-US" smtClean="0"/>
              <a:pPr/>
              <a:t>21</a:t>
            </a:fld>
            <a:endParaRPr lang="ja-JP" altLang="en-US"/>
          </a:p>
        </p:txBody>
      </p:sp>
      <p:grpSp>
        <p:nvGrpSpPr>
          <p:cNvPr id="7" name="グループ化 6">
            <a:extLst>
              <a:ext uri="{FF2B5EF4-FFF2-40B4-BE49-F238E27FC236}">
                <a16:creationId xmlns:a16="http://schemas.microsoft.com/office/drawing/2014/main" id="{61469C24-316B-8E37-8CB4-C4A102F0A210}"/>
              </a:ext>
            </a:extLst>
          </p:cNvPr>
          <p:cNvGrpSpPr/>
          <p:nvPr/>
        </p:nvGrpSpPr>
        <p:grpSpPr>
          <a:xfrm>
            <a:off x="623392" y="3996973"/>
            <a:ext cx="7704856" cy="1206415"/>
            <a:chOff x="695400" y="5589240"/>
            <a:chExt cx="6806802" cy="947897"/>
          </a:xfrm>
        </p:grpSpPr>
        <p:sp>
          <p:nvSpPr>
            <p:cNvPr id="8" name="正方形/長方形 7">
              <a:extLst>
                <a:ext uri="{FF2B5EF4-FFF2-40B4-BE49-F238E27FC236}">
                  <a16:creationId xmlns:a16="http://schemas.microsoft.com/office/drawing/2014/main" id="{EE1BD9A9-DBF2-7248-C625-1B71E9CED6AA}"/>
                </a:ext>
              </a:extLst>
            </p:cNvPr>
            <p:cNvSpPr/>
            <p:nvPr/>
          </p:nvSpPr>
          <p:spPr>
            <a:xfrm>
              <a:off x="695400" y="5589240"/>
              <a:ext cx="1656184" cy="792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システムが</a:t>
              </a:r>
              <a:br>
                <a:rPr kumimoji="1" lang="en-US" altLang="ja-JP" dirty="0"/>
              </a:br>
              <a:r>
                <a:rPr kumimoji="1" lang="ja-JP" altLang="en-US" dirty="0"/>
                <a:t>見守り業務の</a:t>
              </a:r>
              <a:br>
                <a:rPr kumimoji="1" lang="en-US" altLang="ja-JP" dirty="0"/>
              </a:br>
              <a:r>
                <a:rPr kumimoji="1" lang="ja-JP" altLang="en-US" dirty="0"/>
                <a:t>分担を計画</a:t>
              </a:r>
            </a:p>
          </p:txBody>
        </p:sp>
        <p:sp>
          <p:nvSpPr>
            <p:cNvPr id="9" name="正方形/長方形 8">
              <a:extLst>
                <a:ext uri="{FF2B5EF4-FFF2-40B4-BE49-F238E27FC236}">
                  <a16:creationId xmlns:a16="http://schemas.microsoft.com/office/drawing/2014/main" id="{C2AD42BE-39CF-DFCA-A046-7521C7079AE0}"/>
                </a:ext>
              </a:extLst>
            </p:cNvPr>
            <p:cNvSpPr/>
            <p:nvPr/>
          </p:nvSpPr>
          <p:spPr>
            <a:xfrm>
              <a:off x="3337508" y="5589240"/>
              <a:ext cx="1656184" cy="2880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通知の削減</a:t>
              </a:r>
            </a:p>
          </p:txBody>
        </p:sp>
        <p:sp>
          <p:nvSpPr>
            <p:cNvPr id="10" name="正方形/長方形 9">
              <a:extLst>
                <a:ext uri="{FF2B5EF4-FFF2-40B4-BE49-F238E27FC236}">
                  <a16:creationId xmlns:a16="http://schemas.microsoft.com/office/drawing/2014/main" id="{2C99B8B5-9191-E615-FFA0-024876DED183}"/>
                </a:ext>
              </a:extLst>
            </p:cNvPr>
            <p:cNvSpPr/>
            <p:nvPr/>
          </p:nvSpPr>
          <p:spPr>
            <a:xfrm>
              <a:off x="3337508" y="6066661"/>
              <a:ext cx="1656184" cy="2880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見守り業務削減</a:t>
              </a:r>
            </a:p>
          </p:txBody>
        </p:sp>
        <p:sp>
          <p:nvSpPr>
            <p:cNvPr id="11" name="正方形/長方形 10">
              <a:extLst>
                <a:ext uri="{FF2B5EF4-FFF2-40B4-BE49-F238E27FC236}">
                  <a16:creationId xmlns:a16="http://schemas.microsoft.com/office/drawing/2014/main" id="{3CD2B134-D6C9-49C2-271E-454A0FE80F26}"/>
                </a:ext>
              </a:extLst>
            </p:cNvPr>
            <p:cNvSpPr/>
            <p:nvPr/>
          </p:nvSpPr>
          <p:spPr>
            <a:xfrm>
              <a:off x="5846018" y="5589240"/>
              <a:ext cx="1656184" cy="792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事故の予防</a:t>
              </a:r>
            </a:p>
          </p:txBody>
        </p:sp>
        <p:cxnSp>
          <p:nvCxnSpPr>
            <p:cNvPr id="12" name="直線矢印コネクタ 11">
              <a:extLst>
                <a:ext uri="{FF2B5EF4-FFF2-40B4-BE49-F238E27FC236}">
                  <a16:creationId xmlns:a16="http://schemas.microsoft.com/office/drawing/2014/main" id="{DAD49723-CFFF-67F7-250D-9F4508CAEE79}"/>
                </a:ext>
              </a:extLst>
            </p:cNvPr>
            <p:cNvCxnSpPr>
              <a:cxnSpLocks/>
              <a:endCxn id="9" idx="1"/>
            </p:cNvCxnSpPr>
            <p:nvPr/>
          </p:nvCxnSpPr>
          <p:spPr>
            <a:xfrm>
              <a:off x="2351584" y="5733254"/>
              <a:ext cx="985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4A7C20C5-E5C7-DC52-F36E-43C45F13057C}"/>
                </a:ext>
              </a:extLst>
            </p:cNvPr>
            <p:cNvCxnSpPr>
              <a:cxnSpLocks/>
              <a:endCxn id="10" idx="1"/>
            </p:cNvCxnSpPr>
            <p:nvPr/>
          </p:nvCxnSpPr>
          <p:spPr>
            <a:xfrm>
              <a:off x="2351584" y="6210675"/>
              <a:ext cx="9859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97DA70B4-D1B7-ADDA-764C-E56B4B57F301}"/>
                </a:ext>
              </a:extLst>
            </p:cNvPr>
            <p:cNvCxnSpPr>
              <a:cxnSpLocks/>
              <a:stCxn id="9" idx="3"/>
            </p:cNvCxnSpPr>
            <p:nvPr/>
          </p:nvCxnSpPr>
          <p:spPr>
            <a:xfrm>
              <a:off x="4993692" y="5733254"/>
              <a:ext cx="852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608E2640-7EA9-4C66-75CB-378999E8F864}"/>
                </a:ext>
              </a:extLst>
            </p:cNvPr>
            <p:cNvCxnSpPr>
              <a:cxnSpLocks/>
              <a:stCxn id="10" idx="3"/>
            </p:cNvCxnSpPr>
            <p:nvPr/>
          </p:nvCxnSpPr>
          <p:spPr>
            <a:xfrm>
              <a:off x="4993692" y="6210675"/>
              <a:ext cx="852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191F90C-0EA5-2C55-FEB0-66FA62E75035}"/>
                </a:ext>
              </a:extLst>
            </p:cNvPr>
            <p:cNvSpPr txBox="1"/>
            <p:nvPr/>
          </p:nvSpPr>
          <p:spPr>
            <a:xfrm>
              <a:off x="2438602" y="5716740"/>
              <a:ext cx="757930" cy="326462"/>
            </a:xfrm>
            <a:prstGeom prst="rect">
              <a:avLst/>
            </a:prstGeom>
            <a:noFill/>
          </p:spPr>
          <p:txBody>
            <a:bodyPr wrap="none" rtlCol="0">
              <a:spAutoFit/>
            </a:bodyPr>
            <a:lstStyle/>
            <a:p>
              <a:pPr algn="ctr"/>
              <a:r>
                <a:rPr kumimoji="1" lang="ja-JP" altLang="en-US" sz="1050" dirty="0"/>
                <a:t>宛先が明確</a:t>
              </a:r>
              <a:br>
                <a:rPr kumimoji="1" lang="en-US" altLang="ja-JP" sz="1050" dirty="0"/>
              </a:br>
              <a:r>
                <a:rPr kumimoji="1" lang="ja-JP" altLang="en-US" sz="1050" dirty="0"/>
                <a:t>な通知</a:t>
              </a:r>
            </a:p>
          </p:txBody>
        </p:sp>
        <p:sp>
          <p:nvSpPr>
            <p:cNvPr id="17" name="テキスト ボックス 16">
              <a:extLst>
                <a:ext uri="{FF2B5EF4-FFF2-40B4-BE49-F238E27FC236}">
                  <a16:creationId xmlns:a16="http://schemas.microsoft.com/office/drawing/2014/main" id="{32035FDC-39F9-B094-11B8-3CF10E25A87E}"/>
                </a:ext>
              </a:extLst>
            </p:cNvPr>
            <p:cNvSpPr txBox="1"/>
            <p:nvPr/>
          </p:nvSpPr>
          <p:spPr>
            <a:xfrm>
              <a:off x="4907447" y="5772617"/>
              <a:ext cx="995845" cy="326463"/>
            </a:xfrm>
            <a:prstGeom prst="rect">
              <a:avLst/>
            </a:prstGeom>
            <a:noFill/>
          </p:spPr>
          <p:txBody>
            <a:bodyPr wrap="none" rtlCol="0">
              <a:spAutoFit/>
            </a:bodyPr>
            <a:lstStyle/>
            <a:p>
              <a:pPr algn="ctr"/>
              <a:r>
                <a:rPr kumimoji="1" lang="ja-JP" altLang="en-US" sz="1050" dirty="0"/>
                <a:t>見落としのない</a:t>
              </a:r>
              <a:br>
                <a:rPr kumimoji="1" lang="en-US" altLang="ja-JP" sz="1050" dirty="0"/>
              </a:br>
              <a:r>
                <a:rPr kumimoji="1" lang="ja-JP" altLang="en-US" sz="1050" dirty="0"/>
                <a:t>見守り業務</a:t>
              </a:r>
            </a:p>
          </p:txBody>
        </p:sp>
        <p:sp>
          <p:nvSpPr>
            <p:cNvPr id="18" name="テキスト ボックス 17">
              <a:extLst>
                <a:ext uri="{FF2B5EF4-FFF2-40B4-BE49-F238E27FC236}">
                  <a16:creationId xmlns:a16="http://schemas.microsoft.com/office/drawing/2014/main" id="{38F764EF-BEEC-2038-98F8-A6DABAC647E1}"/>
                </a:ext>
              </a:extLst>
            </p:cNvPr>
            <p:cNvSpPr txBox="1"/>
            <p:nvPr/>
          </p:nvSpPr>
          <p:spPr>
            <a:xfrm>
              <a:off x="2319646" y="6210674"/>
              <a:ext cx="995845" cy="326463"/>
            </a:xfrm>
            <a:prstGeom prst="rect">
              <a:avLst/>
            </a:prstGeom>
            <a:noFill/>
          </p:spPr>
          <p:txBody>
            <a:bodyPr wrap="none" rtlCol="0">
              <a:spAutoFit/>
            </a:bodyPr>
            <a:lstStyle/>
            <a:p>
              <a:pPr algn="ctr"/>
              <a:r>
                <a:rPr kumimoji="1" lang="ja-JP" altLang="en-US" sz="1050" dirty="0"/>
                <a:t>ロボットによる</a:t>
              </a:r>
              <a:br>
                <a:rPr kumimoji="1" lang="en-US" altLang="ja-JP" sz="1050" dirty="0"/>
              </a:br>
              <a:r>
                <a:rPr kumimoji="1" lang="ja-JP" altLang="en-US" sz="1050" dirty="0"/>
                <a:t>見守り代行</a:t>
              </a:r>
            </a:p>
          </p:txBody>
        </p:sp>
        <p:sp>
          <p:nvSpPr>
            <p:cNvPr id="19" name="テキスト ボックス 18">
              <a:extLst>
                <a:ext uri="{FF2B5EF4-FFF2-40B4-BE49-F238E27FC236}">
                  <a16:creationId xmlns:a16="http://schemas.microsoft.com/office/drawing/2014/main" id="{B1CA2F86-6AA9-CF44-C0CF-0DF77F139DBB}"/>
                </a:ext>
              </a:extLst>
            </p:cNvPr>
            <p:cNvSpPr txBox="1"/>
            <p:nvPr/>
          </p:nvSpPr>
          <p:spPr>
            <a:xfrm>
              <a:off x="4966930" y="6205453"/>
              <a:ext cx="876887" cy="199505"/>
            </a:xfrm>
            <a:prstGeom prst="rect">
              <a:avLst/>
            </a:prstGeom>
            <a:noFill/>
          </p:spPr>
          <p:txBody>
            <a:bodyPr wrap="none" rtlCol="0">
              <a:spAutoFit/>
            </a:bodyPr>
            <a:lstStyle/>
            <a:p>
              <a:pPr algn="ctr"/>
              <a:r>
                <a:rPr kumimoji="1" lang="ja-JP" altLang="en-US" sz="1050" dirty="0"/>
                <a:t>余裕ある業務</a:t>
              </a:r>
            </a:p>
          </p:txBody>
        </p:sp>
      </p:grpSp>
      <p:sp>
        <p:nvSpPr>
          <p:cNvPr id="22" name="テキスト ボックス 21">
            <a:extLst>
              <a:ext uri="{FF2B5EF4-FFF2-40B4-BE49-F238E27FC236}">
                <a16:creationId xmlns:a16="http://schemas.microsoft.com/office/drawing/2014/main" id="{DCC91F2C-FF36-E88D-035F-28DF3355F045}"/>
              </a:ext>
            </a:extLst>
          </p:cNvPr>
          <p:cNvSpPr txBox="1"/>
          <p:nvPr/>
        </p:nvSpPr>
        <p:spPr>
          <a:xfrm>
            <a:off x="9781317" y="1916832"/>
            <a:ext cx="1467068" cy="553998"/>
          </a:xfrm>
          <a:prstGeom prst="rect">
            <a:avLst/>
          </a:prstGeom>
          <a:noFill/>
        </p:spPr>
        <p:txBody>
          <a:bodyPr wrap="none" rtlCol="0">
            <a:spAutoFit/>
          </a:bodyPr>
          <a:lstStyle/>
          <a:p>
            <a:r>
              <a:rPr kumimoji="1" lang="en-US" altLang="ja-JP" sz="600" b="1" dirty="0">
                <a:highlight>
                  <a:srgbClr val="FFFFFF"/>
                </a:highlight>
              </a:rPr>
              <a:t>B</a:t>
            </a:r>
            <a:r>
              <a:rPr kumimoji="1" lang="ja-JP" altLang="en-US" sz="600" b="1" dirty="0">
                <a:highlight>
                  <a:srgbClr val="FFFFFF"/>
                </a:highlight>
              </a:rPr>
              <a:t>さんの離床センサが反応しました。</a:t>
            </a:r>
            <a:endParaRPr kumimoji="1" lang="en-US" altLang="ja-JP" sz="600" b="1" dirty="0">
              <a:highlight>
                <a:srgbClr val="FFFFFF"/>
              </a:highlight>
            </a:endParaRPr>
          </a:p>
          <a:p>
            <a:r>
              <a:rPr lang="ja-JP" altLang="en-US" sz="600" b="1" dirty="0">
                <a:highlight>
                  <a:srgbClr val="FFFFFF"/>
                </a:highlight>
              </a:rPr>
              <a:t>転倒しにくい人なので、</a:t>
            </a:r>
            <a:endParaRPr lang="en-US" altLang="ja-JP" sz="600" b="1" dirty="0">
              <a:highlight>
                <a:srgbClr val="FFFFFF"/>
              </a:highlight>
            </a:endParaRPr>
          </a:p>
          <a:p>
            <a:r>
              <a:rPr lang="ja-JP" altLang="en-US" sz="600" b="1" dirty="0">
                <a:highlight>
                  <a:srgbClr val="FFFFFF"/>
                </a:highlight>
              </a:rPr>
              <a:t>私が見に行きます。</a:t>
            </a:r>
            <a:endParaRPr lang="en-US" altLang="ja-JP" sz="600" b="1" dirty="0">
              <a:highlight>
                <a:srgbClr val="FFFFFF"/>
              </a:highlight>
            </a:endParaRPr>
          </a:p>
          <a:p>
            <a:r>
              <a:rPr kumimoji="1" lang="ja-JP" altLang="en-US" sz="600" b="1" dirty="0">
                <a:highlight>
                  <a:srgbClr val="FFFFFF"/>
                </a:highlight>
              </a:rPr>
              <a:t>このモニタを引き続き</a:t>
            </a:r>
            <a:endParaRPr kumimoji="1" lang="en-US" altLang="ja-JP" sz="600" b="1" dirty="0">
              <a:highlight>
                <a:srgbClr val="FFFFFF"/>
              </a:highlight>
            </a:endParaRPr>
          </a:p>
          <a:p>
            <a:r>
              <a:rPr kumimoji="1" lang="ja-JP" altLang="en-US" sz="600" b="1" dirty="0">
                <a:highlight>
                  <a:srgbClr val="FFFFFF"/>
                </a:highlight>
              </a:rPr>
              <a:t>見ておいてね。</a:t>
            </a:r>
          </a:p>
        </p:txBody>
      </p:sp>
      <p:sp>
        <p:nvSpPr>
          <p:cNvPr id="23" name="テキスト ボックス 22">
            <a:extLst>
              <a:ext uri="{FF2B5EF4-FFF2-40B4-BE49-F238E27FC236}">
                <a16:creationId xmlns:a16="http://schemas.microsoft.com/office/drawing/2014/main" id="{7EFB57F1-8CD8-362C-E227-A5194075DD35}"/>
              </a:ext>
            </a:extLst>
          </p:cNvPr>
          <p:cNvSpPr txBox="1"/>
          <p:nvPr/>
        </p:nvSpPr>
        <p:spPr>
          <a:xfrm>
            <a:off x="9252973" y="2914762"/>
            <a:ext cx="569387" cy="184666"/>
          </a:xfrm>
          <a:prstGeom prst="rect">
            <a:avLst/>
          </a:prstGeom>
          <a:noFill/>
        </p:spPr>
        <p:txBody>
          <a:bodyPr wrap="none" rtlCol="0">
            <a:spAutoFit/>
          </a:bodyPr>
          <a:lstStyle/>
          <a:p>
            <a:r>
              <a:rPr kumimoji="1" lang="ja-JP" altLang="en-US" sz="600" b="1" dirty="0">
                <a:highlight>
                  <a:srgbClr val="FFFFFF"/>
                </a:highlight>
              </a:rPr>
              <a:t>誤報でした</a:t>
            </a:r>
          </a:p>
        </p:txBody>
      </p:sp>
      <p:sp>
        <p:nvSpPr>
          <p:cNvPr id="24" name="テキスト ボックス 23">
            <a:extLst>
              <a:ext uri="{FF2B5EF4-FFF2-40B4-BE49-F238E27FC236}">
                <a16:creationId xmlns:a16="http://schemas.microsoft.com/office/drawing/2014/main" id="{58C48B7F-AEBA-1516-34FA-F0A5AAEDD0F2}"/>
              </a:ext>
            </a:extLst>
          </p:cNvPr>
          <p:cNvSpPr txBox="1"/>
          <p:nvPr/>
        </p:nvSpPr>
        <p:spPr>
          <a:xfrm>
            <a:off x="10045061" y="2912356"/>
            <a:ext cx="1031051" cy="276999"/>
          </a:xfrm>
          <a:prstGeom prst="rect">
            <a:avLst/>
          </a:prstGeom>
          <a:noFill/>
        </p:spPr>
        <p:txBody>
          <a:bodyPr wrap="none" rtlCol="0">
            <a:spAutoFit/>
          </a:bodyPr>
          <a:lstStyle/>
          <a:p>
            <a:r>
              <a:rPr kumimoji="1" lang="ja-JP" altLang="en-US" sz="600" b="1" dirty="0">
                <a:highlight>
                  <a:srgbClr val="FFFFFF"/>
                </a:highlight>
              </a:rPr>
              <a:t>トイレに行きたいそう。</a:t>
            </a:r>
            <a:endParaRPr kumimoji="1" lang="en-US" altLang="ja-JP" sz="600" b="1" dirty="0">
              <a:highlight>
                <a:srgbClr val="FFFFFF"/>
              </a:highlight>
            </a:endParaRPr>
          </a:p>
          <a:p>
            <a:r>
              <a:rPr lang="ja-JP" altLang="en-US" sz="600" b="1" dirty="0">
                <a:highlight>
                  <a:srgbClr val="FFFFFF"/>
                </a:highlight>
              </a:rPr>
              <a:t>付き添います</a:t>
            </a:r>
            <a:endParaRPr kumimoji="1" lang="ja-JP" altLang="en-US" sz="600" b="1" dirty="0">
              <a:highlight>
                <a:srgbClr val="FFFFFF"/>
              </a:highlight>
            </a:endParaRPr>
          </a:p>
        </p:txBody>
      </p:sp>
      <p:sp>
        <p:nvSpPr>
          <p:cNvPr id="25" name="テキスト ボックス 24">
            <a:extLst>
              <a:ext uri="{FF2B5EF4-FFF2-40B4-BE49-F238E27FC236}">
                <a16:creationId xmlns:a16="http://schemas.microsoft.com/office/drawing/2014/main" id="{B2F0BAC9-C215-89C7-5C15-3CEA3F5D041B}"/>
              </a:ext>
            </a:extLst>
          </p:cNvPr>
          <p:cNvSpPr txBox="1"/>
          <p:nvPr/>
        </p:nvSpPr>
        <p:spPr>
          <a:xfrm>
            <a:off x="10955030" y="2893802"/>
            <a:ext cx="1261884" cy="369332"/>
          </a:xfrm>
          <a:prstGeom prst="rect">
            <a:avLst/>
          </a:prstGeom>
          <a:noFill/>
        </p:spPr>
        <p:txBody>
          <a:bodyPr wrap="none" rtlCol="0">
            <a:spAutoFit/>
          </a:bodyPr>
          <a:lstStyle/>
          <a:p>
            <a:r>
              <a:rPr kumimoji="1" lang="ja-JP" altLang="en-US" sz="600" b="1" dirty="0">
                <a:highlight>
                  <a:srgbClr val="FFFFFF"/>
                </a:highlight>
              </a:rPr>
              <a:t>転んでいました。でもあなたは</a:t>
            </a:r>
            <a:br>
              <a:rPr lang="en-US" altLang="ja-JP" sz="600" b="1" dirty="0">
                <a:highlight>
                  <a:srgbClr val="FFFFFF"/>
                </a:highlight>
              </a:rPr>
            </a:br>
            <a:r>
              <a:rPr lang="ja-JP" altLang="en-US" sz="600" b="1" dirty="0">
                <a:highlight>
                  <a:srgbClr val="FFFFFF"/>
                </a:highlight>
              </a:rPr>
              <a:t>目が離せないと思うので、</a:t>
            </a:r>
            <a:br>
              <a:rPr lang="en-US" altLang="ja-JP" sz="600" b="1" dirty="0">
                <a:highlight>
                  <a:srgbClr val="FFFFFF"/>
                </a:highlight>
              </a:rPr>
            </a:br>
            <a:r>
              <a:rPr lang="ja-JP" altLang="en-US" sz="600" b="1" dirty="0">
                <a:highlight>
                  <a:srgbClr val="FFFFFF"/>
                </a:highlight>
              </a:rPr>
              <a:t>他の看護師さんを呼びます。</a:t>
            </a:r>
            <a:endParaRPr kumimoji="1" lang="en-US" altLang="ja-JP" sz="600" b="1" dirty="0">
              <a:highlight>
                <a:srgbClr val="FFFFFF"/>
              </a:highlight>
            </a:endParaRPr>
          </a:p>
        </p:txBody>
      </p:sp>
      <p:cxnSp>
        <p:nvCxnSpPr>
          <p:cNvPr id="26" name="直線矢印コネクタ 25">
            <a:extLst>
              <a:ext uri="{FF2B5EF4-FFF2-40B4-BE49-F238E27FC236}">
                <a16:creationId xmlns:a16="http://schemas.microsoft.com/office/drawing/2014/main" id="{A13C10F6-1CE1-CC2B-3349-4250B6DBC7AA}"/>
              </a:ext>
            </a:extLst>
          </p:cNvPr>
          <p:cNvCxnSpPr>
            <a:cxnSpLocks/>
          </p:cNvCxnSpPr>
          <p:nvPr/>
        </p:nvCxnSpPr>
        <p:spPr>
          <a:xfrm>
            <a:off x="7464152" y="2276872"/>
            <a:ext cx="3611960" cy="635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AE56D61A-3DEE-C727-B0B0-11F118D3DCB2}"/>
              </a:ext>
            </a:extLst>
          </p:cNvPr>
          <p:cNvCxnSpPr>
            <a:cxnSpLocks/>
          </p:cNvCxnSpPr>
          <p:nvPr/>
        </p:nvCxnSpPr>
        <p:spPr>
          <a:xfrm flipV="1">
            <a:off x="8340824" y="2348880"/>
            <a:ext cx="912149"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図 43">
            <a:extLst>
              <a:ext uri="{FF2B5EF4-FFF2-40B4-BE49-F238E27FC236}">
                <a16:creationId xmlns:a16="http://schemas.microsoft.com/office/drawing/2014/main" id="{D7EEA309-8B3F-1610-B2FE-22B4C1605745}"/>
              </a:ext>
            </a:extLst>
          </p:cNvPr>
          <p:cNvPicPr>
            <a:picLocks noChangeAspect="1"/>
          </p:cNvPicPr>
          <p:nvPr/>
        </p:nvPicPr>
        <p:blipFill>
          <a:blip r:embed="rId4"/>
          <a:stretch>
            <a:fillRect/>
          </a:stretch>
        </p:blipFill>
        <p:spPr>
          <a:xfrm>
            <a:off x="8340824" y="4990943"/>
            <a:ext cx="2435695" cy="1623797"/>
          </a:xfrm>
          <a:prstGeom prst="rect">
            <a:avLst/>
          </a:prstGeom>
        </p:spPr>
      </p:pic>
      <p:sp>
        <p:nvSpPr>
          <p:cNvPr id="45" name="吹き出し: 四角形 44">
            <a:extLst>
              <a:ext uri="{FF2B5EF4-FFF2-40B4-BE49-F238E27FC236}">
                <a16:creationId xmlns:a16="http://schemas.microsoft.com/office/drawing/2014/main" id="{F93BDDCD-2BD4-11DF-0F19-32F411089815}"/>
              </a:ext>
            </a:extLst>
          </p:cNvPr>
          <p:cNvSpPr/>
          <p:nvPr/>
        </p:nvSpPr>
        <p:spPr>
          <a:xfrm>
            <a:off x="10128448" y="5949280"/>
            <a:ext cx="1862384" cy="539683"/>
          </a:xfrm>
          <a:prstGeom prst="wedgeRectCallout">
            <a:avLst>
              <a:gd name="adj1" fmla="val -60957"/>
              <a:gd name="adj2" fmla="val -20170"/>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100" dirty="0"/>
              <a:t>通知して慌てさせるより、代わりに僕が見に行って</a:t>
            </a:r>
            <a:br>
              <a:rPr kumimoji="1" lang="en-US" altLang="ja-JP" sz="1100" dirty="0"/>
            </a:br>
            <a:r>
              <a:rPr kumimoji="1" lang="ja-JP" altLang="en-US" sz="1100" dirty="0"/>
              <a:t>報告した方がよさそう</a:t>
            </a:r>
          </a:p>
        </p:txBody>
      </p:sp>
      <p:sp>
        <p:nvSpPr>
          <p:cNvPr id="20" name="テキスト ボックス 19">
            <a:extLst>
              <a:ext uri="{FF2B5EF4-FFF2-40B4-BE49-F238E27FC236}">
                <a16:creationId xmlns:a16="http://schemas.microsoft.com/office/drawing/2014/main" id="{4D201931-EDC0-734D-5928-C4C1D1EA23FD}"/>
              </a:ext>
            </a:extLst>
          </p:cNvPr>
          <p:cNvSpPr txBox="1"/>
          <p:nvPr/>
        </p:nvSpPr>
        <p:spPr>
          <a:xfrm>
            <a:off x="201168" y="5783941"/>
            <a:ext cx="8139656"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ja-JP" altLang="en-US" dirty="0"/>
              <a:t>（通知やロボット介入など）システムが病棟全体に与える影響を予測し、</a:t>
            </a:r>
            <a:br>
              <a:rPr lang="en-US" altLang="ja-JP" dirty="0"/>
            </a:br>
            <a:r>
              <a:rPr lang="ja-JP" altLang="en-US" dirty="0"/>
              <a:t>分担を計画すれば、通知に伴う混乱の削減や見守り業務の削減を通じて、</a:t>
            </a:r>
            <a:endParaRPr lang="en-US" altLang="ja-JP" dirty="0"/>
          </a:p>
          <a:p>
            <a:pPr algn="ctr"/>
            <a:r>
              <a:rPr lang="ja-JP" altLang="en-US" dirty="0"/>
              <a:t>事故予防が可能ではないか</a:t>
            </a:r>
            <a:endParaRPr lang="en-US" altLang="ja-JP" dirty="0"/>
          </a:p>
        </p:txBody>
      </p:sp>
      <p:cxnSp>
        <p:nvCxnSpPr>
          <p:cNvPr id="34" name="直線矢印コネクタ 33">
            <a:extLst>
              <a:ext uri="{FF2B5EF4-FFF2-40B4-BE49-F238E27FC236}">
                <a16:creationId xmlns:a16="http://schemas.microsoft.com/office/drawing/2014/main" id="{55870F9B-8CD9-7EEE-EAFC-577B5464A90B}"/>
              </a:ext>
            </a:extLst>
          </p:cNvPr>
          <p:cNvCxnSpPr>
            <a:cxnSpLocks/>
            <a:endCxn id="24" idx="1"/>
          </p:cNvCxnSpPr>
          <p:nvPr/>
        </p:nvCxnSpPr>
        <p:spPr>
          <a:xfrm>
            <a:off x="8328248" y="2636912"/>
            <a:ext cx="1716813" cy="413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477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343387-DC10-4FAA-C1CE-55925507270C}"/>
              </a:ext>
            </a:extLst>
          </p:cNvPr>
          <p:cNvSpPr>
            <a:spLocks noGrp="1"/>
          </p:cNvSpPr>
          <p:nvPr>
            <p:ph type="title"/>
          </p:nvPr>
        </p:nvSpPr>
        <p:spPr/>
        <p:txBody>
          <a:bodyPr/>
          <a:lstStyle/>
          <a:p>
            <a:r>
              <a:rPr kumimoji="1" lang="ja-JP" altLang="en-US" dirty="0"/>
              <a:t>研究課題と関連研究</a:t>
            </a:r>
          </a:p>
        </p:txBody>
      </p:sp>
      <p:sp>
        <p:nvSpPr>
          <p:cNvPr id="3" name="コンテンツ プレースホルダー 2">
            <a:extLst>
              <a:ext uri="{FF2B5EF4-FFF2-40B4-BE49-F238E27FC236}">
                <a16:creationId xmlns:a16="http://schemas.microsoft.com/office/drawing/2014/main" id="{CEA2A586-2A0C-D123-4138-C8E97084433E}"/>
              </a:ext>
            </a:extLst>
          </p:cNvPr>
          <p:cNvSpPr>
            <a:spLocks noGrp="1"/>
          </p:cNvSpPr>
          <p:nvPr>
            <p:ph idx="1"/>
          </p:nvPr>
        </p:nvSpPr>
        <p:spPr>
          <a:xfrm>
            <a:off x="119336" y="791726"/>
            <a:ext cx="11953328" cy="5877634"/>
          </a:xfrm>
        </p:spPr>
        <p:txBody>
          <a:bodyPr>
            <a:normAutofit fontScale="85000" lnSpcReduction="10000"/>
          </a:bodyPr>
          <a:lstStyle/>
          <a:p>
            <a:r>
              <a:rPr kumimoji="1" lang="ja-JP" altLang="en-US" dirty="0"/>
              <a:t>研究課題</a:t>
            </a:r>
            <a:endParaRPr kumimoji="1" lang="en-US" altLang="ja-JP" dirty="0"/>
          </a:p>
          <a:p>
            <a:pPr lvl="1"/>
            <a:r>
              <a:rPr lang="ja-JP" altLang="en-US" b="1" dirty="0"/>
              <a:t>事故予防と業務負荷軽減の両立に向けた病棟影響を考慮した見守り介入の意思決定手法の実現</a:t>
            </a:r>
            <a:endParaRPr lang="en-US" altLang="ja-JP" b="1" dirty="0"/>
          </a:p>
          <a:p>
            <a:pPr lvl="2"/>
            <a:r>
              <a:rPr lang="ja-JP" altLang="en-US" dirty="0"/>
              <a:t>事故予防：</a:t>
            </a:r>
            <a:r>
              <a:rPr lang="en-US" altLang="ja-JP" dirty="0"/>
              <a:t>		</a:t>
            </a:r>
            <a:r>
              <a:rPr lang="ja-JP" altLang="en-US" dirty="0"/>
              <a:t>転倒・徘徊など、事故に至るリスクを検知して、スタッフに伝達すること</a:t>
            </a:r>
            <a:endParaRPr lang="en-US" altLang="ja-JP" dirty="0"/>
          </a:p>
          <a:p>
            <a:pPr lvl="2"/>
            <a:r>
              <a:rPr lang="ja-JP" altLang="en-US" dirty="0"/>
              <a:t>業務負荷軽減：</a:t>
            </a:r>
            <a:r>
              <a:rPr lang="en-US" altLang="ja-JP" dirty="0"/>
              <a:t>		</a:t>
            </a:r>
            <a:r>
              <a:rPr lang="ja-JP" altLang="en-US" dirty="0"/>
              <a:t>見守り業務の分担や、確認作業を適宜システムが補佐・代行すること</a:t>
            </a:r>
            <a:endParaRPr lang="en-US" altLang="ja-JP" dirty="0"/>
          </a:p>
          <a:p>
            <a:pPr lvl="2"/>
            <a:r>
              <a:rPr lang="ja-JP" altLang="en-US" dirty="0"/>
              <a:t>病棟影響：</a:t>
            </a:r>
            <a:r>
              <a:rPr lang="en-US" altLang="ja-JP" dirty="0"/>
              <a:t>		</a:t>
            </a:r>
            <a:r>
              <a:rPr lang="ja-JP" altLang="en-US" dirty="0"/>
              <a:t>通知がもたらすスタッフの追加業務や、意識が逸れることによる事故リスク上昇 等</a:t>
            </a:r>
            <a:endParaRPr lang="en-US" altLang="ja-JP" dirty="0"/>
          </a:p>
          <a:p>
            <a:pPr lvl="2"/>
            <a:r>
              <a:rPr lang="ja-JP" altLang="en-US" dirty="0"/>
              <a:t>見守り介入の意思決定：</a:t>
            </a:r>
            <a:r>
              <a:rPr lang="en-US" altLang="ja-JP" dirty="0"/>
              <a:t>	</a:t>
            </a:r>
            <a:r>
              <a:rPr lang="ja-JP" altLang="en-US" dirty="0"/>
              <a:t>通知を誰に・どのようにすればよいか、確認作業をロボットが代行できないか 等</a:t>
            </a:r>
            <a:endParaRPr lang="en-US" altLang="ja-JP" dirty="0"/>
          </a:p>
          <a:p>
            <a:pPr lvl="4"/>
            <a:endParaRPr kumimoji="1" lang="en-US" altLang="ja-JP" dirty="0"/>
          </a:p>
          <a:p>
            <a:r>
              <a:rPr lang="ja-JP" altLang="en-US" dirty="0"/>
              <a:t>関連研究</a:t>
            </a:r>
            <a:endParaRPr lang="en-US" altLang="ja-JP" dirty="0"/>
          </a:p>
          <a:p>
            <a:pPr lvl="1"/>
            <a:r>
              <a:rPr kumimoji="1" lang="ja-JP" altLang="en-US" dirty="0"/>
              <a:t>異常検知・見守り研究</a:t>
            </a:r>
            <a:endParaRPr kumimoji="1" lang="en-US" altLang="ja-JP" dirty="0"/>
          </a:p>
          <a:p>
            <a:pPr lvl="2"/>
            <a:r>
              <a:rPr kumimoji="1" lang="ja-JP" altLang="en-US" dirty="0"/>
              <a:t>センサや</a:t>
            </a:r>
            <a:r>
              <a:rPr kumimoji="1" lang="en-US" altLang="ja-JP" dirty="0"/>
              <a:t>AI</a:t>
            </a:r>
            <a:r>
              <a:rPr kumimoji="1" lang="ja-JP" altLang="en-US" dirty="0"/>
              <a:t>により転倒や離床を検知する研究が多数存在</a:t>
            </a:r>
            <a:r>
              <a:rPr kumimoji="1" lang="en-US" altLang="ja-JP" dirty="0"/>
              <a:t>[</a:t>
            </a:r>
            <a:r>
              <a:rPr lang="en-US" altLang="ja-JP" dirty="0"/>
              <a:t>1] [2]</a:t>
            </a:r>
            <a:endParaRPr kumimoji="1" lang="en-US" altLang="ja-JP" dirty="0"/>
          </a:p>
          <a:p>
            <a:pPr lvl="2"/>
            <a:r>
              <a:rPr kumimoji="1" lang="ja-JP" altLang="en-US" dirty="0"/>
              <a:t>しかし、検知後の対応（誰が対応するか）までは扱わないことが多い</a:t>
            </a:r>
            <a:endParaRPr lang="en-US" altLang="ja-JP" dirty="0"/>
          </a:p>
          <a:p>
            <a:pPr lvl="1"/>
            <a:r>
              <a:rPr kumimoji="1" lang="ja-JP" altLang="en-US" dirty="0"/>
              <a:t>通知・アラーム管理</a:t>
            </a:r>
            <a:endParaRPr kumimoji="1" lang="en-US" altLang="ja-JP" dirty="0"/>
          </a:p>
          <a:p>
            <a:pPr lvl="2"/>
            <a:r>
              <a:rPr kumimoji="1" lang="ja-JP" altLang="en-US" dirty="0"/>
              <a:t>アラームの優先度付けや通知先の制御により負担軽減を図る研究</a:t>
            </a:r>
            <a:r>
              <a:rPr kumimoji="1" lang="en-US" altLang="ja-JP" dirty="0"/>
              <a:t>[</a:t>
            </a:r>
            <a:r>
              <a:rPr lang="en-US" altLang="ja-JP" dirty="0"/>
              <a:t>3] [4]</a:t>
            </a:r>
            <a:endParaRPr kumimoji="1" lang="en-US" altLang="ja-JP" dirty="0"/>
          </a:p>
          <a:p>
            <a:pPr lvl="2"/>
            <a:r>
              <a:rPr kumimoji="1" lang="ja-JP" altLang="en-US" dirty="0"/>
              <a:t>ただし、業務負荷全体への影響までは十分に扱われていない</a:t>
            </a:r>
            <a:endParaRPr lang="en-US" altLang="ja-JP" dirty="0"/>
          </a:p>
          <a:p>
            <a:pPr lvl="1"/>
            <a:r>
              <a:rPr kumimoji="1" lang="ja-JP" altLang="en-US" dirty="0"/>
              <a:t>業務負荷推定・配置最適化</a:t>
            </a:r>
            <a:endParaRPr kumimoji="1" lang="en-US" altLang="ja-JP" dirty="0"/>
          </a:p>
          <a:p>
            <a:pPr lvl="2"/>
            <a:r>
              <a:rPr kumimoji="1" lang="ja-JP" altLang="en-US" dirty="0"/>
              <a:t>看護師の負荷や配置をデータから最適化する研究</a:t>
            </a:r>
            <a:r>
              <a:rPr kumimoji="1" lang="en-US" altLang="ja-JP" dirty="0"/>
              <a:t>[</a:t>
            </a:r>
            <a:r>
              <a:rPr lang="en-US" altLang="ja-JP" dirty="0"/>
              <a:t>5] [6]</a:t>
            </a:r>
            <a:endParaRPr kumimoji="1" lang="en-US" altLang="ja-JP" dirty="0"/>
          </a:p>
          <a:p>
            <a:pPr lvl="2"/>
            <a:r>
              <a:rPr kumimoji="1" lang="ja-JP" altLang="en-US" dirty="0"/>
              <a:t>主に事前計画であり、リアルタイム対応は弱い</a:t>
            </a:r>
            <a:endParaRPr lang="en-US" altLang="ja-JP" dirty="0"/>
          </a:p>
          <a:p>
            <a:pPr lvl="1"/>
            <a:r>
              <a:rPr kumimoji="1" lang="ja-JP" altLang="en-US" dirty="0"/>
              <a:t>ロボット・タスク割当</a:t>
            </a:r>
            <a:endParaRPr kumimoji="1" lang="en-US" altLang="ja-JP" dirty="0"/>
          </a:p>
          <a:p>
            <a:pPr lvl="2"/>
            <a:r>
              <a:rPr kumimoji="1" lang="ja-JP" altLang="en-US" dirty="0"/>
              <a:t>ロボットを用いた業務支援やタスク分担の研究</a:t>
            </a:r>
            <a:r>
              <a:rPr kumimoji="1" lang="en-US" altLang="ja-JP" dirty="0"/>
              <a:t>[</a:t>
            </a:r>
            <a:r>
              <a:rPr lang="en-US" altLang="ja-JP" dirty="0"/>
              <a:t>7] [8]</a:t>
            </a:r>
            <a:endParaRPr kumimoji="1" lang="en-US" altLang="ja-JP" dirty="0"/>
          </a:p>
          <a:p>
            <a:pPr lvl="2"/>
            <a:r>
              <a:rPr kumimoji="1" lang="ja-JP" altLang="en-US" dirty="0"/>
              <a:t>通知や見守りと統合された枠組みは少ない</a:t>
            </a:r>
          </a:p>
        </p:txBody>
      </p:sp>
      <p:sp>
        <p:nvSpPr>
          <p:cNvPr id="4" name="日付プレースホルダー 3">
            <a:extLst>
              <a:ext uri="{FF2B5EF4-FFF2-40B4-BE49-F238E27FC236}">
                <a16:creationId xmlns:a16="http://schemas.microsoft.com/office/drawing/2014/main" id="{778CD7AB-3B3E-410A-05E4-054D5A2C6218}"/>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60A9B4D-A283-C070-6A67-697E405D1897}"/>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BF03378A-4431-58EB-8B27-FF9ED999C11A}"/>
              </a:ext>
            </a:extLst>
          </p:cNvPr>
          <p:cNvSpPr>
            <a:spLocks noGrp="1"/>
          </p:cNvSpPr>
          <p:nvPr>
            <p:ph type="sldNum" sz="quarter" idx="12"/>
          </p:nvPr>
        </p:nvSpPr>
        <p:spPr/>
        <p:txBody>
          <a:bodyPr/>
          <a:lstStyle/>
          <a:p>
            <a:fld id="{870B1737-2A00-4EFB-9FD3-149FCC30AA13}" type="slidenum">
              <a:rPr lang="ja-JP" altLang="en-US" smtClean="0"/>
              <a:pPr/>
              <a:t>22</a:t>
            </a:fld>
            <a:endParaRPr lang="ja-JP" altLang="en-US"/>
          </a:p>
        </p:txBody>
      </p:sp>
      <p:sp>
        <p:nvSpPr>
          <p:cNvPr id="7" name="テキスト ボックス 6">
            <a:extLst>
              <a:ext uri="{FF2B5EF4-FFF2-40B4-BE49-F238E27FC236}">
                <a16:creationId xmlns:a16="http://schemas.microsoft.com/office/drawing/2014/main" id="{73957D51-1047-0D8A-41FA-BD2E533966B0}"/>
              </a:ext>
            </a:extLst>
          </p:cNvPr>
          <p:cNvSpPr txBox="1"/>
          <p:nvPr/>
        </p:nvSpPr>
        <p:spPr>
          <a:xfrm>
            <a:off x="7468289" y="5657904"/>
            <a:ext cx="3744415"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ja-JP" altLang="en-US" dirty="0"/>
              <a:t>これらを統合してリアルタイムに意思決定する枠組みは不足</a:t>
            </a:r>
            <a:endParaRPr kumimoji="1" lang="ja-JP" altLang="en-US" dirty="0"/>
          </a:p>
        </p:txBody>
      </p:sp>
      <p:sp>
        <p:nvSpPr>
          <p:cNvPr id="8" name="テキスト ボックス 7">
            <a:extLst>
              <a:ext uri="{FF2B5EF4-FFF2-40B4-BE49-F238E27FC236}">
                <a16:creationId xmlns:a16="http://schemas.microsoft.com/office/drawing/2014/main" id="{21763464-231F-1A9B-7D37-D48A9FAA479F}"/>
              </a:ext>
            </a:extLst>
          </p:cNvPr>
          <p:cNvSpPr txBox="1"/>
          <p:nvPr/>
        </p:nvSpPr>
        <p:spPr>
          <a:xfrm>
            <a:off x="8040216" y="2996952"/>
            <a:ext cx="3888432" cy="1954381"/>
          </a:xfrm>
          <a:prstGeom prst="rect">
            <a:avLst/>
          </a:prstGeom>
          <a:noFill/>
        </p:spPr>
        <p:txBody>
          <a:bodyPr wrap="square" rtlCol="0">
            <a:spAutoFit/>
          </a:bodyPr>
          <a:lstStyle/>
          <a:p>
            <a:r>
              <a:rPr kumimoji="1" lang="en-US" altLang="ja-JP" sz="1100" dirty="0"/>
              <a:t>[1] </a:t>
            </a:r>
            <a:r>
              <a:rPr lang="en-US" altLang="ja-JP" sz="1100" dirty="0">
                <a:hlinkClick r:id="rId3"/>
              </a:rPr>
              <a:t>https://www.virtusense.ai/products/vstalert</a:t>
            </a:r>
            <a:r>
              <a:rPr lang="en-US" altLang="ja-JP" sz="1100" dirty="0"/>
              <a:t> </a:t>
            </a:r>
            <a:br>
              <a:rPr lang="en-US" altLang="ja-JP" sz="1100" dirty="0"/>
            </a:br>
            <a:r>
              <a:rPr lang="en-US" altLang="ja-JP" sz="1100" dirty="0"/>
              <a:t>[2] </a:t>
            </a:r>
            <a:r>
              <a:rPr lang="en-US" altLang="ja-JP" sz="1100" dirty="0">
                <a:hlinkClick r:id="rId4"/>
              </a:rPr>
              <a:t>https://pmc.ncbi.nlm.nih.gov/articles/PMC12449887/</a:t>
            </a:r>
            <a:r>
              <a:rPr lang="en-US" altLang="ja-JP" sz="1100" dirty="0"/>
              <a:t> </a:t>
            </a:r>
            <a:br>
              <a:rPr lang="en-US" altLang="ja-JP" sz="1100" dirty="0"/>
            </a:br>
            <a:r>
              <a:rPr lang="en-US" altLang="ja-JP" sz="1100" dirty="0"/>
              <a:t>[3]</a:t>
            </a:r>
            <a:r>
              <a:rPr lang="ja-JP" altLang="en-US" sz="1100" dirty="0"/>
              <a:t> </a:t>
            </a:r>
            <a:r>
              <a:rPr lang="en-US" altLang="ja-JP" sz="1100" dirty="0">
                <a:hlinkClick r:id="rId5"/>
              </a:rPr>
              <a:t>https://pmc.ncbi.nlm.nih.gov/articles/PMC12608296/</a:t>
            </a:r>
            <a:r>
              <a:rPr lang="en-US" altLang="ja-JP" sz="1100" dirty="0"/>
              <a:t> </a:t>
            </a:r>
            <a:br>
              <a:rPr lang="en-US" altLang="ja-JP" sz="1100" dirty="0"/>
            </a:br>
            <a:r>
              <a:rPr lang="en-US" altLang="ja-JP" sz="1100" dirty="0"/>
              <a:t>[4] </a:t>
            </a:r>
            <a:r>
              <a:rPr lang="en-US" altLang="ja-JP" sz="1100" dirty="0">
                <a:hlinkClick r:id="rId6"/>
              </a:rPr>
              <a:t>https://www.researchgate.net/publication/280720308_A_Simulation_Model_for_Evaluating_Alarm_Routing_Policies_in_ICU_Patient_Monitoring_Information_Systems</a:t>
            </a:r>
            <a:r>
              <a:rPr lang="en-US" altLang="ja-JP" sz="1100" dirty="0"/>
              <a:t> </a:t>
            </a:r>
            <a:br>
              <a:rPr lang="en-US" altLang="ja-JP" sz="1100" dirty="0"/>
            </a:br>
            <a:r>
              <a:rPr lang="en-US" altLang="ja-JP" sz="1100" dirty="0"/>
              <a:t>[5] </a:t>
            </a:r>
            <a:r>
              <a:rPr lang="en-US" altLang="ja-JP" sz="1100" dirty="0">
                <a:hlinkClick r:id="rId7"/>
              </a:rPr>
              <a:t>https://medinform.jmir.org/2025/1/e71666/PDF</a:t>
            </a:r>
            <a:r>
              <a:rPr lang="en-US" altLang="ja-JP" sz="1100" dirty="0"/>
              <a:t> </a:t>
            </a:r>
            <a:br>
              <a:rPr lang="en-US" altLang="ja-JP" sz="1100" dirty="0"/>
            </a:br>
            <a:r>
              <a:rPr lang="en-US" altLang="ja-JP" sz="1100" dirty="0"/>
              <a:t>[6] </a:t>
            </a:r>
            <a:r>
              <a:rPr lang="en-US" altLang="ja-JP" sz="1100" dirty="0">
                <a:hlinkClick r:id="rId8"/>
              </a:rPr>
              <a:t>https://arxiv.org/abs/2309.10739</a:t>
            </a:r>
            <a:r>
              <a:rPr lang="en-US" altLang="ja-JP" sz="1100" dirty="0"/>
              <a:t> </a:t>
            </a:r>
            <a:br>
              <a:rPr lang="en-US" altLang="ja-JP" sz="1100" dirty="0"/>
            </a:br>
            <a:r>
              <a:rPr lang="en-US" altLang="ja-JP" sz="1100" dirty="0"/>
              <a:t>[7] </a:t>
            </a:r>
            <a:r>
              <a:rPr lang="en-US" altLang="ja-JP" sz="1100" dirty="0">
                <a:hlinkClick r:id="rId9"/>
              </a:rPr>
              <a:t>https://www.roboticsproceedings.org/rss12/p26.pdf</a:t>
            </a:r>
            <a:r>
              <a:rPr lang="en-US" altLang="ja-JP" sz="1100" dirty="0"/>
              <a:t> </a:t>
            </a:r>
            <a:br>
              <a:rPr lang="en-US" altLang="ja-JP" sz="1100" dirty="0"/>
            </a:br>
            <a:r>
              <a:rPr lang="en-US" altLang="ja-JP" sz="1100" dirty="0"/>
              <a:t>[8] </a:t>
            </a:r>
            <a:r>
              <a:rPr lang="en-US" altLang="ja-JP" sz="1100" dirty="0">
                <a:hlinkClick r:id="rId10"/>
              </a:rPr>
              <a:t>https://www.cairo-lab.com/papers/ijrr18.pdf</a:t>
            </a:r>
            <a:r>
              <a:rPr lang="en-US" altLang="ja-JP" sz="1100" dirty="0"/>
              <a:t> </a:t>
            </a:r>
          </a:p>
        </p:txBody>
      </p:sp>
    </p:spTree>
    <p:extLst>
      <p:ext uri="{BB962C8B-B14F-4D97-AF65-F5344CB8AC3E}">
        <p14:creationId xmlns:p14="http://schemas.microsoft.com/office/powerpoint/2010/main" val="27162225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282E4E-D56D-CD8C-7A7C-4D6C3D780A69}"/>
              </a:ext>
            </a:extLst>
          </p:cNvPr>
          <p:cNvSpPr>
            <a:spLocks noGrp="1"/>
          </p:cNvSpPr>
          <p:nvPr>
            <p:ph type="title"/>
          </p:nvPr>
        </p:nvSpPr>
        <p:spPr/>
        <p:txBody>
          <a:bodyPr/>
          <a:lstStyle/>
          <a:p>
            <a:r>
              <a:rPr kumimoji="1" lang="ja-JP" altLang="en-US" dirty="0"/>
              <a:t>解決のアプローチ</a:t>
            </a:r>
          </a:p>
        </p:txBody>
      </p:sp>
      <p:sp>
        <p:nvSpPr>
          <p:cNvPr id="3" name="コンテンツ プレースホルダー 2">
            <a:extLst>
              <a:ext uri="{FF2B5EF4-FFF2-40B4-BE49-F238E27FC236}">
                <a16:creationId xmlns:a16="http://schemas.microsoft.com/office/drawing/2014/main" id="{6F484E65-946D-5564-BC34-506B7B7E297E}"/>
              </a:ext>
            </a:extLst>
          </p:cNvPr>
          <p:cNvSpPr>
            <a:spLocks noGrp="1"/>
          </p:cNvSpPr>
          <p:nvPr>
            <p:ph idx="1"/>
          </p:nvPr>
        </p:nvSpPr>
        <p:spPr/>
        <p:txBody>
          <a:bodyPr/>
          <a:lstStyle/>
          <a:p>
            <a:r>
              <a:rPr kumimoji="1" lang="ja-JP" altLang="en-US" dirty="0"/>
              <a:t>着眼点</a:t>
            </a:r>
            <a:endParaRPr kumimoji="1" lang="en-US" altLang="ja-JP" dirty="0"/>
          </a:p>
          <a:p>
            <a:pPr lvl="1"/>
            <a:r>
              <a:rPr lang="ja-JP" altLang="en-US" dirty="0"/>
              <a:t>事故リスクの低減と業務オーバーフローの防止の両立には、「スタッフの業務の分担」をシステムがある程度補佐することが重要ではないか</a:t>
            </a:r>
          </a:p>
          <a:p>
            <a:pPr lvl="1"/>
            <a:r>
              <a:rPr lang="ja-JP" altLang="en-US" dirty="0"/>
              <a:t>ロボットの介入や通知に伴う業務負荷の変化を考える必要性</a:t>
            </a:r>
            <a:br>
              <a:rPr lang="en-US" altLang="ja-JP" dirty="0"/>
            </a:br>
            <a:r>
              <a:rPr lang="ja-JP" altLang="en-US" dirty="0"/>
              <a:t>➡現場知識を</a:t>
            </a:r>
            <a:r>
              <a:rPr lang="ja-JP" altLang="en-US" b="1" dirty="0">
                <a:solidFill>
                  <a:srgbClr val="FF0000"/>
                </a:solidFill>
              </a:rPr>
              <a:t>因果モデル</a:t>
            </a:r>
            <a:r>
              <a:rPr lang="ja-JP" altLang="en-US" dirty="0"/>
              <a:t>に落とし、</a:t>
            </a:r>
            <a:r>
              <a:rPr lang="en-US" altLang="ja-JP" dirty="0"/>
              <a:t>what-if</a:t>
            </a:r>
            <a:r>
              <a:rPr lang="ja-JP" altLang="en-US" dirty="0"/>
              <a:t>分析が可能な体系での考慮が必要ではないか</a:t>
            </a:r>
          </a:p>
          <a:p>
            <a:pPr lvl="1"/>
            <a:r>
              <a:rPr lang="ja-JP" altLang="en-US" dirty="0"/>
              <a:t>業務負荷を考える観点では、スタッフの属性・位置・タスクに依存</a:t>
            </a:r>
            <a:br>
              <a:rPr lang="en-US" altLang="ja-JP" dirty="0"/>
            </a:br>
            <a:r>
              <a:rPr lang="ja-JP" altLang="en-US" dirty="0"/>
              <a:t>➡因果モデルに加え、</a:t>
            </a:r>
            <a:r>
              <a:rPr lang="ja-JP" altLang="en-US" b="1" dirty="0">
                <a:solidFill>
                  <a:srgbClr val="FF0000"/>
                </a:solidFill>
              </a:rPr>
              <a:t>時空間モデル</a:t>
            </a:r>
            <a:r>
              <a:rPr lang="ja-JP" altLang="en-US" dirty="0"/>
              <a:t>を用いた考慮が必要ではないか</a:t>
            </a:r>
          </a:p>
          <a:p>
            <a:r>
              <a:rPr kumimoji="1" lang="ja-JP" altLang="en-US" dirty="0"/>
              <a:t>解決のアプローチ</a:t>
            </a:r>
          </a:p>
        </p:txBody>
      </p:sp>
      <p:sp>
        <p:nvSpPr>
          <p:cNvPr id="6" name="スライド番号プレースホルダー 5">
            <a:extLst>
              <a:ext uri="{FF2B5EF4-FFF2-40B4-BE49-F238E27FC236}">
                <a16:creationId xmlns:a16="http://schemas.microsoft.com/office/drawing/2014/main" id="{428A075E-3DC6-3E6E-3F9D-D1165179E23C}"/>
              </a:ext>
            </a:extLst>
          </p:cNvPr>
          <p:cNvSpPr>
            <a:spLocks noGrp="1"/>
          </p:cNvSpPr>
          <p:nvPr>
            <p:ph type="sldNum" sz="quarter" idx="12"/>
          </p:nvPr>
        </p:nvSpPr>
        <p:spPr/>
        <p:txBody>
          <a:bodyPr/>
          <a:lstStyle/>
          <a:p>
            <a:fld id="{870B1737-2A00-4EFB-9FD3-149FCC30AA13}" type="slidenum">
              <a:rPr lang="ja-JP" altLang="en-US" smtClean="0"/>
              <a:pPr/>
              <a:t>23</a:t>
            </a:fld>
            <a:endParaRPr lang="ja-JP" altLang="en-US"/>
          </a:p>
        </p:txBody>
      </p:sp>
      <p:sp>
        <p:nvSpPr>
          <p:cNvPr id="7" name="正方形/長方形 6">
            <a:extLst>
              <a:ext uri="{FF2B5EF4-FFF2-40B4-BE49-F238E27FC236}">
                <a16:creationId xmlns:a16="http://schemas.microsoft.com/office/drawing/2014/main" id="{EB2CA5F5-F23D-BFB3-139A-DBFBE597C7EC}"/>
              </a:ext>
            </a:extLst>
          </p:cNvPr>
          <p:cNvSpPr/>
          <p:nvPr/>
        </p:nvSpPr>
        <p:spPr>
          <a:xfrm>
            <a:off x="335360"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⓪初期状態の定義</a:t>
            </a:r>
          </a:p>
        </p:txBody>
      </p:sp>
      <p:sp>
        <p:nvSpPr>
          <p:cNvPr id="8" name="正方形/長方形 7">
            <a:extLst>
              <a:ext uri="{FF2B5EF4-FFF2-40B4-BE49-F238E27FC236}">
                <a16:creationId xmlns:a16="http://schemas.microsoft.com/office/drawing/2014/main" id="{6E7B8A82-6168-0435-D57D-4F0FA7ACD92F}"/>
              </a:ext>
            </a:extLst>
          </p:cNvPr>
          <p:cNvSpPr/>
          <p:nvPr/>
        </p:nvSpPr>
        <p:spPr>
          <a:xfrm>
            <a:off x="1985774"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①観測</a:t>
            </a:r>
          </a:p>
        </p:txBody>
      </p:sp>
      <p:sp>
        <p:nvSpPr>
          <p:cNvPr id="9" name="正方形/長方形 8">
            <a:extLst>
              <a:ext uri="{FF2B5EF4-FFF2-40B4-BE49-F238E27FC236}">
                <a16:creationId xmlns:a16="http://schemas.microsoft.com/office/drawing/2014/main" id="{CA1B6953-7C20-C631-0589-71E9930652C7}"/>
              </a:ext>
            </a:extLst>
          </p:cNvPr>
          <p:cNvSpPr/>
          <p:nvPr/>
        </p:nvSpPr>
        <p:spPr>
          <a:xfrm>
            <a:off x="3636188"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②状態推定</a:t>
            </a:r>
          </a:p>
        </p:txBody>
      </p:sp>
      <p:sp>
        <p:nvSpPr>
          <p:cNvPr id="10" name="正方形/長方形 9">
            <a:extLst>
              <a:ext uri="{FF2B5EF4-FFF2-40B4-BE49-F238E27FC236}">
                <a16:creationId xmlns:a16="http://schemas.microsoft.com/office/drawing/2014/main" id="{C5507F26-9A3A-0064-88AE-FEB6B750D6F3}"/>
              </a:ext>
            </a:extLst>
          </p:cNvPr>
          <p:cNvSpPr/>
          <p:nvPr/>
        </p:nvSpPr>
        <p:spPr>
          <a:xfrm>
            <a:off x="5286602"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③介入候補生成</a:t>
            </a:r>
          </a:p>
        </p:txBody>
      </p:sp>
      <p:sp>
        <p:nvSpPr>
          <p:cNvPr id="11" name="正方形/長方形 10">
            <a:extLst>
              <a:ext uri="{FF2B5EF4-FFF2-40B4-BE49-F238E27FC236}">
                <a16:creationId xmlns:a16="http://schemas.microsoft.com/office/drawing/2014/main" id="{971C08E0-A8C8-6A8A-102A-FAEC9EA8EEDF}"/>
              </a:ext>
            </a:extLst>
          </p:cNvPr>
          <p:cNvSpPr/>
          <p:nvPr/>
        </p:nvSpPr>
        <p:spPr>
          <a:xfrm>
            <a:off x="6937016"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④状態予測</a:t>
            </a:r>
          </a:p>
        </p:txBody>
      </p:sp>
      <p:sp>
        <p:nvSpPr>
          <p:cNvPr id="12" name="正方形/長方形 11">
            <a:extLst>
              <a:ext uri="{FF2B5EF4-FFF2-40B4-BE49-F238E27FC236}">
                <a16:creationId xmlns:a16="http://schemas.microsoft.com/office/drawing/2014/main" id="{DD2A8889-62FD-FA97-4C73-A41464CF4F66}"/>
              </a:ext>
            </a:extLst>
          </p:cNvPr>
          <p:cNvSpPr/>
          <p:nvPr/>
        </p:nvSpPr>
        <p:spPr>
          <a:xfrm>
            <a:off x="8587430"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⑤介入候補の評価</a:t>
            </a:r>
          </a:p>
        </p:txBody>
      </p:sp>
      <p:sp>
        <p:nvSpPr>
          <p:cNvPr id="13" name="正方形/長方形 12">
            <a:extLst>
              <a:ext uri="{FF2B5EF4-FFF2-40B4-BE49-F238E27FC236}">
                <a16:creationId xmlns:a16="http://schemas.microsoft.com/office/drawing/2014/main" id="{8770270F-F1DB-B5EA-DC3E-EA22A92662AC}"/>
              </a:ext>
            </a:extLst>
          </p:cNvPr>
          <p:cNvSpPr/>
          <p:nvPr/>
        </p:nvSpPr>
        <p:spPr>
          <a:xfrm>
            <a:off x="10237844" y="3945762"/>
            <a:ext cx="1440160" cy="6417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⑥介入決定</a:t>
            </a:r>
          </a:p>
        </p:txBody>
      </p:sp>
      <p:cxnSp>
        <p:nvCxnSpPr>
          <p:cNvPr id="15" name="直線矢印コネクタ 14">
            <a:extLst>
              <a:ext uri="{FF2B5EF4-FFF2-40B4-BE49-F238E27FC236}">
                <a16:creationId xmlns:a16="http://schemas.microsoft.com/office/drawing/2014/main" id="{1FFC5B47-3125-2DEF-2535-A5FCE4C87E17}"/>
              </a:ext>
            </a:extLst>
          </p:cNvPr>
          <p:cNvCxnSpPr>
            <a:stCxn id="7" idx="3"/>
            <a:endCxn id="8" idx="1"/>
          </p:cNvCxnSpPr>
          <p:nvPr/>
        </p:nvCxnSpPr>
        <p:spPr>
          <a:xfrm>
            <a:off x="1775520"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A81DE5F0-BDB4-361F-FDB0-98DF6E7F7E19}"/>
              </a:ext>
            </a:extLst>
          </p:cNvPr>
          <p:cNvCxnSpPr>
            <a:cxnSpLocks/>
            <a:stCxn id="8" idx="3"/>
            <a:endCxn id="9" idx="1"/>
          </p:cNvCxnSpPr>
          <p:nvPr/>
        </p:nvCxnSpPr>
        <p:spPr>
          <a:xfrm>
            <a:off x="3425934"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943C335E-D437-AA62-6311-7AC39076EBD8}"/>
              </a:ext>
            </a:extLst>
          </p:cNvPr>
          <p:cNvCxnSpPr>
            <a:cxnSpLocks/>
            <a:stCxn id="9" idx="3"/>
            <a:endCxn id="10" idx="1"/>
          </p:cNvCxnSpPr>
          <p:nvPr/>
        </p:nvCxnSpPr>
        <p:spPr>
          <a:xfrm>
            <a:off x="5076348"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矢印コネクタ 21">
            <a:extLst>
              <a:ext uri="{FF2B5EF4-FFF2-40B4-BE49-F238E27FC236}">
                <a16:creationId xmlns:a16="http://schemas.microsoft.com/office/drawing/2014/main" id="{65B35513-29D2-59F5-DD3B-A13FD19A2ACB}"/>
              </a:ext>
            </a:extLst>
          </p:cNvPr>
          <p:cNvCxnSpPr>
            <a:cxnSpLocks/>
            <a:stCxn id="10" idx="3"/>
            <a:endCxn id="11" idx="1"/>
          </p:cNvCxnSpPr>
          <p:nvPr/>
        </p:nvCxnSpPr>
        <p:spPr>
          <a:xfrm>
            <a:off x="6726762"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C03B5F9B-D71F-0BC6-2D1F-1CC7F3FCC492}"/>
              </a:ext>
            </a:extLst>
          </p:cNvPr>
          <p:cNvCxnSpPr>
            <a:cxnSpLocks/>
            <a:stCxn id="11" idx="3"/>
            <a:endCxn id="12" idx="1"/>
          </p:cNvCxnSpPr>
          <p:nvPr/>
        </p:nvCxnSpPr>
        <p:spPr>
          <a:xfrm>
            <a:off x="8377176"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9DF6B220-FB18-FC23-4B20-7FCCDB43E1D4}"/>
              </a:ext>
            </a:extLst>
          </p:cNvPr>
          <p:cNvCxnSpPr>
            <a:cxnSpLocks/>
            <a:stCxn id="12" idx="3"/>
            <a:endCxn id="13" idx="1"/>
          </p:cNvCxnSpPr>
          <p:nvPr/>
        </p:nvCxnSpPr>
        <p:spPr>
          <a:xfrm>
            <a:off x="10027590" y="4266620"/>
            <a:ext cx="21025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コネクタ: カギ線 31">
            <a:extLst>
              <a:ext uri="{FF2B5EF4-FFF2-40B4-BE49-F238E27FC236}">
                <a16:creationId xmlns:a16="http://schemas.microsoft.com/office/drawing/2014/main" id="{DD25A944-8BDE-C975-9A1E-0E7028B04F4A}"/>
              </a:ext>
            </a:extLst>
          </p:cNvPr>
          <p:cNvCxnSpPr>
            <a:stCxn id="11" idx="2"/>
            <a:endCxn id="10" idx="2"/>
          </p:cNvCxnSpPr>
          <p:nvPr/>
        </p:nvCxnSpPr>
        <p:spPr>
          <a:xfrm rot="5400000">
            <a:off x="6831889" y="3762271"/>
            <a:ext cx="12700" cy="1650414"/>
          </a:xfrm>
          <a:prstGeom prst="bentConnector3">
            <a:avLst>
              <a:gd name="adj1" fmla="val 1800000"/>
            </a:avLst>
          </a:prstGeom>
          <a:ln>
            <a:tailEnd type="triangle"/>
          </a:ln>
        </p:spPr>
        <p:style>
          <a:lnRef idx="1">
            <a:schemeClr val="dk1"/>
          </a:lnRef>
          <a:fillRef idx="0">
            <a:schemeClr val="dk1"/>
          </a:fillRef>
          <a:effectRef idx="0">
            <a:schemeClr val="dk1"/>
          </a:effectRef>
          <a:fontRef idx="minor">
            <a:schemeClr val="tx1"/>
          </a:fontRef>
        </p:style>
      </p:cxnSp>
      <p:cxnSp>
        <p:nvCxnSpPr>
          <p:cNvPr id="33" name="コネクタ: カギ線 32">
            <a:extLst>
              <a:ext uri="{FF2B5EF4-FFF2-40B4-BE49-F238E27FC236}">
                <a16:creationId xmlns:a16="http://schemas.microsoft.com/office/drawing/2014/main" id="{5BC9B703-FCEC-BF46-E515-491A291D76E8}"/>
              </a:ext>
            </a:extLst>
          </p:cNvPr>
          <p:cNvCxnSpPr>
            <a:cxnSpLocks/>
            <a:stCxn id="13" idx="2"/>
            <a:endCxn id="8" idx="2"/>
          </p:cNvCxnSpPr>
          <p:nvPr/>
        </p:nvCxnSpPr>
        <p:spPr>
          <a:xfrm rot="5400000">
            <a:off x="6831889" y="461443"/>
            <a:ext cx="12700" cy="8252070"/>
          </a:xfrm>
          <a:prstGeom prst="bentConnector3">
            <a:avLst>
              <a:gd name="adj1" fmla="val 3711504"/>
            </a:avLst>
          </a:prstGeom>
          <a:ln>
            <a:tailEnd type="triangle"/>
          </a:ln>
        </p:spPr>
        <p:style>
          <a:lnRef idx="1">
            <a:schemeClr val="dk1"/>
          </a:lnRef>
          <a:fillRef idx="0">
            <a:schemeClr val="dk1"/>
          </a:fillRef>
          <a:effectRef idx="0">
            <a:schemeClr val="dk1"/>
          </a:effectRef>
          <a:fontRef idx="minor">
            <a:schemeClr val="tx1"/>
          </a:fontRef>
        </p:style>
      </p:cxnSp>
      <p:grpSp>
        <p:nvGrpSpPr>
          <p:cNvPr id="56" name="グループ化 55">
            <a:extLst>
              <a:ext uri="{FF2B5EF4-FFF2-40B4-BE49-F238E27FC236}">
                <a16:creationId xmlns:a16="http://schemas.microsoft.com/office/drawing/2014/main" id="{652DFD1F-57E7-7882-CBF2-F7671ACBAED3}"/>
              </a:ext>
            </a:extLst>
          </p:cNvPr>
          <p:cNvGrpSpPr/>
          <p:nvPr/>
        </p:nvGrpSpPr>
        <p:grpSpPr>
          <a:xfrm>
            <a:off x="256847" y="5522910"/>
            <a:ext cx="1654401" cy="1180456"/>
            <a:chOff x="305526" y="1194390"/>
            <a:chExt cx="3473115" cy="2478152"/>
          </a:xfrm>
        </p:grpSpPr>
        <p:cxnSp>
          <p:nvCxnSpPr>
            <p:cNvPr id="37" name="直線矢印コネクタ 36">
              <a:extLst>
                <a:ext uri="{FF2B5EF4-FFF2-40B4-BE49-F238E27FC236}">
                  <a16:creationId xmlns:a16="http://schemas.microsoft.com/office/drawing/2014/main" id="{3FB3A27B-520C-69B6-22CC-F339C2D4CFCD}"/>
                </a:ext>
              </a:extLst>
            </p:cNvPr>
            <p:cNvCxnSpPr>
              <a:cxnSpLocks/>
            </p:cNvCxnSpPr>
            <p:nvPr/>
          </p:nvCxnSpPr>
          <p:spPr>
            <a:xfrm>
              <a:off x="331107"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F8A38939-4398-8DE4-0C60-340FDBCD0313}"/>
                </a:ext>
              </a:extLst>
            </p:cNvPr>
            <p:cNvCxnSpPr>
              <a:cxnSpLocks/>
            </p:cNvCxnSpPr>
            <p:nvPr/>
          </p:nvCxnSpPr>
          <p:spPr>
            <a:xfrm flipV="1">
              <a:off x="570213"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6A040062-A213-8DE0-830B-5197EF6D117A}"/>
                </a:ext>
              </a:extLst>
            </p:cNvPr>
            <p:cNvCxnSpPr>
              <a:cxnSpLocks/>
            </p:cNvCxnSpPr>
            <p:nvPr/>
          </p:nvCxnSpPr>
          <p:spPr>
            <a:xfrm flipV="1">
              <a:off x="652613"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96278677-A8E6-7EDC-F34A-E3A519496651}"/>
                </a:ext>
              </a:extLst>
            </p:cNvPr>
            <p:cNvCxnSpPr>
              <a:cxnSpLocks/>
            </p:cNvCxnSpPr>
            <p:nvPr/>
          </p:nvCxnSpPr>
          <p:spPr>
            <a:xfrm flipV="1">
              <a:off x="2349549"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A1C99495-A08C-322A-C540-7D66BD492DFC}"/>
                </a:ext>
              </a:extLst>
            </p:cNvPr>
            <p:cNvCxnSpPr>
              <a:cxnSpLocks/>
            </p:cNvCxnSpPr>
            <p:nvPr/>
          </p:nvCxnSpPr>
          <p:spPr>
            <a:xfrm>
              <a:off x="1888975"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32D6597F-DC52-A49F-2814-BECC037C83E0}"/>
                </a:ext>
              </a:extLst>
            </p:cNvPr>
            <p:cNvSpPr txBox="1"/>
            <p:nvPr/>
          </p:nvSpPr>
          <p:spPr>
            <a:xfrm>
              <a:off x="2440762" y="3091033"/>
              <a:ext cx="532379" cy="581509"/>
            </a:xfrm>
            <a:prstGeom prst="rect">
              <a:avLst/>
            </a:prstGeom>
            <a:noFill/>
          </p:spPr>
          <p:txBody>
            <a:bodyPr wrap="none" rtlCol="0">
              <a:spAutoFit/>
            </a:bodyPr>
            <a:lstStyle/>
            <a:p>
              <a:r>
                <a:rPr kumimoji="1" lang="en-US" altLang="ja-JP" sz="1200" i="1" dirty="0"/>
                <a:t>x</a:t>
              </a:r>
              <a:endParaRPr kumimoji="1" lang="ja-JP" altLang="en-US" sz="1200" i="1" dirty="0"/>
            </a:p>
          </p:txBody>
        </p:sp>
        <p:sp>
          <p:nvSpPr>
            <p:cNvPr id="43" name="テキスト ボックス 42">
              <a:extLst>
                <a:ext uri="{FF2B5EF4-FFF2-40B4-BE49-F238E27FC236}">
                  <a16:creationId xmlns:a16="http://schemas.microsoft.com/office/drawing/2014/main" id="{8245CB8C-B0DB-FC66-D801-3F5F5C7AAB76}"/>
                </a:ext>
              </a:extLst>
            </p:cNvPr>
            <p:cNvSpPr txBox="1"/>
            <p:nvPr/>
          </p:nvSpPr>
          <p:spPr>
            <a:xfrm>
              <a:off x="2063229" y="1825432"/>
              <a:ext cx="532379" cy="581509"/>
            </a:xfrm>
            <a:prstGeom prst="rect">
              <a:avLst/>
            </a:prstGeom>
            <a:noFill/>
          </p:spPr>
          <p:txBody>
            <a:bodyPr wrap="none" rtlCol="0">
              <a:spAutoFit/>
            </a:bodyPr>
            <a:lstStyle/>
            <a:p>
              <a:r>
                <a:rPr kumimoji="1" lang="en-US" altLang="ja-JP" sz="1200" i="1" dirty="0"/>
                <a:t>y</a:t>
              </a:r>
              <a:endParaRPr kumimoji="1" lang="ja-JP" altLang="en-US" sz="1200" i="1" dirty="0"/>
            </a:p>
          </p:txBody>
        </p:sp>
        <p:sp>
          <p:nvSpPr>
            <p:cNvPr id="44" name="テキスト ボックス 43">
              <a:extLst>
                <a:ext uri="{FF2B5EF4-FFF2-40B4-BE49-F238E27FC236}">
                  <a16:creationId xmlns:a16="http://schemas.microsoft.com/office/drawing/2014/main" id="{CA2B26F3-882C-EE90-F5AD-481250546E70}"/>
                </a:ext>
              </a:extLst>
            </p:cNvPr>
            <p:cNvSpPr txBox="1"/>
            <p:nvPr/>
          </p:nvSpPr>
          <p:spPr>
            <a:xfrm>
              <a:off x="305526" y="1194390"/>
              <a:ext cx="478536" cy="581509"/>
            </a:xfrm>
            <a:prstGeom prst="rect">
              <a:avLst/>
            </a:prstGeom>
            <a:noFill/>
          </p:spPr>
          <p:txBody>
            <a:bodyPr wrap="none" rtlCol="0">
              <a:spAutoFit/>
            </a:bodyPr>
            <a:lstStyle/>
            <a:p>
              <a:r>
                <a:rPr kumimoji="1" lang="en-US" altLang="ja-JP" sz="1200" i="1" dirty="0"/>
                <a:t>t</a:t>
              </a:r>
              <a:endParaRPr kumimoji="1" lang="ja-JP" altLang="en-US" sz="1200" i="1" dirty="0"/>
            </a:p>
          </p:txBody>
        </p:sp>
        <p:cxnSp>
          <p:nvCxnSpPr>
            <p:cNvPr id="45" name="直線矢印コネクタ 44">
              <a:extLst>
                <a:ext uri="{FF2B5EF4-FFF2-40B4-BE49-F238E27FC236}">
                  <a16:creationId xmlns:a16="http://schemas.microsoft.com/office/drawing/2014/main" id="{A54E81A0-0392-1C74-EE72-615B5D000CA0}"/>
                </a:ext>
              </a:extLst>
            </p:cNvPr>
            <p:cNvCxnSpPr>
              <a:cxnSpLocks/>
            </p:cNvCxnSpPr>
            <p:nvPr/>
          </p:nvCxnSpPr>
          <p:spPr>
            <a:xfrm flipV="1">
              <a:off x="1506923"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4DBDDE06-D55A-EF8A-865E-197F841F7A1D}"/>
                </a:ext>
              </a:extLst>
            </p:cNvPr>
            <p:cNvCxnSpPr>
              <a:cxnSpLocks/>
            </p:cNvCxnSpPr>
            <p:nvPr/>
          </p:nvCxnSpPr>
          <p:spPr>
            <a:xfrm>
              <a:off x="1287823"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楕円 46">
              <a:extLst>
                <a:ext uri="{FF2B5EF4-FFF2-40B4-BE49-F238E27FC236}">
                  <a16:creationId xmlns:a16="http://schemas.microsoft.com/office/drawing/2014/main" id="{53154261-8F51-1187-9110-329F3FA43CAD}"/>
                </a:ext>
              </a:extLst>
            </p:cNvPr>
            <p:cNvSpPr/>
            <p:nvPr/>
          </p:nvSpPr>
          <p:spPr>
            <a:xfrm>
              <a:off x="472593"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48" name="楕円 47">
              <a:extLst>
                <a:ext uri="{FF2B5EF4-FFF2-40B4-BE49-F238E27FC236}">
                  <a16:creationId xmlns:a16="http://schemas.microsoft.com/office/drawing/2014/main" id="{2A1F6272-1494-4636-682C-17D07CE4D9A7}"/>
                </a:ext>
              </a:extLst>
            </p:cNvPr>
            <p:cNvSpPr/>
            <p:nvPr/>
          </p:nvSpPr>
          <p:spPr>
            <a:xfrm>
              <a:off x="1321947"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49" name="楕円 48">
              <a:extLst>
                <a:ext uri="{FF2B5EF4-FFF2-40B4-BE49-F238E27FC236}">
                  <a16:creationId xmlns:a16="http://schemas.microsoft.com/office/drawing/2014/main" id="{89119214-F050-D8CC-4C6C-8D77AF48853F}"/>
                </a:ext>
              </a:extLst>
            </p:cNvPr>
            <p:cNvSpPr/>
            <p:nvPr/>
          </p:nvSpPr>
          <p:spPr>
            <a:xfrm>
              <a:off x="2171342"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0" name="楕円 49">
              <a:extLst>
                <a:ext uri="{FF2B5EF4-FFF2-40B4-BE49-F238E27FC236}">
                  <a16:creationId xmlns:a16="http://schemas.microsoft.com/office/drawing/2014/main" id="{9064EF26-6838-5E25-E004-FB216B19CB93}"/>
                </a:ext>
              </a:extLst>
            </p:cNvPr>
            <p:cNvSpPr/>
            <p:nvPr/>
          </p:nvSpPr>
          <p:spPr>
            <a:xfrm>
              <a:off x="1128202"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1" name="楕円 50">
              <a:extLst>
                <a:ext uri="{FF2B5EF4-FFF2-40B4-BE49-F238E27FC236}">
                  <a16:creationId xmlns:a16="http://schemas.microsoft.com/office/drawing/2014/main" id="{0A2854A1-1C00-DDD5-6BF0-ACD291EFF439}"/>
                </a:ext>
              </a:extLst>
            </p:cNvPr>
            <p:cNvSpPr/>
            <p:nvPr/>
          </p:nvSpPr>
          <p:spPr>
            <a:xfrm>
              <a:off x="1977556"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2" name="楕円 51">
              <a:extLst>
                <a:ext uri="{FF2B5EF4-FFF2-40B4-BE49-F238E27FC236}">
                  <a16:creationId xmlns:a16="http://schemas.microsoft.com/office/drawing/2014/main" id="{B6FC7AF1-12AF-B5C4-D767-06D8311A7207}"/>
                </a:ext>
              </a:extLst>
            </p:cNvPr>
            <p:cNvSpPr/>
            <p:nvPr/>
          </p:nvSpPr>
          <p:spPr>
            <a:xfrm>
              <a:off x="2826951"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3" name="楕円 52">
              <a:extLst>
                <a:ext uri="{FF2B5EF4-FFF2-40B4-BE49-F238E27FC236}">
                  <a16:creationId xmlns:a16="http://schemas.microsoft.com/office/drawing/2014/main" id="{4BFDFF06-98E8-C60C-47E1-806DB1A8A239}"/>
                </a:ext>
              </a:extLst>
            </p:cNvPr>
            <p:cNvSpPr/>
            <p:nvPr/>
          </p:nvSpPr>
          <p:spPr>
            <a:xfrm>
              <a:off x="1719852"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4" name="楕円 53">
              <a:extLst>
                <a:ext uri="{FF2B5EF4-FFF2-40B4-BE49-F238E27FC236}">
                  <a16:creationId xmlns:a16="http://schemas.microsoft.com/office/drawing/2014/main" id="{32A27712-C7CC-204E-DA6F-64B4C22233D7}"/>
                </a:ext>
              </a:extLst>
            </p:cNvPr>
            <p:cNvSpPr/>
            <p:nvPr/>
          </p:nvSpPr>
          <p:spPr>
            <a:xfrm>
              <a:off x="2569206"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55" name="楕円 54">
              <a:extLst>
                <a:ext uri="{FF2B5EF4-FFF2-40B4-BE49-F238E27FC236}">
                  <a16:creationId xmlns:a16="http://schemas.microsoft.com/office/drawing/2014/main" id="{2CF1438D-11FC-F28E-7289-B9C167FFCA74}"/>
                </a:ext>
              </a:extLst>
            </p:cNvPr>
            <p:cNvSpPr/>
            <p:nvPr/>
          </p:nvSpPr>
          <p:spPr>
            <a:xfrm>
              <a:off x="3418601"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grpSp>
      <p:grpSp>
        <p:nvGrpSpPr>
          <p:cNvPr id="57" name="グループ化 56">
            <a:extLst>
              <a:ext uri="{FF2B5EF4-FFF2-40B4-BE49-F238E27FC236}">
                <a16:creationId xmlns:a16="http://schemas.microsoft.com/office/drawing/2014/main" id="{E65EFB89-77E7-E6EB-F92A-C317F9D43565}"/>
              </a:ext>
            </a:extLst>
          </p:cNvPr>
          <p:cNvGrpSpPr/>
          <p:nvPr/>
        </p:nvGrpSpPr>
        <p:grpSpPr>
          <a:xfrm>
            <a:off x="335360" y="6601877"/>
            <a:ext cx="205152" cy="253032"/>
            <a:chOff x="1004572" y="4149080"/>
            <a:chExt cx="334117" cy="412098"/>
          </a:xfrm>
        </p:grpSpPr>
        <p:sp>
          <p:nvSpPr>
            <p:cNvPr id="58" name="二等辺三角形 57">
              <a:extLst>
                <a:ext uri="{FF2B5EF4-FFF2-40B4-BE49-F238E27FC236}">
                  <a16:creationId xmlns:a16="http://schemas.microsoft.com/office/drawing/2014/main" id="{BACF38FC-EE60-BD94-F166-784A2F8AB2F3}"/>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15241138-D5C8-C1E2-45DF-D057AD68E254}"/>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0" name="グループ化 59">
            <a:extLst>
              <a:ext uri="{FF2B5EF4-FFF2-40B4-BE49-F238E27FC236}">
                <a16:creationId xmlns:a16="http://schemas.microsoft.com/office/drawing/2014/main" id="{CC834757-F413-73B3-EB65-4A6E43F2AE08}"/>
              </a:ext>
            </a:extLst>
          </p:cNvPr>
          <p:cNvGrpSpPr/>
          <p:nvPr/>
        </p:nvGrpSpPr>
        <p:grpSpPr>
          <a:xfrm>
            <a:off x="722658" y="6601877"/>
            <a:ext cx="205152" cy="287202"/>
            <a:chOff x="1837225" y="4093431"/>
            <a:chExt cx="334117" cy="467747"/>
          </a:xfrm>
        </p:grpSpPr>
        <p:sp>
          <p:nvSpPr>
            <p:cNvPr id="61" name="二等辺三角形 60">
              <a:extLst>
                <a:ext uri="{FF2B5EF4-FFF2-40B4-BE49-F238E27FC236}">
                  <a16:creationId xmlns:a16="http://schemas.microsoft.com/office/drawing/2014/main" id="{EC5E81FC-82A4-989E-99CB-75619F765C97}"/>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楕円 61">
              <a:extLst>
                <a:ext uri="{FF2B5EF4-FFF2-40B4-BE49-F238E27FC236}">
                  <a16:creationId xmlns:a16="http://schemas.microsoft.com/office/drawing/2014/main" id="{60665EC8-FA11-93EB-5139-1F3C43D48085}"/>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フローチャート: 手作業 62">
              <a:extLst>
                <a:ext uri="{FF2B5EF4-FFF2-40B4-BE49-F238E27FC236}">
                  <a16:creationId xmlns:a16="http://schemas.microsoft.com/office/drawing/2014/main" id="{2D5B03A2-ADD4-2A9E-A0CE-ACD9BD7A261F}"/>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4" name="グループ化 63">
            <a:extLst>
              <a:ext uri="{FF2B5EF4-FFF2-40B4-BE49-F238E27FC236}">
                <a16:creationId xmlns:a16="http://schemas.microsoft.com/office/drawing/2014/main" id="{1F44FAAC-EC72-CBC2-A600-9F3AE7591A89}"/>
              </a:ext>
            </a:extLst>
          </p:cNvPr>
          <p:cNvGrpSpPr/>
          <p:nvPr/>
        </p:nvGrpSpPr>
        <p:grpSpPr>
          <a:xfrm>
            <a:off x="1109956" y="6601877"/>
            <a:ext cx="205152" cy="253032"/>
            <a:chOff x="446620" y="4149080"/>
            <a:chExt cx="334117" cy="412098"/>
          </a:xfrm>
        </p:grpSpPr>
        <p:sp>
          <p:nvSpPr>
            <p:cNvPr id="65" name="二等辺三角形 64">
              <a:extLst>
                <a:ext uri="{FF2B5EF4-FFF2-40B4-BE49-F238E27FC236}">
                  <a16:creationId xmlns:a16="http://schemas.microsoft.com/office/drawing/2014/main" id="{C082B5C6-31D9-EFA8-1818-78E8A73D7DF1}"/>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楕円 65">
              <a:extLst>
                <a:ext uri="{FF2B5EF4-FFF2-40B4-BE49-F238E27FC236}">
                  <a16:creationId xmlns:a16="http://schemas.microsoft.com/office/drawing/2014/main" id="{DFE9848C-6FCB-C123-6781-F7F31812AA81}"/>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7" name="グループ化 66">
            <a:extLst>
              <a:ext uri="{FF2B5EF4-FFF2-40B4-BE49-F238E27FC236}">
                <a16:creationId xmlns:a16="http://schemas.microsoft.com/office/drawing/2014/main" id="{8D31BE44-165B-9508-29BF-EC4099940564}"/>
              </a:ext>
            </a:extLst>
          </p:cNvPr>
          <p:cNvGrpSpPr/>
          <p:nvPr/>
        </p:nvGrpSpPr>
        <p:grpSpPr>
          <a:xfrm>
            <a:off x="1497254" y="6601877"/>
            <a:ext cx="221068" cy="253032"/>
            <a:chOff x="2495600" y="4149081"/>
            <a:chExt cx="360040" cy="412097"/>
          </a:xfrm>
        </p:grpSpPr>
        <p:sp>
          <p:nvSpPr>
            <p:cNvPr id="68" name="正方形/長方形 67">
              <a:extLst>
                <a:ext uri="{FF2B5EF4-FFF2-40B4-BE49-F238E27FC236}">
                  <a16:creationId xmlns:a16="http://schemas.microsoft.com/office/drawing/2014/main" id="{CDFF52E0-8825-669B-40A2-A99D0CD38B93}"/>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0C04825F-483D-22A8-7BDD-ABCCF5AAB78C}"/>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2" name="グループ化 101">
            <a:extLst>
              <a:ext uri="{FF2B5EF4-FFF2-40B4-BE49-F238E27FC236}">
                <a16:creationId xmlns:a16="http://schemas.microsoft.com/office/drawing/2014/main" id="{13CA4C06-72D1-ECB5-9E42-CA43D78D5D24}"/>
              </a:ext>
            </a:extLst>
          </p:cNvPr>
          <p:cNvGrpSpPr/>
          <p:nvPr/>
        </p:nvGrpSpPr>
        <p:grpSpPr>
          <a:xfrm>
            <a:off x="1868144" y="5566031"/>
            <a:ext cx="1598852" cy="1150121"/>
            <a:chOff x="93755" y="4123525"/>
            <a:chExt cx="3473115" cy="2498358"/>
          </a:xfrm>
        </p:grpSpPr>
        <p:cxnSp>
          <p:nvCxnSpPr>
            <p:cNvPr id="70" name="直線矢印コネクタ 69">
              <a:extLst>
                <a:ext uri="{FF2B5EF4-FFF2-40B4-BE49-F238E27FC236}">
                  <a16:creationId xmlns:a16="http://schemas.microsoft.com/office/drawing/2014/main" id="{E086660B-341F-59EA-0B37-F998F3CDDB6A}"/>
                </a:ext>
              </a:extLst>
            </p:cNvPr>
            <p:cNvCxnSpPr>
              <a:cxnSpLocks/>
            </p:cNvCxnSpPr>
            <p:nvPr/>
          </p:nvCxnSpPr>
          <p:spPr>
            <a:xfrm>
              <a:off x="119336"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55921E80-A132-E219-8D75-24540F4F50F9}"/>
                </a:ext>
              </a:extLst>
            </p:cNvPr>
            <p:cNvCxnSpPr>
              <a:cxnSpLocks/>
            </p:cNvCxnSpPr>
            <p:nvPr/>
          </p:nvCxnSpPr>
          <p:spPr>
            <a:xfrm flipV="1">
              <a:off x="358442"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44B6DBFA-723E-59DF-D803-0896EB43253D}"/>
                </a:ext>
              </a:extLst>
            </p:cNvPr>
            <p:cNvCxnSpPr>
              <a:cxnSpLocks/>
            </p:cNvCxnSpPr>
            <p:nvPr/>
          </p:nvCxnSpPr>
          <p:spPr>
            <a:xfrm flipV="1">
              <a:off x="440842"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D0B84143-A071-BB81-55C1-F4A4ACDDF97E}"/>
                </a:ext>
              </a:extLst>
            </p:cNvPr>
            <p:cNvCxnSpPr>
              <a:cxnSpLocks/>
            </p:cNvCxnSpPr>
            <p:nvPr/>
          </p:nvCxnSpPr>
          <p:spPr>
            <a:xfrm flipV="1">
              <a:off x="2137778"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AA3E5DC6-42EB-D950-A5BC-C5AB1689FCEF}"/>
                </a:ext>
              </a:extLst>
            </p:cNvPr>
            <p:cNvCxnSpPr>
              <a:cxnSpLocks/>
            </p:cNvCxnSpPr>
            <p:nvPr/>
          </p:nvCxnSpPr>
          <p:spPr>
            <a:xfrm>
              <a:off x="1677204"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F2477900-283E-D697-8E0C-C4F9ACB5BA60}"/>
                </a:ext>
              </a:extLst>
            </p:cNvPr>
            <p:cNvSpPr txBox="1"/>
            <p:nvPr/>
          </p:nvSpPr>
          <p:spPr>
            <a:xfrm>
              <a:off x="2228993" y="6020170"/>
              <a:ext cx="550875" cy="601713"/>
            </a:xfrm>
            <a:prstGeom prst="rect">
              <a:avLst/>
            </a:prstGeom>
            <a:noFill/>
          </p:spPr>
          <p:txBody>
            <a:bodyPr wrap="none" rtlCol="0">
              <a:spAutoFit/>
            </a:bodyPr>
            <a:lstStyle/>
            <a:p>
              <a:r>
                <a:rPr kumimoji="1" lang="en-US" altLang="ja-JP" sz="1200" i="1" dirty="0"/>
                <a:t>x</a:t>
              </a:r>
              <a:endParaRPr kumimoji="1" lang="ja-JP" altLang="en-US" sz="1200" i="1" dirty="0"/>
            </a:p>
          </p:txBody>
        </p:sp>
        <p:sp>
          <p:nvSpPr>
            <p:cNvPr id="76" name="テキスト ボックス 75">
              <a:extLst>
                <a:ext uri="{FF2B5EF4-FFF2-40B4-BE49-F238E27FC236}">
                  <a16:creationId xmlns:a16="http://schemas.microsoft.com/office/drawing/2014/main" id="{5936AD6E-F429-9B70-91B6-66173E1B52BF}"/>
                </a:ext>
              </a:extLst>
            </p:cNvPr>
            <p:cNvSpPr txBox="1"/>
            <p:nvPr/>
          </p:nvSpPr>
          <p:spPr>
            <a:xfrm>
              <a:off x="1851457" y="4754568"/>
              <a:ext cx="550875" cy="601713"/>
            </a:xfrm>
            <a:prstGeom prst="rect">
              <a:avLst/>
            </a:prstGeom>
            <a:noFill/>
          </p:spPr>
          <p:txBody>
            <a:bodyPr wrap="none" rtlCol="0">
              <a:spAutoFit/>
            </a:bodyPr>
            <a:lstStyle/>
            <a:p>
              <a:r>
                <a:rPr kumimoji="1" lang="en-US" altLang="ja-JP" sz="1200" i="1" dirty="0"/>
                <a:t>y</a:t>
              </a:r>
              <a:endParaRPr kumimoji="1" lang="ja-JP" altLang="en-US" sz="1200" i="1" dirty="0"/>
            </a:p>
          </p:txBody>
        </p:sp>
        <p:sp>
          <p:nvSpPr>
            <p:cNvPr id="77" name="テキスト ボックス 76">
              <a:extLst>
                <a:ext uri="{FF2B5EF4-FFF2-40B4-BE49-F238E27FC236}">
                  <a16:creationId xmlns:a16="http://schemas.microsoft.com/office/drawing/2014/main" id="{99F25F59-8AFD-0A83-9AAD-3AB1E27184A9}"/>
                </a:ext>
              </a:extLst>
            </p:cNvPr>
            <p:cNvSpPr txBox="1"/>
            <p:nvPr/>
          </p:nvSpPr>
          <p:spPr>
            <a:xfrm>
              <a:off x="93755" y="4123525"/>
              <a:ext cx="495161" cy="601713"/>
            </a:xfrm>
            <a:prstGeom prst="rect">
              <a:avLst/>
            </a:prstGeom>
            <a:noFill/>
          </p:spPr>
          <p:txBody>
            <a:bodyPr wrap="none" rtlCol="0">
              <a:spAutoFit/>
            </a:bodyPr>
            <a:lstStyle/>
            <a:p>
              <a:r>
                <a:rPr kumimoji="1" lang="en-US" altLang="ja-JP" sz="1200" i="1" dirty="0"/>
                <a:t>t</a:t>
              </a:r>
              <a:endParaRPr kumimoji="1" lang="ja-JP" altLang="en-US" sz="1200" i="1" dirty="0"/>
            </a:p>
          </p:txBody>
        </p:sp>
        <p:cxnSp>
          <p:nvCxnSpPr>
            <p:cNvPr id="78" name="直線矢印コネクタ 77">
              <a:extLst>
                <a:ext uri="{FF2B5EF4-FFF2-40B4-BE49-F238E27FC236}">
                  <a16:creationId xmlns:a16="http://schemas.microsoft.com/office/drawing/2014/main" id="{EBC7AF6C-5047-6ABA-BB21-0EA6CFCB7B15}"/>
                </a:ext>
              </a:extLst>
            </p:cNvPr>
            <p:cNvCxnSpPr>
              <a:cxnSpLocks/>
            </p:cNvCxnSpPr>
            <p:nvPr/>
          </p:nvCxnSpPr>
          <p:spPr>
            <a:xfrm flipV="1">
              <a:off x="1295152"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6CB7C7AE-52AB-5C00-1FBB-6B16EF55147E}"/>
                </a:ext>
              </a:extLst>
            </p:cNvPr>
            <p:cNvCxnSpPr>
              <a:cxnSpLocks/>
            </p:cNvCxnSpPr>
            <p:nvPr/>
          </p:nvCxnSpPr>
          <p:spPr>
            <a:xfrm>
              <a:off x="1076052"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楕円 79">
              <a:extLst>
                <a:ext uri="{FF2B5EF4-FFF2-40B4-BE49-F238E27FC236}">
                  <a16:creationId xmlns:a16="http://schemas.microsoft.com/office/drawing/2014/main" id="{D5A55465-A2F1-5E45-1B75-3314E5526DCC}"/>
                </a:ext>
              </a:extLst>
            </p:cNvPr>
            <p:cNvSpPr/>
            <p:nvPr/>
          </p:nvSpPr>
          <p:spPr>
            <a:xfrm>
              <a:off x="260822"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1" name="楕円 80">
              <a:extLst>
                <a:ext uri="{FF2B5EF4-FFF2-40B4-BE49-F238E27FC236}">
                  <a16:creationId xmlns:a16="http://schemas.microsoft.com/office/drawing/2014/main" id="{C1F8A2D9-80AE-D09F-672D-3FB45CFB1A04}"/>
                </a:ext>
              </a:extLst>
            </p:cNvPr>
            <p:cNvSpPr/>
            <p:nvPr/>
          </p:nvSpPr>
          <p:spPr>
            <a:xfrm>
              <a:off x="1110176"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2" name="楕円 81">
              <a:extLst>
                <a:ext uri="{FF2B5EF4-FFF2-40B4-BE49-F238E27FC236}">
                  <a16:creationId xmlns:a16="http://schemas.microsoft.com/office/drawing/2014/main" id="{B30A1361-1D17-3FAE-AD5A-1E56002EB5A0}"/>
                </a:ext>
              </a:extLst>
            </p:cNvPr>
            <p:cNvSpPr/>
            <p:nvPr/>
          </p:nvSpPr>
          <p:spPr>
            <a:xfrm>
              <a:off x="1959571"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3" name="楕円 82">
              <a:extLst>
                <a:ext uri="{FF2B5EF4-FFF2-40B4-BE49-F238E27FC236}">
                  <a16:creationId xmlns:a16="http://schemas.microsoft.com/office/drawing/2014/main" id="{E76BD52B-541E-11BF-141A-4BF7832E2445}"/>
                </a:ext>
              </a:extLst>
            </p:cNvPr>
            <p:cNvSpPr/>
            <p:nvPr/>
          </p:nvSpPr>
          <p:spPr>
            <a:xfrm>
              <a:off x="916431"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4" name="楕円 83">
              <a:extLst>
                <a:ext uri="{FF2B5EF4-FFF2-40B4-BE49-F238E27FC236}">
                  <a16:creationId xmlns:a16="http://schemas.microsoft.com/office/drawing/2014/main" id="{2E467CDA-724A-23BA-CA34-FF04D6BEE203}"/>
                </a:ext>
              </a:extLst>
            </p:cNvPr>
            <p:cNvSpPr/>
            <p:nvPr/>
          </p:nvSpPr>
          <p:spPr>
            <a:xfrm>
              <a:off x="1765785"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5" name="楕円 84">
              <a:extLst>
                <a:ext uri="{FF2B5EF4-FFF2-40B4-BE49-F238E27FC236}">
                  <a16:creationId xmlns:a16="http://schemas.microsoft.com/office/drawing/2014/main" id="{100A626E-0E30-5054-8A86-9379D7EE227D}"/>
                </a:ext>
              </a:extLst>
            </p:cNvPr>
            <p:cNvSpPr/>
            <p:nvPr/>
          </p:nvSpPr>
          <p:spPr>
            <a:xfrm>
              <a:off x="2615180"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6" name="楕円 85">
              <a:extLst>
                <a:ext uri="{FF2B5EF4-FFF2-40B4-BE49-F238E27FC236}">
                  <a16:creationId xmlns:a16="http://schemas.microsoft.com/office/drawing/2014/main" id="{EBF915CF-C95A-B24A-3CAB-0E70F9DE667A}"/>
                </a:ext>
              </a:extLst>
            </p:cNvPr>
            <p:cNvSpPr/>
            <p:nvPr/>
          </p:nvSpPr>
          <p:spPr>
            <a:xfrm>
              <a:off x="1508081"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7" name="楕円 86">
              <a:extLst>
                <a:ext uri="{FF2B5EF4-FFF2-40B4-BE49-F238E27FC236}">
                  <a16:creationId xmlns:a16="http://schemas.microsoft.com/office/drawing/2014/main" id="{4A120F00-20EB-BF2D-5806-F05BD5176EFB}"/>
                </a:ext>
              </a:extLst>
            </p:cNvPr>
            <p:cNvSpPr/>
            <p:nvPr/>
          </p:nvSpPr>
          <p:spPr>
            <a:xfrm>
              <a:off x="2357435"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88" name="楕円 87">
              <a:extLst>
                <a:ext uri="{FF2B5EF4-FFF2-40B4-BE49-F238E27FC236}">
                  <a16:creationId xmlns:a16="http://schemas.microsoft.com/office/drawing/2014/main" id="{DF58AEAF-DA83-525D-D76E-AF1D9C78225C}"/>
                </a:ext>
              </a:extLst>
            </p:cNvPr>
            <p:cNvSpPr/>
            <p:nvPr/>
          </p:nvSpPr>
          <p:spPr>
            <a:xfrm>
              <a:off x="3206830"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grpSp>
          <p:nvGrpSpPr>
            <p:cNvPr id="89" name="グループ化 88">
              <a:extLst>
                <a:ext uri="{FF2B5EF4-FFF2-40B4-BE49-F238E27FC236}">
                  <a16:creationId xmlns:a16="http://schemas.microsoft.com/office/drawing/2014/main" id="{16B2F4EE-2433-F5C4-CBB6-ACF8C9A379D0}"/>
                </a:ext>
              </a:extLst>
            </p:cNvPr>
            <p:cNvGrpSpPr/>
            <p:nvPr/>
          </p:nvGrpSpPr>
          <p:grpSpPr>
            <a:xfrm>
              <a:off x="2627672" y="5389560"/>
              <a:ext cx="334117" cy="412098"/>
              <a:chOff x="1004572" y="4149080"/>
              <a:chExt cx="334117" cy="412098"/>
            </a:xfrm>
          </p:grpSpPr>
          <p:sp>
            <p:nvSpPr>
              <p:cNvPr id="90" name="二等辺三角形 89">
                <a:extLst>
                  <a:ext uri="{FF2B5EF4-FFF2-40B4-BE49-F238E27FC236}">
                    <a16:creationId xmlns:a16="http://schemas.microsoft.com/office/drawing/2014/main" id="{8BC20C02-0876-04A5-B87C-3950D043B275}"/>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1" name="楕円 90">
                <a:extLst>
                  <a:ext uri="{FF2B5EF4-FFF2-40B4-BE49-F238E27FC236}">
                    <a16:creationId xmlns:a16="http://schemas.microsoft.com/office/drawing/2014/main" id="{55A686EC-6DF7-EE52-6EC6-72A8A4ADFCF1}"/>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92" name="グループ化 91">
              <a:extLst>
                <a:ext uri="{FF2B5EF4-FFF2-40B4-BE49-F238E27FC236}">
                  <a16:creationId xmlns:a16="http://schemas.microsoft.com/office/drawing/2014/main" id="{68D5DB16-A363-EF1C-7CB0-88F99B387E3A}"/>
                </a:ext>
              </a:extLst>
            </p:cNvPr>
            <p:cNvGrpSpPr/>
            <p:nvPr/>
          </p:nvGrpSpPr>
          <p:grpSpPr>
            <a:xfrm>
              <a:off x="1778640" y="5303047"/>
              <a:ext cx="334117" cy="467747"/>
              <a:chOff x="1837225" y="4093431"/>
              <a:chExt cx="334117" cy="467747"/>
            </a:xfrm>
          </p:grpSpPr>
          <p:sp>
            <p:nvSpPr>
              <p:cNvPr id="93" name="二等辺三角形 92">
                <a:extLst>
                  <a:ext uri="{FF2B5EF4-FFF2-40B4-BE49-F238E27FC236}">
                    <a16:creationId xmlns:a16="http://schemas.microsoft.com/office/drawing/2014/main" id="{DA2302E8-DE66-42CC-BFCB-537F09BF72F9}"/>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4" name="楕円 93">
                <a:extLst>
                  <a:ext uri="{FF2B5EF4-FFF2-40B4-BE49-F238E27FC236}">
                    <a16:creationId xmlns:a16="http://schemas.microsoft.com/office/drawing/2014/main" id="{C81A0372-18CE-EC34-99EB-8621A4FA8468}"/>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5" name="フローチャート: 手作業 94">
                <a:extLst>
                  <a:ext uri="{FF2B5EF4-FFF2-40B4-BE49-F238E27FC236}">
                    <a16:creationId xmlns:a16="http://schemas.microsoft.com/office/drawing/2014/main" id="{3B9633E9-FB7C-2B49-2DFE-540C63103E1C}"/>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96" name="グループ化 95">
              <a:extLst>
                <a:ext uri="{FF2B5EF4-FFF2-40B4-BE49-F238E27FC236}">
                  <a16:creationId xmlns:a16="http://schemas.microsoft.com/office/drawing/2014/main" id="{0DBC10DC-A230-531F-8042-0A3EFD6ED9A0}"/>
                </a:ext>
              </a:extLst>
            </p:cNvPr>
            <p:cNvGrpSpPr/>
            <p:nvPr/>
          </p:nvGrpSpPr>
          <p:grpSpPr>
            <a:xfrm>
              <a:off x="271856" y="5792737"/>
              <a:ext cx="334117" cy="412098"/>
              <a:chOff x="446620" y="4149080"/>
              <a:chExt cx="334117" cy="412098"/>
            </a:xfrm>
          </p:grpSpPr>
          <p:sp>
            <p:nvSpPr>
              <p:cNvPr id="97" name="二等辺三角形 96">
                <a:extLst>
                  <a:ext uri="{FF2B5EF4-FFF2-40B4-BE49-F238E27FC236}">
                    <a16:creationId xmlns:a16="http://schemas.microsoft.com/office/drawing/2014/main" id="{14742305-8846-203C-5987-40C1E3ED4EDC}"/>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98" name="楕円 97">
                <a:extLst>
                  <a:ext uri="{FF2B5EF4-FFF2-40B4-BE49-F238E27FC236}">
                    <a16:creationId xmlns:a16="http://schemas.microsoft.com/office/drawing/2014/main" id="{8B0D2FAA-339D-4673-2C8E-D7A7118F61C3}"/>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99" name="グループ化 98">
              <a:extLst>
                <a:ext uri="{FF2B5EF4-FFF2-40B4-BE49-F238E27FC236}">
                  <a16:creationId xmlns:a16="http://schemas.microsoft.com/office/drawing/2014/main" id="{7101A739-BAD4-B607-4135-38DBE4E374EA}"/>
                </a:ext>
              </a:extLst>
            </p:cNvPr>
            <p:cNvGrpSpPr/>
            <p:nvPr/>
          </p:nvGrpSpPr>
          <p:grpSpPr>
            <a:xfrm>
              <a:off x="1971524" y="5820291"/>
              <a:ext cx="360040" cy="412097"/>
              <a:chOff x="2495600" y="4149081"/>
              <a:chExt cx="360040" cy="412097"/>
            </a:xfrm>
          </p:grpSpPr>
          <p:sp>
            <p:nvSpPr>
              <p:cNvPr id="100" name="正方形/長方形 99">
                <a:extLst>
                  <a:ext uri="{FF2B5EF4-FFF2-40B4-BE49-F238E27FC236}">
                    <a16:creationId xmlns:a16="http://schemas.microsoft.com/office/drawing/2014/main" id="{7BD30AE7-DFCB-F941-840E-CD475DF0060C}"/>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101" name="正方形/長方形 100">
                <a:extLst>
                  <a:ext uri="{FF2B5EF4-FFF2-40B4-BE49-F238E27FC236}">
                    <a16:creationId xmlns:a16="http://schemas.microsoft.com/office/drawing/2014/main" id="{A6935F82-D48C-691B-E996-60BBFF541536}"/>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grpSp>
        <p:nvGrpSpPr>
          <p:cNvPr id="140" name="グループ化 139">
            <a:extLst>
              <a:ext uri="{FF2B5EF4-FFF2-40B4-BE49-F238E27FC236}">
                <a16:creationId xmlns:a16="http://schemas.microsoft.com/office/drawing/2014/main" id="{FA48E2AB-898B-D60E-481B-54F00F7EE0E3}"/>
              </a:ext>
            </a:extLst>
          </p:cNvPr>
          <p:cNvGrpSpPr/>
          <p:nvPr/>
        </p:nvGrpSpPr>
        <p:grpSpPr>
          <a:xfrm>
            <a:off x="3531061" y="5559681"/>
            <a:ext cx="1585338" cy="1208162"/>
            <a:chOff x="4230049" y="4123525"/>
            <a:chExt cx="3503787" cy="2670187"/>
          </a:xfrm>
        </p:grpSpPr>
        <p:cxnSp>
          <p:nvCxnSpPr>
            <p:cNvPr id="103" name="直線矢印コネクタ 102">
              <a:extLst>
                <a:ext uri="{FF2B5EF4-FFF2-40B4-BE49-F238E27FC236}">
                  <a16:creationId xmlns:a16="http://schemas.microsoft.com/office/drawing/2014/main" id="{419FB87B-F3B8-1748-5AEA-7A92E4896D1A}"/>
                </a:ext>
              </a:extLst>
            </p:cNvPr>
            <p:cNvCxnSpPr>
              <a:cxnSpLocks/>
            </p:cNvCxnSpPr>
            <p:nvPr/>
          </p:nvCxnSpPr>
          <p:spPr>
            <a:xfrm>
              <a:off x="4272263"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矢印コネクタ 103">
              <a:extLst>
                <a:ext uri="{FF2B5EF4-FFF2-40B4-BE49-F238E27FC236}">
                  <a16:creationId xmlns:a16="http://schemas.microsoft.com/office/drawing/2014/main" id="{F00EC033-49C1-5948-FFA9-015EA45C8D60}"/>
                </a:ext>
              </a:extLst>
            </p:cNvPr>
            <p:cNvCxnSpPr>
              <a:cxnSpLocks/>
            </p:cNvCxnSpPr>
            <p:nvPr/>
          </p:nvCxnSpPr>
          <p:spPr>
            <a:xfrm flipV="1">
              <a:off x="4511369"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直線矢印コネクタ 104">
              <a:extLst>
                <a:ext uri="{FF2B5EF4-FFF2-40B4-BE49-F238E27FC236}">
                  <a16:creationId xmlns:a16="http://schemas.microsoft.com/office/drawing/2014/main" id="{BC15EA27-CC36-492C-4B1D-746876CD58CD}"/>
                </a:ext>
              </a:extLst>
            </p:cNvPr>
            <p:cNvCxnSpPr>
              <a:cxnSpLocks/>
            </p:cNvCxnSpPr>
            <p:nvPr/>
          </p:nvCxnSpPr>
          <p:spPr>
            <a:xfrm flipV="1">
              <a:off x="4593769"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線矢印コネクタ 105">
              <a:extLst>
                <a:ext uri="{FF2B5EF4-FFF2-40B4-BE49-F238E27FC236}">
                  <a16:creationId xmlns:a16="http://schemas.microsoft.com/office/drawing/2014/main" id="{DA45ED59-DA7C-11B6-96A3-0CBFCFEF5646}"/>
                </a:ext>
              </a:extLst>
            </p:cNvPr>
            <p:cNvCxnSpPr>
              <a:cxnSpLocks/>
            </p:cNvCxnSpPr>
            <p:nvPr/>
          </p:nvCxnSpPr>
          <p:spPr>
            <a:xfrm flipV="1">
              <a:off x="6290705"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520AA09B-756E-998F-9DA6-85C075AE6140}"/>
                </a:ext>
              </a:extLst>
            </p:cNvPr>
            <p:cNvCxnSpPr>
              <a:cxnSpLocks/>
            </p:cNvCxnSpPr>
            <p:nvPr/>
          </p:nvCxnSpPr>
          <p:spPr>
            <a:xfrm>
              <a:off x="5830131"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テキスト ボックス 107">
              <a:extLst>
                <a:ext uri="{FF2B5EF4-FFF2-40B4-BE49-F238E27FC236}">
                  <a16:creationId xmlns:a16="http://schemas.microsoft.com/office/drawing/2014/main" id="{AF1DD7BC-92CE-0D2E-649D-12E9CE87B3EF}"/>
                </a:ext>
              </a:extLst>
            </p:cNvPr>
            <p:cNvSpPr txBox="1"/>
            <p:nvPr/>
          </p:nvSpPr>
          <p:spPr>
            <a:xfrm>
              <a:off x="6381919" y="6020169"/>
              <a:ext cx="471905" cy="374123"/>
            </a:xfrm>
            <a:prstGeom prst="rect">
              <a:avLst/>
            </a:prstGeom>
            <a:noFill/>
          </p:spPr>
          <p:txBody>
            <a:bodyPr wrap="none" rtlCol="0">
              <a:spAutoFit/>
            </a:bodyPr>
            <a:lstStyle/>
            <a:p>
              <a:r>
                <a:rPr kumimoji="1" lang="en-US" altLang="ja-JP" sz="500" i="1" dirty="0"/>
                <a:t>x</a:t>
              </a:r>
              <a:endParaRPr kumimoji="1" lang="ja-JP" altLang="en-US" sz="500" i="1" dirty="0"/>
            </a:p>
          </p:txBody>
        </p:sp>
        <p:sp>
          <p:nvSpPr>
            <p:cNvPr id="109" name="テキスト ボックス 108">
              <a:extLst>
                <a:ext uri="{FF2B5EF4-FFF2-40B4-BE49-F238E27FC236}">
                  <a16:creationId xmlns:a16="http://schemas.microsoft.com/office/drawing/2014/main" id="{E825C96D-6DD0-3E65-DDD0-7E71FE84D6DB}"/>
                </a:ext>
              </a:extLst>
            </p:cNvPr>
            <p:cNvSpPr txBox="1"/>
            <p:nvPr/>
          </p:nvSpPr>
          <p:spPr>
            <a:xfrm>
              <a:off x="6004384" y="4754566"/>
              <a:ext cx="471905" cy="374123"/>
            </a:xfrm>
            <a:prstGeom prst="rect">
              <a:avLst/>
            </a:prstGeom>
            <a:noFill/>
          </p:spPr>
          <p:txBody>
            <a:bodyPr wrap="none" rtlCol="0">
              <a:spAutoFit/>
            </a:bodyPr>
            <a:lstStyle/>
            <a:p>
              <a:r>
                <a:rPr kumimoji="1" lang="en-US" altLang="ja-JP" sz="500" i="1" dirty="0"/>
                <a:t>y</a:t>
              </a:r>
              <a:endParaRPr kumimoji="1" lang="ja-JP" altLang="en-US" sz="500" i="1" dirty="0"/>
            </a:p>
          </p:txBody>
        </p:sp>
        <p:sp>
          <p:nvSpPr>
            <p:cNvPr id="110" name="テキスト ボックス 109">
              <a:extLst>
                <a:ext uri="{FF2B5EF4-FFF2-40B4-BE49-F238E27FC236}">
                  <a16:creationId xmlns:a16="http://schemas.microsoft.com/office/drawing/2014/main" id="{7DCEABCA-1FB1-3642-7FC2-C00ECED539D3}"/>
                </a:ext>
              </a:extLst>
            </p:cNvPr>
            <p:cNvSpPr txBox="1"/>
            <p:nvPr/>
          </p:nvSpPr>
          <p:spPr>
            <a:xfrm>
              <a:off x="4246682" y="4123525"/>
              <a:ext cx="447105" cy="374123"/>
            </a:xfrm>
            <a:prstGeom prst="rect">
              <a:avLst/>
            </a:prstGeom>
            <a:noFill/>
          </p:spPr>
          <p:txBody>
            <a:bodyPr wrap="none" rtlCol="0">
              <a:spAutoFit/>
            </a:bodyPr>
            <a:lstStyle/>
            <a:p>
              <a:r>
                <a:rPr kumimoji="1" lang="en-US" altLang="ja-JP" sz="500" i="1" dirty="0"/>
                <a:t>t</a:t>
              </a:r>
              <a:endParaRPr kumimoji="1" lang="ja-JP" altLang="en-US" sz="500" i="1" dirty="0"/>
            </a:p>
          </p:txBody>
        </p:sp>
        <p:cxnSp>
          <p:nvCxnSpPr>
            <p:cNvPr id="111" name="直線矢印コネクタ 110">
              <a:extLst>
                <a:ext uri="{FF2B5EF4-FFF2-40B4-BE49-F238E27FC236}">
                  <a16:creationId xmlns:a16="http://schemas.microsoft.com/office/drawing/2014/main" id="{02E3EB9D-A30C-8262-A8C9-35E3746A9AAB}"/>
                </a:ext>
              </a:extLst>
            </p:cNvPr>
            <p:cNvCxnSpPr>
              <a:cxnSpLocks/>
            </p:cNvCxnSpPr>
            <p:nvPr/>
          </p:nvCxnSpPr>
          <p:spPr>
            <a:xfrm flipV="1">
              <a:off x="5448079"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直線矢印コネクタ 111">
              <a:extLst>
                <a:ext uri="{FF2B5EF4-FFF2-40B4-BE49-F238E27FC236}">
                  <a16:creationId xmlns:a16="http://schemas.microsoft.com/office/drawing/2014/main" id="{7DC89CCC-5049-5C51-C235-5EF216254AA7}"/>
                </a:ext>
              </a:extLst>
            </p:cNvPr>
            <p:cNvCxnSpPr>
              <a:cxnSpLocks/>
            </p:cNvCxnSpPr>
            <p:nvPr/>
          </p:nvCxnSpPr>
          <p:spPr>
            <a:xfrm>
              <a:off x="5228979"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楕円 112">
              <a:extLst>
                <a:ext uri="{FF2B5EF4-FFF2-40B4-BE49-F238E27FC236}">
                  <a16:creationId xmlns:a16="http://schemas.microsoft.com/office/drawing/2014/main" id="{4CD61081-4019-21F1-E02F-9C33920BCAF0}"/>
                </a:ext>
              </a:extLst>
            </p:cNvPr>
            <p:cNvSpPr/>
            <p:nvPr/>
          </p:nvSpPr>
          <p:spPr>
            <a:xfrm>
              <a:off x="4413749"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4" name="楕円 113">
              <a:extLst>
                <a:ext uri="{FF2B5EF4-FFF2-40B4-BE49-F238E27FC236}">
                  <a16:creationId xmlns:a16="http://schemas.microsoft.com/office/drawing/2014/main" id="{74777DD9-923E-0BE5-A096-C0C54A54A5E3}"/>
                </a:ext>
              </a:extLst>
            </p:cNvPr>
            <p:cNvSpPr/>
            <p:nvPr/>
          </p:nvSpPr>
          <p:spPr>
            <a:xfrm>
              <a:off x="5263103"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5" name="楕円 114">
              <a:extLst>
                <a:ext uri="{FF2B5EF4-FFF2-40B4-BE49-F238E27FC236}">
                  <a16:creationId xmlns:a16="http://schemas.microsoft.com/office/drawing/2014/main" id="{2FCB9269-78B3-4D46-61C0-33F9C091BEC5}"/>
                </a:ext>
              </a:extLst>
            </p:cNvPr>
            <p:cNvSpPr/>
            <p:nvPr/>
          </p:nvSpPr>
          <p:spPr>
            <a:xfrm>
              <a:off x="6112498"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6" name="楕円 115">
              <a:extLst>
                <a:ext uri="{FF2B5EF4-FFF2-40B4-BE49-F238E27FC236}">
                  <a16:creationId xmlns:a16="http://schemas.microsoft.com/office/drawing/2014/main" id="{697AAA67-4F47-A470-ABF3-238608494C84}"/>
                </a:ext>
              </a:extLst>
            </p:cNvPr>
            <p:cNvSpPr/>
            <p:nvPr/>
          </p:nvSpPr>
          <p:spPr>
            <a:xfrm>
              <a:off x="5069358"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7" name="楕円 116">
              <a:extLst>
                <a:ext uri="{FF2B5EF4-FFF2-40B4-BE49-F238E27FC236}">
                  <a16:creationId xmlns:a16="http://schemas.microsoft.com/office/drawing/2014/main" id="{A44247F3-28F7-9CEC-767A-121925E374DC}"/>
                </a:ext>
              </a:extLst>
            </p:cNvPr>
            <p:cNvSpPr/>
            <p:nvPr/>
          </p:nvSpPr>
          <p:spPr>
            <a:xfrm>
              <a:off x="5918712"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8" name="楕円 117">
              <a:extLst>
                <a:ext uri="{FF2B5EF4-FFF2-40B4-BE49-F238E27FC236}">
                  <a16:creationId xmlns:a16="http://schemas.microsoft.com/office/drawing/2014/main" id="{A898A69D-FA5C-7F19-65C2-9A5C8D559A71}"/>
                </a:ext>
              </a:extLst>
            </p:cNvPr>
            <p:cNvSpPr/>
            <p:nvPr/>
          </p:nvSpPr>
          <p:spPr>
            <a:xfrm>
              <a:off x="6768107"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19" name="楕円 118">
              <a:extLst>
                <a:ext uri="{FF2B5EF4-FFF2-40B4-BE49-F238E27FC236}">
                  <a16:creationId xmlns:a16="http://schemas.microsoft.com/office/drawing/2014/main" id="{22EAB546-3A68-CEAF-452F-CF0A2EB5833E}"/>
                </a:ext>
              </a:extLst>
            </p:cNvPr>
            <p:cNvSpPr/>
            <p:nvPr/>
          </p:nvSpPr>
          <p:spPr>
            <a:xfrm>
              <a:off x="5661008"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20" name="楕円 119">
              <a:extLst>
                <a:ext uri="{FF2B5EF4-FFF2-40B4-BE49-F238E27FC236}">
                  <a16:creationId xmlns:a16="http://schemas.microsoft.com/office/drawing/2014/main" id="{3B5529D2-FACA-C398-F844-4FA9115DBF1C}"/>
                </a:ext>
              </a:extLst>
            </p:cNvPr>
            <p:cNvSpPr/>
            <p:nvPr/>
          </p:nvSpPr>
          <p:spPr>
            <a:xfrm>
              <a:off x="6510362"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sp>
          <p:nvSpPr>
            <p:cNvPr id="121" name="楕円 120">
              <a:extLst>
                <a:ext uri="{FF2B5EF4-FFF2-40B4-BE49-F238E27FC236}">
                  <a16:creationId xmlns:a16="http://schemas.microsoft.com/office/drawing/2014/main" id="{EDEBB434-3695-D0CB-7477-BB19055F5A93}"/>
                </a:ext>
              </a:extLst>
            </p:cNvPr>
            <p:cNvSpPr/>
            <p:nvPr/>
          </p:nvSpPr>
          <p:spPr>
            <a:xfrm>
              <a:off x="7359757"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500"/>
            </a:p>
          </p:txBody>
        </p:sp>
        <p:grpSp>
          <p:nvGrpSpPr>
            <p:cNvPr id="122" name="グループ化 121">
              <a:extLst>
                <a:ext uri="{FF2B5EF4-FFF2-40B4-BE49-F238E27FC236}">
                  <a16:creationId xmlns:a16="http://schemas.microsoft.com/office/drawing/2014/main" id="{9AF394CB-D33F-684A-B051-25E99338780A}"/>
                </a:ext>
              </a:extLst>
            </p:cNvPr>
            <p:cNvGrpSpPr/>
            <p:nvPr/>
          </p:nvGrpSpPr>
          <p:grpSpPr>
            <a:xfrm>
              <a:off x="6780599" y="5389560"/>
              <a:ext cx="334117" cy="412098"/>
              <a:chOff x="1004572" y="4149080"/>
              <a:chExt cx="334117" cy="412098"/>
            </a:xfrm>
          </p:grpSpPr>
          <p:sp>
            <p:nvSpPr>
              <p:cNvPr id="123" name="二等辺三角形 122">
                <a:extLst>
                  <a:ext uri="{FF2B5EF4-FFF2-40B4-BE49-F238E27FC236}">
                    <a16:creationId xmlns:a16="http://schemas.microsoft.com/office/drawing/2014/main" id="{2707E5FB-C702-5EF1-B2E7-D5283D1A851E}"/>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sp>
            <p:nvSpPr>
              <p:cNvPr id="124" name="楕円 123">
                <a:extLst>
                  <a:ext uri="{FF2B5EF4-FFF2-40B4-BE49-F238E27FC236}">
                    <a16:creationId xmlns:a16="http://schemas.microsoft.com/office/drawing/2014/main" id="{2EFD9E6A-A103-800A-4105-014A7C1BD196}"/>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grpSp>
        <p:grpSp>
          <p:nvGrpSpPr>
            <p:cNvPr id="125" name="グループ化 124">
              <a:extLst>
                <a:ext uri="{FF2B5EF4-FFF2-40B4-BE49-F238E27FC236}">
                  <a16:creationId xmlns:a16="http://schemas.microsoft.com/office/drawing/2014/main" id="{8B9C3CF5-6839-A563-4553-C0994E249094}"/>
                </a:ext>
              </a:extLst>
            </p:cNvPr>
            <p:cNvGrpSpPr/>
            <p:nvPr/>
          </p:nvGrpSpPr>
          <p:grpSpPr>
            <a:xfrm>
              <a:off x="5931567" y="5303047"/>
              <a:ext cx="334117" cy="467747"/>
              <a:chOff x="1837225" y="4093431"/>
              <a:chExt cx="334117" cy="467747"/>
            </a:xfrm>
          </p:grpSpPr>
          <p:sp>
            <p:nvSpPr>
              <p:cNvPr id="126" name="二等辺三角形 125">
                <a:extLst>
                  <a:ext uri="{FF2B5EF4-FFF2-40B4-BE49-F238E27FC236}">
                    <a16:creationId xmlns:a16="http://schemas.microsoft.com/office/drawing/2014/main" id="{AD629F1B-8A68-832E-D4DF-C6829C1406CF}"/>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sp>
            <p:nvSpPr>
              <p:cNvPr id="127" name="楕円 126">
                <a:extLst>
                  <a:ext uri="{FF2B5EF4-FFF2-40B4-BE49-F238E27FC236}">
                    <a16:creationId xmlns:a16="http://schemas.microsoft.com/office/drawing/2014/main" id="{A2689D05-BF4E-6A83-216E-C8BAC546DA9D}"/>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sp>
            <p:nvSpPr>
              <p:cNvPr id="128" name="フローチャート: 手作業 127">
                <a:extLst>
                  <a:ext uri="{FF2B5EF4-FFF2-40B4-BE49-F238E27FC236}">
                    <a16:creationId xmlns:a16="http://schemas.microsoft.com/office/drawing/2014/main" id="{33A0594D-E429-8FE7-63CD-1BEF74CEFD62}"/>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grpSp>
        <p:grpSp>
          <p:nvGrpSpPr>
            <p:cNvPr id="129" name="グループ化 128">
              <a:extLst>
                <a:ext uri="{FF2B5EF4-FFF2-40B4-BE49-F238E27FC236}">
                  <a16:creationId xmlns:a16="http://schemas.microsoft.com/office/drawing/2014/main" id="{3F271406-6416-6590-C4AE-7866E6281C34}"/>
                </a:ext>
              </a:extLst>
            </p:cNvPr>
            <p:cNvGrpSpPr/>
            <p:nvPr/>
          </p:nvGrpSpPr>
          <p:grpSpPr>
            <a:xfrm>
              <a:off x="4424783" y="5792737"/>
              <a:ext cx="334117" cy="412098"/>
              <a:chOff x="446620" y="4149080"/>
              <a:chExt cx="334117" cy="412098"/>
            </a:xfrm>
          </p:grpSpPr>
          <p:sp>
            <p:nvSpPr>
              <p:cNvPr id="130" name="二等辺三角形 129">
                <a:extLst>
                  <a:ext uri="{FF2B5EF4-FFF2-40B4-BE49-F238E27FC236}">
                    <a16:creationId xmlns:a16="http://schemas.microsoft.com/office/drawing/2014/main" id="{A4BA6FFD-031E-74D5-7385-0ABDB3F3AE17}"/>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sp>
            <p:nvSpPr>
              <p:cNvPr id="131" name="楕円 130">
                <a:extLst>
                  <a:ext uri="{FF2B5EF4-FFF2-40B4-BE49-F238E27FC236}">
                    <a16:creationId xmlns:a16="http://schemas.microsoft.com/office/drawing/2014/main" id="{0AC81495-9EEA-D156-6A7E-C9CB1D076FB8}"/>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grpSp>
        <p:grpSp>
          <p:nvGrpSpPr>
            <p:cNvPr id="132" name="グループ化 131">
              <a:extLst>
                <a:ext uri="{FF2B5EF4-FFF2-40B4-BE49-F238E27FC236}">
                  <a16:creationId xmlns:a16="http://schemas.microsoft.com/office/drawing/2014/main" id="{411C3B77-1F40-89C0-F67F-1386A3D05EAB}"/>
                </a:ext>
              </a:extLst>
            </p:cNvPr>
            <p:cNvGrpSpPr/>
            <p:nvPr/>
          </p:nvGrpSpPr>
          <p:grpSpPr>
            <a:xfrm>
              <a:off x="6124451" y="5820291"/>
              <a:ext cx="360040" cy="412097"/>
              <a:chOff x="2495600" y="4149081"/>
              <a:chExt cx="360040" cy="412097"/>
            </a:xfrm>
          </p:grpSpPr>
          <p:sp>
            <p:nvSpPr>
              <p:cNvPr id="133" name="正方形/長方形 132">
                <a:extLst>
                  <a:ext uri="{FF2B5EF4-FFF2-40B4-BE49-F238E27FC236}">
                    <a16:creationId xmlns:a16="http://schemas.microsoft.com/office/drawing/2014/main" id="{B8D3FF2C-B135-E2F7-2F70-10FBD4F00D2E}"/>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sp>
            <p:nvSpPr>
              <p:cNvPr id="134" name="正方形/長方形 133">
                <a:extLst>
                  <a:ext uri="{FF2B5EF4-FFF2-40B4-BE49-F238E27FC236}">
                    <a16:creationId xmlns:a16="http://schemas.microsoft.com/office/drawing/2014/main" id="{EABC352B-9D64-E443-05D6-DE7C0C727177}"/>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500"/>
              </a:p>
            </p:txBody>
          </p:sp>
        </p:grpSp>
        <p:sp>
          <p:nvSpPr>
            <p:cNvPr id="135" name="吹き出し: 四角形 134">
              <a:extLst>
                <a:ext uri="{FF2B5EF4-FFF2-40B4-BE49-F238E27FC236}">
                  <a16:creationId xmlns:a16="http://schemas.microsoft.com/office/drawing/2014/main" id="{3CA8A60B-A0D9-5037-13CC-C790B082DD96}"/>
                </a:ext>
              </a:extLst>
            </p:cNvPr>
            <p:cNvSpPr/>
            <p:nvPr/>
          </p:nvSpPr>
          <p:spPr>
            <a:xfrm>
              <a:off x="6046072" y="4757488"/>
              <a:ext cx="1656184" cy="369332"/>
            </a:xfrm>
            <a:prstGeom prst="wedgeRectCallout">
              <a:avLst>
                <a:gd name="adj1" fmla="val -45080"/>
                <a:gd name="adj2" fmla="val 9963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00" dirty="0"/>
                <a:t>見守り</a:t>
              </a:r>
              <a:r>
                <a:rPr lang="en-US" altLang="ja-JP" sz="500" dirty="0"/>
                <a:t>&amp;</a:t>
              </a:r>
              <a:r>
                <a:rPr lang="ja-JP" altLang="en-US" sz="500" dirty="0"/>
                <a:t>記録</a:t>
              </a:r>
              <a:endParaRPr kumimoji="1" lang="ja-JP" altLang="en-US" sz="500" dirty="0"/>
            </a:p>
          </p:txBody>
        </p:sp>
        <p:cxnSp>
          <p:nvCxnSpPr>
            <p:cNvPr id="136" name="直線矢印コネクタ 135">
              <a:extLst>
                <a:ext uri="{FF2B5EF4-FFF2-40B4-BE49-F238E27FC236}">
                  <a16:creationId xmlns:a16="http://schemas.microsoft.com/office/drawing/2014/main" id="{E45E3F4C-3F8E-029B-3B97-C6AAA870CD6F}"/>
                </a:ext>
              </a:extLst>
            </p:cNvPr>
            <p:cNvCxnSpPr>
              <a:cxnSpLocks/>
            </p:cNvCxnSpPr>
            <p:nvPr/>
          </p:nvCxnSpPr>
          <p:spPr>
            <a:xfrm>
              <a:off x="6248718" y="5514652"/>
              <a:ext cx="5193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37" name="吹き出し: 四角形 136">
              <a:extLst>
                <a:ext uri="{FF2B5EF4-FFF2-40B4-BE49-F238E27FC236}">
                  <a16:creationId xmlns:a16="http://schemas.microsoft.com/office/drawing/2014/main" id="{53C835DB-B6F2-F6F6-EA48-B4330F7D33DC}"/>
                </a:ext>
              </a:extLst>
            </p:cNvPr>
            <p:cNvSpPr/>
            <p:nvPr/>
          </p:nvSpPr>
          <p:spPr>
            <a:xfrm>
              <a:off x="6785230" y="5854002"/>
              <a:ext cx="948606" cy="369332"/>
            </a:xfrm>
            <a:prstGeom prst="wedgeRectCallout">
              <a:avLst>
                <a:gd name="adj1" fmla="val -34038"/>
                <a:gd name="adj2" fmla="val -9017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sz="500" dirty="0"/>
                <a:t>TV</a:t>
              </a:r>
              <a:r>
                <a:rPr lang="ja-JP" altLang="en-US" sz="500" dirty="0"/>
                <a:t>視聴</a:t>
              </a:r>
              <a:endParaRPr kumimoji="1" lang="ja-JP" altLang="en-US" sz="500" dirty="0"/>
            </a:p>
          </p:txBody>
        </p:sp>
        <p:sp>
          <p:nvSpPr>
            <p:cNvPr id="138" name="吹き出し: 四角形 137">
              <a:extLst>
                <a:ext uri="{FF2B5EF4-FFF2-40B4-BE49-F238E27FC236}">
                  <a16:creationId xmlns:a16="http://schemas.microsoft.com/office/drawing/2014/main" id="{0330D550-FAD1-C4DC-44A6-FE264A9B5A6B}"/>
                </a:ext>
              </a:extLst>
            </p:cNvPr>
            <p:cNvSpPr/>
            <p:nvPr/>
          </p:nvSpPr>
          <p:spPr>
            <a:xfrm>
              <a:off x="4230049" y="6424380"/>
              <a:ext cx="948606" cy="369332"/>
            </a:xfrm>
            <a:prstGeom prst="wedgeRectCallout">
              <a:avLst>
                <a:gd name="adj1" fmla="val -17437"/>
                <a:gd name="adj2" fmla="val -956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00" dirty="0"/>
                <a:t>歩行</a:t>
              </a:r>
              <a:endParaRPr kumimoji="1" lang="ja-JP" altLang="en-US" sz="500" dirty="0"/>
            </a:p>
          </p:txBody>
        </p:sp>
        <p:sp>
          <p:nvSpPr>
            <p:cNvPr id="139" name="吹き出し: 四角形 138">
              <a:extLst>
                <a:ext uri="{FF2B5EF4-FFF2-40B4-BE49-F238E27FC236}">
                  <a16:creationId xmlns:a16="http://schemas.microsoft.com/office/drawing/2014/main" id="{4AE0B97D-A122-3B37-C599-31A8D580A5ED}"/>
                </a:ext>
              </a:extLst>
            </p:cNvPr>
            <p:cNvSpPr/>
            <p:nvPr/>
          </p:nvSpPr>
          <p:spPr>
            <a:xfrm>
              <a:off x="5996680" y="6424380"/>
              <a:ext cx="948606" cy="369332"/>
            </a:xfrm>
            <a:prstGeom prst="wedgeRectCallout">
              <a:avLst>
                <a:gd name="adj1" fmla="val -17437"/>
                <a:gd name="adj2" fmla="val -956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500" dirty="0"/>
                <a:t>待機</a:t>
              </a:r>
              <a:endParaRPr kumimoji="1" lang="ja-JP" altLang="en-US" sz="500" dirty="0"/>
            </a:p>
          </p:txBody>
        </p:sp>
      </p:grpSp>
      <p:grpSp>
        <p:nvGrpSpPr>
          <p:cNvPr id="178" name="グループ化 177">
            <a:extLst>
              <a:ext uri="{FF2B5EF4-FFF2-40B4-BE49-F238E27FC236}">
                <a16:creationId xmlns:a16="http://schemas.microsoft.com/office/drawing/2014/main" id="{B13424C6-B2C0-1F49-63F4-A50A56F72CC2}"/>
              </a:ext>
            </a:extLst>
          </p:cNvPr>
          <p:cNvGrpSpPr/>
          <p:nvPr/>
        </p:nvGrpSpPr>
        <p:grpSpPr>
          <a:xfrm>
            <a:off x="5093189" y="5512836"/>
            <a:ext cx="1692001" cy="1242598"/>
            <a:chOff x="8601954" y="4123525"/>
            <a:chExt cx="3473115" cy="2550638"/>
          </a:xfrm>
        </p:grpSpPr>
        <p:cxnSp>
          <p:nvCxnSpPr>
            <p:cNvPr id="141" name="直線矢印コネクタ 140">
              <a:extLst>
                <a:ext uri="{FF2B5EF4-FFF2-40B4-BE49-F238E27FC236}">
                  <a16:creationId xmlns:a16="http://schemas.microsoft.com/office/drawing/2014/main" id="{DB1BAE25-B658-95AA-160E-422B8A7C2493}"/>
                </a:ext>
              </a:extLst>
            </p:cNvPr>
            <p:cNvCxnSpPr>
              <a:cxnSpLocks/>
            </p:cNvCxnSpPr>
            <p:nvPr/>
          </p:nvCxnSpPr>
          <p:spPr>
            <a:xfrm>
              <a:off x="8627535"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線矢印コネクタ 141">
              <a:extLst>
                <a:ext uri="{FF2B5EF4-FFF2-40B4-BE49-F238E27FC236}">
                  <a16:creationId xmlns:a16="http://schemas.microsoft.com/office/drawing/2014/main" id="{904EA5B4-CD8E-7204-AE92-01BBB9B5590A}"/>
                </a:ext>
              </a:extLst>
            </p:cNvPr>
            <p:cNvCxnSpPr>
              <a:cxnSpLocks/>
            </p:cNvCxnSpPr>
            <p:nvPr/>
          </p:nvCxnSpPr>
          <p:spPr>
            <a:xfrm flipV="1">
              <a:off x="8866641"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線矢印コネクタ 142">
              <a:extLst>
                <a:ext uri="{FF2B5EF4-FFF2-40B4-BE49-F238E27FC236}">
                  <a16:creationId xmlns:a16="http://schemas.microsoft.com/office/drawing/2014/main" id="{E026DBCE-536E-B0EA-E6F0-C8149C461479}"/>
                </a:ext>
              </a:extLst>
            </p:cNvPr>
            <p:cNvCxnSpPr>
              <a:cxnSpLocks/>
            </p:cNvCxnSpPr>
            <p:nvPr/>
          </p:nvCxnSpPr>
          <p:spPr>
            <a:xfrm flipV="1">
              <a:off x="8949041"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線矢印コネクタ 143">
              <a:extLst>
                <a:ext uri="{FF2B5EF4-FFF2-40B4-BE49-F238E27FC236}">
                  <a16:creationId xmlns:a16="http://schemas.microsoft.com/office/drawing/2014/main" id="{70373F1C-052E-D8CF-9A85-4DFEA3D8A441}"/>
                </a:ext>
              </a:extLst>
            </p:cNvPr>
            <p:cNvCxnSpPr>
              <a:cxnSpLocks/>
            </p:cNvCxnSpPr>
            <p:nvPr/>
          </p:nvCxnSpPr>
          <p:spPr>
            <a:xfrm flipV="1">
              <a:off x="10645977"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2C9BDDBF-3B5F-38D6-9529-77AA6F61D495}"/>
                </a:ext>
              </a:extLst>
            </p:cNvPr>
            <p:cNvCxnSpPr>
              <a:cxnSpLocks/>
            </p:cNvCxnSpPr>
            <p:nvPr/>
          </p:nvCxnSpPr>
          <p:spPr>
            <a:xfrm>
              <a:off x="10185403"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6" name="テキスト ボックス 145">
              <a:extLst>
                <a:ext uri="{FF2B5EF4-FFF2-40B4-BE49-F238E27FC236}">
                  <a16:creationId xmlns:a16="http://schemas.microsoft.com/office/drawing/2014/main" id="{96E4BFF6-2A6F-34D1-4822-DBDC03DED417}"/>
                </a:ext>
              </a:extLst>
            </p:cNvPr>
            <p:cNvSpPr txBox="1"/>
            <p:nvPr/>
          </p:nvSpPr>
          <p:spPr>
            <a:xfrm>
              <a:off x="10737191" y="6020169"/>
              <a:ext cx="461320" cy="410646"/>
            </a:xfrm>
            <a:prstGeom prst="rect">
              <a:avLst/>
            </a:prstGeom>
            <a:noFill/>
          </p:spPr>
          <p:txBody>
            <a:bodyPr wrap="none" rtlCol="0">
              <a:spAutoFit/>
            </a:bodyPr>
            <a:lstStyle/>
            <a:p>
              <a:r>
                <a:rPr kumimoji="1" lang="en-US" altLang="ja-JP" sz="700" i="1" dirty="0"/>
                <a:t>x</a:t>
              </a:r>
              <a:endParaRPr kumimoji="1" lang="ja-JP" altLang="en-US" sz="700" i="1" dirty="0"/>
            </a:p>
          </p:txBody>
        </p:sp>
        <p:sp>
          <p:nvSpPr>
            <p:cNvPr id="147" name="テキスト ボックス 146">
              <a:extLst>
                <a:ext uri="{FF2B5EF4-FFF2-40B4-BE49-F238E27FC236}">
                  <a16:creationId xmlns:a16="http://schemas.microsoft.com/office/drawing/2014/main" id="{C97C2FDE-02C2-81DF-1154-3F07FFB8F96D}"/>
                </a:ext>
              </a:extLst>
            </p:cNvPr>
            <p:cNvSpPr txBox="1"/>
            <p:nvPr/>
          </p:nvSpPr>
          <p:spPr>
            <a:xfrm>
              <a:off x="10359657" y="4754568"/>
              <a:ext cx="461320" cy="410646"/>
            </a:xfrm>
            <a:prstGeom prst="rect">
              <a:avLst/>
            </a:prstGeom>
            <a:noFill/>
          </p:spPr>
          <p:txBody>
            <a:bodyPr wrap="none" rtlCol="0">
              <a:spAutoFit/>
            </a:bodyPr>
            <a:lstStyle/>
            <a:p>
              <a:r>
                <a:rPr kumimoji="1" lang="en-US" altLang="ja-JP" sz="700" i="1" dirty="0"/>
                <a:t>y</a:t>
              </a:r>
              <a:endParaRPr kumimoji="1" lang="ja-JP" altLang="en-US" sz="700" i="1" dirty="0"/>
            </a:p>
          </p:txBody>
        </p:sp>
        <p:sp>
          <p:nvSpPr>
            <p:cNvPr id="148" name="テキスト ボックス 147">
              <a:extLst>
                <a:ext uri="{FF2B5EF4-FFF2-40B4-BE49-F238E27FC236}">
                  <a16:creationId xmlns:a16="http://schemas.microsoft.com/office/drawing/2014/main" id="{3D5EAB92-9F66-D905-5D13-0F8DEAB181AD}"/>
                </a:ext>
              </a:extLst>
            </p:cNvPr>
            <p:cNvSpPr txBox="1"/>
            <p:nvPr/>
          </p:nvSpPr>
          <p:spPr>
            <a:xfrm>
              <a:off x="8601954" y="4123525"/>
              <a:ext cx="431705" cy="410646"/>
            </a:xfrm>
            <a:prstGeom prst="rect">
              <a:avLst/>
            </a:prstGeom>
            <a:noFill/>
          </p:spPr>
          <p:txBody>
            <a:bodyPr wrap="none" rtlCol="0">
              <a:spAutoFit/>
            </a:bodyPr>
            <a:lstStyle/>
            <a:p>
              <a:r>
                <a:rPr kumimoji="1" lang="en-US" altLang="ja-JP" sz="700" i="1" dirty="0"/>
                <a:t>t</a:t>
              </a:r>
              <a:endParaRPr kumimoji="1" lang="ja-JP" altLang="en-US" sz="700" i="1" dirty="0"/>
            </a:p>
          </p:txBody>
        </p:sp>
        <p:cxnSp>
          <p:nvCxnSpPr>
            <p:cNvPr id="149" name="直線矢印コネクタ 148">
              <a:extLst>
                <a:ext uri="{FF2B5EF4-FFF2-40B4-BE49-F238E27FC236}">
                  <a16:creationId xmlns:a16="http://schemas.microsoft.com/office/drawing/2014/main" id="{A9F3A32A-8A27-5A33-22A2-1347020187D2}"/>
                </a:ext>
              </a:extLst>
            </p:cNvPr>
            <p:cNvCxnSpPr>
              <a:cxnSpLocks/>
            </p:cNvCxnSpPr>
            <p:nvPr/>
          </p:nvCxnSpPr>
          <p:spPr>
            <a:xfrm flipV="1">
              <a:off x="9803351"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線矢印コネクタ 149">
              <a:extLst>
                <a:ext uri="{FF2B5EF4-FFF2-40B4-BE49-F238E27FC236}">
                  <a16:creationId xmlns:a16="http://schemas.microsoft.com/office/drawing/2014/main" id="{3C23B6C0-A819-F426-2D3E-30DABFCFB0A9}"/>
                </a:ext>
              </a:extLst>
            </p:cNvPr>
            <p:cNvCxnSpPr>
              <a:cxnSpLocks/>
            </p:cNvCxnSpPr>
            <p:nvPr/>
          </p:nvCxnSpPr>
          <p:spPr>
            <a:xfrm>
              <a:off x="9584251"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楕円 150">
              <a:extLst>
                <a:ext uri="{FF2B5EF4-FFF2-40B4-BE49-F238E27FC236}">
                  <a16:creationId xmlns:a16="http://schemas.microsoft.com/office/drawing/2014/main" id="{DA473B0F-07B5-BBCD-05E7-9F7C77BF12E6}"/>
                </a:ext>
              </a:extLst>
            </p:cNvPr>
            <p:cNvSpPr/>
            <p:nvPr/>
          </p:nvSpPr>
          <p:spPr>
            <a:xfrm>
              <a:off x="8769021"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2" name="楕円 151">
              <a:extLst>
                <a:ext uri="{FF2B5EF4-FFF2-40B4-BE49-F238E27FC236}">
                  <a16:creationId xmlns:a16="http://schemas.microsoft.com/office/drawing/2014/main" id="{53263B8E-8FA9-6893-B004-BE34DDA093A0}"/>
                </a:ext>
              </a:extLst>
            </p:cNvPr>
            <p:cNvSpPr/>
            <p:nvPr/>
          </p:nvSpPr>
          <p:spPr>
            <a:xfrm>
              <a:off x="9618375"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3" name="楕円 152">
              <a:extLst>
                <a:ext uri="{FF2B5EF4-FFF2-40B4-BE49-F238E27FC236}">
                  <a16:creationId xmlns:a16="http://schemas.microsoft.com/office/drawing/2014/main" id="{8E5E6379-AFAD-0F52-1C1E-D41BB90F0B00}"/>
                </a:ext>
              </a:extLst>
            </p:cNvPr>
            <p:cNvSpPr/>
            <p:nvPr/>
          </p:nvSpPr>
          <p:spPr>
            <a:xfrm>
              <a:off x="10467770"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4" name="楕円 153">
              <a:extLst>
                <a:ext uri="{FF2B5EF4-FFF2-40B4-BE49-F238E27FC236}">
                  <a16:creationId xmlns:a16="http://schemas.microsoft.com/office/drawing/2014/main" id="{7BC9F5F0-A564-82CB-45EF-CD17F8B72B0D}"/>
                </a:ext>
              </a:extLst>
            </p:cNvPr>
            <p:cNvSpPr/>
            <p:nvPr/>
          </p:nvSpPr>
          <p:spPr>
            <a:xfrm>
              <a:off x="9424630"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5" name="楕円 154">
              <a:extLst>
                <a:ext uri="{FF2B5EF4-FFF2-40B4-BE49-F238E27FC236}">
                  <a16:creationId xmlns:a16="http://schemas.microsoft.com/office/drawing/2014/main" id="{0937CEE4-1373-C9EA-7190-488294F4E7A9}"/>
                </a:ext>
              </a:extLst>
            </p:cNvPr>
            <p:cNvSpPr/>
            <p:nvPr/>
          </p:nvSpPr>
          <p:spPr>
            <a:xfrm>
              <a:off x="10273984"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6" name="楕円 155">
              <a:extLst>
                <a:ext uri="{FF2B5EF4-FFF2-40B4-BE49-F238E27FC236}">
                  <a16:creationId xmlns:a16="http://schemas.microsoft.com/office/drawing/2014/main" id="{37C00286-9A1E-F54A-69D6-759C7EBEF597}"/>
                </a:ext>
              </a:extLst>
            </p:cNvPr>
            <p:cNvSpPr/>
            <p:nvPr/>
          </p:nvSpPr>
          <p:spPr>
            <a:xfrm>
              <a:off x="11123379"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7" name="楕円 156">
              <a:extLst>
                <a:ext uri="{FF2B5EF4-FFF2-40B4-BE49-F238E27FC236}">
                  <a16:creationId xmlns:a16="http://schemas.microsoft.com/office/drawing/2014/main" id="{2D5B4BA8-1E60-63C1-1FED-42C6DA49027A}"/>
                </a:ext>
              </a:extLst>
            </p:cNvPr>
            <p:cNvSpPr/>
            <p:nvPr/>
          </p:nvSpPr>
          <p:spPr>
            <a:xfrm>
              <a:off x="10016280"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8" name="楕円 157">
              <a:extLst>
                <a:ext uri="{FF2B5EF4-FFF2-40B4-BE49-F238E27FC236}">
                  <a16:creationId xmlns:a16="http://schemas.microsoft.com/office/drawing/2014/main" id="{575C3DDE-B8C7-B4E3-F9F0-4970F24CF89D}"/>
                </a:ext>
              </a:extLst>
            </p:cNvPr>
            <p:cNvSpPr/>
            <p:nvPr/>
          </p:nvSpPr>
          <p:spPr>
            <a:xfrm>
              <a:off x="10865634"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sp>
          <p:nvSpPr>
            <p:cNvPr id="159" name="楕円 158">
              <a:extLst>
                <a:ext uri="{FF2B5EF4-FFF2-40B4-BE49-F238E27FC236}">
                  <a16:creationId xmlns:a16="http://schemas.microsoft.com/office/drawing/2014/main" id="{AFB84277-A6F9-7F4D-4FC4-C6A5D5067BE3}"/>
                </a:ext>
              </a:extLst>
            </p:cNvPr>
            <p:cNvSpPr/>
            <p:nvPr/>
          </p:nvSpPr>
          <p:spPr>
            <a:xfrm>
              <a:off x="11715029"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700"/>
            </a:p>
          </p:txBody>
        </p:sp>
        <p:grpSp>
          <p:nvGrpSpPr>
            <p:cNvPr id="160" name="グループ化 159">
              <a:extLst>
                <a:ext uri="{FF2B5EF4-FFF2-40B4-BE49-F238E27FC236}">
                  <a16:creationId xmlns:a16="http://schemas.microsoft.com/office/drawing/2014/main" id="{111DE302-7636-A414-A758-94267DF513BD}"/>
                </a:ext>
              </a:extLst>
            </p:cNvPr>
            <p:cNvGrpSpPr/>
            <p:nvPr/>
          </p:nvGrpSpPr>
          <p:grpSpPr>
            <a:xfrm>
              <a:off x="11135871" y="5389560"/>
              <a:ext cx="334117" cy="412098"/>
              <a:chOff x="1004572" y="4149080"/>
              <a:chExt cx="334117" cy="412098"/>
            </a:xfrm>
          </p:grpSpPr>
          <p:sp>
            <p:nvSpPr>
              <p:cNvPr id="161" name="二等辺三角形 160">
                <a:extLst>
                  <a:ext uri="{FF2B5EF4-FFF2-40B4-BE49-F238E27FC236}">
                    <a16:creationId xmlns:a16="http://schemas.microsoft.com/office/drawing/2014/main" id="{692CE264-8BC9-B84A-948E-E626EE4DAF1C}"/>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sp>
            <p:nvSpPr>
              <p:cNvPr id="162" name="楕円 161">
                <a:extLst>
                  <a:ext uri="{FF2B5EF4-FFF2-40B4-BE49-F238E27FC236}">
                    <a16:creationId xmlns:a16="http://schemas.microsoft.com/office/drawing/2014/main" id="{6FC418F5-6232-0962-1D11-EEFED8CCDDBF}"/>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grpSp>
        <p:grpSp>
          <p:nvGrpSpPr>
            <p:cNvPr id="163" name="グループ化 162">
              <a:extLst>
                <a:ext uri="{FF2B5EF4-FFF2-40B4-BE49-F238E27FC236}">
                  <a16:creationId xmlns:a16="http://schemas.microsoft.com/office/drawing/2014/main" id="{E3A14CE0-F752-EB91-D1E4-2D3B194FEE45}"/>
                </a:ext>
              </a:extLst>
            </p:cNvPr>
            <p:cNvGrpSpPr/>
            <p:nvPr/>
          </p:nvGrpSpPr>
          <p:grpSpPr>
            <a:xfrm>
              <a:off x="10286839" y="5303047"/>
              <a:ext cx="334117" cy="467747"/>
              <a:chOff x="1837225" y="4093431"/>
              <a:chExt cx="334117" cy="467747"/>
            </a:xfrm>
          </p:grpSpPr>
          <p:sp>
            <p:nvSpPr>
              <p:cNvPr id="164" name="二等辺三角形 163">
                <a:extLst>
                  <a:ext uri="{FF2B5EF4-FFF2-40B4-BE49-F238E27FC236}">
                    <a16:creationId xmlns:a16="http://schemas.microsoft.com/office/drawing/2014/main" id="{D3EC0C58-143B-FF81-8955-1B7290C79CFF}"/>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sp>
            <p:nvSpPr>
              <p:cNvPr id="165" name="楕円 164">
                <a:extLst>
                  <a:ext uri="{FF2B5EF4-FFF2-40B4-BE49-F238E27FC236}">
                    <a16:creationId xmlns:a16="http://schemas.microsoft.com/office/drawing/2014/main" id="{931E8992-8CDB-D1D8-FB76-CE0BF8A4A5B3}"/>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sp>
            <p:nvSpPr>
              <p:cNvPr id="166" name="フローチャート: 手作業 165">
                <a:extLst>
                  <a:ext uri="{FF2B5EF4-FFF2-40B4-BE49-F238E27FC236}">
                    <a16:creationId xmlns:a16="http://schemas.microsoft.com/office/drawing/2014/main" id="{92B7498F-0AC7-AE4F-B396-C96CDE81D4C5}"/>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grpSp>
        <p:grpSp>
          <p:nvGrpSpPr>
            <p:cNvPr id="167" name="グループ化 166">
              <a:extLst>
                <a:ext uri="{FF2B5EF4-FFF2-40B4-BE49-F238E27FC236}">
                  <a16:creationId xmlns:a16="http://schemas.microsoft.com/office/drawing/2014/main" id="{A889C830-7A98-157F-E407-528FB4263040}"/>
                </a:ext>
              </a:extLst>
            </p:cNvPr>
            <p:cNvGrpSpPr/>
            <p:nvPr/>
          </p:nvGrpSpPr>
          <p:grpSpPr>
            <a:xfrm>
              <a:off x="8780055" y="5792737"/>
              <a:ext cx="334117" cy="412098"/>
              <a:chOff x="446620" y="4149080"/>
              <a:chExt cx="334117" cy="412098"/>
            </a:xfrm>
          </p:grpSpPr>
          <p:sp>
            <p:nvSpPr>
              <p:cNvPr id="168" name="二等辺三角形 167">
                <a:extLst>
                  <a:ext uri="{FF2B5EF4-FFF2-40B4-BE49-F238E27FC236}">
                    <a16:creationId xmlns:a16="http://schemas.microsoft.com/office/drawing/2014/main" id="{5FFD9A76-956A-75DA-704C-321E5495F35F}"/>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sp>
            <p:nvSpPr>
              <p:cNvPr id="169" name="楕円 168">
                <a:extLst>
                  <a:ext uri="{FF2B5EF4-FFF2-40B4-BE49-F238E27FC236}">
                    <a16:creationId xmlns:a16="http://schemas.microsoft.com/office/drawing/2014/main" id="{FCF6EA0A-CC2C-2261-7B5A-964BCD61C8D5}"/>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grpSp>
        <p:grpSp>
          <p:nvGrpSpPr>
            <p:cNvPr id="170" name="グループ化 169">
              <a:extLst>
                <a:ext uri="{FF2B5EF4-FFF2-40B4-BE49-F238E27FC236}">
                  <a16:creationId xmlns:a16="http://schemas.microsoft.com/office/drawing/2014/main" id="{A09EE0F5-35C3-47A1-6FC9-B10F2B01C365}"/>
                </a:ext>
              </a:extLst>
            </p:cNvPr>
            <p:cNvGrpSpPr/>
            <p:nvPr/>
          </p:nvGrpSpPr>
          <p:grpSpPr>
            <a:xfrm>
              <a:off x="10479723" y="5820291"/>
              <a:ext cx="360040" cy="412097"/>
              <a:chOff x="2495600" y="4149081"/>
              <a:chExt cx="360040" cy="412097"/>
            </a:xfrm>
          </p:grpSpPr>
          <p:sp>
            <p:nvSpPr>
              <p:cNvPr id="171" name="正方形/長方形 170">
                <a:extLst>
                  <a:ext uri="{FF2B5EF4-FFF2-40B4-BE49-F238E27FC236}">
                    <a16:creationId xmlns:a16="http://schemas.microsoft.com/office/drawing/2014/main" id="{03E2C608-86B4-602B-87C0-66AFBEA63A0A}"/>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sp>
            <p:nvSpPr>
              <p:cNvPr id="172" name="正方形/長方形 171">
                <a:extLst>
                  <a:ext uri="{FF2B5EF4-FFF2-40B4-BE49-F238E27FC236}">
                    <a16:creationId xmlns:a16="http://schemas.microsoft.com/office/drawing/2014/main" id="{3E09BD08-24C4-DDF7-52A2-81D0011B6429}"/>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700"/>
              </a:p>
            </p:txBody>
          </p:sp>
        </p:grpSp>
        <p:pic>
          <p:nvPicPr>
            <p:cNvPr id="173" name="グラフィックス 172" descr="人工知能 単色塗りつぶし">
              <a:extLst>
                <a:ext uri="{FF2B5EF4-FFF2-40B4-BE49-F238E27FC236}">
                  <a16:creationId xmlns:a16="http://schemas.microsoft.com/office/drawing/2014/main" id="{780D643E-5656-58F5-D17F-F6661893E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75396" y="5929477"/>
              <a:ext cx="486970" cy="486970"/>
            </a:xfrm>
            <a:prstGeom prst="rect">
              <a:avLst/>
            </a:prstGeom>
          </p:spPr>
        </p:pic>
        <p:cxnSp>
          <p:nvCxnSpPr>
            <p:cNvPr id="174" name="直線矢印コネクタ 173">
              <a:extLst>
                <a:ext uri="{FF2B5EF4-FFF2-40B4-BE49-F238E27FC236}">
                  <a16:creationId xmlns:a16="http://schemas.microsoft.com/office/drawing/2014/main" id="{216C1576-834D-54D2-F08D-BE8E5BD3E01C}"/>
                </a:ext>
              </a:extLst>
            </p:cNvPr>
            <p:cNvCxnSpPr>
              <a:cxnSpLocks/>
              <a:stCxn id="173" idx="1"/>
              <a:endCxn id="171" idx="3"/>
            </p:cNvCxnSpPr>
            <p:nvPr/>
          </p:nvCxnSpPr>
          <p:spPr>
            <a:xfrm flipH="1" flipV="1">
              <a:off x="10839763" y="5905755"/>
              <a:ext cx="635633" cy="26720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矢印コネクタ 174">
              <a:extLst>
                <a:ext uri="{FF2B5EF4-FFF2-40B4-BE49-F238E27FC236}">
                  <a16:creationId xmlns:a16="http://schemas.microsoft.com/office/drawing/2014/main" id="{8A279848-0E4B-7747-197F-B8D8C8BE5FCE}"/>
                </a:ext>
              </a:extLst>
            </p:cNvPr>
            <p:cNvCxnSpPr>
              <a:cxnSpLocks/>
              <a:endCxn id="165" idx="5"/>
            </p:cNvCxnSpPr>
            <p:nvPr/>
          </p:nvCxnSpPr>
          <p:spPr>
            <a:xfrm flipH="1" flipV="1">
              <a:off x="10536058" y="5557047"/>
              <a:ext cx="960542" cy="46312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6" name="吹き出し: 四角形 175">
              <a:extLst>
                <a:ext uri="{FF2B5EF4-FFF2-40B4-BE49-F238E27FC236}">
                  <a16:creationId xmlns:a16="http://schemas.microsoft.com/office/drawing/2014/main" id="{8C8E7691-3F21-66EE-5904-1D5032095AAC}"/>
                </a:ext>
              </a:extLst>
            </p:cNvPr>
            <p:cNvSpPr/>
            <p:nvPr/>
          </p:nvSpPr>
          <p:spPr>
            <a:xfrm>
              <a:off x="9678153" y="4472763"/>
              <a:ext cx="2238131" cy="290397"/>
            </a:xfrm>
            <a:prstGeom prst="wedgeRectCallout">
              <a:avLst>
                <a:gd name="adj1" fmla="val 4063"/>
                <a:gd name="adj2" fmla="val 31473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sz="700" dirty="0"/>
                <a:t>a)</a:t>
              </a:r>
              <a:r>
                <a:rPr lang="ja-JP" altLang="en-US" sz="700" dirty="0"/>
                <a:t> </a:t>
              </a:r>
              <a:r>
                <a:rPr lang="en-US" altLang="ja-JP" sz="700" dirty="0"/>
                <a:t>A</a:t>
              </a:r>
              <a:r>
                <a:rPr lang="ja-JP" altLang="en-US" sz="700" dirty="0"/>
                <a:t>さん見てきて</a:t>
              </a:r>
              <a:endParaRPr kumimoji="1" lang="ja-JP" altLang="en-US" sz="700" dirty="0"/>
            </a:p>
          </p:txBody>
        </p:sp>
        <p:sp>
          <p:nvSpPr>
            <p:cNvPr id="177" name="吹き出し: 四角形 176">
              <a:extLst>
                <a:ext uri="{FF2B5EF4-FFF2-40B4-BE49-F238E27FC236}">
                  <a16:creationId xmlns:a16="http://schemas.microsoft.com/office/drawing/2014/main" id="{9399621C-4823-94DB-2E4B-43F381A524E5}"/>
                </a:ext>
              </a:extLst>
            </p:cNvPr>
            <p:cNvSpPr/>
            <p:nvPr/>
          </p:nvSpPr>
          <p:spPr>
            <a:xfrm>
              <a:off x="9302507" y="6383769"/>
              <a:ext cx="2238132" cy="290394"/>
            </a:xfrm>
            <a:prstGeom prst="wedgeRectCallout">
              <a:avLst>
                <a:gd name="adj1" fmla="val 43951"/>
                <a:gd name="adj2" fmla="val -11691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sz="700" dirty="0"/>
                <a:t>b)</a:t>
              </a:r>
              <a:r>
                <a:rPr lang="ja-JP" altLang="en-US" sz="700" dirty="0"/>
                <a:t> </a:t>
              </a:r>
              <a:r>
                <a:rPr lang="en-US" altLang="ja-JP" sz="700" dirty="0"/>
                <a:t>A</a:t>
              </a:r>
              <a:r>
                <a:rPr lang="ja-JP" altLang="en-US" sz="700" dirty="0"/>
                <a:t>さん見てきて</a:t>
              </a:r>
              <a:endParaRPr kumimoji="1" lang="ja-JP" altLang="en-US" sz="700" dirty="0"/>
            </a:p>
          </p:txBody>
        </p:sp>
      </p:grpSp>
      <p:grpSp>
        <p:nvGrpSpPr>
          <p:cNvPr id="369" name="グループ化 368">
            <a:extLst>
              <a:ext uri="{FF2B5EF4-FFF2-40B4-BE49-F238E27FC236}">
                <a16:creationId xmlns:a16="http://schemas.microsoft.com/office/drawing/2014/main" id="{2FA46D77-5C13-33C3-16CB-B4BF8E172A4F}"/>
              </a:ext>
            </a:extLst>
          </p:cNvPr>
          <p:cNvGrpSpPr/>
          <p:nvPr/>
        </p:nvGrpSpPr>
        <p:grpSpPr>
          <a:xfrm>
            <a:off x="6937858" y="5548461"/>
            <a:ext cx="1469264" cy="1265954"/>
            <a:chOff x="708353" y="635975"/>
            <a:chExt cx="3473115" cy="2992522"/>
          </a:xfrm>
        </p:grpSpPr>
        <p:cxnSp>
          <p:nvCxnSpPr>
            <p:cNvPr id="306" name="直線矢印コネクタ 305">
              <a:extLst>
                <a:ext uri="{FF2B5EF4-FFF2-40B4-BE49-F238E27FC236}">
                  <a16:creationId xmlns:a16="http://schemas.microsoft.com/office/drawing/2014/main" id="{EE8207E7-4861-2569-8A7E-A7F6864F2C34}"/>
                </a:ext>
              </a:extLst>
            </p:cNvPr>
            <p:cNvCxnSpPr>
              <a:cxnSpLocks/>
            </p:cNvCxnSpPr>
            <p:nvPr/>
          </p:nvCxnSpPr>
          <p:spPr>
            <a:xfrm flipV="1">
              <a:off x="1082667" y="100822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7" name="直線矢印コネクタ 306">
              <a:extLst>
                <a:ext uri="{FF2B5EF4-FFF2-40B4-BE49-F238E27FC236}">
                  <a16:creationId xmlns:a16="http://schemas.microsoft.com/office/drawing/2014/main" id="{122AFA95-53F4-4E8E-6380-C018A7BAC742}"/>
                </a:ext>
              </a:extLst>
            </p:cNvPr>
            <p:cNvCxnSpPr>
              <a:cxnSpLocks/>
            </p:cNvCxnSpPr>
            <p:nvPr/>
          </p:nvCxnSpPr>
          <p:spPr>
            <a:xfrm>
              <a:off x="1057163" y="1820907"/>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8" name="直線矢印コネクタ 307">
              <a:extLst>
                <a:ext uri="{FF2B5EF4-FFF2-40B4-BE49-F238E27FC236}">
                  <a16:creationId xmlns:a16="http://schemas.microsoft.com/office/drawing/2014/main" id="{F5689660-DD75-A34D-3477-429437E76A33}"/>
                </a:ext>
              </a:extLst>
            </p:cNvPr>
            <p:cNvCxnSpPr>
              <a:cxnSpLocks/>
            </p:cNvCxnSpPr>
            <p:nvPr/>
          </p:nvCxnSpPr>
          <p:spPr>
            <a:xfrm>
              <a:off x="733934" y="324224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直線矢印コネクタ 308">
              <a:extLst>
                <a:ext uri="{FF2B5EF4-FFF2-40B4-BE49-F238E27FC236}">
                  <a16:creationId xmlns:a16="http://schemas.microsoft.com/office/drawing/2014/main" id="{F882E371-2FDE-D13E-4498-04EB24EDC384}"/>
                </a:ext>
              </a:extLst>
            </p:cNvPr>
            <p:cNvCxnSpPr>
              <a:cxnSpLocks/>
            </p:cNvCxnSpPr>
            <p:nvPr/>
          </p:nvCxnSpPr>
          <p:spPr>
            <a:xfrm flipV="1">
              <a:off x="973040" y="226071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 name="直線矢印コネクタ 309">
              <a:extLst>
                <a:ext uri="{FF2B5EF4-FFF2-40B4-BE49-F238E27FC236}">
                  <a16:creationId xmlns:a16="http://schemas.microsoft.com/office/drawing/2014/main" id="{670C5473-5753-A8AB-7F59-71FE840FA9C3}"/>
                </a:ext>
              </a:extLst>
            </p:cNvPr>
            <p:cNvCxnSpPr>
              <a:cxnSpLocks/>
            </p:cNvCxnSpPr>
            <p:nvPr/>
          </p:nvCxnSpPr>
          <p:spPr>
            <a:xfrm flipV="1">
              <a:off x="1055440" y="663159"/>
              <a:ext cx="0" cy="2793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11D0B23B-B023-0F19-5E63-B38AAA3D2986}"/>
                </a:ext>
              </a:extLst>
            </p:cNvPr>
            <p:cNvCxnSpPr>
              <a:cxnSpLocks/>
            </p:cNvCxnSpPr>
            <p:nvPr/>
          </p:nvCxnSpPr>
          <p:spPr>
            <a:xfrm flipV="1">
              <a:off x="2752376" y="2439209"/>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2" name="直線矢印コネクタ 311">
              <a:extLst>
                <a:ext uri="{FF2B5EF4-FFF2-40B4-BE49-F238E27FC236}">
                  <a16:creationId xmlns:a16="http://schemas.microsoft.com/office/drawing/2014/main" id="{B1B473F2-FF87-4045-BE1F-422607E7CC80}"/>
                </a:ext>
              </a:extLst>
            </p:cNvPr>
            <p:cNvCxnSpPr>
              <a:cxnSpLocks/>
            </p:cNvCxnSpPr>
            <p:nvPr/>
          </p:nvCxnSpPr>
          <p:spPr>
            <a:xfrm>
              <a:off x="2291802" y="2439209"/>
              <a:ext cx="166818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3" name="テキスト ボックス 312">
              <a:extLst>
                <a:ext uri="{FF2B5EF4-FFF2-40B4-BE49-F238E27FC236}">
                  <a16:creationId xmlns:a16="http://schemas.microsoft.com/office/drawing/2014/main" id="{C1290A48-5C45-FB7F-5B6B-AC9F2086FC95}"/>
                </a:ext>
              </a:extLst>
            </p:cNvPr>
            <p:cNvSpPr txBox="1"/>
            <p:nvPr/>
          </p:nvSpPr>
          <p:spPr>
            <a:xfrm>
              <a:off x="2466055" y="1570196"/>
              <a:ext cx="599462" cy="654783"/>
            </a:xfrm>
            <a:prstGeom prst="rect">
              <a:avLst/>
            </a:prstGeom>
            <a:noFill/>
          </p:spPr>
          <p:txBody>
            <a:bodyPr wrap="none" rtlCol="0">
              <a:spAutoFit/>
            </a:bodyPr>
            <a:lstStyle/>
            <a:p>
              <a:r>
                <a:rPr kumimoji="1" lang="en-US" altLang="ja-JP" sz="1200" i="1" dirty="0"/>
                <a:t>y</a:t>
              </a:r>
              <a:endParaRPr kumimoji="1" lang="ja-JP" altLang="en-US" sz="1200" i="1" dirty="0"/>
            </a:p>
          </p:txBody>
        </p:sp>
        <p:sp>
          <p:nvSpPr>
            <p:cNvPr id="314" name="テキスト ボックス 313">
              <a:extLst>
                <a:ext uri="{FF2B5EF4-FFF2-40B4-BE49-F238E27FC236}">
                  <a16:creationId xmlns:a16="http://schemas.microsoft.com/office/drawing/2014/main" id="{F1F5B223-4AAC-4D58-7C31-570D79CF3D99}"/>
                </a:ext>
              </a:extLst>
            </p:cNvPr>
            <p:cNvSpPr txBox="1"/>
            <p:nvPr/>
          </p:nvSpPr>
          <p:spPr>
            <a:xfrm>
              <a:off x="708353" y="635975"/>
              <a:ext cx="538834" cy="654783"/>
            </a:xfrm>
            <a:prstGeom prst="rect">
              <a:avLst/>
            </a:prstGeom>
            <a:noFill/>
          </p:spPr>
          <p:txBody>
            <a:bodyPr wrap="none" rtlCol="0">
              <a:spAutoFit/>
            </a:bodyPr>
            <a:lstStyle/>
            <a:p>
              <a:r>
                <a:rPr kumimoji="1" lang="en-US" altLang="ja-JP" sz="1200" i="1" dirty="0"/>
                <a:t>t</a:t>
              </a:r>
              <a:endParaRPr kumimoji="1" lang="ja-JP" altLang="en-US" sz="1200" i="1" dirty="0"/>
            </a:p>
          </p:txBody>
        </p:sp>
        <p:cxnSp>
          <p:nvCxnSpPr>
            <p:cNvPr id="315" name="直線矢印コネクタ 314">
              <a:extLst>
                <a:ext uri="{FF2B5EF4-FFF2-40B4-BE49-F238E27FC236}">
                  <a16:creationId xmlns:a16="http://schemas.microsoft.com/office/drawing/2014/main" id="{C32BC8A8-E140-BBB7-D3BB-5D7283052BBF}"/>
                </a:ext>
              </a:extLst>
            </p:cNvPr>
            <p:cNvCxnSpPr>
              <a:cxnSpLocks/>
            </p:cNvCxnSpPr>
            <p:nvPr/>
          </p:nvCxnSpPr>
          <p:spPr>
            <a:xfrm flipV="1">
              <a:off x="1909750" y="2442131"/>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6" name="直線矢印コネクタ 315">
              <a:extLst>
                <a:ext uri="{FF2B5EF4-FFF2-40B4-BE49-F238E27FC236}">
                  <a16:creationId xmlns:a16="http://schemas.microsoft.com/office/drawing/2014/main" id="{69A85A1A-86CA-9C20-0498-7FC1EBD24AEB}"/>
                </a:ext>
              </a:extLst>
            </p:cNvPr>
            <p:cNvCxnSpPr>
              <a:cxnSpLocks/>
            </p:cNvCxnSpPr>
            <p:nvPr/>
          </p:nvCxnSpPr>
          <p:spPr>
            <a:xfrm>
              <a:off x="1690650" y="2826379"/>
              <a:ext cx="166781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7" name="楕円 316">
              <a:extLst>
                <a:ext uri="{FF2B5EF4-FFF2-40B4-BE49-F238E27FC236}">
                  <a16:creationId xmlns:a16="http://schemas.microsoft.com/office/drawing/2014/main" id="{5D9B2A97-DA0B-F931-D955-AD3ED42EAEA9}"/>
                </a:ext>
              </a:extLst>
            </p:cNvPr>
            <p:cNvSpPr/>
            <p:nvPr/>
          </p:nvSpPr>
          <p:spPr>
            <a:xfrm>
              <a:off x="875420"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18" name="楕円 317">
              <a:extLst>
                <a:ext uri="{FF2B5EF4-FFF2-40B4-BE49-F238E27FC236}">
                  <a16:creationId xmlns:a16="http://schemas.microsoft.com/office/drawing/2014/main" id="{1FD89884-3717-7F83-B18B-17657A29B784}"/>
                </a:ext>
              </a:extLst>
            </p:cNvPr>
            <p:cNvSpPr/>
            <p:nvPr/>
          </p:nvSpPr>
          <p:spPr>
            <a:xfrm>
              <a:off x="1724774"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19" name="楕円 318">
              <a:extLst>
                <a:ext uri="{FF2B5EF4-FFF2-40B4-BE49-F238E27FC236}">
                  <a16:creationId xmlns:a16="http://schemas.microsoft.com/office/drawing/2014/main" id="{505141E0-75A9-0C00-DF2A-5CE368BF518D}"/>
                </a:ext>
              </a:extLst>
            </p:cNvPr>
            <p:cNvSpPr/>
            <p:nvPr/>
          </p:nvSpPr>
          <p:spPr>
            <a:xfrm>
              <a:off x="2574169"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0" name="楕円 319">
              <a:extLst>
                <a:ext uri="{FF2B5EF4-FFF2-40B4-BE49-F238E27FC236}">
                  <a16:creationId xmlns:a16="http://schemas.microsoft.com/office/drawing/2014/main" id="{65CFF3FA-F55D-81E2-AA3C-85B7DC6A67E2}"/>
                </a:ext>
              </a:extLst>
            </p:cNvPr>
            <p:cNvSpPr/>
            <p:nvPr/>
          </p:nvSpPr>
          <p:spPr>
            <a:xfrm>
              <a:off x="1531029"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1" name="楕円 320">
              <a:extLst>
                <a:ext uri="{FF2B5EF4-FFF2-40B4-BE49-F238E27FC236}">
                  <a16:creationId xmlns:a16="http://schemas.microsoft.com/office/drawing/2014/main" id="{27041619-E992-66C7-F3B9-34D755676786}"/>
                </a:ext>
              </a:extLst>
            </p:cNvPr>
            <p:cNvSpPr/>
            <p:nvPr/>
          </p:nvSpPr>
          <p:spPr>
            <a:xfrm>
              <a:off x="2380383"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2" name="楕円 321">
              <a:extLst>
                <a:ext uri="{FF2B5EF4-FFF2-40B4-BE49-F238E27FC236}">
                  <a16:creationId xmlns:a16="http://schemas.microsoft.com/office/drawing/2014/main" id="{08ADECD9-8226-E3CC-8C6F-26A40E2F4645}"/>
                </a:ext>
              </a:extLst>
            </p:cNvPr>
            <p:cNvSpPr/>
            <p:nvPr/>
          </p:nvSpPr>
          <p:spPr>
            <a:xfrm>
              <a:off x="3229778"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3" name="楕円 322">
              <a:extLst>
                <a:ext uri="{FF2B5EF4-FFF2-40B4-BE49-F238E27FC236}">
                  <a16:creationId xmlns:a16="http://schemas.microsoft.com/office/drawing/2014/main" id="{81B59569-8C1E-308A-BE85-228AD30A1BB3}"/>
                </a:ext>
              </a:extLst>
            </p:cNvPr>
            <p:cNvSpPr/>
            <p:nvPr/>
          </p:nvSpPr>
          <p:spPr>
            <a:xfrm>
              <a:off x="2122679"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4" name="楕円 323">
              <a:extLst>
                <a:ext uri="{FF2B5EF4-FFF2-40B4-BE49-F238E27FC236}">
                  <a16:creationId xmlns:a16="http://schemas.microsoft.com/office/drawing/2014/main" id="{783AC291-6B41-43C4-DB9F-5CFF097667AA}"/>
                </a:ext>
              </a:extLst>
            </p:cNvPr>
            <p:cNvSpPr/>
            <p:nvPr/>
          </p:nvSpPr>
          <p:spPr>
            <a:xfrm>
              <a:off x="2972033"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25" name="楕円 324">
              <a:extLst>
                <a:ext uri="{FF2B5EF4-FFF2-40B4-BE49-F238E27FC236}">
                  <a16:creationId xmlns:a16="http://schemas.microsoft.com/office/drawing/2014/main" id="{6200E576-575F-7B32-D750-EC2339105DE5}"/>
                </a:ext>
              </a:extLst>
            </p:cNvPr>
            <p:cNvSpPr/>
            <p:nvPr/>
          </p:nvSpPr>
          <p:spPr>
            <a:xfrm>
              <a:off x="3821428"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grpSp>
          <p:nvGrpSpPr>
            <p:cNvPr id="326" name="グループ化 325">
              <a:extLst>
                <a:ext uri="{FF2B5EF4-FFF2-40B4-BE49-F238E27FC236}">
                  <a16:creationId xmlns:a16="http://schemas.microsoft.com/office/drawing/2014/main" id="{241FCEB8-5502-0BE6-4526-6B011AFB4285}"/>
                </a:ext>
              </a:extLst>
            </p:cNvPr>
            <p:cNvGrpSpPr/>
            <p:nvPr/>
          </p:nvGrpSpPr>
          <p:grpSpPr>
            <a:xfrm>
              <a:off x="3242270" y="2601610"/>
              <a:ext cx="334117" cy="412098"/>
              <a:chOff x="1004572" y="4149080"/>
              <a:chExt cx="334117" cy="412098"/>
            </a:xfrm>
            <a:solidFill>
              <a:schemeClr val="bg1">
                <a:lumMod val="95000"/>
              </a:schemeClr>
            </a:solidFill>
          </p:grpSpPr>
          <p:sp>
            <p:nvSpPr>
              <p:cNvPr id="327" name="二等辺三角形 326">
                <a:extLst>
                  <a:ext uri="{FF2B5EF4-FFF2-40B4-BE49-F238E27FC236}">
                    <a16:creationId xmlns:a16="http://schemas.microsoft.com/office/drawing/2014/main" id="{904C984F-C5B5-9FA5-B994-E8958BF921FD}"/>
                  </a:ext>
                </a:extLst>
              </p:cNvPr>
              <p:cNvSpPr/>
              <p:nvPr/>
            </p:nvSpPr>
            <p:spPr>
              <a:xfrm rot="10800000">
                <a:off x="1004572"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28" name="楕円 327">
                <a:extLst>
                  <a:ext uri="{FF2B5EF4-FFF2-40B4-BE49-F238E27FC236}">
                    <a16:creationId xmlns:a16="http://schemas.microsoft.com/office/drawing/2014/main" id="{E4A6AC1E-3044-2C10-BBBB-EF9BAFDCA9C7}"/>
                  </a:ext>
                </a:extLst>
              </p:cNvPr>
              <p:cNvSpPr/>
              <p:nvPr/>
            </p:nvSpPr>
            <p:spPr>
              <a:xfrm>
                <a:off x="1055440"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329" name="グループ化 328">
              <a:extLst>
                <a:ext uri="{FF2B5EF4-FFF2-40B4-BE49-F238E27FC236}">
                  <a16:creationId xmlns:a16="http://schemas.microsoft.com/office/drawing/2014/main" id="{CFF14D69-11E5-F55F-F80A-4415E6FFA873}"/>
                </a:ext>
              </a:extLst>
            </p:cNvPr>
            <p:cNvGrpSpPr/>
            <p:nvPr/>
          </p:nvGrpSpPr>
          <p:grpSpPr>
            <a:xfrm>
              <a:off x="2393238" y="2515097"/>
              <a:ext cx="334117" cy="467747"/>
              <a:chOff x="1837225" y="4093431"/>
              <a:chExt cx="334117" cy="467747"/>
            </a:xfrm>
            <a:solidFill>
              <a:schemeClr val="bg1">
                <a:lumMod val="95000"/>
              </a:schemeClr>
            </a:solidFill>
          </p:grpSpPr>
          <p:sp>
            <p:nvSpPr>
              <p:cNvPr id="330" name="二等辺三角形 329">
                <a:extLst>
                  <a:ext uri="{FF2B5EF4-FFF2-40B4-BE49-F238E27FC236}">
                    <a16:creationId xmlns:a16="http://schemas.microsoft.com/office/drawing/2014/main" id="{356FF9C8-38DD-25FC-1E70-7288000E489B}"/>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331" name="楕円 330">
                <a:extLst>
                  <a:ext uri="{FF2B5EF4-FFF2-40B4-BE49-F238E27FC236}">
                    <a16:creationId xmlns:a16="http://schemas.microsoft.com/office/drawing/2014/main" id="{A855B52E-5C51-77DD-1D22-C886990F5EBC}"/>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sp>
            <p:nvSpPr>
              <p:cNvPr id="332" name="フローチャート: 手作業 331">
                <a:extLst>
                  <a:ext uri="{FF2B5EF4-FFF2-40B4-BE49-F238E27FC236}">
                    <a16:creationId xmlns:a16="http://schemas.microsoft.com/office/drawing/2014/main" id="{C079B664-94F6-EC8E-CBCE-0D0B4088B0AA}"/>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00"/>
              </a:p>
            </p:txBody>
          </p:sp>
        </p:grpSp>
        <p:grpSp>
          <p:nvGrpSpPr>
            <p:cNvPr id="333" name="グループ化 332">
              <a:extLst>
                <a:ext uri="{FF2B5EF4-FFF2-40B4-BE49-F238E27FC236}">
                  <a16:creationId xmlns:a16="http://schemas.microsoft.com/office/drawing/2014/main" id="{4E1FFB25-D6F5-E7C3-EEC7-B43F66BEFF8A}"/>
                </a:ext>
              </a:extLst>
            </p:cNvPr>
            <p:cNvGrpSpPr/>
            <p:nvPr/>
          </p:nvGrpSpPr>
          <p:grpSpPr>
            <a:xfrm>
              <a:off x="886454" y="3004787"/>
              <a:ext cx="334117" cy="412098"/>
              <a:chOff x="446620" y="4149080"/>
              <a:chExt cx="334117" cy="412098"/>
            </a:xfrm>
            <a:solidFill>
              <a:schemeClr val="bg1">
                <a:lumMod val="95000"/>
              </a:schemeClr>
            </a:solidFill>
          </p:grpSpPr>
          <p:sp>
            <p:nvSpPr>
              <p:cNvPr id="334" name="二等辺三角形 333">
                <a:extLst>
                  <a:ext uri="{FF2B5EF4-FFF2-40B4-BE49-F238E27FC236}">
                    <a16:creationId xmlns:a16="http://schemas.microsoft.com/office/drawing/2014/main" id="{B59136C5-BE9A-DC20-76A3-7F316F862898}"/>
                  </a:ext>
                </a:extLst>
              </p:cNvPr>
              <p:cNvSpPr/>
              <p:nvPr/>
            </p:nvSpPr>
            <p:spPr>
              <a:xfrm>
                <a:off x="446620"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35" name="楕円 334">
                <a:extLst>
                  <a:ext uri="{FF2B5EF4-FFF2-40B4-BE49-F238E27FC236}">
                    <a16:creationId xmlns:a16="http://schemas.microsoft.com/office/drawing/2014/main" id="{627C6274-EE36-0891-F22D-29B78AB5F5FE}"/>
                  </a:ext>
                </a:extLst>
              </p:cNvPr>
              <p:cNvSpPr/>
              <p:nvPr/>
            </p:nvSpPr>
            <p:spPr>
              <a:xfrm>
                <a:off x="497488"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336" name="グループ化 335">
              <a:extLst>
                <a:ext uri="{FF2B5EF4-FFF2-40B4-BE49-F238E27FC236}">
                  <a16:creationId xmlns:a16="http://schemas.microsoft.com/office/drawing/2014/main" id="{30247C6C-6ABB-3D63-CF4C-AC2C06B4F227}"/>
                </a:ext>
              </a:extLst>
            </p:cNvPr>
            <p:cNvGrpSpPr/>
            <p:nvPr/>
          </p:nvGrpSpPr>
          <p:grpSpPr>
            <a:xfrm>
              <a:off x="2586122" y="3032341"/>
              <a:ext cx="360040" cy="412097"/>
              <a:chOff x="2495600" y="4149081"/>
              <a:chExt cx="360040" cy="412097"/>
            </a:xfrm>
            <a:solidFill>
              <a:schemeClr val="bg1">
                <a:lumMod val="95000"/>
              </a:schemeClr>
            </a:solidFill>
          </p:grpSpPr>
          <p:sp>
            <p:nvSpPr>
              <p:cNvPr id="337" name="正方形/長方形 336">
                <a:extLst>
                  <a:ext uri="{FF2B5EF4-FFF2-40B4-BE49-F238E27FC236}">
                    <a16:creationId xmlns:a16="http://schemas.microsoft.com/office/drawing/2014/main" id="{3A96C981-B833-8D6C-F365-A7A316C3AD08}"/>
                  </a:ext>
                </a:extLst>
              </p:cNvPr>
              <p:cNvSpPr/>
              <p:nvPr/>
            </p:nvSpPr>
            <p:spPr>
              <a:xfrm>
                <a:off x="2495600" y="4149081"/>
                <a:ext cx="360040" cy="170928"/>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38" name="正方形/長方形 337">
                <a:extLst>
                  <a:ext uri="{FF2B5EF4-FFF2-40B4-BE49-F238E27FC236}">
                    <a16:creationId xmlns:a16="http://schemas.microsoft.com/office/drawing/2014/main" id="{04B8A9C7-FBA8-05D9-3E6D-5B35543BE671}"/>
                  </a:ext>
                </a:extLst>
              </p:cNvPr>
              <p:cNvSpPr/>
              <p:nvPr/>
            </p:nvSpPr>
            <p:spPr>
              <a:xfrm>
                <a:off x="2579628" y="4320009"/>
                <a:ext cx="191984" cy="241169"/>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cxnSp>
          <p:nvCxnSpPr>
            <p:cNvPr id="339" name="直線矢印コネクタ 338">
              <a:extLst>
                <a:ext uri="{FF2B5EF4-FFF2-40B4-BE49-F238E27FC236}">
                  <a16:creationId xmlns:a16="http://schemas.microsoft.com/office/drawing/2014/main" id="{8C9E4277-5BF7-5F2C-7DFE-069506CEDEE7}"/>
                </a:ext>
              </a:extLst>
            </p:cNvPr>
            <p:cNvCxnSpPr>
              <a:cxnSpLocks/>
            </p:cNvCxnSpPr>
            <p:nvPr/>
          </p:nvCxnSpPr>
          <p:spPr>
            <a:xfrm>
              <a:off x="2710389" y="2726702"/>
              <a:ext cx="519389"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0" name="直線矢印コネクタ 339">
              <a:extLst>
                <a:ext uri="{FF2B5EF4-FFF2-40B4-BE49-F238E27FC236}">
                  <a16:creationId xmlns:a16="http://schemas.microsoft.com/office/drawing/2014/main" id="{A0FE8A5B-88CA-B7A8-48BB-FAB1828B85D7}"/>
                </a:ext>
              </a:extLst>
            </p:cNvPr>
            <p:cNvCxnSpPr>
              <a:cxnSpLocks/>
            </p:cNvCxnSpPr>
            <p:nvPr/>
          </p:nvCxnSpPr>
          <p:spPr>
            <a:xfrm flipV="1">
              <a:off x="2752376" y="1005307"/>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直線矢印コネクタ 340">
              <a:extLst>
                <a:ext uri="{FF2B5EF4-FFF2-40B4-BE49-F238E27FC236}">
                  <a16:creationId xmlns:a16="http://schemas.microsoft.com/office/drawing/2014/main" id="{E2BB43F7-2162-15DE-F975-F9F2F81DB08C}"/>
                </a:ext>
              </a:extLst>
            </p:cNvPr>
            <p:cNvCxnSpPr>
              <a:cxnSpLocks/>
            </p:cNvCxnSpPr>
            <p:nvPr/>
          </p:nvCxnSpPr>
          <p:spPr>
            <a:xfrm>
              <a:off x="2291802" y="1005307"/>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2" name="直線矢印コネクタ 341">
              <a:extLst>
                <a:ext uri="{FF2B5EF4-FFF2-40B4-BE49-F238E27FC236}">
                  <a16:creationId xmlns:a16="http://schemas.microsoft.com/office/drawing/2014/main" id="{079121C5-A308-67C2-F8C3-0C4ACB125B46}"/>
                </a:ext>
              </a:extLst>
            </p:cNvPr>
            <p:cNvCxnSpPr>
              <a:cxnSpLocks/>
            </p:cNvCxnSpPr>
            <p:nvPr/>
          </p:nvCxnSpPr>
          <p:spPr>
            <a:xfrm flipV="1">
              <a:off x="1909750" y="100822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3" name="直線矢印コネクタ 342">
              <a:extLst>
                <a:ext uri="{FF2B5EF4-FFF2-40B4-BE49-F238E27FC236}">
                  <a16:creationId xmlns:a16="http://schemas.microsoft.com/office/drawing/2014/main" id="{91DEF719-5021-58B4-6B9F-165D17649438}"/>
                </a:ext>
              </a:extLst>
            </p:cNvPr>
            <p:cNvCxnSpPr>
              <a:cxnSpLocks/>
            </p:cNvCxnSpPr>
            <p:nvPr/>
          </p:nvCxnSpPr>
          <p:spPr>
            <a:xfrm>
              <a:off x="1690650" y="1392477"/>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4" name="楕円 343">
              <a:extLst>
                <a:ext uri="{FF2B5EF4-FFF2-40B4-BE49-F238E27FC236}">
                  <a16:creationId xmlns:a16="http://schemas.microsoft.com/office/drawing/2014/main" id="{052A84F5-1791-83F8-8A1A-EAAE3ED1151F}"/>
                </a:ext>
              </a:extLst>
            </p:cNvPr>
            <p:cNvSpPr/>
            <p:nvPr/>
          </p:nvSpPr>
          <p:spPr>
            <a:xfrm>
              <a:off x="875420"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45" name="楕円 344">
              <a:extLst>
                <a:ext uri="{FF2B5EF4-FFF2-40B4-BE49-F238E27FC236}">
                  <a16:creationId xmlns:a16="http://schemas.microsoft.com/office/drawing/2014/main" id="{BC8F5063-2470-12F7-7167-BF04E331F5FE}"/>
                </a:ext>
              </a:extLst>
            </p:cNvPr>
            <p:cNvSpPr/>
            <p:nvPr/>
          </p:nvSpPr>
          <p:spPr>
            <a:xfrm>
              <a:off x="1724774"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46" name="楕円 345">
              <a:extLst>
                <a:ext uri="{FF2B5EF4-FFF2-40B4-BE49-F238E27FC236}">
                  <a16:creationId xmlns:a16="http://schemas.microsoft.com/office/drawing/2014/main" id="{6DC570B9-B785-7003-80E0-E4FCEE6758CC}"/>
                </a:ext>
              </a:extLst>
            </p:cNvPr>
            <p:cNvSpPr/>
            <p:nvPr/>
          </p:nvSpPr>
          <p:spPr>
            <a:xfrm>
              <a:off x="2574169"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47" name="楕円 346">
              <a:extLst>
                <a:ext uri="{FF2B5EF4-FFF2-40B4-BE49-F238E27FC236}">
                  <a16:creationId xmlns:a16="http://schemas.microsoft.com/office/drawing/2014/main" id="{917C59A9-BBE6-BD60-7FB8-79E1349E9414}"/>
                </a:ext>
              </a:extLst>
            </p:cNvPr>
            <p:cNvSpPr/>
            <p:nvPr/>
          </p:nvSpPr>
          <p:spPr>
            <a:xfrm>
              <a:off x="1531029"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48" name="楕円 347">
              <a:extLst>
                <a:ext uri="{FF2B5EF4-FFF2-40B4-BE49-F238E27FC236}">
                  <a16:creationId xmlns:a16="http://schemas.microsoft.com/office/drawing/2014/main" id="{6F9C1913-C423-D1BB-01E1-D1AC84263BD2}"/>
                </a:ext>
              </a:extLst>
            </p:cNvPr>
            <p:cNvSpPr/>
            <p:nvPr/>
          </p:nvSpPr>
          <p:spPr>
            <a:xfrm>
              <a:off x="2380383"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49" name="楕円 348">
              <a:extLst>
                <a:ext uri="{FF2B5EF4-FFF2-40B4-BE49-F238E27FC236}">
                  <a16:creationId xmlns:a16="http://schemas.microsoft.com/office/drawing/2014/main" id="{13A638BB-A867-4873-1C21-626ACCBA0B4F}"/>
                </a:ext>
              </a:extLst>
            </p:cNvPr>
            <p:cNvSpPr/>
            <p:nvPr/>
          </p:nvSpPr>
          <p:spPr>
            <a:xfrm>
              <a:off x="3229778"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50" name="楕円 349">
              <a:extLst>
                <a:ext uri="{FF2B5EF4-FFF2-40B4-BE49-F238E27FC236}">
                  <a16:creationId xmlns:a16="http://schemas.microsoft.com/office/drawing/2014/main" id="{BC18E9FF-034F-0C5F-9C1F-7B6CE2B827B7}"/>
                </a:ext>
              </a:extLst>
            </p:cNvPr>
            <p:cNvSpPr/>
            <p:nvPr/>
          </p:nvSpPr>
          <p:spPr>
            <a:xfrm>
              <a:off x="2122679"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51" name="楕円 350">
              <a:extLst>
                <a:ext uri="{FF2B5EF4-FFF2-40B4-BE49-F238E27FC236}">
                  <a16:creationId xmlns:a16="http://schemas.microsoft.com/office/drawing/2014/main" id="{0B642DA6-62CE-0407-75B6-6D8977E4AED1}"/>
                </a:ext>
              </a:extLst>
            </p:cNvPr>
            <p:cNvSpPr/>
            <p:nvPr/>
          </p:nvSpPr>
          <p:spPr>
            <a:xfrm>
              <a:off x="2972033"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sp>
          <p:nvSpPr>
            <p:cNvPr id="352" name="楕円 351">
              <a:extLst>
                <a:ext uri="{FF2B5EF4-FFF2-40B4-BE49-F238E27FC236}">
                  <a16:creationId xmlns:a16="http://schemas.microsoft.com/office/drawing/2014/main" id="{B28C80F3-26D5-D504-068A-0C2231922B2E}"/>
                </a:ext>
              </a:extLst>
            </p:cNvPr>
            <p:cNvSpPr/>
            <p:nvPr/>
          </p:nvSpPr>
          <p:spPr>
            <a:xfrm>
              <a:off x="3821428"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200"/>
            </a:p>
          </p:txBody>
        </p:sp>
        <p:cxnSp>
          <p:nvCxnSpPr>
            <p:cNvPr id="353" name="直線矢印コネクタ 352">
              <a:extLst>
                <a:ext uri="{FF2B5EF4-FFF2-40B4-BE49-F238E27FC236}">
                  <a16:creationId xmlns:a16="http://schemas.microsoft.com/office/drawing/2014/main" id="{9DA9FE46-D4BC-9F2F-0B7C-B5641C416370}"/>
                </a:ext>
              </a:extLst>
            </p:cNvPr>
            <p:cNvCxnSpPr>
              <a:cxnSpLocks/>
              <a:stCxn id="365" idx="2"/>
              <a:endCxn id="359" idx="7"/>
            </p:cNvCxnSpPr>
            <p:nvPr/>
          </p:nvCxnSpPr>
          <p:spPr>
            <a:xfrm flipH="1">
              <a:off x="1135673" y="1253589"/>
              <a:ext cx="459079" cy="3428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354" name="グループ化 353">
              <a:extLst>
                <a:ext uri="{FF2B5EF4-FFF2-40B4-BE49-F238E27FC236}">
                  <a16:creationId xmlns:a16="http://schemas.microsoft.com/office/drawing/2014/main" id="{06B3CBB4-D84A-86B6-7BA6-E8A9C1C2D6FE}"/>
                </a:ext>
              </a:extLst>
            </p:cNvPr>
            <p:cNvGrpSpPr/>
            <p:nvPr/>
          </p:nvGrpSpPr>
          <p:grpSpPr>
            <a:xfrm>
              <a:off x="3242270" y="1159245"/>
              <a:ext cx="334117" cy="412098"/>
              <a:chOff x="1004572" y="4149080"/>
              <a:chExt cx="334117" cy="412098"/>
            </a:xfrm>
          </p:grpSpPr>
          <p:sp>
            <p:nvSpPr>
              <p:cNvPr id="355" name="二等辺三角形 354">
                <a:extLst>
                  <a:ext uri="{FF2B5EF4-FFF2-40B4-BE49-F238E27FC236}">
                    <a16:creationId xmlns:a16="http://schemas.microsoft.com/office/drawing/2014/main" id="{AC4F19EF-36F7-748B-7756-22055FCEB650}"/>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56" name="楕円 355">
                <a:extLst>
                  <a:ext uri="{FF2B5EF4-FFF2-40B4-BE49-F238E27FC236}">
                    <a16:creationId xmlns:a16="http://schemas.microsoft.com/office/drawing/2014/main" id="{805052FB-066F-4DBD-1F9B-002494338599}"/>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357" name="グループ化 356">
              <a:extLst>
                <a:ext uri="{FF2B5EF4-FFF2-40B4-BE49-F238E27FC236}">
                  <a16:creationId xmlns:a16="http://schemas.microsoft.com/office/drawing/2014/main" id="{0CD89669-2630-66C0-4246-69587CD1BE05}"/>
                </a:ext>
              </a:extLst>
            </p:cNvPr>
            <p:cNvGrpSpPr/>
            <p:nvPr/>
          </p:nvGrpSpPr>
          <p:grpSpPr>
            <a:xfrm>
              <a:off x="886454" y="1562422"/>
              <a:ext cx="334117" cy="412098"/>
              <a:chOff x="446620" y="4149080"/>
              <a:chExt cx="334117" cy="412098"/>
            </a:xfrm>
          </p:grpSpPr>
          <p:sp>
            <p:nvSpPr>
              <p:cNvPr id="358" name="二等辺三角形 357">
                <a:extLst>
                  <a:ext uri="{FF2B5EF4-FFF2-40B4-BE49-F238E27FC236}">
                    <a16:creationId xmlns:a16="http://schemas.microsoft.com/office/drawing/2014/main" id="{EDFB70ED-4FCD-B09C-66DC-1FF1C5F0F17F}"/>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59" name="楕円 358">
                <a:extLst>
                  <a:ext uri="{FF2B5EF4-FFF2-40B4-BE49-F238E27FC236}">
                    <a16:creationId xmlns:a16="http://schemas.microsoft.com/office/drawing/2014/main" id="{B5FBB7F3-63E7-709B-0317-EEE800E368FB}"/>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360" name="グループ化 359">
              <a:extLst>
                <a:ext uri="{FF2B5EF4-FFF2-40B4-BE49-F238E27FC236}">
                  <a16:creationId xmlns:a16="http://schemas.microsoft.com/office/drawing/2014/main" id="{F72ED920-C24D-3A85-BA78-66E1111B107E}"/>
                </a:ext>
              </a:extLst>
            </p:cNvPr>
            <p:cNvGrpSpPr/>
            <p:nvPr/>
          </p:nvGrpSpPr>
          <p:grpSpPr>
            <a:xfrm>
              <a:off x="2586122" y="1589976"/>
              <a:ext cx="360040" cy="412097"/>
              <a:chOff x="2495600" y="4149081"/>
              <a:chExt cx="360040" cy="412097"/>
            </a:xfrm>
          </p:grpSpPr>
          <p:sp>
            <p:nvSpPr>
              <p:cNvPr id="361" name="正方形/長方形 360">
                <a:extLst>
                  <a:ext uri="{FF2B5EF4-FFF2-40B4-BE49-F238E27FC236}">
                    <a16:creationId xmlns:a16="http://schemas.microsoft.com/office/drawing/2014/main" id="{069A1FF2-EA06-A68C-2EE2-7B58015F1B58}"/>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62" name="正方形/長方形 361">
                <a:extLst>
                  <a:ext uri="{FF2B5EF4-FFF2-40B4-BE49-F238E27FC236}">
                    <a16:creationId xmlns:a16="http://schemas.microsoft.com/office/drawing/2014/main" id="{695AA22A-5046-C714-FA66-18111B540C3E}"/>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grpSp>
          <p:nvGrpSpPr>
            <p:cNvPr id="363" name="グループ化 362">
              <a:extLst>
                <a:ext uri="{FF2B5EF4-FFF2-40B4-BE49-F238E27FC236}">
                  <a16:creationId xmlns:a16="http://schemas.microsoft.com/office/drawing/2014/main" id="{53419F71-569C-E7CF-6CF6-EF5F0506528B}"/>
                </a:ext>
              </a:extLst>
            </p:cNvPr>
            <p:cNvGrpSpPr/>
            <p:nvPr/>
          </p:nvGrpSpPr>
          <p:grpSpPr>
            <a:xfrm>
              <a:off x="1543884" y="1081748"/>
              <a:ext cx="334117" cy="467747"/>
              <a:chOff x="1837225" y="4093431"/>
              <a:chExt cx="334117" cy="467747"/>
            </a:xfrm>
          </p:grpSpPr>
          <p:sp>
            <p:nvSpPr>
              <p:cNvPr id="364" name="二等辺三角形 363">
                <a:extLst>
                  <a:ext uri="{FF2B5EF4-FFF2-40B4-BE49-F238E27FC236}">
                    <a16:creationId xmlns:a16="http://schemas.microsoft.com/office/drawing/2014/main" id="{79B31149-4F26-0354-760A-56C2B6BE9644}"/>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65" name="楕円 364">
                <a:extLst>
                  <a:ext uri="{FF2B5EF4-FFF2-40B4-BE49-F238E27FC236}">
                    <a16:creationId xmlns:a16="http://schemas.microsoft.com/office/drawing/2014/main" id="{EC38C161-260F-A073-5F1B-7E734ADA6232}"/>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366" name="フローチャート: 手作業 365">
                <a:extLst>
                  <a:ext uri="{FF2B5EF4-FFF2-40B4-BE49-F238E27FC236}">
                    <a16:creationId xmlns:a16="http://schemas.microsoft.com/office/drawing/2014/main" id="{27C26273-51AB-FA72-05F7-1FF7690BB88E}"/>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grpSp>
        <p:pic>
          <p:nvPicPr>
            <p:cNvPr id="367" name="グラフィックス 366" descr="人工知能 単色塗りつぶし">
              <a:extLst>
                <a:ext uri="{FF2B5EF4-FFF2-40B4-BE49-F238E27FC236}">
                  <a16:creationId xmlns:a16="http://schemas.microsoft.com/office/drawing/2014/main" id="{44B22346-3338-516F-D0AC-93C9B618AF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387" y="3141527"/>
              <a:ext cx="486970" cy="486970"/>
            </a:xfrm>
            <a:prstGeom prst="rect">
              <a:avLst/>
            </a:prstGeom>
          </p:spPr>
        </p:pic>
        <p:cxnSp>
          <p:nvCxnSpPr>
            <p:cNvPr id="368" name="直線矢印コネクタ 367">
              <a:extLst>
                <a:ext uri="{FF2B5EF4-FFF2-40B4-BE49-F238E27FC236}">
                  <a16:creationId xmlns:a16="http://schemas.microsoft.com/office/drawing/2014/main" id="{E7A9EC09-28D2-0533-0A08-A71283089066}"/>
                </a:ext>
              </a:extLst>
            </p:cNvPr>
            <p:cNvCxnSpPr>
              <a:cxnSpLocks/>
            </p:cNvCxnSpPr>
            <p:nvPr/>
          </p:nvCxnSpPr>
          <p:spPr>
            <a:xfrm flipH="1" flipV="1">
              <a:off x="2689049" y="2769097"/>
              <a:ext cx="960542" cy="46312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テキスト ボックス 13">
            <a:extLst>
              <a:ext uri="{FF2B5EF4-FFF2-40B4-BE49-F238E27FC236}">
                <a16:creationId xmlns:a16="http://schemas.microsoft.com/office/drawing/2014/main" id="{5353C518-87BC-F068-BD75-7EF14C600420}"/>
              </a:ext>
            </a:extLst>
          </p:cNvPr>
          <p:cNvSpPr txBox="1"/>
          <p:nvPr/>
        </p:nvSpPr>
        <p:spPr>
          <a:xfrm>
            <a:off x="5638231" y="4778343"/>
            <a:ext cx="2400016" cy="276999"/>
          </a:xfrm>
          <a:prstGeom prst="rect">
            <a:avLst/>
          </a:prstGeom>
          <a:noFill/>
        </p:spPr>
        <p:txBody>
          <a:bodyPr wrap="none" rtlCol="0">
            <a:spAutoFit/>
          </a:bodyPr>
          <a:lstStyle/>
          <a:p>
            <a:r>
              <a:rPr kumimoji="1" lang="en-US" altLang="ja-JP" sz="1200" dirty="0"/>
              <a:t>dt=30[s]</a:t>
            </a:r>
            <a:r>
              <a:rPr kumimoji="1" lang="ja-JP" altLang="en-US" sz="1200" dirty="0"/>
              <a:t>ほどで、数ステップ予測</a:t>
            </a:r>
          </a:p>
        </p:txBody>
      </p:sp>
      <p:pic>
        <p:nvPicPr>
          <p:cNvPr id="17" name="グラフィックス 16" descr="人工知能 単色塗りつぶし">
            <a:extLst>
              <a:ext uri="{FF2B5EF4-FFF2-40B4-BE49-F238E27FC236}">
                <a16:creationId xmlns:a16="http://schemas.microsoft.com/office/drawing/2014/main" id="{83FF2387-53F5-86DB-2DA1-056572ACCE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89039" y="6590739"/>
            <a:ext cx="206007" cy="206007"/>
          </a:xfrm>
          <a:prstGeom prst="rect">
            <a:avLst/>
          </a:prstGeom>
        </p:spPr>
      </p:pic>
      <p:sp>
        <p:nvSpPr>
          <p:cNvPr id="20" name="吹き出し: 四角形 19">
            <a:extLst>
              <a:ext uri="{FF2B5EF4-FFF2-40B4-BE49-F238E27FC236}">
                <a16:creationId xmlns:a16="http://schemas.microsoft.com/office/drawing/2014/main" id="{5EDD6D13-5D77-B338-8F89-CC5771DEE16C}"/>
              </a:ext>
            </a:extLst>
          </p:cNvPr>
          <p:cNvSpPr/>
          <p:nvPr/>
        </p:nvSpPr>
        <p:spPr>
          <a:xfrm>
            <a:off x="8472985" y="5529933"/>
            <a:ext cx="1439439" cy="989607"/>
          </a:xfrm>
          <a:prstGeom prst="wedgeRectCallout">
            <a:avLst>
              <a:gd name="adj1" fmla="val 45089"/>
              <a:gd name="adj2" fmla="val 65410"/>
            </a:avLst>
          </a:prstGeom>
        </p:spPr>
        <p:style>
          <a:lnRef idx="2">
            <a:schemeClr val="accent2"/>
          </a:lnRef>
          <a:fillRef idx="1">
            <a:schemeClr val="lt1"/>
          </a:fillRef>
          <a:effectRef idx="0">
            <a:schemeClr val="accent2"/>
          </a:effectRef>
          <a:fontRef idx="minor">
            <a:schemeClr val="dk1"/>
          </a:fontRef>
        </p:style>
        <p:txBody>
          <a:bodyPr rtlCol="0" anchor="ctr"/>
          <a:lstStyle/>
          <a:p>
            <a:r>
              <a:rPr lang="en-US" altLang="ja-JP" sz="700" dirty="0"/>
              <a:t>a) </a:t>
            </a:r>
            <a:r>
              <a:rPr lang="ja-JP" altLang="en-US" sz="700" dirty="0"/>
              <a:t>看護師に確認を依頼すると、看護師が見守っていた患者の見守りが手薄になってしまう</a:t>
            </a:r>
            <a:endParaRPr lang="en-US" altLang="ja-JP" sz="700" dirty="0"/>
          </a:p>
          <a:p>
            <a:r>
              <a:rPr kumimoji="1" lang="en-US" altLang="ja-JP" sz="700" dirty="0"/>
              <a:t>b) </a:t>
            </a:r>
            <a:r>
              <a:rPr kumimoji="1" lang="ja-JP" altLang="en-US" sz="700" dirty="0"/>
              <a:t>ロボットに確認を依頼すれば、①よりも見守りが手薄になる患者を減らせる</a:t>
            </a:r>
            <a:endParaRPr kumimoji="1" lang="en-US" altLang="ja-JP" sz="700" dirty="0"/>
          </a:p>
        </p:txBody>
      </p:sp>
      <p:pic>
        <p:nvPicPr>
          <p:cNvPr id="21" name="グラフィックス 20" descr="人工知能 単色塗りつぶし">
            <a:extLst>
              <a:ext uri="{FF2B5EF4-FFF2-40B4-BE49-F238E27FC236}">
                <a16:creationId xmlns:a16="http://schemas.microsoft.com/office/drawing/2014/main" id="{0DB27AC2-DFD7-F742-7C91-909284EB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638853" y="6405387"/>
            <a:ext cx="206007" cy="206007"/>
          </a:xfrm>
          <a:prstGeom prst="rect">
            <a:avLst/>
          </a:prstGeom>
        </p:spPr>
      </p:pic>
      <p:sp>
        <p:nvSpPr>
          <p:cNvPr id="23" name="吹き出し: 四角形 22">
            <a:extLst>
              <a:ext uri="{FF2B5EF4-FFF2-40B4-BE49-F238E27FC236}">
                <a16:creationId xmlns:a16="http://schemas.microsoft.com/office/drawing/2014/main" id="{5FDAB7D0-204D-B5C4-78C5-970C1C0C908A}"/>
              </a:ext>
            </a:extLst>
          </p:cNvPr>
          <p:cNvSpPr/>
          <p:nvPr/>
        </p:nvSpPr>
        <p:spPr>
          <a:xfrm>
            <a:off x="10238565" y="5529934"/>
            <a:ext cx="1439439" cy="813294"/>
          </a:xfrm>
          <a:prstGeom prst="wedgeRectCallout">
            <a:avLst>
              <a:gd name="adj1" fmla="val 45089"/>
              <a:gd name="adj2" fmla="val 6541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ja-JP" sz="700" dirty="0"/>
              <a:t>B</a:t>
            </a:r>
            <a:r>
              <a:rPr lang="ja-JP" altLang="en-US" sz="700" dirty="0"/>
              <a:t>案の方がよい！</a:t>
            </a:r>
            <a:endParaRPr kumimoji="1" lang="en-US" altLang="ja-JP" sz="700" dirty="0"/>
          </a:p>
        </p:txBody>
      </p:sp>
    </p:spTree>
    <p:extLst>
      <p:ext uri="{BB962C8B-B14F-4D97-AF65-F5344CB8AC3E}">
        <p14:creationId xmlns:p14="http://schemas.microsoft.com/office/powerpoint/2010/main" val="445131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EDC50F-FE47-E1D9-FD4F-605F87F4C99B}"/>
              </a:ext>
            </a:extLst>
          </p:cNvPr>
          <p:cNvSpPr>
            <a:spLocks noGrp="1"/>
          </p:cNvSpPr>
          <p:nvPr>
            <p:ph type="title"/>
          </p:nvPr>
        </p:nvSpPr>
        <p:spPr/>
        <p:txBody>
          <a:bodyPr/>
          <a:lstStyle/>
          <a:p>
            <a:r>
              <a:rPr kumimoji="1" lang="en-US" altLang="ja-JP" dirty="0"/>
              <a:t>【</a:t>
            </a:r>
            <a:r>
              <a:rPr lang="ja-JP" altLang="en-US" dirty="0"/>
              <a:t>検討中</a:t>
            </a:r>
            <a:r>
              <a:rPr kumimoji="1" lang="en-US" altLang="ja-JP" dirty="0"/>
              <a:t>】</a:t>
            </a:r>
            <a:r>
              <a:rPr kumimoji="1" lang="ja-JP" altLang="en-US" dirty="0"/>
              <a:t>時空間モデル</a:t>
            </a:r>
          </a:p>
        </p:txBody>
      </p:sp>
      <p:sp>
        <p:nvSpPr>
          <p:cNvPr id="3" name="コンテンツ プレースホルダー 2">
            <a:extLst>
              <a:ext uri="{FF2B5EF4-FFF2-40B4-BE49-F238E27FC236}">
                <a16:creationId xmlns:a16="http://schemas.microsoft.com/office/drawing/2014/main" id="{6623FE0F-A4FB-1593-5CD6-882569836D6C}"/>
              </a:ext>
            </a:extLst>
          </p:cNvPr>
          <p:cNvSpPr>
            <a:spLocks noGrp="1"/>
          </p:cNvSpPr>
          <p:nvPr>
            <p:ph idx="1"/>
          </p:nvPr>
        </p:nvSpPr>
        <p:spPr>
          <a:xfrm>
            <a:off x="119336" y="1196390"/>
            <a:ext cx="5976664" cy="5661610"/>
          </a:xfrm>
        </p:spPr>
        <p:txBody>
          <a:bodyPr/>
          <a:lstStyle/>
          <a:p>
            <a:r>
              <a:rPr kumimoji="1" lang="ja-JP" altLang="en-US" dirty="0"/>
              <a:t>定義</a:t>
            </a:r>
            <a:endParaRPr kumimoji="1" lang="en-US" altLang="ja-JP" dirty="0"/>
          </a:p>
          <a:p>
            <a:pPr lvl="1"/>
            <a:r>
              <a:rPr kumimoji="1" lang="ja-JP" altLang="en-US" dirty="0"/>
              <a:t>施設構造ネットワークの時系列積層</a:t>
            </a:r>
          </a:p>
        </p:txBody>
      </p:sp>
      <p:sp>
        <p:nvSpPr>
          <p:cNvPr id="4" name="日付プレースホルダー 3">
            <a:extLst>
              <a:ext uri="{FF2B5EF4-FFF2-40B4-BE49-F238E27FC236}">
                <a16:creationId xmlns:a16="http://schemas.microsoft.com/office/drawing/2014/main" id="{25099CAA-3DC3-9627-3E9D-D432FE63B3F1}"/>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5718AB2-2D9B-457B-E102-87743C6E4661}"/>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FC16ECFF-D14A-F269-E654-A39A494DB4CB}"/>
              </a:ext>
            </a:extLst>
          </p:cNvPr>
          <p:cNvSpPr>
            <a:spLocks noGrp="1"/>
          </p:cNvSpPr>
          <p:nvPr>
            <p:ph type="sldNum" sz="quarter" idx="12"/>
          </p:nvPr>
        </p:nvSpPr>
        <p:spPr/>
        <p:txBody>
          <a:bodyPr/>
          <a:lstStyle/>
          <a:p>
            <a:fld id="{870B1737-2A00-4EFB-9FD3-149FCC30AA13}" type="slidenum">
              <a:rPr lang="ja-JP" altLang="en-US" smtClean="0"/>
              <a:pPr/>
              <a:t>24</a:t>
            </a:fld>
            <a:endParaRPr lang="ja-JP" altLang="en-US"/>
          </a:p>
        </p:txBody>
      </p:sp>
      <p:grpSp>
        <p:nvGrpSpPr>
          <p:cNvPr id="47" name="グループ化 46">
            <a:extLst>
              <a:ext uri="{FF2B5EF4-FFF2-40B4-BE49-F238E27FC236}">
                <a16:creationId xmlns:a16="http://schemas.microsoft.com/office/drawing/2014/main" id="{20031185-C35E-D2AF-E719-B18D8D31F444}"/>
              </a:ext>
            </a:extLst>
          </p:cNvPr>
          <p:cNvGrpSpPr/>
          <p:nvPr/>
        </p:nvGrpSpPr>
        <p:grpSpPr>
          <a:xfrm>
            <a:off x="102940" y="1840042"/>
            <a:ext cx="5993060" cy="4624165"/>
            <a:chOff x="305526" y="1194390"/>
            <a:chExt cx="6714566" cy="5180869"/>
          </a:xfrm>
        </p:grpSpPr>
        <p:cxnSp>
          <p:nvCxnSpPr>
            <p:cNvPr id="9" name="直線矢印コネクタ 8">
              <a:extLst>
                <a:ext uri="{FF2B5EF4-FFF2-40B4-BE49-F238E27FC236}">
                  <a16:creationId xmlns:a16="http://schemas.microsoft.com/office/drawing/2014/main" id="{E7FC92BD-E211-0105-2B00-03F6DFFF171A}"/>
                </a:ext>
              </a:extLst>
            </p:cNvPr>
            <p:cNvCxnSpPr>
              <a:cxnSpLocks/>
            </p:cNvCxnSpPr>
            <p:nvPr/>
          </p:nvCxnSpPr>
          <p:spPr>
            <a:xfrm>
              <a:off x="331107"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7070A972-F82C-6B30-A42C-06959C899A20}"/>
                </a:ext>
              </a:extLst>
            </p:cNvPr>
            <p:cNvCxnSpPr>
              <a:cxnSpLocks/>
            </p:cNvCxnSpPr>
            <p:nvPr/>
          </p:nvCxnSpPr>
          <p:spPr>
            <a:xfrm flipV="1">
              <a:off x="570213"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537921A-35DC-D98F-8DD3-D5E23F9B2508}"/>
                </a:ext>
              </a:extLst>
            </p:cNvPr>
            <p:cNvCxnSpPr>
              <a:cxnSpLocks/>
            </p:cNvCxnSpPr>
            <p:nvPr/>
          </p:nvCxnSpPr>
          <p:spPr>
            <a:xfrm flipV="1">
              <a:off x="652613"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63348B1E-49A2-CF60-AE99-CEEBACC52ACD}"/>
                </a:ext>
              </a:extLst>
            </p:cNvPr>
            <p:cNvCxnSpPr>
              <a:cxnSpLocks/>
            </p:cNvCxnSpPr>
            <p:nvPr/>
          </p:nvCxnSpPr>
          <p:spPr>
            <a:xfrm flipV="1">
              <a:off x="2349549"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3B486447-9A47-094E-04DF-B7E9806EE860}"/>
                </a:ext>
              </a:extLst>
            </p:cNvPr>
            <p:cNvCxnSpPr>
              <a:cxnSpLocks/>
            </p:cNvCxnSpPr>
            <p:nvPr/>
          </p:nvCxnSpPr>
          <p:spPr>
            <a:xfrm>
              <a:off x="1888975"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3ACE0FA0-5FEE-4CC9-1D35-70D4E608263F}"/>
                </a:ext>
              </a:extLst>
            </p:cNvPr>
            <p:cNvSpPr txBox="1"/>
            <p:nvPr/>
          </p:nvSpPr>
          <p:spPr>
            <a:xfrm>
              <a:off x="2440764" y="3091035"/>
              <a:ext cx="309270" cy="379313"/>
            </a:xfrm>
            <a:prstGeom prst="rect">
              <a:avLst/>
            </a:prstGeom>
            <a:noFill/>
          </p:spPr>
          <p:txBody>
            <a:bodyPr wrap="none" rtlCol="0">
              <a:spAutoFit/>
            </a:bodyPr>
            <a:lstStyle/>
            <a:p>
              <a:r>
                <a:rPr kumimoji="1" lang="en-US" altLang="ja-JP" sz="1600" i="1" dirty="0"/>
                <a:t>x</a:t>
              </a:r>
              <a:endParaRPr kumimoji="1" lang="ja-JP" altLang="en-US" sz="1600" i="1" dirty="0"/>
            </a:p>
          </p:txBody>
        </p:sp>
        <p:sp>
          <p:nvSpPr>
            <p:cNvPr id="15" name="テキスト ボックス 14">
              <a:extLst>
                <a:ext uri="{FF2B5EF4-FFF2-40B4-BE49-F238E27FC236}">
                  <a16:creationId xmlns:a16="http://schemas.microsoft.com/office/drawing/2014/main" id="{22E6670C-B72F-74ED-4963-B45DB9FD3151}"/>
                </a:ext>
              </a:extLst>
            </p:cNvPr>
            <p:cNvSpPr txBox="1"/>
            <p:nvPr/>
          </p:nvSpPr>
          <p:spPr>
            <a:xfrm>
              <a:off x="2063228" y="1825432"/>
              <a:ext cx="309270" cy="379313"/>
            </a:xfrm>
            <a:prstGeom prst="rect">
              <a:avLst/>
            </a:prstGeom>
            <a:noFill/>
          </p:spPr>
          <p:txBody>
            <a:bodyPr wrap="none" rtlCol="0">
              <a:spAutoFit/>
            </a:bodyPr>
            <a:lstStyle/>
            <a:p>
              <a:r>
                <a:rPr kumimoji="1" lang="en-US" altLang="ja-JP" sz="1600" i="1" dirty="0"/>
                <a:t>y</a:t>
              </a:r>
              <a:endParaRPr kumimoji="1" lang="ja-JP" altLang="en-US" sz="1600" i="1" dirty="0"/>
            </a:p>
          </p:txBody>
        </p:sp>
        <p:sp>
          <p:nvSpPr>
            <p:cNvPr id="16" name="テキスト ボックス 15">
              <a:extLst>
                <a:ext uri="{FF2B5EF4-FFF2-40B4-BE49-F238E27FC236}">
                  <a16:creationId xmlns:a16="http://schemas.microsoft.com/office/drawing/2014/main" id="{F7AF04B6-B78D-197A-3820-D1E6FA73085E}"/>
                </a:ext>
              </a:extLst>
            </p:cNvPr>
            <p:cNvSpPr txBox="1"/>
            <p:nvPr/>
          </p:nvSpPr>
          <p:spPr>
            <a:xfrm>
              <a:off x="305526" y="1194390"/>
              <a:ext cx="271553" cy="379313"/>
            </a:xfrm>
            <a:prstGeom prst="rect">
              <a:avLst/>
            </a:prstGeom>
            <a:noFill/>
          </p:spPr>
          <p:txBody>
            <a:bodyPr wrap="none" rtlCol="0">
              <a:spAutoFit/>
            </a:bodyPr>
            <a:lstStyle/>
            <a:p>
              <a:r>
                <a:rPr kumimoji="1" lang="en-US" altLang="ja-JP" sz="1600" i="1" dirty="0"/>
                <a:t>t</a:t>
              </a:r>
              <a:endParaRPr kumimoji="1" lang="ja-JP" altLang="en-US" sz="1600" i="1" dirty="0"/>
            </a:p>
          </p:txBody>
        </p:sp>
        <p:cxnSp>
          <p:nvCxnSpPr>
            <p:cNvPr id="17" name="直線矢印コネクタ 16">
              <a:extLst>
                <a:ext uri="{FF2B5EF4-FFF2-40B4-BE49-F238E27FC236}">
                  <a16:creationId xmlns:a16="http://schemas.microsoft.com/office/drawing/2014/main" id="{37E99448-29EB-FEF6-5890-04D67D6E9791}"/>
                </a:ext>
              </a:extLst>
            </p:cNvPr>
            <p:cNvCxnSpPr>
              <a:cxnSpLocks/>
            </p:cNvCxnSpPr>
            <p:nvPr/>
          </p:nvCxnSpPr>
          <p:spPr>
            <a:xfrm flipV="1">
              <a:off x="1506923"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5B430812-FA9B-6959-3EDF-AF04D65EA012}"/>
                </a:ext>
              </a:extLst>
            </p:cNvPr>
            <p:cNvCxnSpPr>
              <a:cxnSpLocks/>
            </p:cNvCxnSpPr>
            <p:nvPr/>
          </p:nvCxnSpPr>
          <p:spPr>
            <a:xfrm>
              <a:off x="1287823"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楕円 18">
              <a:extLst>
                <a:ext uri="{FF2B5EF4-FFF2-40B4-BE49-F238E27FC236}">
                  <a16:creationId xmlns:a16="http://schemas.microsoft.com/office/drawing/2014/main" id="{BFB439A3-DCEF-3226-B265-C17BD7E353F7}"/>
                </a:ext>
              </a:extLst>
            </p:cNvPr>
            <p:cNvSpPr/>
            <p:nvPr/>
          </p:nvSpPr>
          <p:spPr>
            <a:xfrm>
              <a:off x="472593"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0" name="楕円 19">
              <a:extLst>
                <a:ext uri="{FF2B5EF4-FFF2-40B4-BE49-F238E27FC236}">
                  <a16:creationId xmlns:a16="http://schemas.microsoft.com/office/drawing/2014/main" id="{43396A8A-B83B-F280-2218-362A431BAE73}"/>
                </a:ext>
              </a:extLst>
            </p:cNvPr>
            <p:cNvSpPr/>
            <p:nvPr/>
          </p:nvSpPr>
          <p:spPr>
            <a:xfrm>
              <a:off x="1321947"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1" name="楕円 20">
              <a:extLst>
                <a:ext uri="{FF2B5EF4-FFF2-40B4-BE49-F238E27FC236}">
                  <a16:creationId xmlns:a16="http://schemas.microsoft.com/office/drawing/2014/main" id="{554F77BA-704F-B6BA-6C25-360F5FD3B6E3}"/>
                </a:ext>
              </a:extLst>
            </p:cNvPr>
            <p:cNvSpPr/>
            <p:nvPr/>
          </p:nvSpPr>
          <p:spPr>
            <a:xfrm>
              <a:off x="2171342"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2" name="楕円 21">
              <a:extLst>
                <a:ext uri="{FF2B5EF4-FFF2-40B4-BE49-F238E27FC236}">
                  <a16:creationId xmlns:a16="http://schemas.microsoft.com/office/drawing/2014/main" id="{B64ABE5C-CCB8-27D5-DF77-9E4761E1CCC1}"/>
                </a:ext>
              </a:extLst>
            </p:cNvPr>
            <p:cNvSpPr/>
            <p:nvPr/>
          </p:nvSpPr>
          <p:spPr>
            <a:xfrm>
              <a:off x="1128202"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3" name="楕円 22">
              <a:extLst>
                <a:ext uri="{FF2B5EF4-FFF2-40B4-BE49-F238E27FC236}">
                  <a16:creationId xmlns:a16="http://schemas.microsoft.com/office/drawing/2014/main" id="{1B8D2494-B9A1-F89B-DCF3-0F79CF65F930}"/>
                </a:ext>
              </a:extLst>
            </p:cNvPr>
            <p:cNvSpPr/>
            <p:nvPr/>
          </p:nvSpPr>
          <p:spPr>
            <a:xfrm>
              <a:off x="1977556"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4" name="楕円 23">
              <a:extLst>
                <a:ext uri="{FF2B5EF4-FFF2-40B4-BE49-F238E27FC236}">
                  <a16:creationId xmlns:a16="http://schemas.microsoft.com/office/drawing/2014/main" id="{14F659C5-05F5-F9BB-6F99-BA6AC066721E}"/>
                </a:ext>
              </a:extLst>
            </p:cNvPr>
            <p:cNvSpPr/>
            <p:nvPr/>
          </p:nvSpPr>
          <p:spPr>
            <a:xfrm>
              <a:off x="2826951"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5" name="楕円 24">
              <a:extLst>
                <a:ext uri="{FF2B5EF4-FFF2-40B4-BE49-F238E27FC236}">
                  <a16:creationId xmlns:a16="http://schemas.microsoft.com/office/drawing/2014/main" id="{4DDC5591-E899-6853-9F4C-1954AC3B5A99}"/>
                </a:ext>
              </a:extLst>
            </p:cNvPr>
            <p:cNvSpPr/>
            <p:nvPr/>
          </p:nvSpPr>
          <p:spPr>
            <a:xfrm>
              <a:off x="1719852"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6" name="楕円 25">
              <a:extLst>
                <a:ext uri="{FF2B5EF4-FFF2-40B4-BE49-F238E27FC236}">
                  <a16:creationId xmlns:a16="http://schemas.microsoft.com/office/drawing/2014/main" id="{781B0062-EA6B-1FE1-5E7E-829DDEEF497E}"/>
                </a:ext>
              </a:extLst>
            </p:cNvPr>
            <p:cNvSpPr/>
            <p:nvPr/>
          </p:nvSpPr>
          <p:spPr>
            <a:xfrm>
              <a:off x="2569206"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sp>
          <p:nvSpPr>
            <p:cNvPr id="27" name="楕円 26">
              <a:extLst>
                <a:ext uri="{FF2B5EF4-FFF2-40B4-BE49-F238E27FC236}">
                  <a16:creationId xmlns:a16="http://schemas.microsoft.com/office/drawing/2014/main" id="{9DCC8652-E3C7-8E8B-E009-E565CCC873A6}"/>
                </a:ext>
              </a:extLst>
            </p:cNvPr>
            <p:cNvSpPr/>
            <p:nvPr/>
          </p:nvSpPr>
          <p:spPr>
            <a:xfrm>
              <a:off x="3418601"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sz="1600"/>
            </a:p>
          </p:txBody>
        </p:sp>
        <p:grpSp>
          <p:nvGrpSpPr>
            <p:cNvPr id="28" name="グループ化 27">
              <a:extLst>
                <a:ext uri="{FF2B5EF4-FFF2-40B4-BE49-F238E27FC236}">
                  <a16:creationId xmlns:a16="http://schemas.microsoft.com/office/drawing/2014/main" id="{540AF6D3-8C40-6CF2-FD3D-1AEA3450CD7F}"/>
                </a:ext>
              </a:extLst>
            </p:cNvPr>
            <p:cNvGrpSpPr/>
            <p:nvPr/>
          </p:nvGrpSpPr>
          <p:grpSpPr>
            <a:xfrm>
              <a:off x="918613" y="4730597"/>
              <a:ext cx="334117" cy="412098"/>
              <a:chOff x="1004572" y="4149080"/>
              <a:chExt cx="334117" cy="412098"/>
            </a:xfrm>
          </p:grpSpPr>
          <p:sp>
            <p:nvSpPr>
              <p:cNvPr id="29" name="二等辺三角形 28">
                <a:extLst>
                  <a:ext uri="{FF2B5EF4-FFF2-40B4-BE49-F238E27FC236}">
                    <a16:creationId xmlns:a16="http://schemas.microsoft.com/office/drawing/2014/main" id="{DED143A7-4C4F-0A4B-A7DD-5227F8328436}"/>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0" name="楕円 29">
                <a:extLst>
                  <a:ext uri="{FF2B5EF4-FFF2-40B4-BE49-F238E27FC236}">
                    <a16:creationId xmlns:a16="http://schemas.microsoft.com/office/drawing/2014/main" id="{35FBA9D6-C2DD-4891-E550-B474ECC3DF31}"/>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nvGrpSpPr>
            <p:cNvPr id="31" name="グループ化 30">
              <a:extLst>
                <a:ext uri="{FF2B5EF4-FFF2-40B4-BE49-F238E27FC236}">
                  <a16:creationId xmlns:a16="http://schemas.microsoft.com/office/drawing/2014/main" id="{CAEB08E2-827B-454F-54F3-25D174A5FB5F}"/>
                </a:ext>
              </a:extLst>
            </p:cNvPr>
            <p:cNvGrpSpPr/>
            <p:nvPr/>
          </p:nvGrpSpPr>
          <p:grpSpPr>
            <a:xfrm>
              <a:off x="918613" y="5312114"/>
              <a:ext cx="334117" cy="467747"/>
              <a:chOff x="1837225" y="4093431"/>
              <a:chExt cx="334117" cy="467747"/>
            </a:xfrm>
          </p:grpSpPr>
          <p:sp>
            <p:nvSpPr>
              <p:cNvPr id="32" name="二等辺三角形 31">
                <a:extLst>
                  <a:ext uri="{FF2B5EF4-FFF2-40B4-BE49-F238E27FC236}">
                    <a16:creationId xmlns:a16="http://schemas.microsoft.com/office/drawing/2014/main" id="{B20B33AB-57DE-1E6B-2946-DBE52AF02B1D}"/>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3" name="楕円 32">
                <a:extLst>
                  <a:ext uri="{FF2B5EF4-FFF2-40B4-BE49-F238E27FC236}">
                    <a16:creationId xmlns:a16="http://schemas.microsoft.com/office/drawing/2014/main" id="{58E45705-4773-67A3-DC49-D2A9CF775283}"/>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4" name="フローチャート: 手作業 33">
                <a:extLst>
                  <a:ext uri="{FF2B5EF4-FFF2-40B4-BE49-F238E27FC236}">
                    <a16:creationId xmlns:a16="http://schemas.microsoft.com/office/drawing/2014/main" id="{3C3CBD6F-C02A-E635-DA1A-3F090A19C299}"/>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nvGrpSpPr>
            <p:cNvPr id="35" name="グループ化 34">
              <a:extLst>
                <a:ext uri="{FF2B5EF4-FFF2-40B4-BE49-F238E27FC236}">
                  <a16:creationId xmlns:a16="http://schemas.microsoft.com/office/drawing/2014/main" id="{98117C9B-06DE-0B01-C94E-6627E20F8BD6}"/>
                </a:ext>
              </a:extLst>
            </p:cNvPr>
            <p:cNvGrpSpPr/>
            <p:nvPr/>
          </p:nvGrpSpPr>
          <p:grpSpPr>
            <a:xfrm>
              <a:off x="918613" y="4149080"/>
              <a:ext cx="334117" cy="412098"/>
              <a:chOff x="446620" y="4149080"/>
              <a:chExt cx="334117" cy="412098"/>
            </a:xfrm>
          </p:grpSpPr>
          <p:sp>
            <p:nvSpPr>
              <p:cNvPr id="36" name="二等辺三角形 35">
                <a:extLst>
                  <a:ext uri="{FF2B5EF4-FFF2-40B4-BE49-F238E27FC236}">
                    <a16:creationId xmlns:a16="http://schemas.microsoft.com/office/drawing/2014/main" id="{B5012DD2-3650-0F87-7C9D-CED83DA31E11}"/>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37" name="楕円 36">
                <a:extLst>
                  <a:ext uri="{FF2B5EF4-FFF2-40B4-BE49-F238E27FC236}">
                    <a16:creationId xmlns:a16="http://schemas.microsoft.com/office/drawing/2014/main" id="{D24C20CC-6CF3-60BD-F8EA-0CD388E9AE27}"/>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grpSp>
          <p:nvGrpSpPr>
            <p:cNvPr id="38" name="グループ化 37">
              <a:extLst>
                <a:ext uri="{FF2B5EF4-FFF2-40B4-BE49-F238E27FC236}">
                  <a16:creationId xmlns:a16="http://schemas.microsoft.com/office/drawing/2014/main" id="{EB72F7DC-5CEA-0C1A-886C-9F557C1B9CF7}"/>
                </a:ext>
              </a:extLst>
            </p:cNvPr>
            <p:cNvGrpSpPr/>
            <p:nvPr/>
          </p:nvGrpSpPr>
          <p:grpSpPr>
            <a:xfrm>
              <a:off x="905651" y="5949280"/>
              <a:ext cx="360040" cy="412097"/>
              <a:chOff x="2495600" y="4149081"/>
              <a:chExt cx="360040" cy="412097"/>
            </a:xfrm>
          </p:grpSpPr>
          <p:sp>
            <p:nvSpPr>
              <p:cNvPr id="39" name="正方形/長方形 38">
                <a:extLst>
                  <a:ext uri="{FF2B5EF4-FFF2-40B4-BE49-F238E27FC236}">
                    <a16:creationId xmlns:a16="http://schemas.microsoft.com/office/drawing/2014/main" id="{BB2B4CC2-01BC-7502-391C-0D971DEE98BD}"/>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40" name="正方形/長方形 39">
                <a:extLst>
                  <a:ext uri="{FF2B5EF4-FFF2-40B4-BE49-F238E27FC236}">
                    <a16:creationId xmlns:a16="http://schemas.microsoft.com/office/drawing/2014/main" id="{13780BFB-1D13-E11C-44A9-86E72EA97DAF}"/>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pSp>
        <p:sp>
          <p:nvSpPr>
            <p:cNvPr id="41" name="吹き出し: 四角形 40">
              <a:extLst>
                <a:ext uri="{FF2B5EF4-FFF2-40B4-BE49-F238E27FC236}">
                  <a16:creationId xmlns:a16="http://schemas.microsoft.com/office/drawing/2014/main" id="{575337AC-6C44-228C-7662-D3D1171855D6}"/>
                </a:ext>
              </a:extLst>
            </p:cNvPr>
            <p:cNvSpPr/>
            <p:nvPr/>
          </p:nvSpPr>
          <p:spPr>
            <a:xfrm>
              <a:off x="3647728" y="1825432"/>
              <a:ext cx="1656184" cy="369332"/>
            </a:xfrm>
            <a:prstGeom prst="wedgeRectCallout">
              <a:avLst>
                <a:gd name="adj1" fmla="val -51521"/>
                <a:gd name="adj2" fmla="val 7075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t>ノード：部屋</a:t>
              </a:r>
              <a:endParaRPr kumimoji="1" lang="ja-JP" altLang="en-US" sz="1600" dirty="0"/>
            </a:p>
          </p:txBody>
        </p:sp>
        <p:sp>
          <p:nvSpPr>
            <p:cNvPr id="42" name="吹き出し: 四角形 41">
              <a:extLst>
                <a:ext uri="{FF2B5EF4-FFF2-40B4-BE49-F238E27FC236}">
                  <a16:creationId xmlns:a16="http://schemas.microsoft.com/office/drawing/2014/main" id="{05F85AF8-81D6-2FD2-44D1-31007DDFA2C9}"/>
                </a:ext>
              </a:extLst>
            </p:cNvPr>
            <p:cNvSpPr/>
            <p:nvPr/>
          </p:nvSpPr>
          <p:spPr>
            <a:xfrm>
              <a:off x="3647728" y="2547304"/>
              <a:ext cx="3372364" cy="369332"/>
            </a:xfrm>
            <a:prstGeom prst="wedgeRectCallout">
              <a:avLst>
                <a:gd name="adj1" fmla="val -60250"/>
                <a:gd name="adj2" fmla="val -5166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t>エッジ：視認性・移動可能性</a:t>
              </a:r>
              <a:endParaRPr kumimoji="1" lang="ja-JP" altLang="en-US" sz="1600" dirty="0"/>
            </a:p>
          </p:txBody>
        </p:sp>
        <p:sp>
          <p:nvSpPr>
            <p:cNvPr id="43" name="テキスト ボックス 42">
              <a:extLst>
                <a:ext uri="{FF2B5EF4-FFF2-40B4-BE49-F238E27FC236}">
                  <a16:creationId xmlns:a16="http://schemas.microsoft.com/office/drawing/2014/main" id="{8893F5E9-0B44-D846-BB96-223C1637D2DB}"/>
                </a:ext>
              </a:extLst>
            </p:cNvPr>
            <p:cNvSpPr txBox="1"/>
            <p:nvPr/>
          </p:nvSpPr>
          <p:spPr>
            <a:xfrm>
              <a:off x="1415480" y="4222528"/>
              <a:ext cx="3130768" cy="379313"/>
            </a:xfrm>
            <a:prstGeom prst="rect">
              <a:avLst/>
            </a:prstGeom>
            <a:noFill/>
          </p:spPr>
          <p:txBody>
            <a:bodyPr wrap="none" rtlCol="0">
              <a:spAutoFit/>
            </a:bodyPr>
            <a:lstStyle/>
            <a:p>
              <a:r>
                <a:rPr kumimoji="1" lang="ja-JP" altLang="en-US" sz="1600" dirty="0"/>
                <a:t>患者</a:t>
              </a:r>
              <a:r>
                <a:rPr kumimoji="1" lang="en-US" altLang="ja-JP" sz="1600" dirty="0"/>
                <a:t>A</a:t>
              </a:r>
              <a:r>
                <a:rPr kumimoji="1" lang="ja-JP" altLang="en-US" sz="1600" dirty="0"/>
                <a:t>：認知症・</a:t>
              </a:r>
              <a:r>
                <a:rPr kumimoji="1" lang="en-US" altLang="ja-JP" sz="1600" dirty="0"/>
                <a:t>70</a:t>
              </a:r>
              <a:r>
                <a:rPr lang="ja-JP" altLang="en-US" sz="1600" dirty="0"/>
                <a:t>代・女性</a:t>
              </a:r>
              <a:endParaRPr kumimoji="1" lang="ja-JP" altLang="en-US" sz="1600" dirty="0"/>
            </a:p>
          </p:txBody>
        </p:sp>
        <p:sp>
          <p:nvSpPr>
            <p:cNvPr id="44" name="テキスト ボックス 43">
              <a:extLst>
                <a:ext uri="{FF2B5EF4-FFF2-40B4-BE49-F238E27FC236}">
                  <a16:creationId xmlns:a16="http://schemas.microsoft.com/office/drawing/2014/main" id="{79B2F88E-D4BC-224B-9DA1-6B0CCFB956D0}"/>
                </a:ext>
              </a:extLst>
            </p:cNvPr>
            <p:cNvSpPr txBox="1"/>
            <p:nvPr/>
          </p:nvSpPr>
          <p:spPr>
            <a:xfrm>
              <a:off x="1415480" y="4742221"/>
              <a:ext cx="3348083" cy="379313"/>
            </a:xfrm>
            <a:prstGeom prst="rect">
              <a:avLst/>
            </a:prstGeom>
            <a:noFill/>
          </p:spPr>
          <p:txBody>
            <a:bodyPr wrap="none" rtlCol="0">
              <a:spAutoFit/>
            </a:bodyPr>
            <a:lstStyle/>
            <a:p>
              <a:r>
                <a:rPr kumimoji="1" lang="ja-JP" altLang="en-US" sz="1600" dirty="0"/>
                <a:t>患者</a:t>
              </a:r>
              <a:r>
                <a:rPr kumimoji="1" lang="en-US" altLang="ja-JP" sz="1600" dirty="0"/>
                <a:t>B</a:t>
              </a:r>
              <a:r>
                <a:rPr kumimoji="1" lang="ja-JP" altLang="en-US" sz="1600" dirty="0"/>
                <a:t>：寝たきり・</a:t>
              </a:r>
              <a:r>
                <a:rPr lang="en-US" altLang="ja-JP" sz="1600" dirty="0"/>
                <a:t>9</a:t>
              </a:r>
              <a:r>
                <a:rPr kumimoji="1" lang="en-US" altLang="ja-JP" sz="1600" dirty="0"/>
                <a:t>0</a:t>
              </a:r>
              <a:r>
                <a:rPr lang="ja-JP" altLang="en-US" sz="1600" dirty="0"/>
                <a:t>代・男性</a:t>
              </a:r>
              <a:endParaRPr kumimoji="1" lang="ja-JP" altLang="en-US" sz="1600" dirty="0"/>
            </a:p>
          </p:txBody>
        </p:sp>
        <p:sp>
          <p:nvSpPr>
            <p:cNvPr id="45" name="テキスト ボックス 44">
              <a:extLst>
                <a:ext uri="{FF2B5EF4-FFF2-40B4-BE49-F238E27FC236}">
                  <a16:creationId xmlns:a16="http://schemas.microsoft.com/office/drawing/2014/main" id="{96B908CC-427C-A4E0-8B2A-67272539B573}"/>
                </a:ext>
              </a:extLst>
            </p:cNvPr>
            <p:cNvSpPr txBox="1"/>
            <p:nvPr/>
          </p:nvSpPr>
          <p:spPr>
            <a:xfrm>
              <a:off x="1415480" y="5398627"/>
              <a:ext cx="4050314" cy="379313"/>
            </a:xfrm>
            <a:prstGeom prst="rect">
              <a:avLst/>
            </a:prstGeom>
            <a:noFill/>
          </p:spPr>
          <p:txBody>
            <a:bodyPr wrap="none" rtlCol="0">
              <a:spAutoFit/>
            </a:bodyPr>
            <a:lstStyle/>
            <a:p>
              <a:r>
                <a:rPr kumimoji="1" lang="ja-JP" altLang="en-US" sz="1600" dirty="0"/>
                <a:t>スタッフ</a:t>
              </a:r>
              <a:r>
                <a:rPr kumimoji="1" lang="en-US" altLang="ja-JP" sz="1600" dirty="0"/>
                <a:t>D</a:t>
              </a:r>
              <a:r>
                <a:rPr kumimoji="1" lang="ja-JP" altLang="en-US" sz="1600" dirty="0"/>
                <a:t>：介護福祉士・</a:t>
              </a:r>
              <a:r>
                <a:rPr kumimoji="1" lang="en-US" altLang="ja-JP" sz="1600" dirty="0"/>
                <a:t>30</a:t>
              </a:r>
              <a:r>
                <a:rPr lang="ja-JP" altLang="en-US" sz="1600" dirty="0"/>
                <a:t>代・女性</a:t>
              </a:r>
              <a:endParaRPr kumimoji="1" lang="ja-JP" altLang="en-US" sz="1600" dirty="0"/>
            </a:p>
          </p:txBody>
        </p:sp>
        <p:sp>
          <p:nvSpPr>
            <p:cNvPr id="46" name="テキスト ボックス 45">
              <a:extLst>
                <a:ext uri="{FF2B5EF4-FFF2-40B4-BE49-F238E27FC236}">
                  <a16:creationId xmlns:a16="http://schemas.microsoft.com/office/drawing/2014/main" id="{D4347632-7A6D-9B3B-316D-1BF553AD3BD6}"/>
                </a:ext>
              </a:extLst>
            </p:cNvPr>
            <p:cNvSpPr txBox="1"/>
            <p:nvPr/>
          </p:nvSpPr>
          <p:spPr>
            <a:xfrm>
              <a:off x="1415480" y="5995946"/>
              <a:ext cx="5149459" cy="379313"/>
            </a:xfrm>
            <a:prstGeom prst="rect">
              <a:avLst/>
            </a:prstGeom>
            <a:noFill/>
          </p:spPr>
          <p:txBody>
            <a:bodyPr wrap="none" rtlCol="0">
              <a:spAutoFit/>
            </a:bodyPr>
            <a:lstStyle/>
            <a:p>
              <a:r>
                <a:rPr kumimoji="1" lang="ja-JP" altLang="en-US" sz="1600" dirty="0"/>
                <a:t>ロボット</a:t>
              </a:r>
              <a:r>
                <a:rPr kumimoji="1" lang="en-US" altLang="ja-JP" sz="1600" dirty="0"/>
                <a:t>G</a:t>
              </a:r>
              <a:r>
                <a:rPr kumimoji="1" lang="ja-JP" altLang="en-US" sz="1600" dirty="0"/>
                <a:t>：</a:t>
              </a:r>
              <a:r>
                <a:rPr lang="ja-JP" altLang="en-US" sz="1600" dirty="0"/>
                <a:t>自立移動</a:t>
              </a:r>
              <a:r>
                <a:rPr kumimoji="1" lang="ja-JP" altLang="en-US" sz="1600" dirty="0"/>
                <a:t>・会話・ビデオ撮影</a:t>
              </a:r>
              <a:r>
                <a:rPr kumimoji="1" lang="en-US" altLang="ja-JP" sz="1600" dirty="0"/>
                <a:t>&amp;</a:t>
              </a:r>
              <a:r>
                <a:rPr kumimoji="1" lang="ja-JP" altLang="en-US" sz="1600" dirty="0"/>
                <a:t>伝送</a:t>
              </a:r>
            </a:p>
          </p:txBody>
        </p:sp>
      </p:grpSp>
      <p:sp>
        <p:nvSpPr>
          <p:cNvPr id="48" name="コンテンツ プレースホルダー 2">
            <a:extLst>
              <a:ext uri="{FF2B5EF4-FFF2-40B4-BE49-F238E27FC236}">
                <a16:creationId xmlns:a16="http://schemas.microsoft.com/office/drawing/2014/main" id="{36B2B33A-E5C3-4195-A524-A657E02F5B2C}"/>
              </a:ext>
            </a:extLst>
          </p:cNvPr>
          <p:cNvSpPr txBox="1">
            <a:spLocks/>
          </p:cNvSpPr>
          <p:nvPr/>
        </p:nvSpPr>
        <p:spPr>
          <a:xfrm>
            <a:off x="6102436" y="1196390"/>
            <a:ext cx="5976664" cy="56616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ja-JP" altLang="en-US" dirty="0"/>
              <a:t>「④状態予測」のイメージ</a:t>
            </a:r>
            <a:endParaRPr lang="en-US" altLang="ja-JP" dirty="0"/>
          </a:p>
          <a:p>
            <a:pPr lvl="1"/>
            <a:r>
              <a:rPr lang="ja-JP" altLang="en-US" dirty="0"/>
              <a:t>例１</a:t>
            </a:r>
            <a:endParaRPr lang="en-US" altLang="ja-JP" dirty="0"/>
          </a:p>
          <a:p>
            <a:pPr marL="1085850" lvl="2" indent="-457200">
              <a:buFont typeface="+mj-ea"/>
              <a:buAutoNum type="circleNumDbPlain"/>
            </a:pPr>
            <a:r>
              <a:rPr lang="ja-JP" altLang="en-US" dirty="0"/>
              <a:t>看護師に通知</a:t>
            </a:r>
            <a:endParaRPr lang="en-US" altLang="ja-JP" dirty="0"/>
          </a:p>
          <a:p>
            <a:pPr marL="1085850" lvl="2" indent="-457200">
              <a:buFont typeface="+mj-ea"/>
              <a:buAutoNum type="circleNumDbPlain"/>
            </a:pPr>
            <a:r>
              <a:rPr lang="ja-JP" altLang="en-US" dirty="0"/>
              <a:t>看護師が確認</a:t>
            </a:r>
            <a:endParaRPr lang="en-US" altLang="ja-JP" dirty="0"/>
          </a:p>
          <a:p>
            <a:pPr marL="1085850" lvl="2" indent="-457200">
              <a:buFont typeface="+mj-ea"/>
              <a:buAutoNum type="circleNumDbPlain"/>
            </a:pPr>
            <a:r>
              <a:rPr lang="ja-JP" altLang="en-US" dirty="0"/>
              <a:t>元々見ていた患者</a:t>
            </a:r>
            <a:br>
              <a:rPr lang="en-US" altLang="ja-JP" dirty="0"/>
            </a:br>
            <a:r>
              <a:rPr lang="ja-JP" altLang="en-US" dirty="0"/>
              <a:t>の見守りが手薄</a:t>
            </a:r>
            <a:endParaRPr lang="en-US" altLang="ja-JP" dirty="0"/>
          </a:p>
          <a:p>
            <a:pPr lvl="1"/>
            <a:endParaRPr lang="en-US" altLang="ja-JP" dirty="0"/>
          </a:p>
          <a:p>
            <a:pPr lvl="1"/>
            <a:r>
              <a:rPr lang="ja-JP" altLang="en-US" dirty="0"/>
              <a:t>例２</a:t>
            </a:r>
            <a:endParaRPr lang="en-US" altLang="ja-JP" dirty="0"/>
          </a:p>
          <a:p>
            <a:pPr marL="1085850" lvl="2" indent="-457200">
              <a:buFont typeface="+mj-ea"/>
              <a:buAutoNum type="circleNumDbPlain"/>
            </a:pPr>
            <a:r>
              <a:rPr lang="ja-JP" altLang="en-US" dirty="0"/>
              <a:t>ロボットに通知</a:t>
            </a:r>
            <a:endParaRPr lang="en-US" altLang="ja-JP" dirty="0"/>
          </a:p>
          <a:p>
            <a:pPr marL="1085850" lvl="2" indent="-457200">
              <a:buFont typeface="+mj-ea"/>
              <a:buAutoNum type="circleNumDbPlain"/>
            </a:pPr>
            <a:r>
              <a:rPr lang="ja-JP" altLang="en-US" dirty="0"/>
              <a:t>ロボットが確認</a:t>
            </a:r>
            <a:endParaRPr lang="en-US" altLang="ja-JP" dirty="0"/>
          </a:p>
          <a:p>
            <a:pPr marL="1085850" lvl="2" indent="-457200">
              <a:buFont typeface="+mj-ea"/>
              <a:buAutoNum type="circleNumDbPlain"/>
            </a:pPr>
            <a:r>
              <a:rPr lang="ja-JP" altLang="en-US" dirty="0"/>
              <a:t>ロボットが中継</a:t>
            </a:r>
            <a:endParaRPr lang="en-US" altLang="ja-JP" dirty="0"/>
          </a:p>
          <a:p>
            <a:pPr marL="1085850" lvl="2" indent="-457200">
              <a:buFont typeface="+mj-ea"/>
              <a:buAutoNum type="circleNumDbPlain"/>
            </a:pPr>
            <a:r>
              <a:rPr lang="ja-JP" altLang="en-US" dirty="0"/>
              <a:t>看護師が患者</a:t>
            </a:r>
            <a:r>
              <a:rPr lang="en-US" altLang="ja-JP" dirty="0"/>
              <a:t>A,B</a:t>
            </a:r>
            <a:br>
              <a:rPr lang="en-US" altLang="ja-JP" dirty="0"/>
            </a:br>
            <a:r>
              <a:rPr lang="ja-JP" altLang="en-US" dirty="0"/>
              <a:t>両方を確認可能</a:t>
            </a:r>
          </a:p>
        </p:txBody>
      </p:sp>
      <p:grpSp>
        <p:nvGrpSpPr>
          <p:cNvPr id="112" name="グループ化 111">
            <a:extLst>
              <a:ext uri="{FF2B5EF4-FFF2-40B4-BE49-F238E27FC236}">
                <a16:creationId xmlns:a16="http://schemas.microsoft.com/office/drawing/2014/main" id="{8A40DD63-3915-A138-83FC-C62845BC6BCF}"/>
              </a:ext>
            </a:extLst>
          </p:cNvPr>
          <p:cNvGrpSpPr/>
          <p:nvPr/>
        </p:nvGrpSpPr>
        <p:grpSpPr>
          <a:xfrm>
            <a:off x="9249406" y="1633119"/>
            <a:ext cx="2553948" cy="2200545"/>
            <a:chOff x="6229551" y="1852944"/>
            <a:chExt cx="3473115" cy="2992522"/>
          </a:xfrm>
        </p:grpSpPr>
        <p:cxnSp>
          <p:nvCxnSpPr>
            <p:cNvPr id="49" name="直線矢印コネクタ 48">
              <a:extLst>
                <a:ext uri="{FF2B5EF4-FFF2-40B4-BE49-F238E27FC236}">
                  <a16:creationId xmlns:a16="http://schemas.microsoft.com/office/drawing/2014/main" id="{3F4B5271-965F-FEB2-A478-7E79A9C52B1A}"/>
                </a:ext>
              </a:extLst>
            </p:cNvPr>
            <p:cNvCxnSpPr>
              <a:cxnSpLocks/>
            </p:cNvCxnSpPr>
            <p:nvPr/>
          </p:nvCxnSpPr>
          <p:spPr>
            <a:xfrm flipV="1">
              <a:off x="6603865" y="2225198"/>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B27763D9-D81D-6D42-59BD-72DE7F8C3210}"/>
                </a:ext>
              </a:extLst>
            </p:cNvPr>
            <p:cNvCxnSpPr>
              <a:cxnSpLocks/>
            </p:cNvCxnSpPr>
            <p:nvPr/>
          </p:nvCxnSpPr>
          <p:spPr>
            <a:xfrm>
              <a:off x="6578361" y="3037876"/>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F61A8972-82DC-29F7-39D8-8778E07FD1D2}"/>
                </a:ext>
              </a:extLst>
            </p:cNvPr>
            <p:cNvCxnSpPr>
              <a:cxnSpLocks/>
            </p:cNvCxnSpPr>
            <p:nvPr/>
          </p:nvCxnSpPr>
          <p:spPr>
            <a:xfrm>
              <a:off x="6255132" y="4459209"/>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7C9D77B4-94B2-886D-3B25-B5001E10E860}"/>
                </a:ext>
              </a:extLst>
            </p:cNvPr>
            <p:cNvCxnSpPr>
              <a:cxnSpLocks/>
            </p:cNvCxnSpPr>
            <p:nvPr/>
          </p:nvCxnSpPr>
          <p:spPr>
            <a:xfrm flipV="1">
              <a:off x="6494238" y="3477682"/>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E62C8B28-53AD-9BF7-832D-50DBED35E088}"/>
                </a:ext>
              </a:extLst>
            </p:cNvPr>
            <p:cNvCxnSpPr>
              <a:cxnSpLocks/>
            </p:cNvCxnSpPr>
            <p:nvPr/>
          </p:nvCxnSpPr>
          <p:spPr>
            <a:xfrm flipV="1">
              <a:off x="6576638" y="1880128"/>
              <a:ext cx="0" cy="2793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BC1ECE65-C3E9-8E3C-758E-0CA630B8BDED}"/>
                </a:ext>
              </a:extLst>
            </p:cNvPr>
            <p:cNvCxnSpPr>
              <a:cxnSpLocks/>
            </p:cNvCxnSpPr>
            <p:nvPr/>
          </p:nvCxnSpPr>
          <p:spPr>
            <a:xfrm flipV="1">
              <a:off x="8273574" y="3656178"/>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1D38E3D2-241D-E629-FE98-1551C119D705}"/>
                </a:ext>
              </a:extLst>
            </p:cNvPr>
            <p:cNvCxnSpPr>
              <a:cxnSpLocks/>
            </p:cNvCxnSpPr>
            <p:nvPr/>
          </p:nvCxnSpPr>
          <p:spPr>
            <a:xfrm>
              <a:off x="7813000" y="3656178"/>
              <a:ext cx="166818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4951B934-972D-C157-5817-6619A149C12D}"/>
                </a:ext>
              </a:extLst>
            </p:cNvPr>
            <p:cNvSpPr txBox="1"/>
            <p:nvPr/>
          </p:nvSpPr>
          <p:spPr>
            <a:xfrm>
              <a:off x="7987253" y="2787164"/>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57" name="テキスト ボックス 56">
              <a:extLst>
                <a:ext uri="{FF2B5EF4-FFF2-40B4-BE49-F238E27FC236}">
                  <a16:creationId xmlns:a16="http://schemas.microsoft.com/office/drawing/2014/main" id="{D9C5709D-0FA8-269E-5449-06BCD3DEF5FE}"/>
                </a:ext>
              </a:extLst>
            </p:cNvPr>
            <p:cNvSpPr txBox="1"/>
            <p:nvPr/>
          </p:nvSpPr>
          <p:spPr>
            <a:xfrm>
              <a:off x="6229551" y="1852944"/>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58" name="直線矢印コネクタ 57">
              <a:extLst>
                <a:ext uri="{FF2B5EF4-FFF2-40B4-BE49-F238E27FC236}">
                  <a16:creationId xmlns:a16="http://schemas.microsoft.com/office/drawing/2014/main" id="{E7754429-6888-1F0A-40C7-CDC71D54E38E}"/>
                </a:ext>
              </a:extLst>
            </p:cNvPr>
            <p:cNvCxnSpPr>
              <a:cxnSpLocks/>
            </p:cNvCxnSpPr>
            <p:nvPr/>
          </p:nvCxnSpPr>
          <p:spPr>
            <a:xfrm flipV="1">
              <a:off x="7430948" y="3659100"/>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EF84B68F-D6B3-24C8-2834-DB5740892239}"/>
                </a:ext>
              </a:extLst>
            </p:cNvPr>
            <p:cNvCxnSpPr>
              <a:cxnSpLocks/>
            </p:cNvCxnSpPr>
            <p:nvPr/>
          </p:nvCxnSpPr>
          <p:spPr>
            <a:xfrm>
              <a:off x="7211848" y="4043348"/>
              <a:ext cx="166781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楕円 59">
              <a:extLst>
                <a:ext uri="{FF2B5EF4-FFF2-40B4-BE49-F238E27FC236}">
                  <a16:creationId xmlns:a16="http://schemas.microsoft.com/office/drawing/2014/main" id="{031732D6-0623-7748-DD19-8235137C4552}"/>
                </a:ext>
              </a:extLst>
            </p:cNvPr>
            <p:cNvSpPr/>
            <p:nvPr/>
          </p:nvSpPr>
          <p:spPr>
            <a:xfrm>
              <a:off x="6396618" y="4361225"/>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BEFB8569-40C3-A426-405E-05AB02E2F064}"/>
                </a:ext>
              </a:extLst>
            </p:cNvPr>
            <p:cNvSpPr/>
            <p:nvPr/>
          </p:nvSpPr>
          <p:spPr>
            <a:xfrm>
              <a:off x="7245972" y="4361225"/>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2" name="楕円 61">
              <a:extLst>
                <a:ext uri="{FF2B5EF4-FFF2-40B4-BE49-F238E27FC236}">
                  <a16:creationId xmlns:a16="http://schemas.microsoft.com/office/drawing/2014/main" id="{DD4706D3-2830-6574-7088-610FC2287298}"/>
                </a:ext>
              </a:extLst>
            </p:cNvPr>
            <p:cNvSpPr/>
            <p:nvPr/>
          </p:nvSpPr>
          <p:spPr>
            <a:xfrm>
              <a:off x="8095367" y="4361225"/>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C72CCD2F-9F3F-DD88-4C0F-1F3DE338E8AB}"/>
                </a:ext>
              </a:extLst>
            </p:cNvPr>
            <p:cNvSpPr/>
            <p:nvPr/>
          </p:nvSpPr>
          <p:spPr>
            <a:xfrm>
              <a:off x="7052227" y="394367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A1EDCD74-B09E-A960-11D8-76803593119F}"/>
                </a:ext>
              </a:extLst>
            </p:cNvPr>
            <p:cNvSpPr/>
            <p:nvPr/>
          </p:nvSpPr>
          <p:spPr>
            <a:xfrm>
              <a:off x="7901581" y="394367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2CC57AEB-9745-CCD4-A97E-FF3204026711}"/>
                </a:ext>
              </a:extLst>
            </p:cNvPr>
            <p:cNvSpPr/>
            <p:nvPr/>
          </p:nvSpPr>
          <p:spPr>
            <a:xfrm>
              <a:off x="8750976" y="394367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6" name="楕円 65">
              <a:extLst>
                <a:ext uri="{FF2B5EF4-FFF2-40B4-BE49-F238E27FC236}">
                  <a16:creationId xmlns:a16="http://schemas.microsoft.com/office/drawing/2014/main" id="{CF62F6BE-5418-CFFF-6259-C46C1318F421}"/>
                </a:ext>
              </a:extLst>
            </p:cNvPr>
            <p:cNvSpPr/>
            <p:nvPr/>
          </p:nvSpPr>
          <p:spPr>
            <a:xfrm>
              <a:off x="7643877" y="3562259"/>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C3EEA7ED-65B3-FD83-002F-F4F740F32A15}"/>
                </a:ext>
              </a:extLst>
            </p:cNvPr>
            <p:cNvSpPr/>
            <p:nvPr/>
          </p:nvSpPr>
          <p:spPr>
            <a:xfrm>
              <a:off x="8493231" y="3562259"/>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B469636B-4E47-9D71-D6D7-79E5A6F84E27}"/>
                </a:ext>
              </a:extLst>
            </p:cNvPr>
            <p:cNvSpPr/>
            <p:nvPr/>
          </p:nvSpPr>
          <p:spPr>
            <a:xfrm>
              <a:off x="9342626" y="3562259"/>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69" name="グループ化 68">
              <a:extLst>
                <a:ext uri="{FF2B5EF4-FFF2-40B4-BE49-F238E27FC236}">
                  <a16:creationId xmlns:a16="http://schemas.microsoft.com/office/drawing/2014/main" id="{229B1571-A168-D5B4-1912-F37DF5FB1D66}"/>
                </a:ext>
              </a:extLst>
            </p:cNvPr>
            <p:cNvGrpSpPr/>
            <p:nvPr/>
          </p:nvGrpSpPr>
          <p:grpSpPr>
            <a:xfrm>
              <a:off x="8763468" y="3818579"/>
              <a:ext cx="334117" cy="412098"/>
              <a:chOff x="1004572" y="4149080"/>
              <a:chExt cx="334117" cy="412098"/>
            </a:xfrm>
            <a:solidFill>
              <a:schemeClr val="bg1">
                <a:lumMod val="95000"/>
              </a:schemeClr>
            </a:solidFill>
          </p:grpSpPr>
          <p:sp>
            <p:nvSpPr>
              <p:cNvPr id="70" name="二等辺三角形 69">
                <a:extLst>
                  <a:ext uri="{FF2B5EF4-FFF2-40B4-BE49-F238E27FC236}">
                    <a16:creationId xmlns:a16="http://schemas.microsoft.com/office/drawing/2014/main" id="{A13897A0-AAD0-121D-C160-BC7C31956AB7}"/>
                  </a:ext>
                </a:extLst>
              </p:cNvPr>
              <p:cNvSpPr/>
              <p:nvPr/>
            </p:nvSpPr>
            <p:spPr>
              <a:xfrm rot="10800000">
                <a:off x="1004572"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楕円 70">
                <a:extLst>
                  <a:ext uri="{FF2B5EF4-FFF2-40B4-BE49-F238E27FC236}">
                    <a16:creationId xmlns:a16="http://schemas.microsoft.com/office/drawing/2014/main" id="{2741B0D8-5559-07BC-9195-D491CA40E24F}"/>
                  </a:ext>
                </a:extLst>
              </p:cNvPr>
              <p:cNvSpPr/>
              <p:nvPr/>
            </p:nvSpPr>
            <p:spPr>
              <a:xfrm>
                <a:off x="1055440"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2" name="グループ化 71">
              <a:extLst>
                <a:ext uri="{FF2B5EF4-FFF2-40B4-BE49-F238E27FC236}">
                  <a16:creationId xmlns:a16="http://schemas.microsoft.com/office/drawing/2014/main" id="{895AA3E7-445F-0E73-47E3-F373C0E27D4B}"/>
                </a:ext>
              </a:extLst>
            </p:cNvPr>
            <p:cNvGrpSpPr/>
            <p:nvPr/>
          </p:nvGrpSpPr>
          <p:grpSpPr>
            <a:xfrm>
              <a:off x="7914436" y="3732066"/>
              <a:ext cx="334117" cy="467747"/>
              <a:chOff x="1837225" y="4093431"/>
              <a:chExt cx="334117" cy="467747"/>
            </a:xfrm>
            <a:solidFill>
              <a:schemeClr val="bg1">
                <a:lumMod val="95000"/>
              </a:schemeClr>
            </a:solidFill>
          </p:grpSpPr>
          <p:sp>
            <p:nvSpPr>
              <p:cNvPr id="73" name="二等辺三角形 72">
                <a:extLst>
                  <a:ext uri="{FF2B5EF4-FFF2-40B4-BE49-F238E27FC236}">
                    <a16:creationId xmlns:a16="http://schemas.microsoft.com/office/drawing/2014/main" id="{8147032C-A302-DA01-AF43-0FC145E1D42F}"/>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4" name="楕円 73">
                <a:extLst>
                  <a:ext uri="{FF2B5EF4-FFF2-40B4-BE49-F238E27FC236}">
                    <a16:creationId xmlns:a16="http://schemas.microsoft.com/office/drawing/2014/main" id="{42A9414E-D101-DAFD-F02C-5BCDBC4D4C60}"/>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5" name="フローチャート: 手作業 74">
                <a:extLst>
                  <a:ext uri="{FF2B5EF4-FFF2-40B4-BE49-F238E27FC236}">
                    <a16:creationId xmlns:a16="http://schemas.microsoft.com/office/drawing/2014/main" id="{0823B904-3221-DE53-D510-98A447886911}"/>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76" name="グループ化 75">
              <a:extLst>
                <a:ext uri="{FF2B5EF4-FFF2-40B4-BE49-F238E27FC236}">
                  <a16:creationId xmlns:a16="http://schemas.microsoft.com/office/drawing/2014/main" id="{51DD58FA-8D62-D5E7-FE66-593DFF283F7F}"/>
                </a:ext>
              </a:extLst>
            </p:cNvPr>
            <p:cNvGrpSpPr/>
            <p:nvPr/>
          </p:nvGrpSpPr>
          <p:grpSpPr>
            <a:xfrm>
              <a:off x="6407652" y="4221756"/>
              <a:ext cx="334117" cy="412098"/>
              <a:chOff x="446620" y="4149080"/>
              <a:chExt cx="334117" cy="412098"/>
            </a:xfrm>
            <a:solidFill>
              <a:schemeClr val="bg1">
                <a:lumMod val="95000"/>
              </a:schemeClr>
            </a:solidFill>
          </p:grpSpPr>
          <p:sp>
            <p:nvSpPr>
              <p:cNvPr id="77" name="二等辺三角形 76">
                <a:extLst>
                  <a:ext uri="{FF2B5EF4-FFF2-40B4-BE49-F238E27FC236}">
                    <a16:creationId xmlns:a16="http://schemas.microsoft.com/office/drawing/2014/main" id="{4A3001DE-8E1A-51C1-B654-88B6434DC436}"/>
                  </a:ext>
                </a:extLst>
              </p:cNvPr>
              <p:cNvSpPr/>
              <p:nvPr/>
            </p:nvSpPr>
            <p:spPr>
              <a:xfrm>
                <a:off x="446620"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72ACDAC5-4F95-3EB3-4639-9B5734EF46C2}"/>
                  </a:ext>
                </a:extLst>
              </p:cNvPr>
              <p:cNvSpPr/>
              <p:nvPr/>
            </p:nvSpPr>
            <p:spPr>
              <a:xfrm>
                <a:off x="497488"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9" name="グループ化 78">
              <a:extLst>
                <a:ext uri="{FF2B5EF4-FFF2-40B4-BE49-F238E27FC236}">
                  <a16:creationId xmlns:a16="http://schemas.microsoft.com/office/drawing/2014/main" id="{14ABACD0-4B57-778E-14AB-C1138A52062D}"/>
                </a:ext>
              </a:extLst>
            </p:cNvPr>
            <p:cNvGrpSpPr/>
            <p:nvPr/>
          </p:nvGrpSpPr>
          <p:grpSpPr>
            <a:xfrm>
              <a:off x="8107320" y="4249310"/>
              <a:ext cx="360040" cy="412097"/>
              <a:chOff x="2495600" y="4149081"/>
              <a:chExt cx="360040" cy="412097"/>
            </a:xfrm>
            <a:solidFill>
              <a:schemeClr val="bg1">
                <a:lumMod val="95000"/>
              </a:schemeClr>
            </a:solidFill>
          </p:grpSpPr>
          <p:sp>
            <p:nvSpPr>
              <p:cNvPr id="80" name="正方形/長方形 79">
                <a:extLst>
                  <a:ext uri="{FF2B5EF4-FFF2-40B4-BE49-F238E27FC236}">
                    <a16:creationId xmlns:a16="http://schemas.microsoft.com/office/drawing/2014/main" id="{2F0C3A63-48CC-695F-6C85-3F702DA12136}"/>
                  </a:ext>
                </a:extLst>
              </p:cNvPr>
              <p:cNvSpPr/>
              <p:nvPr/>
            </p:nvSpPr>
            <p:spPr>
              <a:xfrm>
                <a:off x="2495600" y="4149081"/>
                <a:ext cx="360040" cy="170928"/>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58899D94-4A6D-B95C-24EB-E1DA0A6B48E4}"/>
                  </a:ext>
                </a:extLst>
              </p:cNvPr>
              <p:cNvSpPr/>
              <p:nvPr/>
            </p:nvSpPr>
            <p:spPr>
              <a:xfrm>
                <a:off x="2579628" y="4320009"/>
                <a:ext cx="191984" cy="241169"/>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82" name="直線矢印コネクタ 81">
              <a:extLst>
                <a:ext uri="{FF2B5EF4-FFF2-40B4-BE49-F238E27FC236}">
                  <a16:creationId xmlns:a16="http://schemas.microsoft.com/office/drawing/2014/main" id="{90141416-D830-E4DE-6217-92541E8645DC}"/>
                </a:ext>
              </a:extLst>
            </p:cNvPr>
            <p:cNvCxnSpPr>
              <a:cxnSpLocks/>
            </p:cNvCxnSpPr>
            <p:nvPr/>
          </p:nvCxnSpPr>
          <p:spPr>
            <a:xfrm>
              <a:off x="8231587" y="3943671"/>
              <a:ext cx="519389"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004B39B4-BAD1-E57D-1654-3B17DC3BA19C}"/>
                </a:ext>
              </a:extLst>
            </p:cNvPr>
            <p:cNvCxnSpPr>
              <a:cxnSpLocks/>
            </p:cNvCxnSpPr>
            <p:nvPr/>
          </p:nvCxnSpPr>
          <p:spPr>
            <a:xfrm flipV="1">
              <a:off x="8273574" y="222227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D8296C3C-7420-1852-799F-D720768A8953}"/>
                </a:ext>
              </a:extLst>
            </p:cNvPr>
            <p:cNvCxnSpPr>
              <a:cxnSpLocks/>
            </p:cNvCxnSpPr>
            <p:nvPr/>
          </p:nvCxnSpPr>
          <p:spPr>
            <a:xfrm>
              <a:off x="7813000" y="2222276"/>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52F7AA96-6285-1421-7DA1-8A0289A41F4A}"/>
                </a:ext>
              </a:extLst>
            </p:cNvPr>
            <p:cNvCxnSpPr>
              <a:cxnSpLocks/>
            </p:cNvCxnSpPr>
            <p:nvPr/>
          </p:nvCxnSpPr>
          <p:spPr>
            <a:xfrm flipV="1">
              <a:off x="7430948" y="2225198"/>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119E90B2-5A31-708A-177B-F0BFF53FE485}"/>
                </a:ext>
              </a:extLst>
            </p:cNvPr>
            <p:cNvCxnSpPr>
              <a:cxnSpLocks/>
            </p:cNvCxnSpPr>
            <p:nvPr/>
          </p:nvCxnSpPr>
          <p:spPr>
            <a:xfrm>
              <a:off x="7211848" y="2609446"/>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楕円 86">
              <a:extLst>
                <a:ext uri="{FF2B5EF4-FFF2-40B4-BE49-F238E27FC236}">
                  <a16:creationId xmlns:a16="http://schemas.microsoft.com/office/drawing/2014/main" id="{D55FAE69-6ABF-F368-6E86-3045C9601B15}"/>
                </a:ext>
              </a:extLst>
            </p:cNvPr>
            <p:cNvSpPr/>
            <p:nvPr/>
          </p:nvSpPr>
          <p:spPr>
            <a:xfrm>
              <a:off x="6396618" y="2927323"/>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D3C4EFF1-BA5F-D378-EBA6-73621217E54C}"/>
                </a:ext>
              </a:extLst>
            </p:cNvPr>
            <p:cNvSpPr/>
            <p:nvPr/>
          </p:nvSpPr>
          <p:spPr>
            <a:xfrm>
              <a:off x="7245972" y="2927323"/>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3F309C00-7705-9758-80F5-357BEA4C90C6}"/>
                </a:ext>
              </a:extLst>
            </p:cNvPr>
            <p:cNvSpPr/>
            <p:nvPr/>
          </p:nvSpPr>
          <p:spPr>
            <a:xfrm>
              <a:off x="8095367" y="2927323"/>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9425B59F-B3C9-6917-E1F7-38835A27CCE2}"/>
                </a:ext>
              </a:extLst>
            </p:cNvPr>
            <p:cNvSpPr/>
            <p:nvPr/>
          </p:nvSpPr>
          <p:spPr>
            <a:xfrm>
              <a:off x="7052227" y="250976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1" name="楕円 90">
              <a:extLst>
                <a:ext uri="{FF2B5EF4-FFF2-40B4-BE49-F238E27FC236}">
                  <a16:creationId xmlns:a16="http://schemas.microsoft.com/office/drawing/2014/main" id="{2C5C0E9F-0C4E-DF0F-AC17-4F18EA9DD5DC}"/>
                </a:ext>
              </a:extLst>
            </p:cNvPr>
            <p:cNvSpPr/>
            <p:nvPr/>
          </p:nvSpPr>
          <p:spPr>
            <a:xfrm>
              <a:off x="7901581" y="250976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2" name="楕円 91">
              <a:extLst>
                <a:ext uri="{FF2B5EF4-FFF2-40B4-BE49-F238E27FC236}">
                  <a16:creationId xmlns:a16="http://schemas.microsoft.com/office/drawing/2014/main" id="{136D7740-7F85-FE0D-B3A7-767B40774254}"/>
                </a:ext>
              </a:extLst>
            </p:cNvPr>
            <p:cNvSpPr/>
            <p:nvPr/>
          </p:nvSpPr>
          <p:spPr>
            <a:xfrm>
              <a:off x="8750976" y="250976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3" name="楕円 92">
              <a:extLst>
                <a:ext uri="{FF2B5EF4-FFF2-40B4-BE49-F238E27FC236}">
                  <a16:creationId xmlns:a16="http://schemas.microsoft.com/office/drawing/2014/main" id="{DA739738-133F-E34C-EE13-D78459B0459F}"/>
                </a:ext>
              </a:extLst>
            </p:cNvPr>
            <p:cNvSpPr/>
            <p:nvPr/>
          </p:nvSpPr>
          <p:spPr>
            <a:xfrm>
              <a:off x="7643877" y="212835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4" name="楕円 93">
              <a:extLst>
                <a:ext uri="{FF2B5EF4-FFF2-40B4-BE49-F238E27FC236}">
                  <a16:creationId xmlns:a16="http://schemas.microsoft.com/office/drawing/2014/main" id="{AC558100-BF6B-61C2-112B-FB902BCFD38B}"/>
                </a:ext>
              </a:extLst>
            </p:cNvPr>
            <p:cNvSpPr/>
            <p:nvPr/>
          </p:nvSpPr>
          <p:spPr>
            <a:xfrm>
              <a:off x="8493231" y="212835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5" name="楕円 94">
              <a:extLst>
                <a:ext uri="{FF2B5EF4-FFF2-40B4-BE49-F238E27FC236}">
                  <a16:creationId xmlns:a16="http://schemas.microsoft.com/office/drawing/2014/main" id="{3B364EC7-CBF3-0E25-132C-EAB3385B9978}"/>
                </a:ext>
              </a:extLst>
            </p:cNvPr>
            <p:cNvSpPr/>
            <p:nvPr/>
          </p:nvSpPr>
          <p:spPr>
            <a:xfrm>
              <a:off x="9342626" y="212835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cxnSp>
          <p:nvCxnSpPr>
            <p:cNvPr id="96" name="直線矢印コネクタ 95">
              <a:extLst>
                <a:ext uri="{FF2B5EF4-FFF2-40B4-BE49-F238E27FC236}">
                  <a16:creationId xmlns:a16="http://schemas.microsoft.com/office/drawing/2014/main" id="{66B55802-3F50-004D-F8E7-3273DAC8AB6F}"/>
                </a:ext>
              </a:extLst>
            </p:cNvPr>
            <p:cNvCxnSpPr>
              <a:cxnSpLocks/>
              <a:stCxn id="108" idx="2"/>
              <a:endCxn id="102" idx="7"/>
            </p:cNvCxnSpPr>
            <p:nvPr/>
          </p:nvCxnSpPr>
          <p:spPr>
            <a:xfrm flipH="1">
              <a:off x="6656871" y="2470558"/>
              <a:ext cx="459079" cy="3428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97" name="グループ化 96">
              <a:extLst>
                <a:ext uri="{FF2B5EF4-FFF2-40B4-BE49-F238E27FC236}">
                  <a16:creationId xmlns:a16="http://schemas.microsoft.com/office/drawing/2014/main" id="{DEB2C7DF-4FC1-F4AD-BDFC-BA0EAE552B7B}"/>
                </a:ext>
              </a:extLst>
            </p:cNvPr>
            <p:cNvGrpSpPr/>
            <p:nvPr/>
          </p:nvGrpSpPr>
          <p:grpSpPr>
            <a:xfrm>
              <a:off x="8763468" y="2376214"/>
              <a:ext cx="334117" cy="412098"/>
              <a:chOff x="1004572" y="4149080"/>
              <a:chExt cx="334117" cy="412098"/>
            </a:xfrm>
          </p:grpSpPr>
          <p:sp>
            <p:nvSpPr>
              <p:cNvPr id="98" name="二等辺三角形 97">
                <a:extLst>
                  <a:ext uri="{FF2B5EF4-FFF2-40B4-BE49-F238E27FC236}">
                    <a16:creationId xmlns:a16="http://schemas.microsoft.com/office/drawing/2014/main" id="{582715FC-918E-BF13-DC61-8FCC8911DBA0}"/>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楕円 98">
                <a:extLst>
                  <a:ext uri="{FF2B5EF4-FFF2-40B4-BE49-F238E27FC236}">
                    <a16:creationId xmlns:a16="http://schemas.microsoft.com/office/drawing/2014/main" id="{C6DD7F79-7610-0F5F-34A2-A33AEE42D85D}"/>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0" name="グループ化 99">
              <a:extLst>
                <a:ext uri="{FF2B5EF4-FFF2-40B4-BE49-F238E27FC236}">
                  <a16:creationId xmlns:a16="http://schemas.microsoft.com/office/drawing/2014/main" id="{0C0BDD36-5086-017A-3673-9AD1FE10738B}"/>
                </a:ext>
              </a:extLst>
            </p:cNvPr>
            <p:cNvGrpSpPr/>
            <p:nvPr/>
          </p:nvGrpSpPr>
          <p:grpSpPr>
            <a:xfrm>
              <a:off x="6407652" y="2779391"/>
              <a:ext cx="334117" cy="412098"/>
              <a:chOff x="446620" y="4149080"/>
              <a:chExt cx="334117" cy="412098"/>
            </a:xfrm>
          </p:grpSpPr>
          <p:sp>
            <p:nvSpPr>
              <p:cNvPr id="101" name="二等辺三角形 100">
                <a:extLst>
                  <a:ext uri="{FF2B5EF4-FFF2-40B4-BE49-F238E27FC236}">
                    <a16:creationId xmlns:a16="http://schemas.microsoft.com/office/drawing/2014/main" id="{0CBE709A-F6CE-05C5-2DC2-F692733D6075}"/>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楕円 101">
                <a:extLst>
                  <a:ext uri="{FF2B5EF4-FFF2-40B4-BE49-F238E27FC236}">
                    <a16:creationId xmlns:a16="http://schemas.microsoft.com/office/drawing/2014/main" id="{B4EB54E7-5BC3-942E-B9B0-8E94F432B33F}"/>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3" name="グループ化 102">
              <a:extLst>
                <a:ext uri="{FF2B5EF4-FFF2-40B4-BE49-F238E27FC236}">
                  <a16:creationId xmlns:a16="http://schemas.microsoft.com/office/drawing/2014/main" id="{B0599027-31D1-D9CD-F611-1F1CD8B0A870}"/>
                </a:ext>
              </a:extLst>
            </p:cNvPr>
            <p:cNvGrpSpPr/>
            <p:nvPr/>
          </p:nvGrpSpPr>
          <p:grpSpPr>
            <a:xfrm>
              <a:off x="8107320" y="2806945"/>
              <a:ext cx="360040" cy="412097"/>
              <a:chOff x="2495600" y="4149081"/>
              <a:chExt cx="360040" cy="412097"/>
            </a:xfrm>
          </p:grpSpPr>
          <p:sp>
            <p:nvSpPr>
              <p:cNvPr id="104" name="正方形/長方形 103">
                <a:extLst>
                  <a:ext uri="{FF2B5EF4-FFF2-40B4-BE49-F238E27FC236}">
                    <a16:creationId xmlns:a16="http://schemas.microsoft.com/office/drawing/2014/main" id="{988AD1FF-5469-9311-EA65-CB062E505407}"/>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 name="正方形/長方形 104">
                <a:extLst>
                  <a:ext uri="{FF2B5EF4-FFF2-40B4-BE49-F238E27FC236}">
                    <a16:creationId xmlns:a16="http://schemas.microsoft.com/office/drawing/2014/main" id="{DF31AEA2-FF9D-A894-EF49-FBE28930579F}"/>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6" name="グループ化 105">
              <a:extLst>
                <a:ext uri="{FF2B5EF4-FFF2-40B4-BE49-F238E27FC236}">
                  <a16:creationId xmlns:a16="http://schemas.microsoft.com/office/drawing/2014/main" id="{14AE419F-0112-A4E8-C310-56573F5841C7}"/>
                </a:ext>
              </a:extLst>
            </p:cNvPr>
            <p:cNvGrpSpPr/>
            <p:nvPr/>
          </p:nvGrpSpPr>
          <p:grpSpPr>
            <a:xfrm>
              <a:off x="7065082" y="2298717"/>
              <a:ext cx="334117" cy="467747"/>
              <a:chOff x="1837225" y="4093431"/>
              <a:chExt cx="334117" cy="467747"/>
            </a:xfrm>
          </p:grpSpPr>
          <p:sp>
            <p:nvSpPr>
              <p:cNvPr id="107" name="二等辺三角形 106">
                <a:extLst>
                  <a:ext uri="{FF2B5EF4-FFF2-40B4-BE49-F238E27FC236}">
                    <a16:creationId xmlns:a16="http://schemas.microsoft.com/office/drawing/2014/main" id="{A1E52264-4223-08BC-7C30-98248851A5A5}"/>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楕円 107">
                <a:extLst>
                  <a:ext uri="{FF2B5EF4-FFF2-40B4-BE49-F238E27FC236}">
                    <a16:creationId xmlns:a16="http://schemas.microsoft.com/office/drawing/2014/main" id="{2E6E0261-136D-89B1-EBFD-653DEE3C484D}"/>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フローチャート: 手作業 108">
                <a:extLst>
                  <a:ext uri="{FF2B5EF4-FFF2-40B4-BE49-F238E27FC236}">
                    <a16:creationId xmlns:a16="http://schemas.microsoft.com/office/drawing/2014/main" id="{A30EF5C7-CB9A-ABEE-19DB-937A46FD23F0}"/>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10" name="グラフィックス 109" descr="人工知能 単色塗りつぶし">
              <a:extLst>
                <a:ext uri="{FF2B5EF4-FFF2-40B4-BE49-F238E27FC236}">
                  <a16:creationId xmlns:a16="http://schemas.microsoft.com/office/drawing/2014/main" id="{731D5854-523D-CD69-20B2-CA427E42B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49585" y="4358496"/>
              <a:ext cx="486970" cy="486970"/>
            </a:xfrm>
            <a:prstGeom prst="rect">
              <a:avLst/>
            </a:prstGeom>
          </p:spPr>
        </p:pic>
        <p:cxnSp>
          <p:nvCxnSpPr>
            <p:cNvPr id="111" name="直線矢印コネクタ 110">
              <a:extLst>
                <a:ext uri="{FF2B5EF4-FFF2-40B4-BE49-F238E27FC236}">
                  <a16:creationId xmlns:a16="http://schemas.microsoft.com/office/drawing/2014/main" id="{78A902FE-965A-B0CC-ED95-2C7BB1C58E76}"/>
                </a:ext>
              </a:extLst>
            </p:cNvPr>
            <p:cNvCxnSpPr>
              <a:cxnSpLocks/>
            </p:cNvCxnSpPr>
            <p:nvPr/>
          </p:nvCxnSpPr>
          <p:spPr>
            <a:xfrm flipH="1" flipV="1">
              <a:off x="8210247" y="3986066"/>
              <a:ext cx="960542" cy="46312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7" name="グループ化 176">
            <a:extLst>
              <a:ext uri="{FF2B5EF4-FFF2-40B4-BE49-F238E27FC236}">
                <a16:creationId xmlns:a16="http://schemas.microsoft.com/office/drawing/2014/main" id="{E15E066E-88FC-27E5-ED98-37CAA7708421}"/>
              </a:ext>
            </a:extLst>
          </p:cNvPr>
          <p:cNvGrpSpPr/>
          <p:nvPr/>
        </p:nvGrpSpPr>
        <p:grpSpPr>
          <a:xfrm>
            <a:off x="9258204" y="4423487"/>
            <a:ext cx="2578732" cy="2221899"/>
            <a:chOff x="713426" y="3857466"/>
            <a:chExt cx="3473115" cy="2992522"/>
          </a:xfrm>
        </p:grpSpPr>
        <p:cxnSp>
          <p:nvCxnSpPr>
            <p:cNvPr id="113" name="直線矢印コネクタ 112">
              <a:extLst>
                <a:ext uri="{FF2B5EF4-FFF2-40B4-BE49-F238E27FC236}">
                  <a16:creationId xmlns:a16="http://schemas.microsoft.com/office/drawing/2014/main" id="{ABA3BA1C-8B3C-B252-FA73-8E13982EA6F4}"/>
                </a:ext>
              </a:extLst>
            </p:cNvPr>
            <p:cNvCxnSpPr>
              <a:cxnSpLocks/>
            </p:cNvCxnSpPr>
            <p:nvPr/>
          </p:nvCxnSpPr>
          <p:spPr>
            <a:xfrm flipV="1">
              <a:off x="1087740" y="422972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直線矢印コネクタ 113">
              <a:extLst>
                <a:ext uri="{FF2B5EF4-FFF2-40B4-BE49-F238E27FC236}">
                  <a16:creationId xmlns:a16="http://schemas.microsoft.com/office/drawing/2014/main" id="{37FF65D4-A074-DE34-D56B-51953B092101}"/>
                </a:ext>
              </a:extLst>
            </p:cNvPr>
            <p:cNvCxnSpPr>
              <a:cxnSpLocks/>
            </p:cNvCxnSpPr>
            <p:nvPr/>
          </p:nvCxnSpPr>
          <p:spPr>
            <a:xfrm>
              <a:off x="1062236" y="504239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F2FCCE5E-2C69-CE51-839E-DB6291BACF85}"/>
                </a:ext>
              </a:extLst>
            </p:cNvPr>
            <p:cNvCxnSpPr>
              <a:cxnSpLocks/>
            </p:cNvCxnSpPr>
            <p:nvPr/>
          </p:nvCxnSpPr>
          <p:spPr>
            <a:xfrm>
              <a:off x="739007" y="6463731"/>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矢印コネクタ 115">
              <a:extLst>
                <a:ext uri="{FF2B5EF4-FFF2-40B4-BE49-F238E27FC236}">
                  <a16:creationId xmlns:a16="http://schemas.microsoft.com/office/drawing/2014/main" id="{7A143D47-EC06-F149-FC86-2946878A0008}"/>
                </a:ext>
              </a:extLst>
            </p:cNvPr>
            <p:cNvCxnSpPr>
              <a:cxnSpLocks/>
            </p:cNvCxnSpPr>
            <p:nvPr/>
          </p:nvCxnSpPr>
          <p:spPr>
            <a:xfrm flipV="1">
              <a:off x="978113" y="5482204"/>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7873B41F-E6D2-AEE1-4E46-5CFEEAAE2C17}"/>
                </a:ext>
              </a:extLst>
            </p:cNvPr>
            <p:cNvCxnSpPr>
              <a:cxnSpLocks/>
            </p:cNvCxnSpPr>
            <p:nvPr/>
          </p:nvCxnSpPr>
          <p:spPr>
            <a:xfrm flipV="1">
              <a:off x="1060513" y="3884650"/>
              <a:ext cx="0" cy="2793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矢印コネクタ 117">
              <a:extLst>
                <a:ext uri="{FF2B5EF4-FFF2-40B4-BE49-F238E27FC236}">
                  <a16:creationId xmlns:a16="http://schemas.microsoft.com/office/drawing/2014/main" id="{B608EB6D-27CA-E8B0-3AF9-9E7B28F33AFE}"/>
                </a:ext>
              </a:extLst>
            </p:cNvPr>
            <p:cNvCxnSpPr>
              <a:cxnSpLocks/>
            </p:cNvCxnSpPr>
            <p:nvPr/>
          </p:nvCxnSpPr>
          <p:spPr>
            <a:xfrm flipV="1">
              <a:off x="2757449" y="5660700"/>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A45B627F-4A60-9E75-078C-9B24BBF4FCBD}"/>
                </a:ext>
              </a:extLst>
            </p:cNvPr>
            <p:cNvCxnSpPr>
              <a:cxnSpLocks/>
            </p:cNvCxnSpPr>
            <p:nvPr/>
          </p:nvCxnSpPr>
          <p:spPr>
            <a:xfrm>
              <a:off x="2296875" y="5660700"/>
              <a:ext cx="166818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0" name="テキスト ボックス 119">
              <a:extLst>
                <a:ext uri="{FF2B5EF4-FFF2-40B4-BE49-F238E27FC236}">
                  <a16:creationId xmlns:a16="http://schemas.microsoft.com/office/drawing/2014/main" id="{07C7D4D5-715E-0F76-DC07-361630DC0CF8}"/>
                </a:ext>
              </a:extLst>
            </p:cNvPr>
            <p:cNvSpPr txBox="1"/>
            <p:nvPr/>
          </p:nvSpPr>
          <p:spPr>
            <a:xfrm>
              <a:off x="2471128" y="4791686"/>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121" name="テキスト ボックス 120">
              <a:extLst>
                <a:ext uri="{FF2B5EF4-FFF2-40B4-BE49-F238E27FC236}">
                  <a16:creationId xmlns:a16="http://schemas.microsoft.com/office/drawing/2014/main" id="{15199FC4-6A38-2FE6-5C38-9798B602E79E}"/>
                </a:ext>
              </a:extLst>
            </p:cNvPr>
            <p:cNvSpPr txBox="1"/>
            <p:nvPr/>
          </p:nvSpPr>
          <p:spPr>
            <a:xfrm>
              <a:off x="713426" y="3857466"/>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122" name="直線矢印コネクタ 121">
              <a:extLst>
                <a:ext uri="{FF2B5EF4-FFF2-40B4-BE49-F238E27FC236}">
                  <a16:creationId xmlns:a16="http://schemas.microsoft.com/office/drawing/2014/main" id="{CF4D5AE2-2D68-D0EE-F719-27854C9376A2}"/>
                </a:ext>
              </a:extLst>
            </p:cNvPr>
            <p:cNvCxnSpPr>
              <a:cxnSpLocks/>
            </p:cNvCxnSpPr>
            <p:nvPr/>
          </p:nvCxnSpPr>
          <p:spPr>
            <a:xfrm flipV="1">
              <a:off x="1914823" y="5663622"/>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矢印コネクタ 122">
              <a:extLst>
                <a:ext uri="{FF2B5EF4-FFF2-40B4-BE49-F238E27FC236}">
                  <a16:creationId xmlns:a16="http://schemas.microsoft.com/office/drawing/2014/main" id="{05E1C5DB-C9B5-88EC-BECC-5896D1FE78EC}"/>
                </a:ext>
              </a:extLst>
            </p:cNvPr>
            <p:cNvCxnSpPr>
              <a:cxnSpLocks/>
            </p:cNvCxnSpPr>
            <p:nvPr/>
          </p:nvCxnSpPr>
          <p:spPr>
            <a:xfrm>
              <a:off x="1695723" y="6047870"/>
              <a:ext cx="166781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楕円 123">
              <a:extLst>
                <a:ext uri="{FF2B5EF4-FFF2-40B4-BE49-F238E27FC236}">
                  <a16:creationId xmlns:a16="http://schemas.microsoft.com/office/drawing/2014/main" id="{0118568B-61D6-87A4-3766-760B39A67945}"/>
                </a:ext>
              </a:extLst>
            </p:cNvPr>
            <p:cNvSpPr/>
            <p:nvPr/>
          </p:nvSpPr>
          <p:spPr>
            <a:xfrm>
              <a:off x="880493"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A3192C26-99B6-978D-369A-79A1710B08EC}"/>
                </a:ext>
              </a:extLst>
            </p:cNvPr>
            <p:cNvSpPr/>
            <p:nvPr/>
          </p:nvSpPr>
          <p:spPr>
            <a:xfrm>
              <a:off x="1729847"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98FD1C29-4B1B-7655-F887-25FB709F36A0}"/>
                </a:ext>
              </a:extLst>
            </p:cNvPr>
            <p:cNvSpPr/>
            <p:nvPr/>
          </p:nvSpPr>
          <p:spPr>
            <a:xfrm>
              <a:off x="2579242"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7" name="楕円 126">
              <a:extLst>
                <a:ext uri="{FF2B5EF4-FFF2-40B4-BE49-F238E27FC236}">
                  <a16:creationId xmlns:a16="http://schemas.microsoft.com/office/drawing/2014/main" id="{32D8830F-D18A-5BD8-4709-3948CD834C1E}"/>
                </a:ext>
              </a:extLst>
            </p:cNvPr>
            <p:cNvSpPr/>
            <p:nvPr/>
          </p:nvSpPr>
          <p:spPr>
            <a:xfrm>
              <a:off x="1536102"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8" name="楕円 127">
              <a:extLst>
                <a:ext uri="{FF2B5EF4-FFF2-40B4-BE49-F238E27FC236}">
                  <a16:creationId xmlns:a16="http://schemas.microsoft.com/office/drawing/2014/main" id="{0837FA61-E9CB-24BA-BD63-4A49411E9CC8}"/>
                </a:ext>
              </a:extLst>
            </p:cNvPr>
            <p:cNvSpPr/>
            <p:nvPr/>
          </p:nvSpPr>
          <p:spPr>
            <a:xfrm>
              <a:off x="2385456"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29" name="楕円 128">
              <a:extLst>
                <a:ext uri="{FF2B5EF4-FFF2-40B4-BE49-F238E27FC236}">
                  <a16:creationId xmlns:a16="http://schemas.microsoft.com/office/drawing/2014/main" id="{6E5BB863-DA2E-6F0D-3B39-D0FFBDDA2473}"/>
                </a:ext>
              </a:extLst>
            </p:cNvPr>
            <p:cNvSpPr/>
            <p:nvPr/>
          </p:nvSpPr>
          <p:spPr>
            <a:xfrm>
              <a:off x="3234851"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30" name="楕円 129">
              <a:extLst>
                <a:ext uri="{FF2B5EF4-FFF2-40B4-BE49-F238E27FC236}">
                  <a16:creationId xmlns:a16="http://schemas.microsoft.com/office/drawing/2014/main" id="{B65C8C67-56C4-9909-39BD-EF7BEEF58F12}"/>
                </a:ext>
              </a:extLst>
            </p:cNvPr>
            <p:cNvSpPr/>
            <p:nvPr/>
          </p:nvSpPr>
          <p:spPr>
            <a:xfrm>
              <a:off x="2127752"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31" name="楕円 130">
              <a:extLst>
                <a:ext uri="{FF2B5EF4-FFF2-40B4-BE49-F238E27FC236}">
                  <a16:creationId xmlns:a16="http://schemas.microsoft.com/office/drawing/2014/main" id="{B4B77A34-55C6-F523-1B4E-361B639F14EE}"/>
                </a:ext>
              </a:extLst>
            </p:cNvPr>
            <p:cNvSpPr/>
            <p:nvPr/>
          </p:nvSpPr>
          <p:spPr>
            <a:xfrm>
              <a:off x="2977106"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320D1581-A610-C6D9-544E-86FF5DEA81DA}"/>
                </a:ext>
              </a:extLst>
            </p:cNvPr>
            <p:cNvSpPr/>
            <p:nvPr/>
          </p:nvSpPr>
          <p:spPr>
            <a:xfrm>
              <a:off x="3826501"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133" name="グループ化 132">
              <a:extLst>
                <a:ext uri="{FF2B5EF4-FFF2-40B4-BE49-F238E27FC236}">
                  <a16:creationId xmlns:a16="http://schemas.microsoft.com/office/drawing/2014/main" id="{3F9F586F-0C87-39C0-E516-0394C9B80545}"/>
                </a:ext>
              </a:extLst>
            </p:cNvPr>
            <p:cNvGrpSpPr/>
            <p:nvPr/>
          </p:nvGrpSpPr>
          <p:grpSpPr>
            <a:xfrm>
              <a:off x="3247343" y="5823101"/>
              <a:ext cx="334117" cy="412098"/>
              <a:chOff x="1004572" y="4149080"/>
              <a:chExt cx="334117" cy="412098"/>
            </a:xfrm>
            <a:solidFill>
              <a:schemeClr val="bg1">
                <a:lumMod val="95000"/>
              </a:schemeClr>
            </a:solidFill>
          </p:grpSpPr>
          <p:sp>
            <p:nvSpPr>
              <p:cNvPr id="134" name="二等辺三角形 133">
                <a:extLst>
                  <a:ext uri="{FF2B5EF4-FFF2-40B4-BE49-F238E27FC236}">
                    <a16:creationId xmlns:a16="http://schemas.microsoft.com/office/drawing/2014/main" id="{461E40BD-060D-D9A4-7E12-9629AF7ECE47}"/>
                  </a:ext>
                </a:extLst>
              </p:cNvPr>
              <p:cNvSpPr/>
              <p:nvPr/>
            </p:nvSpPr>
            <p:spPr>
              <a:xfrm rot="10800000">
                <a:off x="1004572"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楕円 134">
                <a:extLst>
                  <a:ext uri="{FF2B5EF4-FFF2-40B4-BE49-F238E27FC236}">
                    <a16:creationId xmlns:a16="http://schemas.microsoft.com/office/drawing/2014/main" id="{576FFBF3-EA5D-465E-E785-B68D5FB6CBD8}"/>
                  </a:ext>
                </a:extLst>
              </p:cNvPr>
              <p:cNvSpPr/>
              <p:nvPr/>
            </p:nvSpPr>
            <p:spPr>
              <a:xfrm>
                <a:off x="1055440"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6" name="グループ化 135">
              <a:extLst>
                <a:ext uri="{FF2B5EF4-FFF2-40B4-BE49-F238E27FC236}">
                  <a16:creationId xmlns:a16="http://schemas.microsoft.com/office/drawing/2014/main" id="{F059E9DE-58B8-83A7-7E45-FB41E0AB4C5F}"/>
                </a:ext>
              </a:extLst>
            </p:cNvPr>
            <p:cNvGrpSpPr/>
            <p:nvPr/>
          </p:nvGrpSpPr>
          <p:grpSpPr>
            <a:xfrm>
              <a:off x="2398311" y="5736588"/>
              <a:ext cx="334117" cy="467747"/>
              <a:chOff x="1837225" y="4093431"/>
              <a:chExt cx="334117" cy="467747"/>
            </a:xfrm>
            <a:solidFill>
              <a:schemeClr val="bg1">
                <a:lumMod val="95000"/>
              </a:schemeClr>
            </a:solidFill>
          </p:grpSpPr>
          <p:sp>
            <p:nvSpPr>
              <p:cNvPr id="137" name="二等辺三角形 136">
                <a:extLst>
                  <a:ext uri="{FF2B5EF4-FFF2-40B4-BE49-F238E27FC236}">
                    <a16:creationId xmlns:a16="http://schemas.microsoft.com/office/drawing/2014/main" id="{910BBF40-CD12-86C1-B025-1E1573CB2E74}"/>
                  </a:ext>
                </a:extLst>
              </p:cNvPr>
              <p:cNvSpPr/>
              <p:nvPr/>
            </p:nvSpPr>
            <p:spPr>
              <a:xfrm>
                <a:off x="1837225"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8" name="楕円 137">
                <a:extLst>
                  <a:ext uri="{FF2B5EF4-FFF2-40B4-BE49-F238E27FC236}">
                    <a16:creationId xmlns:a16="http://schemas.microsoft.com/office/drawing/2014/main" id="{9BC66A82-63DA-33A2-9558-4DC2F5450442}"/>
                  </a:ext>
                </a:extLst>
              </p:cNvPr>
              <p:cNvSpPr/>
              <p:nvPr/>
            </p:nvSpPr>
            <p:spPr>
              <a:xfrm>
                <a:off x="1888093"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フローチャート: 手作業 138">
                <a:extLst>
                  <a:ext uri="{FF2B5EF4-FFF2-40B4-BE49-F238E27FC236}">
                    <a16:creationId xmlns:a16="http://schemas.microsoft.com/office/drawing/2014/main" id="{62CC2785-34B3-DAED-BB8D-B98C78A304FA}"/>
                  </a:ext>
                </a:extLst>
              </p:cNvPr>
              <p:cNvSpPr/>
              <p:nvPr/>
            </p:nvSpPr>
            <p:spPr>
              <a:xfrm>
                <a:off x="1892673" y="4093431"/>
                <a:ext cx="223219" cy="86513"/>
              </a:xfrm>
              <a:prstGeom prst="flowChartManualOperation">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0" name="グループ化 139">
              <a:extLst>
                <a:ext uri="{FF2B5EF4-FFF2-40B4-BE49-F238E27FC236}">
                  <a16:creationId xmlns:a16="http://schemas.microsoft.com/office/drawing/2014/main" id="{64633D4A-C633-7A84-36AB-36D2E19E05F2}"/>
                </a:ext>
              </a:extLst>
            </p:cNvPr>
            <p:cNvGrpSpPr/>
            <p:nvPr/>
          </p:nvGrpSpPr>
          <p:grpSpPr>
            <a:xfrm>
              <a:off x="891527" y="6226278"/>
              <a:ext cx="334117" cy="412098"/>
              <a:chOff x="446620" y="4149080"/>
              <a:chExt cx="334117" cy="412098"/>
            </a:xfrm>
            <a:solidFill>
              <a:schemeClr val="bg1">
                <a:lumMod val="95000"/>
              </a:schemeClr>
            </a:solidFill>
          </p:grpSpPr>
          <p:sp>
            <p:nvSpPr>
              <p:cNvPr id="141" name="二等辺三角形 140">
                <a:extLst>
                  <a:ext uri="{FF2B5EF4-FFF2-40B4-BE49-F238E27FC236}">
                    <a16:creationId xmlns:a16="http://schemas.microsoft.com/office/drawing/2014/main" id="{AF0E54F6-8131-58FD-50B2-CF244306F382}"/>
                  </a:ext>
                </a:extLst>
              </p:cNvPr>
              <p:cNvSpPr/>
              <p:nvPr/>
            </p:nvSpPr>
            <p:spPr>
              <a:xfrm>
                <a:off x="446620"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楕円 141">
                <a:extLst>
                  <a:ext uri="{FF2B5EF4-FFF2-40B4-BE49-F238E27FC236}">
                    <a16:creationId xmlns:a16="http://schemas.microsoft.com/office/drawing/2014/main" id="{CD061AD0-E4FC-AC47-466E-19DDA2868F4C}"/>
                  </a:ext>
                </a:extLst>
              </p:cNvPr>
              <p:cNvSpPr/>
              <p:nvPr/>
            </p:nvSpPr>
            <p:spPr>
              <a:xfrm>
                <a:off x="497488"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3" name="グループ化 142">
              <a:extLst>
                <a:ext uri="{FF2B5EF4-FFF2-40B4-BE49-F238E27FC236}">
                  <a16:creationId xmlns:a16="http://schemas.microsoft.com/office/drawing/2014/main" id="{0CF0918F-2DF9-617E-8AE6-A5D7FBDAF024}"/>
                </a:ext>
              </a:extLst>
            </p:cNvPr>
            <p:cNvGrpSpPr/>
            <p:nvPr/>
          </p:nvGrpSpPr>
          <p:grpSpPr>
            <a:xfrm>
              <a:off x="2591195" y="6253832"/>
              <a:ext cx="360040" cy="412097"/>
              <a:chOff x="2495600" y="4149081"/>
              <a:chExt cx="360040" cy="412097"/>
            </a:xfrm>
            <a:solidFill>
              <a:schemeClr val="bg1">
                <a:lumMod val="95000"/>
              </a:schemeClr>
            </a:solidFill>
          </p:grpSpPr>
          <p:sp>
            <p:nvSpPr>
              <p:cNvPr id="144" name="正方形/長方形 143">
                <a:extLst>
                  <a:ext uri="{FF2B5EF4-FFF2-40B4-BE49-F238E27FC236}">
                    <a16:creationId xmlns:a16="http://schemas.microsoft.com/office/drawing/2014/main" id="{FAC6B5DC-889C-FA9E-705C-CC44E8823469}"/>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5" name="正方形/長方形 144">
                <a:extLst>
                  <a:ext uri="{FF2B5EF4-FFF2-40B4-BE49-F238E27FC236}">
                    <a16:creationId xmlns:a16="http://schemas.microsoft.com/office/drawing/2014/main" id="{23C2D525-B2D3-9F3B-0B32-BF413B83D722}"/>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cxnSp>
          <p:nvCxnSpPr>
            <p:cNvPr id="146" name="直線矢印コネクタ 145">
              <a:extLst>
                <a:ext uri="{FF2B5EF4-FFF2-40B4-BE49-F238E27FC236}">
                  <a16:creationId xmlns:a16="http://schemas.microsoft.com/office/drawing/2014/main" id="{8FDA9D19-B043-646A-B5D5-538B794F5AD4}"/>
                </a:ext>
              </a:extLst>
            </p:cNvPr>
            <p:cNvCxnSpPr>
              <a:cxnSpLocks/>
            </p:cNvCxnSpPr>
            <p:nvPr/>
          </p:nvCxnSpPr>
          <p:spPr>
            <a:xfrm>
              <a:off x="2715462" y="5948193"/>
              <a:ext cx="519389"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線矢印コネクタ 146">
              <a:extLst>
                <a:ext uri="{FF2B5EF4-FFF2-40B4-BE49-F238E27FC236}">
                  <a16:creationId xmlns:a16="http://schemas.microsoft.com/office/drawing/2014/main" id="{8167E1CF-34D2-090A-AC86-689B1C968E88}"/>
                </a:ext>
              </a:extLst>
            </p:cNvPr>
            <p:cNvCxnSpPr>
              <a:cxnSpLocks/>
            </p:cNvCxnSpPr>
            <p:nvPr/>
          </p:nvCxnSpPr>
          <p:spPr>
            <a:xfrm flipV="1">
              <a:off x="2757449" y="4226798"/>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直線矢印コネクタ 147">
              <a:extLst>
                <a:ext uri="{FF2B5EF4-FFF2-40B4-BE49-F238E27FC236}">
                  <a16:creationId xmlns:a16="http://schemas.microsoft.com/office/drawing/2014/main" id="{5BB7F085-862E-4217-7F3F-CB070E56E2A3}"/>
                </a:ext>
              </a:extLst>
            </p:cNvPr>
            <p:cNvCxnSpPr>
              <a:cxnSpLocks/>
            </p:cNvCxnSpPr>
            <p:nvPr/>
          </p:nvCxnSpPr>
          <p:spPr>
            <a:xfrm>
              <a:off x="2296875" y="4226798"/>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直線矢印コネクタ 148">
              <a:extLst>
                <a:ext uri="{FF2B5EF4-FFF2-40B4-BE49-F238E27FC236}">
                  <a16:creationId xmlns:a16="http://schemas.microsoft.com/office/drawing/2014/main" id="{3765A2F5-7226-55E8-2B2F-B3849B5CCAD0}"/>
                </a:ext>
              </a:extLst>
            </p:cNvPr>
            <p:cNvCxnSpPr>
              <a:cxnSpLocks/>
            </p:cNvCxnSpPr>
            <p:nvPr/>
          </p:nvCxnSpPr>
          <p:spPr>
            <a:xfrm flipV="1">
              <a:off x="1914823" y="422972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直線矢印コネクタ 149">
              <a:extLst>
                <a:ext uri="{FF2B5EF4-FFF2-40B4-BE49-F238E27FC236}">
                  <a16:creationId xmlns:a16="http://schemas.microsoft.com/office/drawing/2014/main" id="{68BD3F30-5DAB-DB89-54D2-5A6CBAB9DDE7}"/>
                </a:ext>
              </a:extLst>
            </p:cNvPr>
            <p:cNvCxnSpPr>
              <a:cxnSpLocks/>
            </p:cNvCxnSpPr>
            <p:nvPr/>
          </p:nvCxnSpPr>
          <p:spPr>
            <a:xfrm>
              <a:off x="1695723" y="461396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1" name="楕円 150">
              <a:extLst>
                <a:ext uri="{FF2B5EF4-FFF2-40B4-BE49-F238E27FC236}">
                  <a16:creationId xmlns:a16="http://schemas.microsoft.com/office/drawing/2014/main" id="{91BEB2CC-36C5-8F03-B068-3AE362C9B7AE}"/>
                </a:ext>
              </a:extLst>
            </p:cNvPr>
            <p:cNvSpPr/>
            <p:nvPr/>
          </p:nvSpPr>
          <p:spPr>
            <a:xfrm>
              <a:off x="880493"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2" name="楕円 151">
              <a:extLst>
                <a:ext uri="{FF2B5EF4-FFF2-40B4-BE49-F238E27FC236}">
                  <a16:creationId xmlns:a16="http://schemas.microsoft.com/office/drawing/2014/main" id="{1E2FE660-E0AF-E7DD-0177-A9642155019F}"/>
                </a:ext>
              </a:extLst>
            </p:cNvPr>
            <p:cNvSpPr/>
            <p:nvPr/>
          </p:nvSpPr>
          <p:spPr>
            <a:xfrm>
              <a:off x="1729847"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3" name="楕円 152">
              <a:extLst>
                <a:ext uri="{FF2B5EF4-FFF2-40B4-BE49-F238E27FC236}">
                  <a16:creationId xmlns:a16="http://schemas.microsoft.com/office/drawing/2014/main" id="{E8E9180F-BC33-A55A-8C42-EDDB9F2DF978}"/>
                </a:ext>
              </a:extLst>
            </p:cNvPr>
            <p:cNvSpPr/>
            <p:nvPr/>
          </p:nvSpPr>
          <p:spPr>
            <a:xfrm>
              <a:off x="2579242"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4" name="楕円 153">
              <a:extLst>
                <a:ext uri="{FF2B5EF4-FFF2-40B4-BE49-F238E27FC236}">
                  <a16:creationId xmlns:a16="http://schemas.microsoft.com/office/drawing/2014/main" id="{5EC1A5AD-6AF9-B994-065F-03AEA5B99C8B}"/>
                </a:ext>
              </a:extLst>
            </p:cNvPr>
            <p:cNvSpPr/>
            <p:nvPr/>
          </p:nvSpPr>
          <p:spPr>
            <a:xfrm>
              <a:off x="1536102"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5" name="楕円 154">
              <a:extLst>
                <a:ext uri="{FF2B5EF4-FFF2-40B4-BE49-F238E27FC236}">
                  <a16:creationId xmlns:a16="http://schemas.microsoft.com/office/drawing/2014/main" id="{EF9A166F-57E7-B02C-3EFB-796B894706C7}"/>
                </a:ext>
              </a:extLst>
            </p:cNvPr>
            <p:cNvSpPr/>
            <p:nvPr/>
          </p:nvSpPr>
          <p:spPr>
            <a:xfrm>
              <a:off x="2385456"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6" name="楕円 155">
              <a:extLst>
                <a:ext uri="{FF2B5EF4-FFF2-40B4-BE49-F238E27FC236}">
                  <a16:creationId xmlns:a16="http://schemas.microsoft.com/office/drawing/2014/main" id="{1A2C3361-BD20-92F7-37F5-8C2A4AB79948}"/>
                </a:ext>
              </a:extLst>
            </p:cNvPr>
            <p:cNvSpPr/>
            <p:nvPr/>
          </p:nvSpPr>
          <p:spPr>
            <a:xfrm>
              <a:off x="3234851"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7" name="楕円 156">
              <a:extLst>
                <a:ext uri="{FF2B5EF4-FFF2-40B4-BE49-F238E27FC236}">
                  <a16:creationId xmlns:a16="http://schemas.microsoft.com/office/drawing/2014/main" id="{C832B5F8-CB37-8A6B-05CC-851AA8F9AC41}"/>
                </a:ext>
              </a:extLst>
            </p:cNvPr>
            <p:cNvSpPr/>
            <p:nvPr/>
          </p:nvSpPr>
          <p:spPr>
            <a:xfrm>
              <a:off x="2127752"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8" name="楕円 157">
              <a:extLst>
                <a:ext uri="{FF2B5EF4-FFF2-40B4-BE49-F238E27FC236}">
                  <a16:creationId xmlns:a16="http://schemas.microsoft.com/office/drawing/2014/main" id="{AE820A47-39F3-77D5-A8A7-9C37590356A7}"/>
                </a:ext>
              </a:extLst>
            </p:cNvPr>
            <p:cNvSpPr/>
            <p:nvPr/>
          </p:nvSpPr>
          <p:spPr>
            <a:xfrm>
              <a:off x="2977106"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59" name="楕円 158">
              <a:extLst>
                <a:ext uri="{FF2B5EF4-FFF2-40B4-BE49-F238E27FC236}">
                  <a16:creationId xmlns:a16="http://schemas.microsoft.com/office/drawing/2014/main" id="{6BCD9215-4005-EF1E-572F-6C12A2070757}"/>
                </a:ext>
              </a:extLst>
            </p:cNvPr>
            <p:cNvSpPr/>
            <p:nvPr/>
          </p:nvSpPr>
          <p:spPr>
            <a:xfrm>
              <a:off x="3826501"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160" name="グループ化 159">
              <a:extLst>
                <a:ext uri="{FF2B5EF4-FFF2-40B4-BE49-F238E27FC236}">
                  <a16:creationId xmlns:a16="http://schemas.microsoft.com/office/drawing/2014/main" id="{E9EA8258-73E4-CAED-D238-D54E4E16B870}"/>
                </a:ext>
              </a:extLst>
            </p:cNvPr>
            <p:cNvGrpSpPr/>
            <p:nvPr/>
          </p:nvGrpSpPr>
          <p:grpSpPr>
            <a:xfrm>
              <a:off x="3247343" y="4380736"/>
              <a:ext cx="334117" cy="412098"/>
              <a:chOff x="1004572" y="4149080"/>
              <a:chExt cx="334117" cy="412098"/>
            </a:xfrm>
          </p:grpSpPr>
          <p:sp>
            <p:nvSpPr>
              <p:cNvPr id="161" name="二等辺三角形 160">
                <a:extLst>
                  <a:ext uri="{FF2B5EF4-FFF2-40B4-BE49-F238E27FC236}">
                    <a16:creationId xmlns:a16="http://schemas.microsoft.com/office/drawing/2014/main" id="{4AAEE708-1494-C559-2FE0-A5FE3239BF37}"/>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楕円 161">
                <a:extLst>
                  <a:ext uri="{FF2B5EF4-FFF2-40B4-BE49-F238E27FC236}">
                    <a16:creationId xmlns:a16="http://schemas.microsoft.com/office/drawing/2014/main" id="{C4FC0644-56DB-1744-37EC-F3A423E8CE19}"/>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3" name="グループ化 162">
              <a:extLst>
                <a:ext uri="{FF2B5EF4-FFF2-40B4-BE49-F238E27FC236}">
                  <a16:creationId xmlns:a16="http://schemas.microsoft.com/office/drawing/2014/main" id="{A39FE477-DBE8-EAFD-7DD0-8E400DA0C9B2}"/>
                </a:ext>
              </a:extLst>
            </p:cNvPr>
            <p:cNvGrpSpPr/>
            <p:nvPr/>
          </p:nvGrpSpPr>
          <p:grpSpPr>
            <a:xfrm>
              <a:off x="891527" y="4783913"/>
              <a:ext cx="334117" cy="412098"/>
              <a:chOff x="446620" y="4149080"/>
              <a:chExt cx="334117" cy="412098"/>
            </a:xfrm>
          </p:grpSpPr>
          <p:sp>
            <p:nvSpPr>
              <p:cNvPr id="164" name="二等辺三角形 163">
                <a:extLst>
                  <a:ext uri="{FF2B5EF4-FFF2-40B4-BE49-F238E27FC236}">
                    <a16:creationId xmlns:a16="http://schemas.microsoft.com/office/drawing/2014/main" id="{B07BB8AD-DFE1-A079-0CBB-8D034301705D}"/>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5" name="楕円 164">
                <a:extLst>
                  <a:ext uri="{FF2B5EF4-FFF2-40B4-BE49-F238E27FC236}">
                    <a16:creationId xmlns:a16="http://schemas.microsoft.com/office/drawing/2014/main" id="{05FD1D9B-C64B-C447-88C3-7E550470DA9C}"/>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6" name="グループ化 165">
              <a:extLst>
                <a:ext uri="{FF2B5EF4-FFF2-40B4-BE49-F238E27FC236}">
                  <a16:creationId xmlns:a16="http://schemas.microsoft.com/office/drawing/2014/main" id="{896C5FA4-4754-DB81-E7E5-827A3B669761}"/>
                </a:ext>
              </a:extLst>
            </p:cNvPr>
            <p:cNvGrpSpPr/>
            <p:nvPr/>
          </p:nvGrpSpPr>
          <p:grpSpPr>
            <a:xfrm>
              <a:off x="1750660" y="4811467"/>
              <a:ext cx="360040" cy="412097"/>
              <a:chOff x="2495600" y="4149081"/>
              <a:chExt cx="360040" cy="412097"/>
            </a:xfrm>
          </p:grpSpPr>
          <p:sp>
            <p:nvSpPr>
              <p:cNvPr id="167" name="正方形/長方形 166">
                <a:extLst>
                  <a:ext uri="{FF2B5EF4-FFF2-40B4-BE49-F238E27FC236}">
                    <a16:creationId xmlns:a16="http://schemas.microsoft.com/office/drawing/2014/main" id="{C5294F19-3C9D-F40F-5B2A-74B7C0671FF0}"/>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8" name="正方形/長方形 167">
                <a:extLst>
                  <a:ext uri="{FF2B5EF4-FFF2-40B4-BE49-F238E27FC236}">
                    <a16:creationId xmlns:a16="http://schemas.microsoft.com/office/drawing/2014/main" id="{403D3256-171C-3697-3C30-AC72E431021D}"/>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9" name="グループ化 168">
              <a:extLst>
                <a:ext uri="{FF2B5EF4-FFF2-40B4-BE49-F238E27FC236}">
                  <a16:creationId xmlns:a16="http://schemas.microsoft.com/office/drawing/2014/main" id="{D2287CD6-06BE-9165-4316-129D56369256}"/>
                </a:ext>
              </a:extLst>
            </p:cNvPr>
            <p:cNvGrpSpPr/>
            <p:nvPr/>
          </p:nvGrpSpPr>
          <p:grpSpPr>
            <a:xfrm>
              <a:off x="2436412" y="4303239"/>
              <a:ext cx="334117" cy="467747"/>
              <a:chOff x="1837225" y="4093431"/>
              <a:chExt cx="334117" cy="467747"/>
            </a:xfrm>
          </p:grpSpPr>
          <p:sp>
            <p:nvSpPr>
              <p:cNvPr id="170" name="二等辺三角形 169">
                <a:extLst>
                  <a:ext uri="{FF2B5EF4-FFF2-40B4-BE49-F238E27FC236}">
                    <a16:creationId xmlns:a16="http://schemas.microsoft.com/office/drawing/2014/main" id="{EA48E5A9-0DC2-8115-D1E9-C0CF4E68104A}"/>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1" name="楕円 170">
                <a:extLst>
                  <a:ext uri="{FF2B5EF4-FFF2-40B4-BE49-F238E27FC236}">
                    <a16:creationId xmlns:a16="http://schemas.microsoft.com/office/drawing/2014/main" id="{077E52D0-5CF6-181F-19D2-5A56AFAAFED6}"/>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2" name="フローチャート: 手作業 171">
                <a:extLst>
                  <a:ext uri="{FF2B5EF4-FFF2-40B4-BE49-F238E27FC236}">
                    <a16:creationId xmlns:a16="http://schemas.microsoft.com/office/drawing/2014/main" id="{F45555D2-9B3A-3089-8152-23A28E1ADA6A}"/>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73" name="直線矢印コネクタ 172">
              <a:extLst>
                <a:ext uri="{FF2B5EF4-FFF2-40B4-BE49-F238E27FC236}">
                  <a16:creationId xmlns:a16="http://schemas.microsoft.com/office/drawing/2014/main" id="{3E9C249F-9F3E-DDF4-1913-7A1563A1E5FA}"/>
                </a:ext>
              </a:extLst>
            </p:cNvPr>
            <p:cNvCxnSpPr>
              <a:cxnSpLocks/>
            </p:cNvCxnSpPr>
            <p:nvPr/>
          </p:nvCxnSpPr>
          <p:spPr>
            <a:xfrm>
              <a:off x="2745496" y="4475080"/>
              <a:ext cx="5193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4" name="直線矢印コネクタ 173">
              <a:extLst>
                <a:ext uri="{FF2B5EF4-FFF2-40B4-BE49-F238E27FC236}">
                  <a16:creationId xmlns:a16="http://schemas.microsoft.com/office/drawing/2014/main" id="{EEF08FDA-2C22-57D7-5E33-3A4516230AC9}"/>
                </a:ext>
              </a:extLst>
            </p:cNvPr>
            <p:cNvCxnSpPr>
              <a:cxnSpLocks/>
              <a:stCxn id="167" idx="1"/>
              <a:endCxn id="165" idx="6"/>
            </p:cNvCxnSpPr>
            <p:nvPr/>
          </p:nvCxnSpPr>
          <p:spPr>
            <a:xfrm flipH="1">
              <a:off x="1174778" y="4896931"/>
              <a:ext cx="575882" cy="3174"/>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75" name="グラフィックス 174" descr="人工知能 単色塗りつぶし">
              <a:extLst>
                <a:ext uri="{FF2B5EF4-FFF2-40B4-BE49-F238E27FC236}">
                  <a16:creationId xmlns:a16="http://schemas.microsoft.com/office/drawing/2014/main" id="{346530B8-549B-D381-C18E-D8C603D79E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1598" y="6363018"/>
              <a:ext cx="486970" cy="486970"/>
            </a:xfrm>
            <a:prstGeom prst="rect">
              <a:avLst/>
            </a:prstGeom>
          </p:spPr>
        </p:pic>
        <p:cxnSp>
          <p:nvCxnSpPr>
            <p:cNvPr id="176" name="直線矢印コネクタ 175">
              <a:extLst>
                <a:ext uri="{FF2B5EF4-FFF2-40B4-BE49-F238E27FC236}">
                  <a16:creationId xmlns:a16="http://schemas.microsoft.com/office/drawing/2014/main" id="{629F8398-CE3B-449B-D5F6-66B5C312F6D4}"/>
                </a:ext>
              </a:extLst>
            </p:cNvPr>
            <p:cNvCxnSpPr>
              <a:cxnSpLocks/>
              <a:stCxn id="175" idx="1"/>
            </p:cNvCxnSpPr>
            <p:nvPr/>
          </p:nvCxnSpPr>
          <p:spPr>
            <a:xfrm flipH="1" flipV="1">
              <a:off x="2965965" y="6339296"/>
              <a:ext cx="635633" cy="26720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矢印コネクタ 177">
              <a:extLst>
                <a:ext uri="{FF2B5EF4-FFF2-40B4-BE49-F238E27FC236}">
                  <a16:creationId xmlns:a16="http://schemas.microsoft.com/office/drawing/2014/main" id="{51886AC9-7D4A-1A53-BE4D-F3E52422AD59}"/>
                </a:ext>
              </a:extLst>
            </p:cNvPr>
            <p:cNvCxnSpPr>
              <a:cxnSpLocks/>
              <a:stCxn id="171" idx="3"/>
              <a:endCxn id="167" idx="3"/>
            </p:cNvCxnSpPr>
            <p:nvPr/>
          </p:nvCxnSpPr>
          <p:spPr>
            <a:xfrm flipH="1">
              <a:off x="2110701" y="4557240"/>
              <a:ext cx="410611" cy="339691"/>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181" name="テキスト ボックス 180">
            <a:extLst>
              <a:ext uri="{FF2B5EF4-FFF2-40B4-BE49-F238E27FC236}">
                <a16:creationId xmlns:a16="http://schemas.microsoft.com/office/drawing/2014/main" id="{C639E348-20A5-51C3-B6BE-AD361F0C3CE1}"/>
              </a:ext>
            </a:extLst>
          </p:cNvPr>
          <p:cNvSpPr txBox="1"/>
          <p:nvPr/>
        </p:nvSpPr>
        <p:spPr>
          <a:xfrm>
            <a:off x="10992544" y="3464332"/>
            <a:ext cx="415498" cy="369332"/>
          </a:xfrm>
          <a:prstGeom prst="rect">
            <a:avLst/>
          </a:prstGeom>
          <a:noFill/>
        </p:spPr>
        <p:txBody>
          <a:bodyPr wrap="none" rtlCol="0">
            <a:spAutoFit/>
          </a:bodyPr>
          <a:lstStyle/>
          <a:p>
            <a:r>
              <a:rPr kumimoji="1" lang="ja-JP" altLang="en-US" dirty="0"/>
              <a:t>①</a:t>
            </a:r>
          </a:p>
        </p:txBody>
      </p:sp>
      <p:sp>
        <p:nvSpPr>
          <p:cNvPr id="182" name="テキスト ボックス 181">
            <a:extLst>
              <a:ext uri="{FF2B5EF4-FFF2-40B4-BE49-F238E27FC236}">
                <a16:creationId xmlns:a16="http://schemas.microsoft.com/office/drawing/2014/main" id="{D8B4BA0A-45E0-6691-EBA8-D27D3E885B1D}"/>
              </a:ext>
            </a:extLst>
          </p:cNvPr>
          <p:cNvSpPr txBox="1"/>
          <p:nvPr/>
        </p:nvSpPr>
        <p:spPr>
          <a:xfrm>
            <a:off x="11352584" y="2016211"/>
            <a:ext cx="415498" cy="369332"/>
          </a:xfrm>
          <a:prstGeom prst="rect">
            <a:avLst/>
          </a:prstGeom>
          <a:noFill/>
        </p:spPr>
        <p:txBody>
          <a:bodyPr wrap="none" rtlCol="0">
            <a:spAutoFit/>
          </a:bodyPr>
          <a:lstStyle/>
          <a:p>
            <a:r>
              <a:rPr kumimoji="1" lang="ja-JP" altLang="en-US" dirty="0"/>
              <a:t>③</a:t>
            </a:r>
          </a:p>
        </p:txBody>
      </p:sp>
      <p:sp>
        <p:nvSpPr>
          <p:cNvPr id="183" name="テキスト ボックス 182">
            <a:extLst>
              <a:ext uri="{FF2B5EF4-FFF2-40B4-BE49-F238E27FC236}">
                <a16:creationId xmlns:a16="http://schemas.microsoft.com/office/drawing/2014/main" id="{CC5B11DE-83E3-F9C2-DD61-D49FCFBAA5E4}"/>
              </a:ext>
            </a:extLst>
          </p:cNvPr>
          <p:cNvSpPr txBox="1"/>
          <p:nvPr/>
        </p:nvSpPr>
        <p:spPr>
          <a:xfrm>
            <a:off x="10992544" y="6353944"/>
            <a:ext cx="415498" cy="369332"/>
          </a:xfrm>
          <a:prstGeom prst="rect">
            <a:avLst/>
          </a:prstGeom>
          <a:noFill/>
        </p:spPr>
        <p:txBody>
          <a:bodyPr wrap="none" rtlCol="0">
            <a:spAutoFit/>
          </a:bodyPr>
          <a:lstStyle/>
          <a:p>
            <a:r>
              <a:rPr kumimoji="1" lang="ja-JP" altLang="en-US" dirty="0"/>
              <a:t>①</a:t>
            </a:r>
          </a:p>
        </p:txBody>
      </p:sp>
      <p:sp>
        <p:nvSpPr>
          <p:cNvPr id="184" name="テキスト ボックス 183">
            <a:extLst>
              <a:ext uri="{FF2B5EF4-FFF2-40B4-BE49-F238E27FC236}">
                <a16:creationId xmlns:a16="http://schemas.microsoft.com/office/drawing/2014/main" id="{B120DEE8-E5B9-6466-4533-220FE382BE24}"/>
              </a:ext>
            </a:extLst>
          </p:cNvPr>
          <p:cNvSpPr txBox="1"/>
          <p:nvPr/>
        </p:nvSpPr>
        <p:spPr>
          <a:xfrm>
            <a:off x="9480376" y="1889448"/>
            <a:ext cx="415498" cy="369332"/>
          </a:xfrm>
          <a:prstGeom prst="rect">
            <a:avLst/>
          </a:prstGeom>
          <a:noFill/>
        </p:spPr>
        <p:txBody>
          <a:bodyPr wrap="none" rtlCol="0">
            <a:spAutoFit/>
          </a:bodyPr>
          <a:lstStyle/>
          <a:p>
            <a:r>
              <a:rPr lang="ja-JP" altLang="en-US" dirty="0"/>
              <a:t>②</a:t>
            </a:r>
            <a:endParaRPr kumimoji="1" lang="ja-JP" altLang="en-US" dirty="0"/>
          </a:p>
        </p:txBody>
      </p:sp>
      <p:sp>
        <p:nvSpPr>
          <p:cNvPr id="185" name="テキスト ボックス 184">
            <a:extLst>
              <a:ext uri="{FF2B5EF4-FFF2-40B4-BE49-F238E27FC236}">
                <a16:creationId xmlns:a16="http://schemas.microsoft.com/office/drawing/2014/main" id="{59B02CBB-E7E5-E00F-EBE6-9CF5E15E7EF8}"/>
              </a:ext>
            </a:extLst>
          </p:cNvPr>
          <p:cNvSpPr txBox="1"/>
          <p:nvPr/>
        </p:nvSpPr>
        <p:spPr>
          <a:xfrm>
            <a:off x="9840416" y="5397748"/>
            <a:ext cx="646331" cy="369332"/>
          </a:xfrm>
          <a:prstGeom prst="rect">
            <a:avLst/>
          </a:prstGeom>
          <a:noFill/>
        </p:spPr>
        <p:txBody>
          <a:bodyPr wrap="none" rtlCol="0">
            <a:spAutoFit/>
          </a:bodyPr>
          <a:lstStyle/>
          <a:p>
            <a:r>
              <a:rPr lang="ja-JP" altLang="en-US" dirty="0"/>
              <a:t>②③</a:t>
            </a:r>
            <a:endParaRPr lang="en-US" altLang="ja-JP" dirty="0"/>
          </a:p>
        </p:txBody>
      </p:sp>
      <p:sp>
        <p:nvSpPr>
          <p:cNvPr id="186" name="テキスト ボックス 185">
            <a:extLst>
              <a:ext uri="{FF2B5EF4-FFF2-40B4-BE49-F238E27FC236}">
                <a16:creationId xmlns:a16="http://schemas.microsoft.com/office/drawing/2014/main" id="{6CAECD23-16A8-C9CD-F00F-0549B8950C97}"/>
              </a:ext>
            </a:extLst>
          </p:cNvPr>
          <p:cNvSpPr txBox="1"/>
          <p:nvPr/>
        </p:nvSpPr>
        <p:spPr>
          <a:xfrm>
            <a:off x="10484994" y="4409728"/>
            <a:ext cx="415498" cy="369332"/>
          </a:xfrm>
          <a:prstGeom prst="rect">
            <a:avLst/>
          </a:prstGeom>
          <a:noFill/>
        </p:spPr>
        <p:txBody>
          <a:bodyPr wrap="none" rtlCol="0">
            <a:spAutoFit/>
          </a:bodyPr>
          <a:lstStyle/>
          <a:p>
            <a:r>
              <a:rPr lang="ja-JP" altLang="en-US" dirty="0"/>
              <a:t>④</a:t>
            </a:r>
            <a:endParaRPr lang="en-US" altLang="ja-JP" dirty="0"/>
          </a:p>
        </p:txBody>
      </p:sp>
      <p:sp>
        <p:nvSpPr>
          <p:cNvPr id="187" name="正方形/長方形 186">
            <a:extLst>
              <a:ext uri="{FF2B5EF4-FFF2-40B4-BE49-F238E27FC236}">
                <a16:creationId xmlns:a16="http://schemas.microsoft.com/office/drawing/2014/main" id="{6D17ABE7-C1A9-2E63-CBA0-632C73CD7247}"/>
              </a:ext>
            </a:extLst>
          </p:cNvPr>
          <p:cNvSpPr/>
          <p:nvPr/>
        </p:nvSpPr>
        <p:spPr>
          <a:xfrm>
            <a:off x="839416" y="744932"/>
            <a:ext cx="10513168"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病棟全体の施設構造・人の状況を包括的に表現した、より良い通知・ロボット介入の検討基盤</a:t>
            </a:r>
          </a:p>
        </p:txBody>
      </p:sp>
    </p:spTree>
    <p:extLst>
      <p:ext uri="{BB962C8B-B14F-4D97-AF65-F5344CB8AC3E}">
        <p14:creationId xmlns:p14="http://schemas.microsoft.com/office/powerpoint/2010/main" val="918570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2373F24E-AF51-A040-4F15-85BE4DC97885}"/>
                  </a:ext>
                </a:extLst>
              </p:cNvPr>
              <p:cNvSpPr txBox="1"/>
              <p:nvPr/>
            </p:nvSpPr>
            <p:spPr>
              <a:xfrm>
                <a:off x="315300" y="3041576"/>
                <a:ext cx="2520280"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：見守り状況</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𝑟</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：事故リスク</a:t>
                </a:r>
                <a:endParaRPr lang="en-US" altLang="ja-JP" dirty="0"/>
              </a:p>
            </p:txBody>
          </p:sp>
        </mc:Choice>
        <mc:Fallback xmlns="">
          <p:sp>
            <p:nvSpPr>
              <p:cNvPr id="20" name="テキスト ボックス 19">
                <a:extLst>
                  <a:ext uri="{FF2B5EF4-FFF2-40B4-BE49-F238E27FC236}">
                    <a16:creationId xmlns:a16="http://schemas.microsoft.com/office/drawing/2014/main" id="{2373F24E-AF51-A040-4F15-85BE4DC97885}"/>
                  </a:ext>
                </a:extLst>
              </p:cNvPr>
              <p:cNvSpPr txBox="1">
                <a:spLocks noRot="1" noChangeAspect="1" noMove="1" noResize="1" noEditPoints="1" noAdjustHandles="1" noChangeArrowheads="1" noChangeShapeType="1" noTextEdit="1"/>
              </p:cNvSpPr>
              <p:nvPr/>
            </p:nvSpPr>
            <p:spPr>
              <a:xfrm>
                <a:off x="315300" y="3041576"/>
                <a:ext cx="2520280" cy="2862322"/>
              </a:xfrm>
              <a:prstGeom prst="rect">
                <a:avLst/>
              </a:prstGeom>
              <a:blipFill>
                <a:blip r:embed="rId2"/>
                <a:stretch>
                  <a:fillRect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1D01C0D5-01E8-A747-1F32-376E044433C2}"/>
                  </a:ext>
                </a:extLst>
              </p:cNvPr>
              <p:cNvSpPr txBox="1"/>
              <p:nvPr/>
            </p:nvSpPr>
            <p:spPr>
              <a:xfrm>
                <a:off x="396747" y="2851429"/>
                <a:ext cx="76596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患者</a:t>
                </a:r>
                <a14:m>
                  <m:oMath xmlns:m="http://schemas.openxmlformats.org/officeDocument/2006/math">
                    <m:r>
                      <a:rPr lang="en-US" altLang="ja-JP" i="1" dirty="0" smtClean="0">
                        <a:latin typeface="Cambria Math" panose="02040503050406030204" pitchFamily="18" charset="0"/>
                      </a:rPr>
                      <m:t>𝑖</m:t>
                    </m:r>
                  </m:oMath>
                </a14:m>
                <a:endParaRPr lang="en-US" altLang="ja-JP" i="1" dirty="0">
                  <a:latin typeface="Cambria Math" panose="02040503050406030204" pitchFamily="18" charset="0"/>
                </a:endParaRPr>
              </a:p>
            </p:txBody>
          </p:sp>
        </mc:Choice>
        <mc:Fallback xmlns="">
          <p:sp>
            <p:nvSpPr>
              <p:cNvPr id="21" name="テキスト ボックス 20">
                <a:extLst>
                  <a:ext uri="{FF2B5EF4-FFF2-40B4-BE49-F238E27FC236}">
                    <a16:creationId xmlns:a16="http://schemas.microsoft.com/office/drawing/2014/main" id="{1D01C0D5-01E8-A747-1F32-376E044433C2}"/>
                  </a:ext>
                </a:extLst>
              </p:cNvPr>
              <p:cNvSpPr txBox="1">
                <a:spLocks noRot="1" noChangeAspect="1" noMove="1" noResize="1" noEditPoints="1" noAdjustHandles="1" noChangeArrowheads="1" noChangeShapeType="1" noTextEdit="1"/>
              </p:cNvSpPr>
              <p:nvPr/>
            </p:nvSpPr>
            <p:spPr>
              <a:xfrm>
                <a:off x="396747" y="2851429"/>
                <a:ext cx="765969" cy="369332"/>
              </a:xfrm>
              <a:prstGeom prst="rect">
                <a:avLst/>
              </a:prstGeom>
              <a:blipFill>
                <a:blip r:embed="rId3"/>
                <a:stretch>
                  <a:fillRect l="-4615" t="-3125" b="-25000"/>
                </a:stretch>
              </a:blipFill>
            </p:spPr>
            <p:txBody>
              <a:bodyPr/>
              <a:lstStyle/>
              <a:p>
                <a:r>
                  <a:rPr lang="ja-JP" altLang="en-US">
                    <a:noFill/>
                  </a:rPr>
                  <a:t> </a:t>
                </a:r>
              </a:p>
            </p:txBody>
          </p:sp>
        </mc:Fallback>
      </mc:AlternateContent>
      <p:sp>
        <p:nvSpPr>
          <p:cNvPr id="2" name="タイトル 1">
            <a:extLst>
              <a:ext uri="{FF2B5EF4-FFF2-40B4-BE49-F238E27FC236}">
                <a16:creationId xmlns:a16="http://schemas.microsoft.com/office/drawing/2014/main" id="{163D4FF1-3129-BAA1-B190-DC8187732B20}"/>
              </a:ext>
            </a:extLst>
          </p:cNvPr>
          <p:cNvSpPr>
            <a:spLocks noGrp="1"/>
          </p:cNvSpPr>
          <p:nvPr>
            <p:ph type="title"/>
          </p:nvPr>
        </p:nvSpPr>
        <p:spPr/>
        <p:txBody>
          <a:bodyPr/>
          <a:lstStyle/>
          <a:p>
            <a:r>
              <a:rPr kumimoji="1" lang="en-US" altLang="ja-JP" sz="2400" dirty="0"/>
              <a:t>【</a:t>
            </a:r>
            <a:r>
              <a:rPr kumimoji="1" lang="ja-JP" altLang="en-US" sz="2400" dirty="0"/>
              <a:t>検討中</a:t>
            </a:r>
            <a:r>
              <a:rPr kumimoji="1" lang="en-US" altLang="ja-JP" sz="2400" dirty="0"/>
              <a:t>】</a:t>
            </a:r>
            <a:r>
              <a:rPr kumimoji="1" lang="ja-JP" altLang="en-US" sz="2400" dirty="0"/>
              <a:t>因果モデル </a:t>
            </a:r>
            <a:r>
              <a:rPr kumimoji="1" lang="en-US" altLang="ja-JP" sz="2400" dirty="0"/>
              <a:t>(</a:t>
            </a:r>
            <a:r>
              <a:rPr kumimoji="1" lang="ja-JP" altLang="en-US" sz="2400" dirty="0"/>
              <a:t>動的構造化因果モデル：</a:t>
            </a:r>
            <a:r>
              <a:rPr kumimoji="1" lang="en-US" altLang="ja-JP" sz="2400" dirty="0"/>
              <a:t>Dynamic Structured Causal Model)</a:t>
            </a:r>
            <a:endParaRPr kumimoji="1" lang="ja-JP" altLang="en-US" sz="2400" dirty="0"/>
          </a:p>
        </p:txBody>
      </p:sp>
      <p:sp>
        <p:nvSpPr>
          <p:cNvPr id="3" name="コンテンツ プレースホルダー 2">
            <a:extLst>
              <a:ext uri="{FF2B5EF4-FFF2-40B4-BE49-F238E27FC236}">
                <a16:creationId xmlns:a16="http://schemas.microsoft.com/office/drawing/2014/main" id="{76622D3C-FDC2-DB2E-0306-59913144792B}"/>
              </a:ext>
            </a:extLst>
          </p:cNvPr>
          <p:cNvSpPr>
            <a:spLocks noGrp="1"/>
          </p:cNvSpPr>
          <p:nvPr>
            <p:ph idx="1"/>
          </p:nvPr>
        </p:nvSpPr>
        <p:spPr>
          <a:xfrm>
            <a:off x="119336" y="1196390"/>
            <a:ext cx="11953328" cy="5661610"/>
          </a:xfrm>
        </p:spPr>
        <p:txBody>
          <a:bodyPr/>
          <a:lstStyle/>
          <a:p>
            <a:r>
              <a:rPr lang="ja-JP" altLang="en-US" dirty="0"/>
              <a:t>定義</a:t>
            </a:r>
            <a:endParaRPr lang="en-US" altLang="ja-JP" dirty="0"/>
          </a:p>
          <a:p>
            <a:pPr lvl="1"/>
            <a:endParaRPr kumimoji="1" lang="ja-JP" altLang="en-US" dirty="0"/>
          </a:p>
        </p:txBody>
      </p:sp>
      <p:sp>
        <p:nvSpPr>
          <p:cNvPr id="4" name="日付プレースホルダー 3">
            <a:extLst>
              <a:ext uri="{FF2B5EF4-FFF2-40B4-BE49-F238E27FC236}">
                <a16:creationId xmlns:a16="http://schemas.microsoft.com/office/drawing/2014/main" id="{60C0572C-55D4-43EE-E680-95237E222FB7}"/>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C3C7D6E9-37C3-C1CF-C953-38A71F6969AF}"/>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BB438C22-3167-FA1E-BE3A-7F4737BA6DD3}"/>
              </a:ext>
            </a:extLst>
          </p:cNvPr>
          <p:cNvSpPr>
            <a:spLocks noGrp="1"/>
          </p:cNvSpPr>
          <p:nvPr>
            <p:ph type="sldNum" sz="quarter" idx="12"/>
          </p:nvPr>
        </p:nvSpPr>
        <p:spPr/>
        <p:txBody>
          <a:bodyPr/>
          <a:lstStyle/>
          <a:p>
            <a:fld id="{870B1737-2A00-4EFB-9FD3-149FCC30AA13}" type="slidenum">
              <a:rPr lang="ja-JP" altLang="en-US" smtClean="0"/>
              <a:pPr/>
              <a:t>25</a:t>
            </a:fld>
            <a:endParaRPr lang="ja-JP" altLang="en-US"/>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06C4AECA-F6D3-6B3A-6F55-440BFA5F727D}"/>
                  </a:ext>
                </a:extLst>
              </p:cNvPr>
              <p:cNvSpPr txBox="1"/>
              <p:nvPr/>
            </p:nvSpPr>
            <p:spPr>
              <a:xfrm>
                <a:off x="191344" y="3107780"/>
                <a:ext cx="2520280"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：見守り状況</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𝑟</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：事故リスク</a:t>
                </a:r>
                <a:endParaRPr lang="en-US" altLang="ja-JP" dirty="0"/>
              </a:p>
            </p:txBody>
          </p:sp>
        </mc:Choice>
        <mc:Fallback xmlns="">
          <p:sp>
            <p:nvSpPr>
              <p:cNvPr id="13" name="テキスト ボックス 12">
                <a:extLst>
                  <a:ext uri="{FF2B5EF4-FFF2-40B4-BE49-F238E27FC236}">
                    <a16:creationId xmlns:a16="http://schemas.microsoft.com/office/drawing/2014/main" id="{06C4AECA-F6D3-6B3A-6F55-440BFA5F727D}"/>
                  </a:ext>
                </a:extLst>
              </p:cNvPr>
              <p:cNvSpPr txBox="1">
                <a:spLocks noRot="1" noChangeAspect="1" noMove="1" noResize="1" noEditPoints="1" noAdjustHandles="1" noChangeArrowheads="1" noChangeShapeType="1" noTextEdit="1"/>
              </p:cNvSpPr>
              <p:nvPr/>
            </p:nvSpPr>
            <p:spPr>
              <a:xfrm>
                <a:off x="191344" y="3107780"/>
                <a:ext cx="2520280" cy="2862322"/>
              </a:xfrm>
              <a:prstGeom prst="rect">
                <a:avLst/>
              </a:prstGeom>
              <a:blipFill>
                <a:blip r:embed="rId4"/>
                <a:stretch>
                  <a:fillRect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07AB8F6E-5C1C-2A49-9E5A-C01D047BCF94}"/>
                  </a:ext>
                </a:extLst>
              </p:cNvPr>
              <p:cNvSpPr txBox="1"/>
              <p:nvPr/>
            </p:nvSpPr>
            <p:spPr>
              <a:xfrm>
                <a:off x="272791" y="2917633"/>
                <a:ext cx="76596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患者</a:t>
                </a:r>
                <a14:m>
                  <m:oMath xmlns:m="http://schemas.openxmlformats.org/officeDocument/2006/math">
                    <m:r>
                      <a:rPr lang="en-US" altLang="ja-JP" i="1" dirty="0" smtClean="0">
                        <a:latin typeface="Cambria Math" panose="02040503050406030204" pitchFamily="18" charset="0"/>
                      </a:rPr>
                      <m:t>𝑖</m:t>
                    </m:r>
                  </m:oMath>
                </a14:m>
                <a:endParaRPr lang="en-US" altLang="ja-JP" i="1" dirty="0">
                  <a:latin typeface="Cambria Math" panose="02040503050406030204" pitchFamily="18" charset="0"/>
                </a:endParaRPr>
              </a:p>
            </p:txBody>
          </p:sp>
        </mc:Choice>
        <mc:Fallback xmlns="">
          <p:sp>
            <p:nvSpPr>
              <p:cNvPr id="15" name="テキスト ボックス 14">
                <a:extLst>
                  <a:ext uri="{FF2B5EF4-FFF2-40B4-BE49-F238E27FC236}">
                    <a16:creationId xmlns:a16="http://schemas.microsoft.com/office/drawing/2014/main" id="{07AB8F6E-5C1C-2A49-9E5A-C01D047BCF94}"/>
                  </a:ext>
                </a:extLst>
              </p:cNvPr>
              <p:cNvSpPr txBox="1">
                <a:spLocks noRot="1" noChangeAspect="1" noMove="1" noResize="1" noEditPoints="1" noAdjustHandles="1" noChangeArrowheads="1" noChangeShapeType="1" noTextEdit="1"/>
              </p:cNvSpPr>
              <p:nvPr/>
            </p:nvSpPr>
            <p:spPr>
              <a:xfrm>
                <a:off x="272791" y="2917633"/>
                <a:ext cx="765969" cy="369332"/>
              </a:xfrm>
              <a:prstGeom prst="rect">
                <a:avLst/>
              </a:prstGeom>
              <a:blipFill>
                <a:blip r:embed="rId5"/>
                <a:stretch>
                  <a:fillRect l="-5426" t="-3125"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9B9DFE2-A717-3BF7-5E5E-5F9BCF3BD8B1}"/>
                  </a:ext>
                </a:extLst>
              </p:cNvPr>
              <p:cNvSpPr txBox="1"/>
              <p:nvPr/>
            </p:nvSpPr>
            <p:spPr>
              <a:xfrm>
                <a:off x="87958" y="3175380"/>
                <a:ext cx="2520280"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：見守り状況</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𝑟</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：事故リスク</a:t>
                </a:r>
                <a:endParaRPr lang="en-US" altLang="ja-JP" dirty="0"/>
              </a:p>
            </p:txBody>
          </p:sp>
        </mc:Choice>
        <mc:Fallback xmlns="">
          <p:sp>
            <p:nvSpPr>
              <p:cNvPr id="22" name="テキスト ボックス 21">
                <a:extLst>
                  <a:ext uri="{FF2B5EF4-FFF2-40B4-BE49-F238E27FC236}">
                    <a16:creationId xmlns:a16="http://schemas.microsoft.com/office/drawing/2014/main" id="{59B9DFE2-A717-3BF7-5E5E-5F9BCF3BD8B1}"/>
                  </a:ext>
                </a:extLst>
              </p:cNvPr>
              <p:cNvSpPr txBox="1">
                <a:spLocks noRot="1" noChangeAspect="1" noMove="1" noResize="1" noEditPoints="1" noAdjustHandles="1" noChangeArrowheads="1" noChangeShapeType="1" noTextEdit="1"/>
              </p:cNvSpPr>
              <p:nvPr/>
            </p:nvSpPr>
            <p:spPr>
              <a:xfrm>
                <a:off x="87958" y="3175380"/>
                <a:ext cx="2520280" cy="2862322"/>
              </a:xfrm>
              <a:prstGeom prst="rect">
                <a:avLst/>
              </a:prstGeom>
              <a:blipFill>
                <a:blip r:embed="rId6"/>
                <a:stretch>
                  <a:fillRect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0CB75266-A2DF-F02A-BA15-38757FB64179}"/>
                  </a:ext>
                </a:extLst>
              </p:cNvPr>
              <p:cNvSpPr txBox="1"/>
              <p:nvPr/>
            </p:nvSpPr>
            <p:spPr>
              <a:xfrm>
                <a:off x="169405" y="2985233"/>
                <a:ext cx="76596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患者</a:t>
                </a:r>
                <a14:m>
                  <m:oMath xmlns:m="http://schemas.openxmlformats.org/officeDocument/2006/math">
                    <m:r>
                      <a:rPr lang="en-US" altLang="ja-JP" i="1" dirty="0" smtClean="0">
                        <a:latin typeface="Cambria Math" panose="02040503050406030204" pitchFamily="18" charset="0"/>
                      </a:rPr>
                      <m:t>𝑖</m:t>
                    </m:r>
                  </m:oMath>
                </a14:m>
                <a:endParaRPr lang="en-US" altLang="ja-JP" i="1" dirty="0">
                  <a:latin typeface="Cambria Math" panose="02040503050406030204" pitchFamily="18" charset="0"/>
                </a:endParaRPr>
              </a:p>
            </p:txBody>
          </p:sp>
        </mc:Choice>
        <mc:Fallback xmlns="">
          <p:sp>
            <p:nvSpPr>
              <p:cNvPr id="23" name="テキスト ボックス 22">
                <a:extLst>
                  <a:ext uri="{FF2B5EF4-FFF2-40B4-BE49-F238E27FC236}">
                    <a16:creationId xmlns:a16="http://schemas.microsoft.com/office/drawing/2014/main" id="{0CB75266-A2DF-F02A-BA15-38757FB64179}"/>
                  </a:ext>
                </a:extLst>
              </p:cNvPr>
              <p:cNvSpPr txBox="1">
                <a:spLocks noRot="1" noChangeAspect="1" noMove="1" noResize="1" noEditPoints="1" noAdjustHandles="1" noChangeArrowheads="1" noChangeShapeType="1" noTextEdit="1"/>
              </p:cNvSpPr>
              <p:nvPr/>
            </p:nvSpPr>
            <p:spPr>
              <a:xfrm>
                <a:off x="169405" y="2985233"/>
                <a:ext cx="765969" cy="369332"/>
              </a:xfrm>
              <a:prstGeom prst="rect">
                <a:avLst/>
              </a:prstGeom>
              <a:blipFill>
                <a:blip r:embed="rId7"/>
                <a:stretch>
                  <a:fillRect l="-5426" t="-3125" b="-25000"/>
                </a:stretch>
              </a:blipFill>
            </p:spPr>
            <p:txBody>
              <a:bodyPr/>
              <a:lstStyle/>
              <a:p>
                <a:r>
                  <a:rPr lang="ja-JP" altLang="en-US">
                    <a:noFill/>
                  </a:rPr>
                  <a:t> </a:t>
                </a:r>
              </a:p>
            </p:txBody>
          </p:sp>
        </mc:Fallback>
      </mc:AlternateContent>
      <p:sp>
        <p:nvSpPr>
          <p:cNvPr id="25" name="テキスト ボックス 24">
            <a:extLst>
              <a:ext uri="{FF2B5EF4-FFF2-40B4-BE49-F238E27FC236}">
                <a16:creationId xmlns:a16="http://schemas.microsoft.com/office/drawing/2014/main" id="{8FBA2A83-EC25-83D2-A50F-C9B0D9B5079F}"/>
              </a:ext>
            </a:extLst>
          </p:cNvPr>
          <p:cNvSpPr txBox="1"/>
          <p:nvPr/>
        </p:nvSpPr>
        <p:spPr>
          <a:xfrm>
            <a:off x="83332" y="1895036"/>
            <a:ext cx="6372708"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dirty="0"/>
          </a:p>
          <a:p>
            <a:r>
              <a:rPr lang="ja-JP" altLang="en-US" dirty="0"/>
              <a:t>施設構造ネットワーク　　　　　各部屋の用途　　　等</a:t>
            </a:r>
            <a:endParaRPr lang="en-US" altLang="ja-JP" dirty="0"/>
          </a:p>
        </p:txBody>
      </p:sp>
      <p:sp>
        <p:nvSpPr>
          <p:cNvPr id="24" name="テキスト ボックス 23">
            <a:extLst>
              <a:ext uri="{FF2B5EF4-FFF2-40B4-BE49-F238E27FC236}">
                <a16:creationId xmlns:a16="http://schemas.microsoft.com/office/drawing/2014/main" id="{063E2E6C-2DDC-BEED-7F48-C70EC240611A}"/>
              </a:ext>
            </a:extLst>
          </p:cNvPr>
          <p:cNvSpPr txBox="1"/>
          <p:nvPr/>
        </p:nvSpPr>
        <p:spPr>
          <a:xfrm>
            <a:off x="164704" y="1710370"/>
            <a:ext cx="13072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dirty="0">
                <a:latin typeface="Cambria Math" panose="02040503050406030204" pitchFamily="18" charset="0"/>
              </a:rPr>
              <a:t>環境情報</a:t>
            </a:r>
            <a:endParaRPr lang="en-US" altLang="ja-JP"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3F41A810-A42F-E2AF-BE26-43DB3E4224B5}"/>
                  </a:ext>
                </a:extLst>
              </p:cNvPr>
              <p:cNvSpPr txBox="1"/>
              <p:nvPr/>
            </p:nvSpPr>
            <p:spPr>
              <a:xfrm>
                <a:off x="3544051" y="3040560"/>
                <a:ext cx="3168352"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a:t>
                </a:r>
                <a:r>
                  <a:rPr lang="en-US" altLang="ja-JP" dirty="0"/>
                  <a:t>j</a:t>
                </a:r>
                <a:r>
                  <a:rPr lang="ja-JP" altLang="en-US" dirty="0"/>
                  <a:t>が</a:t>
                </a:r>
                <a:r>
                  <a:rPr lang="en-US" altLang="ja-JP" dirty="0" err="1"/>
                  <a:t>i</a:t>
                </a:r>
                <a:r>
                  <a:rPr lang="ja-JP" altLang="en-US" dirty="0"/>
                  <a:t>を見ているか</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𝑐</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：タスク飽和度 </a:t>
                </a:r>
                <a:r>
                  <a:rPr lang="en-US" altLang="ja-JP" dirty="0"/>
                  <a:t>(capacity)</a:t>
                </a:r>
              </a:p>
            </p:txBody>
          </p:sp>
        </mc:Choice>
        <mc:Fallback xmlns="">
          <p:sp>
            <p:nvSpPr>
              <p:cNvPr id="39" name="テキスト ボックス 38">
                <a:extLst>
                  <a:ext uri="{FF2B5EF4-FFF2-40B4-BE49-F238E27FC236}">
                    <a16:creationId xmlns:a16="http://schemas.microsoft.com/office/drawing/2014/main" id="{3F41A810-A42F-E2AF-BE26-43DB3E4224B5}"/>
                  </a:ext>
                </a:extLst>
              </p:cNvPr>
              <p:cNvSpPr txBox="1">
                <a:spLocks noRot="1" noChangeAspect="1" noMove="1" noResize="1" noEditPoints="1" noAdjustHandles="1" noChangeArrowheads="1" noChangeShapeType="1" noTextEdit="1"/>
              </p:cNvSpPr>
              <p:nvPr/>
            </p:nvSpPr>
            <p:spPr>
              <a:xfrm>
                <a:off x="3544051" y="3040560"/>
                <a:ext cx="3168352" cy="2862322"/>
              </a:xfrm>
              <a:prstGeom prst="rect">
                <a:avLst/>
              </a:prstGeom>
              <a:blipFill>
                <a:blip r:embed="rId8"/>
                <a:stretch>
                  <a:fillRect r="-954"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53CF91AE-AB74-F2BA-C6AD-2993E5F40301}"/>
                  </a:ext>
                </a:extLst>
              </p:cNvPr>
              <p:cNvSpPr txBox="1"/>
              <p:nvPr/>
            </p:nvSpPr>
            <p:spPr>
              <a:xfrm>
                <a:off x="3616059" y="2862365"/>
                <a:ext cx="13072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スタッフ</a:t>
                </a:r>
                <a14:m>
                  <m:oMath xmlns:m="http://schemas.openxmlformats.org/officeDocument/2006/math">
                    <m:r>
                      <a:rPr lang="en-US" altLang="ja-JP" b="0" i="1" dirty="0" smtClean="0">
                        <a:latin typeface="Cambria Math" panose="02040503050406030204" pitchFamily="18" charset="0"/>
                      </a:rPr>
                      <m:t>𝑗</m:t>
                    </m:r>
                  </m:oMath>
                </a14:m>
                <a:endParaRPr lang="en-US" altLang="ja-JP" i="1" dirty="0">
                  <a:latin typeface="Cambria Math" panose="02040503050406030204" pitchFamily="18" charset="0"/>
                </a:endParaRPr>
              </a:p>
            </p:txBody>
          </p:sp>
        </mc:Choice>
        <mc:Fallback xmlns="">
          <p:sp>
            <p:nvSpPr>
              <p:cNvPr id="40" name="テキスト ボックス 39">
                <a:extLst>
                  <a:ext uri="{FF2B5EF4-FFF2-40B4-BE49-F238E27FC236}">
                    <a16:creationId xmlns:a16="http://schemas.microsoft.com/office/drawing/2014/main" id="{53CF91AE-AB74-F2BA-C6AD-2993E5F40301}"/>
                  </a:ext>
                </a:extLst>
              </p:cNvPr>
              <p:cNvSpPr txBox="1">
                <a:spLocks noRot="1" noChangeAspect="1" noMove="1" noResize="1" noEditPoints="1" noAdjustHandles="1" noChangeArrowheads="1" noChangeShapeType="1" noTextEdit="1"/>
              </p:cNvSpPr>
              <p:nvPr/>
            </p:nvSpPr>
            <p:spPr>
              <a:xfrm>
                <a:off x="3616059" y="2862365"/>
                <a:ext cx="1307256" cy="369332"/>
              </a:xfrm>
              <a:prstGeom prst="rect">
                <a:avLst/>
              </a:prstGeom>
              <a:blipFill>
                <a:blip r:embed="rId9"/>
                <a:stretch>
                  <a:fillRect l="-2740" t="-3125"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D6997EE7-3D7D-61E9-C2A3-D709B4567084}"/>
                  </a:ext>
                </a:extLst>
              </p:cNvPr>
              <p:cNvSpPr txBox="1"/>
              <p:nvPr/>
            </p:nvSpPr>
            <p:spPr>
              <a:xfrm>
                <a:off x="3405785" y="3107780"/>
                <a:ext cx="3168352"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a:t>
                </a:r>
                <a:r>
                  <a:rPr lang="en-US" altLang="ja-JP" dirty="0"/>
                  <a:t>j</a:t>
                </a:r>
                <a:r>
                  <a:rPr lang="ja-JP" altLang="en-US" dirty="0"/>
                  <a:t>が</a:t>
                </a:r>
                <a:r>
                  <a:rPr lang="en-US" altLang="ja-JP" dirty="0" err="1"/>
                  <a:t>i</a:t>
                </a:r>
                <a:r>
                  <a:rPr lang="ja-JP" altLang="en-US" dirty="0"/>
                  <a:t>を見ているか</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𝑐</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：タスク飽和度 </a:t>
                </a:r>
                <a:r>
                  <a:rPr lang="en-US" altLang="ja-JP" dirty="0"/>
                  <a:t>(capacity)</a:t>
                </a:r>
              </a:p>
            </p:txBody>
          </p:sp>
        </mc:Choice>
        <mc:Fallback xmlns="">
          <p:sp>
            <p:nvSpPr>
              <p:cNvPr id="16" name="テキスト ボックス 15">
                <a:extLst>
                  <a:ext uri="{FF2B5EF4-FFF2-40B4-BE49-F238E27FC236}">
                    <a16:creationId xmlns:a16="http://schemas.microsoft.com/office/drawing/2014/main" id="{D6997EE7-3D7D-61E9-C2A3-D709B4567084}"/>
                  </a:ext>
                </a:extLst>
              </p:cNvPr>
              <p:cNvSpPr txBox="1">
                <a:spLocks noRot="1" noChangeAspect="1" noMove="1" noResize="1" noEditPoints="1" noAdjustHandles="1" noChangeArrowheads="1" noChangeShapeType="1" noTextEdit="1"/>
              </p:cNvSpPr>
              <p:nvPr/>
            </p:nvSpPr>
            <p:spPr>
              <a:xfrm>
                <a:off x="3405785" y="3107780"/>
                <a:ext cx="3168352" cy="2862322"/>
              </a:xfrm>
              <a:prstGeom prst="rect">
                <a:avLst/>
              </a:prstGeom>
              <a:blipFill>
                <a:blip r:embed="rId10"/>
                <a:stretch>
                  <a:fillRect r="-956"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D0EA0D68-0533-B5D1-267D-DE2CBE41767C}"/>
                  </a:ext>
                </a:extLst>
              </p:cNvPr>
              <p:cNvSpPr txBox="1"/>
              <p:nvPr/>
            </p:nvSpPr>
            <p:spPr>
              <a:xfrm>
                <a:off x="3477793" y="2929585"/>
                <a:ext cx="13072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スタッフ</a:t>
                </a:r>
                <a14:m>
                  <m:oMath xmlns:m="http://schemas.openxmlformats.org/officeDocument/2006/math">
                    <m:r>
                      <a:rPr lang="en-US" altLang="ja-JP" b="0" i="1" dirty="0" smtClean="0">
                        <a:latin typeface="Cambria Math" panose="02040503050406030204" pitchFamily="18" charset="0"/>
                      </a:rPr>
                      <m:t>𝑗</m:t>
                    </m:r>
                  </m:oMath>
                </a14:m>
                <a:endParaRPr lang="en-US" altLang="ja-JP" i="1" dirty="0">
                  <a:latin typeface="Cambria Math" panose="02040503050406030204" pitchFamily="18" charset="0"/>
                </a:endParaRPr>
              </a:p>
            </p:txBody>
          </p:sp>
        </mc:Choice>
        <mc:Fallback xmlns="">
          <p:sp>
            <p:nvSpPr>
              <p:cNvPr id="17" name="テキスト ボックス 16">
                <a:extLst>
                  <a:ext uri="{FF2B5EF4-FFF2-40B4-BE49-F238E27FC236}">
                    <a16:creationId xmlns:a16="http://schemas.microsoft.com/office/drawing/2014/main" id="{D0EA0D68-0533-B5D1-267D-DE2CBE41767C}"/>
                  </a:ext>
                </a:extLst>
              </p:cNvPr>
              <p:cNvSpPr txBox="1">
                <a:spLocks noRot="1" noChangeAspect="1" noMove="1" noResize="1" noEditPoints="1" noAdjustHandles="1" noChangeArrowheads="1" noChangeShapeType="1" noTextEdit="1"/>
              </p:cNvSpPr>
              <p:nvPr/>
            </p:nvSpPr>
            <p:spPr>
              <a:xfrm>
                <a:off x="3477793" y="2929585"/>
                <a:ext cx="1307256" cy="369332"/>
              </a:xfrm>
              <a:prstGeom prst="rect">
                <a:avLst/>
              </a:prstGeom>
              <a:blipFill>
                <a:blip r:embed="rId11"/>
                <a:stretch>
                  <a:fillRect l="-3211" t="-3125"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5C217997-48FE-2573-E6A6-7D4BDB43DE6F}"/>
                  </a:ext>
                </a:extLst>
              </p:cNvPr>
              <p:cNvSpPr txBox="1"/>
              <p:nvPr/>
            </p:nvSpPr>
            <p:spPr>
              <a:xfrm>
                <a:off x="3281829" y="3175380"/>
                <a:ext cx="3168352"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a:t>
                </a:r>
                <a:r>
                  <a:rPr lang="en-US" altLang="ja-JP" i="1" dirty="0"/>
                  <a:t>j</a:t>
                </a:r>
                <a:r>
                  <a:rPr lang="ja-JP" altLang="en-US" dirty="0"/>
                  <a:t>が</a:t>
                </a:r>
                <a:r>
                  <a:rPr lang="en-US" altLang="ja-JP" i="1" dirty="0" err="1"/>
                  <a:t>i</a:t>
                </a:r>
                <a:r>
                  <a:rPr lang="ja-JP" altLang="en-US" dirty="0"/>
                  <a:t>を見ているか</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𝑐</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：タスク飽和度 </a:t>
                </a:r>
                <a:r>
                  <a:rPr lang="en-US" altLang="ja-JP" dirty="0"/>
                  <a:t>(capacity)</a:t>
                </a:r>
              </a:p>
            </p:txBody>
          </p:sp>
        </mc:Choice>
        <mc:Fallback xmlns="">
          <p:sp>
            <p:nvSpPr>
              <p:cNvPr id="41" name="テキスト ボックス 40">
                <a:extLst>
                  <a:ext uri="{FF2B5EF4-FFF2-40B4-BE49-F238E27FC236}">
                    <a16:creationId xmlns:a16="http://schemas.microsoft.com/office/drawing/2014/main" id="{5C217997-48FE-2573-E6A6-7D4BDB43DE6F}"/>
                  </a:ext>
                </a:extLst>
              </p:cNvPr>
              <p:cNvSpPr txBox="1">
                <a:spLocks noRot="1" noChangeAspect="1" noMove="1" noResize="1" noEditPoints="1" noAdjustHandles="1" noChangeArrowheads="1" noChangeShapeType="1" noTextEdit="1"/>
              </p:cNvSpPr>
              <p:nvPr/>
            </p:nvSpPr>
            <p:spPr>
              <a:xfrm>
                <a:off x="3281829" y="3175380"/>
                <a:ext cx="3168352" cy="2862322"/>
              </a:xfrm>
              <a:prstGeom prst="rect">
                <a:avLst/>
              </a:prstGeom>
              <a:blipFill>
                <a:blip r:embed="rId12"/>
                <a:stretch>
                  <a:fillRect r="-954" b="-253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DCDCA374-82D3-590D-8992-1D442C0EACD1}"/>
                  </a:ext>
                </a:extLst>
              </p:cNvPr>
              <p:cNvSpPr txBox="1"/>
              <p:nvPr/>
            </p:nvSpPr>
            <p:spPr>
              <a:xfrm>
                <a:off x="3353837" y="2997185"/>
                <a:ext cx="13072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スタッフ</a:t>
                </a:r>
                <a14:m>
                  <m:oMath xmlns:m="http://schemas.openxmlformats.org/officeDocument/2006/math">
                    <m:r>
                      <a:rPr lang="en-US" altLang="ja-JP" b="0" i="1" dirty="0" smtClean="0">
                        <a:latin typeface="Cambria Math" panose="02040503050406030204" pitchFamily="18" charset="0"/>
                      </a:rPr>
                      <m:t>𝑗</m:t>
                    </m:r>
                  </m:oMath>
                </a14:m>
                <a:endParaRPr lang="en-US" altLang="ja-JP" i="1" dirty="0">
                  <a:latin typeface="Cambria Math" panose="02040503050406030204" pitchFamily="18" charset="0"/>
                </a:endParaRPr>
              </a:p>
            </p:txBody>
          </p:sp>
        </mc:Choice>
        <mc:Fallback xmlns="">
          <p:sp>
            <p:nvSpPr>
              <p:cNvPr id="42" name="テキスト ボックス 41">
                <a:extLst>
                  <a:ext uri="{FF2B5EF4-FFF2-40B4-BE49-F238E27FC236}">
                    <a16:creationId xmlns:a16="http://schemas.microsoft.com/office/drawing/2014/main" id="{DCDCA374-82D3-590D-8992-1D442C0EACD1}"/>
                  </a:ext>
                </a:extLst>
              </p:cNvPr>
              <p:cNvSpPr txBox="1">
                <a:spLocks noRot="1" noChangeAspect="1" noMove="1" noResize="1" noEditPoints="1" noAdjustHandles="1" noChangeArrowheads="1" noChangeShapeType="1" noTextEdit="1"/>
              </p:cNvSpPr>
              <p:nvPr/>
            </p:nvSpPr>
            <p:spPr>
              <a:xfrm>
                <a:off x="3353837" y="2997185"/>
                <a:ext cx="1307256" cy="369332"/>
              </a:xfrm>
              <a:prstGeom prst="rect">
                <a:avLst/>
              </a:prstGeom>
              <a:blipFill>
                <a:blip r:embed="rId13"/>
                <a:stretch>
                  <a:fillRect l="-2740" t="-3125" b="-25000"/>
                </a:stretch>
              </a:blipFill>
            </p:spPr>
            <p:txBody>
              <a:bodyPr/>
              <a:lstStyle/>
              <a:p>
                <a:r>
                  <a:rPr lang="ja-JP" altLang="en-US">
                    <a:noFill/>
                  </a:rPr>
                  <a:t> </a:t>
                </a:r>
              </a:p>
            </p:txBody>
          </p:sp>
        </mc:Fallback>
      </mc:AlternateContent>
      <p:cxnSp>
        <p:nvCxnSpPr>
          <p:cNvPr id="55" name="直線矢印コネクタ 54">
            <a:extLst>
              <a:ext uri="{FF2B5EF4-FFF2-40B4-BE49-F238E27FC236}">
                <a16:creationId xmlns:a16="http://schemas.microsoft.com/office/drawing/2014/main" id="{969FC43A-254D-0E12-4E9A-403B2F05DCBD}"/>
              </a:ext>
            </a:extLst>
          </p:cNvPr>
          <p:cNvCxnSpPr>
            <a:cxnSpLocks/>
          </p:cNvCxnSpPr>
          <p:nvPr/>
        </p:nvCxnSpPr>
        <p:spPr>
          <a:xfrm flipH="1">
            <a:off x="2063552" y="5273822"/>
            <a:ext cx="12182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C6E8C0C7-7C10-070E-8368-6F7DCF83FFEC}"/>
              </a:ext>
            </a:extLst>
          </p:cNvPr>
          <p:cNvCxnSpPr/>
          <p:nvPr/>
        </p:nvCxnSpPr>
        <p:spPr>
          <a:xfrm flipH="1">
            <a:off x="3039385" y="3646344"/>
            <a:ext cx="3144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07B615EB-CBA1-4F23-E760-8B04F4BBFECC}"/>
              </a:ext>
            </a:extLst>
          </p:cNvPr>
          <p:cNvCxnSpPr>
            <a:cxnSpLocks/>
          </p:cNvCxnSpPr>
          <p:nvPr/>
        </p:nvCxnSpPr>
        <p:spPr>
          <a:xfrm>
            <a:off x="3039385" y="3646344"/>
            <a:ext cx="0" cy="15554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608A8AB3-412F-A39C-5E3E-BA94E196141D}"/>
              </a:ext>
            </a:extLst>
          </p:cNvPr>
          <p:cNvCxnSpPr>
            <a:cxnSpLocks/>
          </p:cNvCxnSpPr>
          <p:nvPr/>
        </p:nvCxnSpPr>
        <p:spPr>
          <a:xfrm>
            <a:off x="3039385" y="5201816"/>
            <a:ext cx="2424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39106F8-DB8A-41A2-59F8-C917BAD1BB8F}"/>
              </a:ext>
            </a:extLst>
          </p:cNvPr>
          <p:cNvCxnSpPr>
            <a:cxnSpLocks/>
          </p:cNvCxnSpPr>
          <p:nvPr/>
        </p:nvCxnSpPr>
        <p:spPr>
          <a:xfrm flipH="1">
            <a:off x="1847528" y="3646344"/>
            <a:ext cx="119185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879D354-7527-D0B1-6176-D74BDA06475C}"/>
              </a:ext>
            </a:extLst>
          </p:cNvPr>
          <p:cNvCxnSpPr>
            <a:cxnSpLocks/>
          </p:cNvCxnSpPr>
          <p:nvPr/>
        </p:nvCxnSpPr>
        <p:spPr>
          <a:xfrm flipV="1">
            <a:off x="2063552" y="3689648"/>
            <a:ext cx="0" cy="436453"/>
          </a:xfrm>
          <a:prstGeom prst="line">
            <a:avLst/>
          </a:prstGeom>
        </p:spPr>
        <p:style>
          <a:lnRef idx="1">
            <a:schemeClr val="accent2"/>
          </a:lnRef>
          <a:fillRef idx="0">
            <a:schemeClr val="accent2"/>
          </a:fillRef>
          <a:effectRef idx="0">
            <a:schemeClr val="accent2"/>
          </a:effectRef>
          <a:fontRef idx="minor">
            <a:schemeClr val="tx1"/>
          </a:fontRef>
        </p:style>
      </p:cxnSp>
      <p:cxnSp>
        <p:nvCxnSpPr>
          <p:cNvPr id="75" name="直線コネクタ 74">
            <a:extLst>
              <a:ext uri="{FF2B5EF4-FFF2-40B4-BE49-F238E27FC236}">
                <a16:creationId xmlns:a16="http://schemas.microsoft.com/office/drawing/2014/main" id="{1262E9A2-DC6E-C16E-0547-77D5E4D3D156}"/>
              </a:ext>
            </a:extLst>
          </p:cNvPr>
          <p:cNvCxnSpPr>
            <a:cxnSpLocks/>
          </p:cNvCxnSpPr>
          <p:nvPr/>
        </p:nvCxnSpPr>
        <p:spPr>
          <a:xfrm flipH="1">
            <a:off x="1038760" y="4697760"/>
            <a:ext cx="145684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43020D4B-66C6-BE20-0208-B9D2B3472491}"/>
              </a:ext>
            </a:extLst>
          </p:cNvPr>
          <p:cNvCxnSpPr>
            <a:cxnSpLocks/>
          </p:cNvCxnSpPr>
          <p:nvPr/>
        </p:nvCxnSpPr>
        <p:spPr>
          <a:xfrm flipH="1">
            <a:off x="1575440" y="4193704"/>
            <a:ext cx="92016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46CBB503-87FB-DC6E-5072-13CE6344BD5B}"/>
              </a:ext>
            </a:extLst>
          </p:cNvPr>
          <p:cNvCxnSpPr>
            <a:cxnSpLocks/>
          </p:cNvCxnSpPr>
          <p:nvPr/>
        </p:nvCxnSpPr>
        <p:spPr>
          <a:xfrm flipH="1">
            <a:off x="2009448" y="5849888"/>
            <a:ext cx="486152"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823C4EF8-2A2B-2B7D-C3AF-35D7321374CC}"/>
              </a:ext>
            </a:extLst>
          </p:cNvPr>
          <p:cNvCxnSpPr>
            <a:cxnSpLocks/>
          </p:cNvCxnSpPr>
          <p:nvPr/>
        </p:nvCxnSpPr>
        <p:spPr>
          <a:xfrm flipV="1">
            <a:off x="2495600" y="4193704"/>
            <a:ext cx="0" cy="165618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7D04077F-FA51-8BC8-1BEE-DA4F5B86A191}"/>
              </a:ext>
            </a:extLst>
          </p:cNvPr>
          <p:cNvCxnSpPr>
            <a:cxnSpLocks/>
          </p:cNvCxnSpPr>
          <p:nvPr/>
        </p:nvCxnSpPr>
        <p:spPr>
          <a:xfrm flipH="1">
            <a:off x="2045098" y="5345832"/>
            <a:ext cx="450502"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1" name="直線矢印コネクタ 90">
            <a:extLst>
              <a:ext uri="{FF2B5EF4-FFF2-40B4-BE49-F238E27FC236}">
                <a16:creationId xmlns:a16="http://schemas.microsoft.com/office/drawing/2014/main" id="{2515193B-A2EE-3D86-C181-6B54040EDD2D}"/>
              </a:ext>
            </a:extLst>
          </p:cNvPr>
          <p:cNvCxnSpPr>
            <a:cxnSpLocks/>
          </p:cNvCxnSpPr>
          <p:nvPr/>
        </p:nvCxnSpPr>
        <p:spPr>
          <a:xfrm>
            <a:off x="6122420" y="4126101"/>
            <a:ext cx="0" cy="1579771"/>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94" name="直線コネクタ 93">
            <a:extLst>
              <a:ext uri="{FF2B5EF4-FFF2-40B4-BE49-F238E27FC236}">
                <a16:creationId xmlns:a16="http://schemas.microsoft.com/office/drawing/2014/main" id="{8275EF44-A766-4A0D-A7CB-5314A71870B1}"/>
              </a:ext>
            </a:extLst>
          </p:cNvPr>
          <p:cNvCxnSpPr>
            <a:cxnSpLocks/>
          </p:cNvCxnSpPr>
          <p:nvPr/>
        </p:nvCxnSpPr>
        <p:spPr>
          <a:xfrm flipH="1">
            <a:off x="4930563" y="4126101"/>
            <a:ext cx="1191857"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95" name="直線コネクタ 94">
            <a:extLst>
              <a:ext uri="{FF2B5EF4-FFF2-40B4-BE49-F238E27FC236}">
                <a16:creationId xmlns:a16="http://schemas.microsoft.com/office/drawing/2014/main" id="{FACF3269-3841-73CB-DC22-172C097A0D34}"/>
              </a:ext>
            </a:extLst>
          </p:cNvPr>
          <p:cNvCxnSpPr>
            <a:cxnSpLocks/>
          </p:cNvCxnSpPr>
          <p:nvPr/>
        </p:nvCxnSpPr>
        <p:spPr>
          <a:xfrm flipH="1">
            <a:off x="4223792" y="4715030"/>
            <a:ext cx="1898628" cy="0"/>
          </a:xfrm>
          <a:prstGeom prst="line">
            <a:avLst/>
          </a:prstGeom>
        </p:spPr>
        <p:style>
          <a:lnRef idx="1">
            <a:schemeClr val="accent5"/>
          </a:lnRef>
          <a:fillRef idx="0">
            <a:schemeClr val="accent5"/>
          </a:fillRef>
          <a:effectRef idx="0">
            <a:schemeClr val="accent5"/>
          </a:effectRef>
          <a:fontRef idx="minor">
            <a:schemeClr val="tx1"/>
          </a:fontRef>
        </p:style>
      </p:cxnSp>
      <p:cxnSp>
        <p:nvCxnSpPr>
          <p:cNvPr id="97" name="直線コネクタ 96">
            <a:extLst>
              <a:ext uri="{FF2B5EF4-FFF2-40B4-BE49-F238E27FC236}">
                <a16:creationId xmlns:a16="http://schemas.microsoft.com/office/drawing/2014/main" id="{C9EBC39D-FAF3-9A9B-3703-0628719AB550}"/>
              </a:ext>
            </a:extLst>
          </p:cNvPr>
          <p:cNvCxnSpPr>
            <a:cxnSpLocks/>
          </p:cNvCxnSpPr>
          <p:nvPr/>
        </p:nvCxnSpPr>
        <p:spPr>
          <a:xfrm flipH="1">
            <a:off x="5879976" y="5283121"/>
            <a:ext cx="242444" cy="0"/>
          </a:xfrm>
          <a:prstGeom prst="line">
            <a:avLst/>
          </a:prstGeom>
        </p:spPr>
        <p:style>
          <a:lnRef idx="1">
            <a:schemeClr val="accent5"/>
          </a:lnRef>
          <a:fillRef idx="0">
            <a:schemeClr val="accent5"/>
          </a:fillRef>
          <a:effectRef idx="0">
            <a:schemeClr val="accent5"/>
          </a:effectRef>
          <a:fontRef idx="minor">
            <a:schemeClr val="tx1"/>
          </a:fontRef>
        </p:style>
      </p:cxnSp>
      <mc:AlternateContent xmlns:mc="http://schemas.openxmlformats.org/markup-compatibility/2006" xmlns:a14="http://schemas.microsoft.com/office/drawing/2010/main">
        <mc:Choice Requires="a14">
          <p:sp>
            <p:nvSpPr>
              <p:cNvPr id="103" name="テキスト ボックス 102">
                <a:extLst>
                  <a:ext uri="{FF2B5EF4-FFF2-40B4-BE49-F238E27FC236}">
                    <a16:creationId xmlns:a16="http://schemas.microsoft.com/office/drawing/2014/main" id="{FD4A150C-DED4-9BDE-56DE-4C529837A743}"/>
                  </a:ext>
                </a:extLst>
              </p:cNvPr>
              <p:cNvSpPr txBox="1"/>
              <p:nvPr/>
            </p:nvSpPr>
            <p:spPr>
              <a:xfrm>
                <a:off x="6967363" y="3175380"/>
                <a:ext cx="2660409"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位置</a:t>
                </a:r>
                <a:r>
                  <a:rPr lang="en-US" altLang="ja-JP" dirty="0"/>
                  <a:t>(</a:t>
                </a:r>
                <a14:m>
                  <m:oMath xmlns:m="http://schemas.openxmlformats.org/officeDocument/2006/math">
                    <m:r>
                      <a:rPr lang="en-US" altLang="ja-JP" i="1" dirty="0" smtClean="0">
                        <a:latin typeface="Cambria Math" panose="02040503050406030204" pitchFamily="18" charset="0"/>
                      </a:rPr>
                      <m:t>𝑥</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𝑦</m:t>
                    </m:r>
                  </m:oMath>
                </a14:m>
                <a:r>
                  <a:rPr lang="en-US" altLang="ja-JP" dirty="0"/>
                  <a:t>)</a:t>
                </a:r>
              </a:p>
              <a:p>
                <a:endParaRPr lang="en-US" altLang="ja-JP" dirty="0"/>
              </a:p>
              <a:p>
                <a14:m>
                  <m:oMath xmlns:m="http://schemas.openxmlformats.org/officeDocument/2006/math">
                    <m:r>
                      <a:rPr lang="en-US" altLang="ja-JP" b="0" i="1" smtClean="0">
                        <a:latin typeface="Cambria Math" panose="02040503050406030204" pitchFamily="18" charset="0"/>
                      </a:rPr>
                      <m:t>𝜏</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：タスク</a:t>
                </a:r>
                <a:endParaRPr lang="en-US" altLang="ja-JP" dirty="0"/>
              </a:p>
              <a:p>
                <a:endParaRPr lang="en-US" altLang="ja-JP" b="1" i="1" dirty="0">
                  <a:latin typeface="Cambria Math" panose="02040503050406030204" pitchFamily="18" charset="0"/>
                </a:endParaRPr>
              </a:p>
              <a:p>
                <a14:m>
                  <m:oMath xmlns:m="http://schemas.openxmlformats.org/officeDocument/2006/math">
                    <m:r>
                      <a:rPr lang="en-US" altLang="ja-JP" b="1" i="1" smtClean="0">
                        <a:latin typeface="Cambria Math" panose="02040503050406030204" pitchFamily="18" charset="0"/>
                      </a:rPr>
                      <m:t>𝒂</m:t>
                    </m:r>
                  </m:oMath>
                </a14:m>
                <a:r>
                  <a:rPr lang="ja-JP" altLang="en-US" dirty="0"/>
                  <a:t>：属性</a:t>
                </a:r>
                <a:endParaRPr lang="en-US" altLang="ja-JP" dirty="0"/>
              </a:p>
              <a:p>
                <a:endParaRPr lang="en-US" altLang="ja-JP" b="0"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𝑚</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a:t>
                </a:r>
                <a:r>
                  <a:rPr lang="en-US" altLang="ja-JP" i="1" dirty="0"/>
                  <a:t>j</a:t>
                </a:r>
                <a:r>
                  <a:rPr lang="ja-JP" altLang="en-US" dirty="0"/>
                  <a:t>が</a:t>
                </a:r>
                <a:r>
                  <a:rPr lang="en-US" altLang="ja-JP" i="1" dirty="0" err="1"/>
                  <a:t>i</a:t>
                </a:r>
                <a:r>
                  <a:rPr lang="ja-JP" altLang="en-US" dirty="0"/>
                  <a:t>を見ているか</a:t>
                </a:r>
                <a:endParaRPr lang="en-US" altLang="ja-JP" dirty="0"/>
              </a:p>
              <a:p>
                <a:endParaRPr lang="en-US" altLang="ja-JP" dirty="0"/>
              </a:p>
              <a:p>
                <a:r>
                  <a:rPr lang="ja-JP" altLang="en-US" dirty="0"/>
                  <a:t>？：自身ができること</a:t>
                </a:r>
                <a:endParaRPr lang="en-US" altLang="ja-JP" dirty="0"/>
              </a:p>
            </p:txBody>
          </p:sp>
        </mc:Choice>
        <mc:Fallback xmlns="">
          <p:sp>
            <p:nvSpPr>
              <p:cNvPr id="103" name="テキスト ボックス 102">
                <a:extLst>
                  <a:ext uri="{FF2B5EF4-FFF2-40B4-BE49-F238E27FC236}">
                    <a16:creationId xmlns:a16="http://schemas.microsoft.com/office/drawing/2014/main" id="{FD4A150C-DED4-9BDE-56DE-4C529837A743}"/>
                  </a:ext>
                </a:extLst>
              </p:cNvPr>
              <p:cNvSpPr txBox="1">
                <a:spLocks noRot="1" noChangeAspect="1" noMove="1" noResize="1" noEditPoints="1" noAdjustHandles="1" noChangeArrowheads="1" noChangeShapeType="1" noTextEdit="1"/>
              </p:cNvSpPr>
              <p:nvPr/>
            </p:nvSpPr>
            <p:spPr>
              <a:xfrm>
                <a:off x="6967363" y="3175380"/>
                <a:ext cx="2660409" cy="2862322"/>
              </a:xfrm>
              <a:prstGeom prst="rect">
                <a:avLst/>
              </a:prstGeom>
              <a:blipFill>
                <a:blip r:embed="rId14"/>
                <a:stretch>
                  <a:fillRect l="-1591" r="-909" b="-2537"/>
                </a:stretch>
              </a:blipFill>
            </p:spPr>
            <p:txBody>
              <a:bodyPr/>
              <a:lstStyle/>
              <a:p>
                <a:r>
                  <a:rPr lang="ja-JP" altLang="en-US">
                    <a:noFill/>
                  </a:rPr>
                  <a:t> </a:t>
                </a:r>
              </a:p>
            </p:txBody>
          </p:sp>
        </mc:Fallback>
      </mc:AlternateContent>
      <p:sp>
        <p:nvSpPr>
          <p:cNvPr id="104" name="テキスト ボックス 103">
            <a:extLst>
              <a:ext uri="{FF2B5EF4-FFF2-40B4-BE49-F238E27FC236}">
                <a16:creationId xmlns:a16="http://schemas.microsoft.com/office/drawing/2014/main" id="{2EA6C660-8565-2197-3B67-C6525577C5E1}"/>
              </a:ext>
            </a:extLst>
          </p:cNvPr>
          <p:cNvSpPr txBox="1"/>
          <p:nvPr/>
        </p:nvSpPr>
        <p:spPr>
          <a:xfrm>
            <a:off x="7039371" y="2997185"/>
            <a:ext cx="1307256"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ロボット</a:t>
            </a:r>
            <a:endParaRPr lang="en-US" altLang="ja-JP"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05" name="テキスト ボックス 104">
                <a:extLst>
                  <a:ext uri="{FF2B5EF4-FFF2-40B4-BE49-F238E27FC236}">
                    <a16:creationId xmlns:a16="http://schemas.microsoft.com/office/drawing/2014/main" id="{D94CB9DF-F450-EC43-7C99-5B2F3B30DE35}"/>
                  </a:ext>
                </a:extLst>
              </p:cNvPr>
              <p:cNvSpPr txBox="1"/>
              <p:nvPr/>
            </p:nvSpPr>
            <p:spPr>
              <a:xfrm>
                <a:off x="9772203" y="3175380"/>
                <a:ext cx="2248928"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altLang="ja-JP" i="1" dirty="0">
                  <a:latin typeface="Cambria Math" panose="02040503050406030204" pitchFamily="18" charset="0"/>
                </a:endParaRPr>
              </a:p>
              <a:p>
                <a14:m>
                  <m:oMath xmlns:m="http://schemas.openxmlformats.org/officeDocument/2006/math">
                    <m:r>
                      <a:rPr lang="en-US" altLang="ja-JP" b="0" i="1" smtClean="0">
                        <a:latin typeface="Cambria Math" panose="02040503050406030204" pitchFamily="18" charset="0"/>
                      </a:rPr>
                      <m:t>𝑑</m:t>
                    </m:r>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oMath>
                </a14:m>
                <a:r>
                  <a:rPr lang="ja-JP" altLang="en-US" dirty="0"/>
                  <a:t>宛先</a:t>
                </a:r>
                <a:endParaRPr lang="en-US" altLang="ja-JP" dirty="0"/>
              </a:p>
              <a:p>
                <a:endParaRPr lang="en-US" altLang="ja-JP" dirty="0"/>
              </a:p>
              <a:p>
                <a14:m>
                  <m:oMath xmlns:m="http://schemas.openxmlformats.org/officeDocument/2006/math">
                    <m:r>
                      <a:rPr lang="en-US" altLang="ja-JP" b="0" i="1" smtClean="0">
                        <a:latin typeface="Cambria Math" panose="02040503050406030204" pitchFamily="18" charset="0"/>
                      </a:rPr>
                      <m:t>𝑎</m:t>
                    </m:r>
                    <m:r>
                      <a:rPr lang="en-US" altLang="ja-JP" i="1">
                        <a:latin typeface="Cambria Math" panose="02040503050406030204" pitchFamily="18" charset="0"/>
                      </a:rPr>
                      <m:t>[</m:t>
                    </m:r>
                    <m:r>
                      <a:rPr lang="en-US" altLang="ja-JP" i="1">
                        <a:latin typeface="Cambria Math" panose="02040503050406030204" pitchFamily="18" charset="0"/>
                      </a:rPr>
                      <m:t>𝑘</m:t>
                    </m:r>
                    <m:r>
                      <a:rPr lang="en-US" altLang="ja-JP" i="1">
                        <a:latin typeface="Cambria Math" panose="02040503050406030204" pitchFamily="18" charset="0"/>
                      </a:rPr>
                      <m:t>]</m:t>
                    </m:r>
                  </m:oMath>
                </a14:m>
                <a:r>
                  <a:rPr lang="ja-JP" altLang="en-US" dirty="0"/>
                  <a:t>：内容</a:t>
                </a:r>
                <a:endParaRPr lang="en-US" altLang="ja-JP" dirty="0"/>
              </a:p>
              <a:p>
                <a:endParaRPr lang="en-US" altLang="ja-JP" b="1" i="1" dirty="0">
                  <a:latin typeface="Cambria Math" panose="02040503050406030204" pitchFamily="18" charset="0"/>
                </a:endParaRPr>
              </a:p>
            </p:txBody>
          </p:sp>
        </mc:Choice>
        <mc:Fallback xmlns="">
          <p:sp>
            <p:nvSpPr>
              <p:cNvPr id="105" name="テキスト ボックス 104">
                <a:extLst>
                  <a:ext uri="{FF2B5EF4-FFF2-40B4-BE49-F238E27FC236}">
                    <a16:creationId xmlns:a16="http://schemas.microsoft.com/office/drawing/2014/main" id="{D94CB9DF-F450-EC43-7C99-5B2F3B30DE35}"/>
                  </a:ext>
                </a:extLst>
              </p:cNvPr>
              <p:cNvSpPr txBox="1">
                <a:spLocks noRot="1" noChangeAspect="1" noMove="1" noResize="1" noEditPoints="1" noAdjustHandles="1" noChangeArrowheads="1" noChangeShapeType="1" noTextEdit="1"/>
              </p:cNvSpPr>
              <p:nvPr/>
            </p:nvSpPr>
            <p:spPr>
              <a:xfrm>
                <a:off x="9772203" y="3175380"/>
                <a:ext cx="2248928" cy="1477328"/>
              </a:xfrm>
              <a:prstGeom prst="rect">
                <a:avLst/>
              </a:prstGeom>
              <a:blipFill>
                <a:blip r:embed="rId15"/>
                <a:stretch>
                  <a:fillRect/>
                </a:stretch>
              </a:blipFill>
            </p:spPr>
            <p:txBody>
              <a:bodyPr/>
              <a:lstStyle/>
              <a:p>
                <a:r>
                  <a:rPr lang="ja-JP" altLang="en-US">
                    <a:noFill/>
                  </a:rPr>
                  <a:t> </a:t>
                </a:r>
              </a:p>
            </p:txBody>
          </p:sp>
        </mc:Fallback>
      </mc:AlternateContent>
      <p:sp>
        <p:nvSpPr>
          <p:cNvPr id="106" name="テキスト ボックス 105">
            <a:extLst>
              <a:ext uri="{FF2B5EF4-FFF2-40B4-BE49-F238E27FC236}">
                <a16:creationId xmlns:a16="http://schemas.microsoft.com/office/drawing/2014/main" id="{49874CC7-1290-946A-2F0E-6B2C7E1405A7}"/>
              </a:ext>
            </a:extLst>
          </p:cNvPr>
          <p:cNvSpPr txBox="1"/>
          <p:nvPr/>
        </p:nvSpPr>
        <p:spPr>
          <a:xfrm>
            <a:off x="9844210" y="2997185"/>
            <a:ext cx="1652389"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ja-JP" altLang="en-US" i="1" dirty="0">
                <a:latin typeface="Cambria Math" panose="02040503050406030204" pitchFamily="18" charset="0"/>
              </a:rPr>
              <a:t>通知システム</a:t>
            </a:r>
            <a:endParaRPr lang="en-US" altLang="ja-JP" i="1" dirty="0">
              <a:latin typeface="Cambria Math" panose="02040503050406030204" pitchFamily="18" charset="0"/>
            </a:endParaRPr>
          </a:p>
        </p:txBody>
      </p:sp>
      <p:cxnSp>
        <p:nvCxnSpPr>
          <p:cNvPr id="107" name="直線矢印コネクタ 106">
            <a:extLst>
              <a:ext uri="{FF2B5EF4-FFF2-40B4-BE49-F238E27FC236}">
                <a16:creationId xmlns:a16="http://schemas.microsoft.com/office/drawing/2014/main" id="{77950713-EF30-D87D-3086-1CC0B9370114}"/>
              </a:ext>
            </a:extLst>
          </p:cNvPr>
          <p:cNvCxnSpPr>
            <a:cxnSpLocks/>
          </p:cNvCxnSpPr>
          <p:nvPr/>
        </p:nvCxnSpPr>
        <p:spPr>
          <a:xfrm flipH="1">
            <a:off x="1575440" y="4126101"/>
            <a:ext cx="1352208"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9" name="直線コネクタ 108">
            <a:extLst>
              <a:ext uri="{FF2B5EF4-FFF2-40B4-BE49-F238E27FC236}">
                <a16:creationId xmlns:a16="http://schemas.microsoft.com/office/drawing/2014/main" id="{611DB782-3B64-8C6F-DF38-B27F0D318EE1}"/>
              </a:ext>
            </a:extLst>
          </p:cNvPr>
          <p:cNvCxnSpPr>
            <a:cxnSpLocks/>
          </p:cNvCxnSpPr>
          <p:nvPr/>
        </p:nvCxnSpPr>
        <p:spPr>
          <a:xfrm>
            <a:off x="2927648" y="2321496"/>
            <a:ext cx="0" cy="1872208"/>
          </a:xfrm>
          <a:prstGeom prst="line">
            <a:avLst/>
          </a:prstGeom>
        </p:spPr>
        <p:style>
          <a:lnRef idx="1">
            <a:schemeClr val="accent2"/>
          </a:lnRef>
          <a:fillRef idx="0">
            <a:schemeClr val="accent2"/>
          </a:fillRef>
          <a:effectRef idx="0">
            <a:schemeClr val="accent2"/>
          </a:effectRef>
          <a:fontRef idx="minor">
            <a:schemeClr val="tx1"/>
          </a:fontRef>
        </p:style>
      </p:cxnSp>
      <p:cxnSp>
        <p:nvCxnSpPr>
          <p:cNvPr id="111" name="直線コネクタ 110">
            <a:extLst>
              <a:ext uri="{FF2B5EF4-FFF2-40B4-BE49-F238E27FC236}">
                <a16:creationId xmlns:a16="http://schemas.microsoft.com/office/drawing/2014/main" id="{A4E66D96-23DC-4018-A44F-AE1537C153EF}"/>
              </a:ext>
            </a:extLst>
          </p:cNvPr>
          <p:cNvCxnSpPr>
            <a:cxnSpLocks/>
          </p:cNvCxnSpPr>
          <p:nvPr/>
        </p:nvCxnSpPr>
        <p:spPr>
          <a:xfrm flipH="1">
            <a:off x="2927648" y="2321496"/>
            <a:ext cx="42618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3" name="直線矢印コネクタ 112">
            <a:extLst>
              <a:ext uri="{FF2B5EF4-FFF2-40B4-BE49-F238E27FC236}">
                <a16:creationId xmlns:a16="http://schemas.microsoft.com/office/drawing/2014/main" id="{DDE514BE-0F9E-F98D-84A5-085788F55CA3}"/>
              </a:ext>
            </a:extLst>
          </p:cNvPr>
          <p:cNvCxnSpPr>
            <a:cxnSpLocks/>
          </p:cNvCxnSpPr>
          <p:nvPr/>
        </p:nvCxnSpPr>
        <p:spPr>
          <a:xfrm>
            <a:off x="2927648" y="4193704"/>
            <a:ext cx="35418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16" name="直線コネクタ 115">
            <a:extLst>
              <a:ext uri="{FF2B5EF4-FFF2-40B4-BE49-F238E27FC236}">
                <a16:creationId xmlns:a16="http://schemas.microsoft.com/office/drawing/2014/main" id="{8FA794AE-7E9F-F9D1-2BA4-65222EB16B04}"/>
              </a:ext>
            </a:extLst>
          </p:cNvPr>
          <p:cNvCxnSpPr>
            <a:cxnSpLocks/>
          </p:cNvCxnSpPr>
          <p:nvPr/>
        </p:nvCxnSpPr>
        <p:spPr>
          <a:xfrm flipH="1">
            <a:off x="2927648" y="3689648"/>
            <a:ext cx="42618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8" name="直線コネクタ 117">
            <a:extLst>
              <a:ext uri="{FF2B5EF4-FFF2-40B4-BE49-F238E27FC236}">
                <a16:creationId xmlns:a16="http://schemas.microsoft.com/office/drawing/2014/main" id="{04B055EE-D4D2-BFC6-CD51-70CBB2F2212F}"/>
              </a:ext>
            </a:extLst>
          </p:cNvPr>
          <p:cNvCxnSpPr>
            <a:cxnSpLocks/>
          </p:cNvCxnSpPr>
          <p:nvPr/>
        </p:nvCxnSpPr>
        <p:spPr>
          <a:xfrm flipH="1">
            <a:off x="1854300" y="3689648"/>
            <a:ext cx="209252"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1" name="直線矢印コネクタ 120">
            <a:extLst>
              <a:ext uri="{FF2B5EF4-FFF2-40B4-BE49-F238E27FC236}">
                <a16:creationId xmlns:a16="http://schemas.microsoft.com/office/drawing/2014/main" id="{86D986C1-5534-2E40-6F0B-2BE54AA1C2D9}"/>
              </a:ext>
            </a:extLst>
          </p:cNvPr>
          <p:cNvCxnSpPr>
            <a:cxnSpLocks/>
          </p:cNvCxnSpPr>
          <p:nvPr/>
        </p:nvCxnSpPr>
        <p:spPr>
          <a:xfrm>
            <a:off x="7608168" y="1529408"/>
            <a:ext cx="354181"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2" name="テキスト ボックス 121">
            <a:extLst>
              <a:ext uri="{FF2B5EF4-FFF2-40B4-BE49-F238E27FC236}">
                <a16:creationId xmlns:a16="http://schemas.microsoft.com/office/drawing/2014/main" id="{18773336-FFC7-A47F-E9F7-BA7783473684}"/>
              </a:ext>
            </a:extLst>
          </p:cNvPr>
          <p:cNvSpPr txBox="1"/>
          <p:nvPr/>
        </p:nvSpPr>
        <p:spPr>
          <a:xfrm>
            <a:off x="7863169" y="1362317"/>
            <a:ext cx="3416320" cy="1200329"/>
          </a:xfrm>
          <a:prstGeom prst="rect">
            <a:avLst/>
          </a:prstGeom>
          <a:noFill/>
        </p:spPr>
        <p:txBody>
          <a:bodyPr wrap="none" rtlCol="0">
            <a:spAutoFit/>
          </a:bodyPr>
          <a:lstStyle/>
          <a:p>
            <a:r>
              <a:rPr kumimoji="1" lang="ja-JP" altLang="en-US" dirty="0"/>
              <a:t>：タスク推定の構造方程式</a:t>
            </a:r>
            <a:endParaRPr kumimoji="1" lang="en-US" altLang="ja-JP" dirty="0"/>
          </a:p>
          <a:p>
            <a:r>
              <a:rPr kumimoji="1" lang="ja-JP" altLang="en-US" dirty="0"/>
              <a:t>：見守り状況関連の構造方程式</a:t>
            </a:r>
            <a:endParaRPr kumimoji="1" lang="en-US" altLang="ja-JP" dirty="0"/>
          </a:p>
          <a:p>
            <a:r>
              <a:rPr kumimoji="1" lang="ja-JP" altLang="en-US" dirty="0"/>
              <a:t>：事故リスク関連の構造方程式</a:t>
            </a:r>
            <a:endParaRPr kumimoji="1" lang="en-US" altLang="ja-JP" dirty="0"/>
          </a:p>
          <a:p>
            <a:r>
              <a:rPr lang="ja-JP" altLang="en-US" dirty="0"/>
              <a:t>：業務負荷関連の構造方程式</a:t>
            </a:r>
            <a:endParaRPr kumimoji="1" lang="ja-JP" altLang="en-US" dirty="0"/>
          </a:p>
        </p:txBody>
      </p:sp>
      <p:cxnSp>
        <p:nvCxnSpPr>
          <p:cNvPr id="123" name="直線矢印コネクタ 122">
            <a:extLst>
              <a:ext uri="{FF2B5EF4-FFF2-40B4-BE49-F238E27FC236}">
                <a16:creationId xmlns:a16="http://schemas.microsoft.com/office/drawing/2014/main" id="{579A5FFB-4BC4-9112-49EA-E05F12BD31B6}"/>
              </a:ext>
            </a:extLst>
          </p:cNvPr>
          <p:cNvCxnSpPr>
            <a:cxnSpLocks/>
          </p:cNvCxnSpPr>
          <p:nvPr/>
        </p:nvCxnSpPr>
        <p:spPr>
          <a:xfrm>
            <a:off x="7608168" y="1817440"/>
            <a:ext cx="3541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直線矢印コネクタ 123">
            <a:extLst>
              <a:ext uri="{FF2B5EF4-FFF2-40B4-BE49-F238E27FC236}">
                <a16:creationId xmlns:a16="http://schemas.microsoft.com/office/drawing/2014/main" id="{2D40DF61-C237-24A6-B364-79731C7483EC}"/>
              </a:ext>
            </a:extLst>
          </p:cNvPr>
          <p:cNvCxnSpPr>
            <a:cxnSpLocks/>
          </p:cNvCxnSpPr>
          <p:nvPr/>
        </p:nvCxnSpPr>
        <p:spPr>
          <a:xfrm>
            <a:off x="7608168" y="2092556"/>
            <a:ext cx="354181"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25" name="直線コネクタ 124">
            <a:extLst>
              <a:ext uri="{FF2B5EF4-FFF2-40B4-BE49-F238E27FC236}">
                <a16:creationId xmlns:a16="http://schemas.microsoft.com/office/drawing/2014/main" id="{A652BAD3-AC93-4BA3-663E-FF775D17AFFC}"/>
              </a:ext>
            </a:extLst>
          </p:cNvPr>
          <p:cNvCxnSpPr>
            <a:cxnSpLocks/>
          </p:cNvCxnSpPr>
          <p:nvPr/>
        </p:nvCxnSpPr>
        <p:spPr>
          <a:xfrm>
            <a:off x="2999656" y="5273822"/>
            <a:ext cx="0" cy="8640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8" name="直線コネクタ 127">
            <a:extLst>
              <a:ext uri="{FF2B5EF4-FFF2-40B4-BE49-F238E27FC236}">
                <a16:creationId xmlns:a16="http://schemas.microsoft.com/office/drawing/2014/main" id="{8FC3F322-E5AF-B54F-EC44-5A19DF980EFB}"/>
              </a:ext>
            </a:extLst>
          </p:cNvPr>
          <p:cNvCxnSpPr>
            <a:cxnSpLocks/>
          </p:cNvCxnSpPr>
          <p:nvPr/>
        </p:nvCxnSpPr>
        <p:spPr>
          <a:xfrm flipH="1">
            <a:off x="2984807" y="6137920"/>
            <a:ext cx="383127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直線コネクタ 129">
            <a:extLst>
              <a:ext uri="{FF2B5EF4-FFF2-40B4-BE49-F238E27FC236}">
                <a16:creationId xmlns:a16="http://schemas.microsoft.com/office/drawing/2014/main" id="{ED6D3E46-19A7-3BF8-EACB-E8A8C7DF7877}"/>
              </a:ext>
            </a:extLst>
          </p:cNvPr>
          <p:cNvCxnSpPr>
            <a:cxnSpLocks/>
          </p:cNvCxnSpPr>
          <p:nvPr/>
        </p:nvCxnSpPr>
        <p:spPr>
          <a:xfrm>
            <a:off x="6816080" y="5273822"/>
            <a:ext cx="0" cy="8640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線コネクタ 131">
            <a:extLst>
              <a:ext uri="{FF2B5EF4-FFF2-40B4-BE49-F238E27FC236}">
                <a16:creationId xmlns:a16="http://schemas.microsoft.com/office/drawing/2014/main" id="{74183A2E-1318-4B31-C0DF-CA7E7FBEEBA8}"/>
              </a:ext>
            </a:extLst>
          </p:cNvPr>
          <p:cNvCxnSpPr>
            <a:cxnSpLocks/>
          </p:cNvCxnSpPr>
          <p:nvPr/>
        </p:nvCxnSpPr>
        <p:spPr>
          <a:xfrm flipH="1">
            <a:off x="6816080" y="5283121"/>
            <a:ext cx="89517" cy="0"/>
          </a:xfrm>
          <a:prstGeom prst="line">
            <a:avLst/>
          </a:prstGeom>
        </p:spPr>
        <p:style>
          <a:lnRef idx="1">
            <a:schemeClr val="accent1"/>
          </a:lnRef>
          <a:fillRef idx="0">
            <a:schemeClr val="accent1"/>
          </a:fillRef>
          <a:effectRef idx="0">
            <a:schemeClr val="accent1"/>
          </a:effectRef>
          <a:fontRef idx="minor">
            <a:schemeClr val="tx1"/>
          </a:fontRef>
        </p:style>
      </p:cxnSp>
      <p:sp>
        <p:nvSpPr>
          <p:cNvPr id="134" name="左中かっこ 133">
            <a:extLst>
              <a:ext uri="{FF2B5EF4-FFF2-40B4-BE49-F238E27FC236}">
                <a16:creationId xmlns:a16="http://schemas.microsoft.com/office/drawing/2014/main" id="{1DC517EB-D176-3B1C-2983-35662A33C9DF}"/>
              </a:ext>
            </a:extLst>
          </p:cNvPr>
          <p:cNvSpPr/>
          <p:nvPr/>
        </p:nvSpPr>
        <p:spPr>
          <a:xfrm rot="16200000">
            <a:off x="9317541" y="3767344"/>
            <a:ext cx="291647" cy="511553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5" name="テキスト ボックス 134">
            <a:extLst>
              <a:ext uri="{FF2B5EF4-FFF2-40B4-BE49-F238E27FC236}">
                <a16:creationId xmlns:a16="http://schemas.microsoft.com/office/drawing/2014/main" id="{506E8DCF-6B2F-EE99-92F5-05076F114A37}"/>
              </a:ext>
            </a:extLst>
          </p:cNvPr>
          <p:cNvSpPr txBox="1"/>
          <p:nvPr/>
        </p:nvSpPr>
        <p:spPr>
          <a:xfrm>
            <a:off x="8216869" y="6566383"/>
            <a:ext cx="2492991" cy="369332"/>
          </a:xfrm>
          <a:prstGeom prst="rect">
            <a:avLst/>
          </a:prstGeom>
          <a:noFill/>
        </p:spPr>
        <p:txBody>
          <a:bodyPr wrap="none" rtlCol="0">
            <a:spAutoFit/>
          </a:bodyPr>
          <a:lstStyle/>
          <a:p>
            <a:pPr algn="ctr"/>
            <a:r>
              <a:rPr kumimoji="1" lang="ja-JP" altLang="en-US" dirty="0"/>
              <a:t>この辺りはまだ検討中</a:t>
            </a:r>
          </a:p>
        </p:txBody>
      </p:sp>
      <p:sp>
        <p:nvSpPr>
          <p:cNvPr id="136" name="正方形/長方形 135">
            <a:extLst>
              <a:ext uri="{FF2B5EF4-FFF2-40B4-BE49-F238E27FC236}">
                <a16:creationId xmlns:a16="http://schemas.microsoft.com/office/drawing/2014/main" id="{A8829DA7-CD58-DE6B-021C-522B3C2EAC1B}"/>
              </a:ext>
            </a:extLst>
          </p:cNvPr>
          <p:cNvSpPr/>
          <p:nvPr/>
        </p:nvSpPr>
        <p:spPr>
          <a:xfrm>
            <a:off x="839416" y="744932"/>
            <a:ext cx="10513168" cy="43204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どのような通知・ロボットの介入が、事故リスクと業務負荷を下げるか、</a:t>
            </a:r>
            <a:r>
              <a:rPr kumimoji="1" lang="en-US" altLang="ja-JP" b="1" dirty="0"/>
              <a:t>what-if</a:t>
            </a:r>
            <a:r>
              <a:rPr kumimoji="1" lang="ja-JP" altLang="en-US" b="1" dirty="0"/>
              <a:t>的に考えられる体系</a:t>
            </a:r>
          </a:p>
        </p:txBody>
      </p:sp>
    </p:spTree>
    <p:extLst>
      <p:ext uri="{BB962C8B-B14F-4D97-AF65-F5344CB8AC3E}">
        <p14:creationId xmlns:p14="http://schemas.microsoft.com/office/powerpoint/2010/main" val="29063848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FAAD65-7847-6DE3-9680-DBBA37158812}"/>
              </a:ext>
            </a:extLst>
          </p:cNvPr>
          <p:cNvSpPr>
            <a:spLocks noGrp="1"/>
          </p:cNvSpPr>
          <p:nvPr>
            <p:ph type="title"/>
          </p:nvPr>
        </p:nvSpPr>
        <p:spPr/>
        <p:txBody>
          <a:bodyPr/>
          <a:lstStyle/>
          <a:p>
            <a:r>
              <a:rPr kumimoji="1" lang="ja-JP" altLang="en-US" dirty="0"/>
              <a:t>検討中のポイント</a:t>
            </a:r>
          </a:p>
        </p:txBody>
      </p:sp>
      <p:sp>
        <p:nvSpPr>
          <p:cNvPr id="3" name="コンテンツ プレースホルダー 2">
            <a:extLst>
              <a:ext uri="{FF2B5EF4-FFF2-40B4-BE49-F238E27FC236}">
                <a16:creationId xmlns:a16="http://schemas.microsoft.com/office/drawing/2014/main" id="{1C6BCB95-075C-DE82-001D-0707427A5A00}"/>
              </a:ext>
            </a:extLst>
          </p:cNvPr>
          <p:cNvSpPr>
            <a:spLocks noGrp="1"/>
          </p:cNvSpPr>
          <p:nvPr>
            <p:ph idx="1"/>
          </p:nvPr>
        </p:nvSpPr>
        <p:spPr/>
        <p:txBody>
          <a:bodyPr/>
          <a:lstStyle/>
          <a:p>
            <a:r>
              <a:rPr lang="ja-JP" altLang="en-US" dirty="0"/>
              <a:t>④状態予測の実装方法</a:t>
            </a:r>
          </a:p>
          <a:p>
            <a:pPr lvl="1"/>
            <a:r>
              <a:rPr lang="ja-JP" altLang="en-US" dirty="0"/>
              <a:t>ロボットが介入したり、通知を送信したりした先の病棟全体の動きを予測する必要がある。</a:t>
            </a:r>
            <a:endParaRPr lang="en-US" altLang="ja-JP" dirty="0"/>
          </a:p>
          <a:p>
            <a:pPr lvl="1"/>
            <a:r>
              <a:rPr lang="ja-JP" altLang="en-US" dirty="0"/>
              <a:t>ルールベース・</a:t>
            </a:r>
            <a:r>
              <a:rPr lang="en-US" altLang="ja-JP" dirty="0"/>
              <a:t>POMDP</a:t>
            </a:r>
            <a:r>
              <a:rPr lang="ja-JP" altLang="en-US" dirty="0"/>
              <a:t>などが考えられるが、現実との乖離が大きい可能性がある。</a:t>
            </a:r>
            <a:endParaRPr lang="en-US" altLang="ja-JP" dirty="0"/>
          </a:p>
          <a:p>
            <a:pPr lvl="1"/>
            <a:r>
              <a:rPr lang="en-US" altLang="ja-JP" dirty="0"/>
              <a:t>Physical AI</a:t>
            </a:r>
            <a:r>
              <a:rPr lang="ja-JP" altLang="en-US" dirty="0"/>
              <a:t>がもう少し進展すれば、世界モデルを用いた予測が出来るかもしれない。</a:t>
            </a:r>
            <a:br>
              <a:rPr lang="en-US" altLang="ja-JP" dirty="0"/>
            </a:br>
            <a:r>
              <a:rPr lang="ja-JP" altLang="en-US" dirty="0"/>
              <a:t>したがって、自身の研究のメインとしたくはないが、現時点では手法が定まっていない。</a:t>
            </a:r>
          </a:p>
          <a:p>
            <a:endParaRPr lang="en-US" altLang="ja-JP" dirty="0"/>
          </a:p>
          <a:p>
            <a:r>
              <a:rPr lang="ja-JP" altLang="en-US" dirty="0"/>
              <a:t>⑤介入候補の評価方法</a:t>
            </a:r>
          </a:p>
          <a:p>
            <a:pPr lvl="1"/>
            <a:r>
              <a:rPr lang="ja-JP" altLang="en-US" dirty="0"/>
              <a:t>事故リスクと業務負荷の分散具合をそれぞれ評価関数に落とせば評価可能であるが、評価関数の設計が難しい。</a:t>
            </a:r>
            <a:endParaRPr lang="en-US" altLang="ja-JP" dirty="0"/>
          </a:p>
          <a:p>
            <a:pPr lvl="1"/>
            <a:r>
              <a:rPr lang="ja-JP" altLang="en-US" dirty="0"/>
              <a:t>現場知識を知識グラフに落として、ロジカルに評価することができないか検討したいが、（＝</a:t>
            </a:r>
            <a:r>
              <a:rPr lang="en-US" altLang="ja-JP" dirty="0"/>
              <a:t>Structured Causal Model?</a:t>
            </a:r>
            <a:r>
              <a:rPr lang="ja-JP" altLang="en-US" dirty="0"/>
              <a:t>）現時点では手法が定まっていない。</a:t>
            </a:r>
          </a:p>
          <a:p>
            <a:endParaRPr kumimoji="1" lang="ja-JP" altLang="en-US" dirty="0"/>
          </a:p>
        </p:txBody>
      </p:sp>
      <p:sp>
        <p:nvSpPr>
          <p:cNvPr id="4" name="日付プレースホルダー 3">
            <a:extLst>
              <a:ext uri="{FF2B5EF4-FFF2-40B4-BE49-F238E27FC236}">
                <a16:creationId xmlns:a16="http://schemas.microsoft.com/office/drawing/2014/main" id="{E58B33E0-443C-9311-69CB-CC03567F4200}"/>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E73F7488-A093-A9AD-394E-C8FA8197EA45}"/>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55177A95-4EBF-E77F-E135-126C8D34923A}"/>
              </a:ext>
            </a:extLst>
          </p:cNvPr>
          <p:cNvSpPr>
            <a:spLocks noGrp="1"/>
          </p:cNvSpPr>
          <p:nvPr>
            <p:ph type="sldNum" sz="quarter" idx="12"/>
          </p:nvPr>
        </p:nvSpPr>
        <p:spPr/>
        <p:txBody>
          <a:bodyPr/>
          <a:lstStyle/>
          <a:p>
            <a:fld id="{870B1737-2A00-4EFB-9FD3-149FCC30AA13}" type="slidenum">
              <a:rPr lang="ja-JP" altLang="en-US" smtClean="0"/>
              <a:pPr/>
              <a:t>26</a:t>
            </a:fld>
            <a:endParaRPr lang="ja-JP" altLang="en-US"/>
          </a:p>
        </p:txBody>
      </p:sp>
    </p:spTree>
    <p:extLst>
      <p:ext uri="{BB962C8B-B14F-4D97-AF65-F5344CB8AC3E}">
        <p14:creationId xmlns:p14="http://schemas.microsoft.com/office/powerpoint/2010/main" val="1464058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DD5C03-BBBF-6E72-052B-BD7E2E3AE046}"/>
              </a:ext>
            </a:extLst>
          </p:cNvPr>
          <p:cNvSpPr>
            <a:spLocks noGrp="1"/>
          </p:cNvSpPr>
          <p:nvPr>
            <p:ph type="title"/>
          </p:nvPr>
        </p:nvSpPr>
        <p:spPr/>
        <p:txBody>
          <a:bodyPr/>
          <a:lstStyle/>
          <a:p>
            <a:r>
              <a:rPr kumimoji="1" lang="ja-JP" altLang="en-US" dirty="0"/>
              <a:t>めざす新規性・ご相談事項</a:t>
            </a:r>
          </a:p>
        </p:txBody>
      </p:sp>
      <p:sp>
        <p:nvSpPr>
          <p:cNvPr id="3" name="コンテンツ プレースホルダー 2">
            <a:extLst>
              <a:ext uri="{FF2B5EF4-FFF2-40B4-BE49-F238E27FC236}">
                <a16:creationId xmlns:a16="http://schemas.microsoft.com/office/drawing/2014/main" id="{2EBAC845-A56A-9AAA-3F33-420D9A80D070}"/>
              </a:ext>
            </a:extLst>
          </p:cNvPr>
          <p:cNvSpPr>
            <a:spLocks noGrp="1"/>
          </p:cNvSpPr>
          <p:nvPr>
            <p:ph idx="1"/>
          </p:nvPr>
        </p:nvSpPr>
        <p:spPr/>
        <p:txBody>
          <a:bodyPr/>
          <a:lstStyle/>
          <a:p>
            <a:r>
              <a:rPr kumimoji="1" lang="ja-JP" altLang="en-US" dirty="0"/>
              <a:t>めざす新規性</a:t>
            </a:r>
            <a:endParaRPr kumimoji="1" lang="en-US" altLang="ja-JP" dirty="0"/>
          </a:p>
          <a:p>
            <a:pPr lvl="1"/>
            <a:r>
              <a:rPr lang="ja-JP" altLang="en-US" dirty="0"/>
              <a:t>通知やロボットの介入が、スタッフの業務負荷に与える影響を考慮し、その結果として生じる病棟全体の状態を予測したうえで、事故予防・スタッフの業務負荷の両観点で最適な通知やロボットの介入を選択する点</a:t>
            </a:r>
            <a:endParaRPr lang="en-US" altLang="ja-JP" dirty="0"/>
          </a:p>
          <a:p>
            <a:pPr lvl="1"/>
            <a:endParaRPr lang="en-US" altLang="ja-JP" dirty="0"/>
          </a:p>
          <a:p>
            <a:r>
              <a:rPr kumimoji="1" lang="ja-JP" altLang="en-US" dirty="0"/>
              <a:t>ご相談事項</a:t>
            </a:r>
            <a:endParaRPr kumimoji="1" lang="en-US" altLang="ja-JP" dirty="0"/>
          </a:p>
          <a:p>
            <a:pPr lvl="1"/>
            <a:r>
              <a:rPr kumimoji="1" lang="ja-JP" altLang="en-US" dirty="0"/>
              <a:t>新規研究について</a:t>
            </a:r>
            <a:endParaRPr kumimoji="1" lang="en-US" altLang="ja-JP" dirty="0"/>
          </a:p>
          <a:p>
            <a:pPr lvl="2"/>
            <a:r>
              <a:rPr lang="ja-JP" altLang="en-US" dirty="0"/>
              <a:t>課題設定についてのアドバイス</a:t>
            </a:r>
            <a:endParaRPr lang="en-US" altLang="ja-JP" dirty="0"/>
          </a:p>
          <a:p>
            <a:pPr lvl="2"/>
            <a:r>
              <a:rPr kumimoji="1" lang="ja-JP" altLang="en-US" dirty="0"/>
              <a:t>解決のアプローチ・モデル検討に関する所感・アドバイス</a:t>
            </a:r>
            <a:endParaRPr kumimoji="1" lang="en-US" altLang="ja-JP" dirty="0"/>
          </a:p>
          <a:p>
            <a:pPr lvl="3"/>
            <a:r>
              <a:rPr lang="ja-JP" altLang="en-US" dirty="0">
                <a:solidFill>
                  <a:srgbClr val="FF0000"/>
                </a:solidFill>
              </a:rPr>
              <a:t>ご多忙のところと存じますが、一度矢上にお伺いし、</a:t>
            </a:r>
            <a:br>
              <a:rPr lang="en-US" altLang="ja-JP" dirty="0">
                <a:solidFill>
                  <a:srgbClr val="FF0000"/>
                </a:solidFill>
              </a:rPr>
            </a:br>
            <a:r>
              <a:rPr lang="ja-JP" altLang="en-US" dirty="0">
                <a:solidFill>
                  <a:srgbClr val="FF0000"/>
                </a:solidFill>
              </a:rPr>
              <a:t>近況報告含めディスカッションさせていただく形も大変嬉しいです。</a:t>
            </a:r>
            <a:endParaRPr kumimoji="1" lang="en-US" altLang="ja-JP" dirty="0">
              <a:solidFill>
                <a:srgbClr val="FF0000"/>
              </a:solidFill>
            </a:endParaRPr>
          </a:p>
          <a:p>
            <a:pPr lvl="1"/>
            <a:r>
              <a:rPr kumimoji="1" lang="ja-JP" altLang="en-US" dirty="0"/>
              <a:t>その他</a:t>
            </a:r>
            <a:endParaRPr kumimoji="1" lang="en-US" altLang="ja-JP" dirty="0"/>
          </a:p>
          <a:p>
            <a:pPr lvl="2"/>
            <a:r>
              <a:rPr lang="ja-JP" altLang="en-US" dirty="0"/>
              <a:t>修論研究の論文投稿に向けた、プロット案のご添削</a:t>
            </a:r>
            <a:endParaRPr lang="en-US" altLang="ja-JP" dirty="0"/>
          </a:p>
          <a:p>
            <a:pPr lvl="3"/>
            <a:r>
              <a:rPr kumimoji="1" lang="ja-JP" altLang="en-US" dirty="0"/>
              <a:t>よりご確認いただきやすい整理方法がありましたら、指示いただけますと幸いです</a:t>
            </a:r>
            <a:endParaRPr kumimoji="1" lang="en-US" altLang="ja-JP" dirty="0"/>
          </a:p>
          <a:p>
            <a:pPr lvl="1"/>
            <a:endParaRPr kumimoji="1" lang="en-US" altLang="ja-JP" dirty="0"/>
          </a:p>
          <a:p>
            <a:pPr lvl="1"/>
            <a:endParaRPr kumimoji="1" lang="ja-JP" altLang="en-US" dirty="0"/>
          </a:p>
        </p:txBody>
      </p:sp>
      <p:sp>
        <p:nvSpPr>
          <p:cNvPr id="4" name="日付プレースホルダー 3">
            <a:extLst>
              <a:ext uri="{FF2B5EF4-FFF2-40B4-BE49-F238E27FC236}">
                <a16:creationId xmlns:a16="http://schemas.microsoft.com/office/drawing/2014/main" id="{5B3A764B-8837-F21C-F77C-943832AD0EB5}"/>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DD2B3B26-424F-F41A-AD53-B735BAB3BD60}"/>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E87A0F02-F643-CCB8-2CFD-E887B57D35E3}"/>
              </a:ext>
            </a:extLst>
          </p:cNvPr>
          <p:cNvSpPr>
            <a:spLocks noGrp="1"/>
          </p:cNvSpPr>
          <p:nvPr>
            <p:ph type="sldNum" sz="quarter" idx="12"/>
          </p:nvPr>
        </p:nvSpPr>
        <p:spPr/>
        <p:txBody>
          <a:bodyPr/>
          <a:lstStyle/>
          <a:p>
            <a:fld id="{870B1737-2A00-4EFB-9FD3-149FCC30AA13}" type="slidenum">
              <a:rPr lang="ja-JP" altLang="en-US" smtClean="0"/>
              <a:pPr/>
              <a:t>27</a:t>
            </a:fld>
            <a:endParaRPr lang="ja-JP" altLang="en-US"/>
          </a:p>
        </p:txBody>
      </p:sp>
    </p:spTree>
    <p:extLst>
      <p:ext uri="{BB962C8B-B14F-4D97-AF65-F5344CB8AC3E}">
        <p14:creationId xmlns:p14="http://schemas.microsoft.com/office/powerpoint/2010/main" val="37279815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AB64E-0F1B-BBB8-3371-B6765D7C7F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D3B49B-398A-14ED-6584-C42B98AA31F5}"/>
              </a:ext>
            </a:extLst>
          </p:cNvPr>
          <p:cNvSpPr>
            <a:spLocks noGrp="1"/>
          </p:cNvSpPr>
          <p:nvPr>
            <p:ph type="title"/>
          </p:nvPr>
        </p:nvSpPr>
        <p:spPr/>
        <p:txBody>
          <a:bodyPr/>
          <a:lstStyle/>
          <a:p>
            <a:r>
              <a:rPr kumimoji="1" lang="ja-JP" altLang="en-US" dirty="0"/>
              <a:t>研究計画（日程・要件）</a:t>
            </a:r>
            <a:endParaRPr kumimoji="1" lang="ja-JP" altLang="en-US" dirty="0">
              <a:highlight>
                <a:srgbClr val="00FFFF"/>
              </a:highlight>
            </a:endParaRPr>
          </a:p>
        </p:txBody>
      </p:sp>
      <p:sp>
        <p:nvSpPr>
          <p:cNvPr id="3" name="コンテンツ プレースホルダー 2">
            <a:extLst>
              <a:ext uri="{FF2B5EF4-FFF2-40B4-BE49-F238E27FC236}">
                <a16:creationId xmlns:a16="http://schemas.microsoft.com/office/drawing/2014/main" id="{FD8D7412-88B2-F445-36AF-89DD6F09DCE6}"/>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8678AC87-3055-AA24-2550-C1ACEF31D9FB}"/>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D23A446-FB5D-51A3-9F1A-6D7BD5B2998C}"/>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1728EA2D-F245-3992-5EA0-FC248466F902}"/>
              </a:ext>
            </a:extLst>
          </p:cNvPr>
          <p:cNvSpPr>
            <a:spLocks noGrp="1"/>
          </p:cNvSpPr>
          <p:nvPr>
            <p:ph type="sldNum" sz="quarter" idx="12"/>
          </p:nvPr>
        </p:nvSpPr>
        <p:spPr>
          <a:xfrm>
            <a:off x="9340497" y="-42792"/>
            <a:ext cx="2844800" cy="365125"/>
          </a:xfrm>
        </p:spPr>
        <p:txBody>
          <a:bodyPr/>
          <a:lstStyle/>
          <a:p>
            <a:fld id="{870B1737-2A00-4EFB-9FD3-149FCC30AA13}" type="slidenum">
              <a:rPr lang="ja-JP" altLang="en-US" smtClean="0"/>
              <a:pPr/>
              <a:t>28</a:t>
            </a:fld>
            <a:endParaRPr lang="ja-JP" altLang="en-US" dirty="0"/>
          </a:p>
        </p:txBody>
      </p:sp>
      <p:graphicFrame>
        <p:nvGraphicFramePr>
          <p:cNvPr id="7" name="表 6">
            <a:extLst>
              <a:ext uri="{FF2B5EF4-FFF2-40B4-BE49-F238E27FC236}">
                <a16:creationId xmlns:a16="http://schemas.microsoft.com/office/drawing/2014/main" id="{FCC07A35-4424-6682-5BB3-69E8D55E84F9}"/>
              </a:ext>
            </a:extLst>
          </p:cNvPr>
          <p:cNvGraphicFramePr>
            <a:graphicFrameLocks noGrp="1"/>
          </p:cNvGraphicFramePr>
          <p:nvPr>
            <p:extLst>
              <p:ext uri="{D42A27DB-BD31-4B8C-83A1-F6EECF244321}">
                <p14:modId xmlns:p14="http://schemas.microsoft.com/office/powerpoint/2010/main" val="563324053"/>
              </p:ext>
            </p:extLst>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FA3C369F-C041-AA30-D3A5-0257F5B4E122}"/>
              </a:ext>
            </a:extLst>
          </p:cNvPr>
          <p:cNvSpPr/>
          <p:nvPr/>
        </p:nvSpPr>
        <p:spPr>
          <a:xfrm>
            <a:off x="1493758" y="3733186"/>
            <a:ext cx="582522"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cxnSp>
        <p:nvCxnSpPr>
          <p:cNvPr id="87" name="直線矢印コネクタ 86">
            <a:extLst>
              <a:ext uri="{FF2B5EF4-FFF2-40B4-BE49-F238E27FC236}">
                <a16:creationId xmlns:a16="http://schemas.microsoft.com/office/drawing/2014/main" id="{89F8B521-F0AC-4DA3-56AA-6692BD3DEAAA}"/>
              </a:ext>
            </a:extLst>
          </p:cNvPr>
          <p:cNvCxnSpPr>
            <a:cxnSpLocks/>
          </p:cNvCxnSpPr>
          <p:nvPr/>
        </p:nvCxnSpPr>
        <p:spPr>
          <a:xfrm>
            <a:off x="8066176" y="6525344"/>
            <a:ext cx="3309706" cy="0"/>
          </a:xfrm>
          <a:prstGeom prst="straightConnector1">
            <a:avLst/>
          </a:prstGeom>
          <a:ln w="57150">
            <a:solidFill>
              <a:schemeClr val="accent5"/>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四角形: 角を丸くする 85">
            <a:extLst>
              <a:ext uri="{FF2B5EF4-FFF2-40B4-BE49-F238E27FC236}">
                <a16:creationId xmlns:a16="http://schemas.microsoft.com/office/drawing/2014/main" id="{DB547327-A0D5-7527-5988-B052E43081D6}"/>
              </a:ext>
            </a:extLst>
          </p:cNvPr>
          <p:cNvSpPr/>
          <p:nvPr/>
        </p:nvSpPr>
        <p:spPr>
          <a:xfrm>
            <a:off x="8778812" y="6220126"/>
            <a:ext cx="1982983" cy="554068"/>
          </a:xfrm>
          <a:prstGeom prst="roundRect">
            <a:avLst/>
          </a:prstGeom>
          <a:solidFill>
            <a:schemeClr val="bg1"/>
          </a:solidFill>
          <a:ln>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0A8B7B1-5F86-5F4E-7BEC-644AF2A02227}"/>
              </a:ext>
            </a:extLst>
          </p:cNvPr>
          <p:cNvSpPr/>
          <p:nvPr/>
        </p:nvSpPr>
        <p:spPr>
          <a:xfrm>
            <a:off x="1493758" y="4083540"/>
            <a:ext cx="1944216"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 Advanced Robotics</a:t>
            </a:r>
            <a:endParaRPr kumimoji="1" lang="ja-JP" altLang="en-US" sz="1200" dirty="0"/>
          </a:p>
        </p:txBody>
      </p:sp>
      <p:graphicFrame>
        <p:nvGraphicFramePr>
          <p:cNvPr id="37" name="表 36">
            <a:extLst>
              <a:ext uri="{FF2B5EF4-FFF2-40B4-BE49-F238E27FC236}">
                <a16:creationId xmlns:a16="http://schemas.microsoft.com/office/drawing/2014/main" id="{BA6DBC48-24D6-8D44-0DC8-C1C3A2A4FD07}"/>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1BB852E4-4624-1EB4-0821-4A78CCA6396D}"/>
              </a:ext>
            </a:extLst>
          </p:cNvPr>
          <p:cNvSpPr/>
          <p:nvPr/>
        </p:nvSpPr>
        <p:spPr>
          <a:xfrm>
            <a:off x="6767939" y="4647139"/>
            <a:ext cx="66289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DC4990B8-4C52-E629-E943-2C84FCDC5CC1}"/>
              </a:ext>
            </a:extLst>
          </p:cNvPr>
          <p:cNvSpPr/>
          <p:nvPr/>
        </p:nvSpPr>
        <p:spPr>
          <a:xfrm>
            <a:off x="6825000" y="4647139"/>
            <a:ext cx="1968074"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IEEE T-MSC</a:t>
            </a:r>
            <a:r>
              <a:rPr kumimoji="1" lang="ja-JP" altLang="en-US" sz="1000" dirty="0"/>
              <a:t>）</a:t>
            </a:r>
          </a:p>
        </p:txBody>
      </p:sp>
      <p:sp>
        <p:nvSpPr>
          <p:cNvPr id="13" name="正方形/長方形 12">
            <a:extLst>
              <a:ext uri="{FF2B5EF4-FFF2-40B4-BE49-F238E27FC236}">
                <a16:creationId xmlns:a16="http://schemas.microsoft.com/office/drawing/2014/main" id="{4E6CC1F5-F66E-64DD-0DD1-095AF57DE3A0}"/>
              </a:ext>
            </a:extLst>
          </p:cNvPr>
          <p:cNvSpPr/>
          <p:nvPr/>
        </p:nvSpPr>
        <p:spPr>
          <a:xfrm>
            <a:off x="1493758" y="4647138"/>
            <a:ext cx="669936" cy="1551445"/>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900" dirty="0"/>
              <a:t>全体構想</a:t>
            </a:r>
            <a:endParaRPr lang="en-US" altLang="ja-JP" sz="900" dirty="0"/>
          </a:p>
          <a:p>
            <a:pPr algn="ctr"/>
            <a:r>
              <a:rPr lang="ja-JP" altLang="en-US" sz="900" dirty="0"/>
              <a:t>・</a:t>
            </a:r>
            <a:endParaRPr lang="en-US" altLang="ja-JP" sz="900" dirty="0"/>
          </a:p>
          <a:p>
            <a:pPr algn="ctr"/>
            <a:r>
              <a:rPr lang="ja-JP" altLang="en-US" sz="900" dirty="0"/>
              <a:t>研究間</a:t>
            </a:r>
            <a:endParaRPr lang="en-US" altLang="ja-JP" sz="900" dirty="0"/>
          </a:p>
          <a:p>
            <a:pPr algn="ctr"/>
            <a:r>
              <a:rPr lang="ja-JP" altLang="en-US" sz="900" dirty="0"/>
              <a:t>差別化</a:t>
            </a:r>
            <a:endParaRPr lang="en-US" altLang="ja-JP" sz="900" dirty="0"/>
          </a:p>
          <a:p>
            <a:pPr algn="ctr"/>
            <a:r>
              <a:rPr lang="ja-JP" altLang="en-US" sz="900" dirty="0"/>
              <a:t>戦略</a:t>
            </a:r>
            <a:endParaRPr kumimoji="1" lang="ja-JP" altLang="en-US" sz="900" dirty="0"/>
          </a:p>
        </p:txBody>
      </p:sp>
      <p:sp>
        <p:nvSpPr>
          <p:cNvPr id="17" name="正方形/長方形 16">
            <a:extLst>
              <a:ext uri="{FF2B5EF4-FFF2-40B4-BE49-F238E27FC236}">
                <a16:creationId xmlns:a16="http://schemas.microsoft.com/office/drawing/2014/main" id="{6454EB6F-2F55-C233-0DFE-8949382147A9}"/>
              </a:ext>
            </a:extLst>
          </p:cNvPr>
          <p:cNvSpPr/>
          <p:nvPr/>
        </p:nvSpPr>
        <p:spPr>
          <a:xfrm>
            <a:off x="6778878" y="5406059"/>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BCC93554-C667-AA89-6364-6432482BE371}"/>
              </a:ext>
            </a:extLst>
          </p:cNvPr>
          <p:cNvSpPr/>
          <p:nvPr/>
        </p:nvSpPr>
        <p:spPr>
          <a:xfrm>
            <a:off x="7413271" y="5406060"/>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4813E909-7794-EFE3-C15B-E94544084463}"/>
              </a:ext>
            </a:extLst>
          </p:cNvPr>
          <p:cNvSpPr/>
          <p:nvPr/>
        </p:nvSpPr>
        <p:spPr>
          <a:xfrm>
            <a:off x="4131768" y="5842172"/>
            <a:ext cx="652645"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C4CF9B2B-5734-BD7A-6CB3-67802F9A2B85}"/>
              </a:ext>
            </a:extLst>
          </p:cNvPr>
          <p:cNvSpPr/>
          <p:nvPr/>
        </p:nvSpPr>
        <p:spPr>
          <a:xfrm>
            <a:off x="4787595" y="5842897"/>
            <a:ext cx="66183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01FFE06B-627E-56C7-9F97-B94A98553D79}"/>
              </a:ext>
            </a:extLst>
          </p:cNvPr>
          <p:cNvSpPr/>
          <p:nvPr/>
        </p:nvSpPr>
        <p:spPr>
          <a:xfrm>
            <a:off x="6774379" y="5842171"/>
            <a:ext cx="64254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RA-L</a:t>
            </a:r>
            <a:endParaRPr kumimoji="1" lang="ja-JP" altLang="en-US" sz="1000" dirty="0"/>
          </a:p>
        </p:txBody>
      </p:sp>
      <p:sp>
        <p:nvSpPr>
          <p:cNvPr id="23" name="正方形/長方形 22">
            <a:extLst>
              <a:ext uri="{FF2B5EF4-FFF2-40B4-BE49-F238E27FC236}">
                <a16:creationId xmlns:a16="http://schemas.microsoft.com/office/drawing/2014/main" id="{E672421C-108E-5AB3-B213-667FC5B7EAA0}"/>
              </a:ext>
            </a:extLst>
          </p:cNvPr>
          <p:cNvSpPr/>
          <p:nvPr/>
        </p:nvSpPr>
        <p:spPr>
          <a:xfrm>
            <a:off x="8961596" y="635324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C805FE86-E822-2041-1C8F-016D0BCA4821}"/>
              </a:ext>
            </a:extLst>
          </p:cNvPr>
          <p:cNvSpPr/>
          <p:nvPr/>
        </p:nvSpPr>
        <p:spPr>
          <a:xfrm>
            <a:off x="9880758" y="635324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BB6A20D9-A434-607E-A0CE-465EB5890DFF}"/>
              </a:ext>
            </a:extLst>
          </p:cNvPr>
          <p:cNvSpPr/>
          <p:nvPr/>
        </p:nvSpPr>
        <p:spPr>
          <a:xfrm>
            <a:off x="7416925" y="5842732"/>
            <a:ext cx="1324454" cy="360041"/>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A85140B6-CD2A-6B56-B8AF-2D223D36B230}"/>
              </a:ext>
            </a:extLst>
          </p:cNvPr>
          <p:cNvSpPr/>
          <p:nvPr/>
        </p:nvSpPr>
        <p:spPr>
          <a:xfrm>
            <a:off x="8066176" y="5405462"/>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8F34825F-AAC9-9FAE-EB71-FF65FF25E581}"/>
              </a:ext>
            </a:extLst>
          </p:cNvPr>
          <p:cNvSpPr/>
          <p:nvPr/>
        </p:nvSpPr>
        <p:spPr>
          <a:xfrm>
            <a:off x="9398908" y="5406280"/>
            <a:ext cx="2689533" cy="358404"/>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査読（投稿先未定）</a:t>
            </a:r>
          </a:p>
        </p:txBody>
      </p:sp>
      <p:sp>
        <p:nvSpPr>
          <p:cNvPr id="39" name="正方形/長方形 38">
            <a:extLst>
              <a:ext uri="{FF2B5EF4-FFF2-40B4-BE49-F238E27FC236}">
                <a16:creationId xmlns:a16="http://schemas.microsoft.com/office/drawing/2014/main" id="{C9FC42F1-8EC5-8992-7CA0-25062E9190B9}"/>
              </a:ext>
            </a:extLst>
          </p:cNvPr>
          <p:cNvSpPr/>
          <p:nvPr/>
        </p:nvSpPr>
        <p:spPr>
          <a:xfrm>
            <a:off x="4119597" y="4647139"/>
            <a:ext cx="1329831"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追加解析</a:t>
            </a:r>
            <a:endParaRPr kumimoji="1" lang="en-US" altLang="ja-JP" sz="700" dirty="0"/>
          </a:p>
          <a:p>
            <a:pPr algn="ctr"/>
            <a:r>
              <a:rPr lang="ja-JP" altLang="en-US" sz="700" dirty="0"/>
              <a:t>（必要性要検討）</a:t>
            </a:r>
            <a:endParaRPr kumimoji="1" lang="ja-JP" altLang="en-US" sz="700" dirty="0"/>
          </a:p>
        </p:txBody>
      </p:sp>
      <p:cxnSp>
        <p:nvCxnSpPr>
          <p:cNvPr id="42" name="直線矢印コネクタ 41">
            <a:extLst>
              <a:ext uri="{FF2B5EF4-FFF2-40B4-BE49-F238E27FC236}">
                <a16:creationId xmlns:a16="http://schemas.microsoft.com/office/drawing/2014/main" id="{D9320706-08AA-B555-F11E-58350F9907BA}"/>
              </a:ext>
            </a:extLst>
          </p:cNvPr>
          <p:cNvCxnSpPr>
            <a:cxnSpLocks/>
          </p:cNvCxnSpPr>
          <p:nvPr/>
        </p:nvCxnSpPr>
        <p:spPr>
          <a:xfrm>
            <a:off x="8977602" y="6107713"/>
            <a:ext cx="0" cy="2557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ED28436B-A3CB-2EEE-DB9B-CC176992E3ED}"/>
              </a:ext>
            </a:extLst>
          </p:cNvPr>
          <p:cNvSpPr/>
          <p:nvPr/>
        </p:nvSpPr>
        <p:spPr>
          <a:xfrm>
            <a:off x="2163694" y="4647139"/>
            <a:ext cx="637391"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戦略修正</a:t>
            </a:r>
          </a:p>
        </p:txBody>
      </p:sp>
      <p:sp>
        <p:nvSpPr>
          <p:cNvPr id="51" name="テキスト ボックス 50">
            <a:extLst>
              <a:ext uri="{FF2B5EF4-FFF2-40B4-BE49-F238E27FC236}">
                <a16:creationId xmlns:a16="http://schemas.microsoft.com/office/drawing/2014/main" id="{F1704670-0C81-73D7-41C1-A5DDAFDD6059}"/>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68D14FF4-D70F-EF0D-BAC0-D54916BB52B8}"/>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9" name="吹き出し: 四角形 58">
            <a:extLst>
              <a:ext uri="{FF2B5EF4-FFF2-40B4-BE49-F238E27FC236}">
                <a16:creationId xmlns:a16="http://schemas.microsoft.com/office/drawing/2014/main" id="{384B0FDE-744E-7044-2ED2-8A9D1194642D}"/>
              </a:ext>
            </a:extLst>
          </p:cNvPr>
          <p:cNvSpPr/>
          <p:nvPr/>
        </p:nvSpPr>
        <p:spPr>
          <a:xfrm>
            <a:off x="4081417" y="4255248"/>
            <a:ext cx="1425892" cy="365125"/>
          </a:xfrm>
          <a:prstGeom prst="wedgeRectCallout">
            <a:avLst>
              <a:gd name="adj1" fmla="val -17609"/>
              <a:gd name="adj2" fmla="val 77362"/>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追加シミュレーションや</a:t>
            </a:r>
            <a:endParaRPr lang="en-US" altLang="ja-JP" sz="800" dirty="0"/>
          </a:p>
          <a:p>
            <a:pPr algn="ctr"/>
            <a:r>
              <a:rPr lang="ja-JP" altLang="en-US" sz="800" dirty="0"/>
              <a:t>遠隔での現場アンケート</a:t>
            </a:r>
            <a:endParaRPr kumimoji="1" lang="ja-JP" altLang="en-US" sz="800" dirty="0"/>
          </a:p>
        </p:txBody>
      </p:sp>
      <p:sp>
        <p:nvSpPr>
          <p:cNvPr id="63" name="正方形/長方形 62">
            <a:extLst>
              <a:ext uri="{FF2B5EF4-FFF2-40B4-BE49-F238E27FC236}">
                <a16:creationId xmlns:a16="http://schemas.microsoft.com/office/drawing/2014/main" id="{4FCD37C6-8F6E-5B6B-1002-24EB562EB208}"/>
              </a:ext>
            </a:extLst>
          </p:cNvPr>
          <p:cNvSpPr/>
          <p:nvPr/>
        </p:nvSpPr>
        <p:spPr>
          <a:xfrm>
            <a:off x="2163694" y="5398507"/>
            <a:ext cx="637391"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戦略立案</a:t>
            </a:r>
          </a:p>
        </p:txBody>
      </p:sp>
      <p:sp>
        <p:nvSpPr>
          <p:cNvPr id="64" name="正方形/長方形 63">
            <a:extLst>
              <a:ext uri="{FF2B5EF4-FFF2-40B4-BE49-F238E27FC236}">
                <a16:creationId xmlns:a16="http://schemas.microsoft.com/office/drawing/2014/main" id="{BEC0F40B-8CF6-FF8C-1C5B-A61C83C8F4C9}"/>
              </a:ext>
            </a:extLst>
          </p:cNvPr>
          <p:cNvSpPr/>
          <p:nvPr/>
        </p:nvSpPr>
        <p:spPr>
          <a:xfrm>
            <a:off x="2156902" y="5842171"/>
            <a:ext cx="674009"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アルゴリズム</a:t>
            </a:r>
          </a:p>
        </p:txBody>
      </p:sp>
      <p:sp>
        <p:nvSpPr>
          <p:cNvPr id="68" name="正方形/長方形 67">
            <a:extLst>
              <a:ext uri="{FF2B5EF4-FFF2-40B4-BE49-F238E27FC236}">
                <a16:creationId xmlns:a16="http://schemas.microsoft.com/office/drawing/2014/main" id="{357B2F3F-E728-F1FB-9CF2-1584D78C387C}"/>
              </a:ext>
            </a:extLst>
          </p:cNvPr>
          <p:cNvSpPr/>
          <p:nvPr/>
        </p:nvSpPr>
        <p:spPr>
          <a:xfrm>
            <a:off x="2801085" y="4647140"/>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69" name="正方形/長方形 68">
            <a:extLst>
              <a:ext uri="{FF2B5EF4-FFF2-40B4-BE49-F238E27FC236}">
                <a16:creationId xmlns:a16="http://schemas.microsoft.com/office/drawing/2014/main" id="{9EB85CCF-728A-8459-D01E-B43F55579604}"/>
              </a:ext>
            </a:extLst>
          </p:cNvPr>
          <p:cNvSpPr/>
          <p:nvPr/>
        </p:nvSpPr>
        <p:spPr>
          <a:xfrm>
            <a:off x="5451824" y="4647140"/>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1" name="正方形/長方形 70">
            <a:extLst>
              <a:ext uri="{FF2B5EF4-FFF2-40B4-BE49-F238E27FC236}">
                <a16:creationId xmlns:a16="http://schemas.microsoft.com/office/drawing/2014/main" id="{06968226-21EF-3097-03B1-3F10E2790A2C}"/>
              </a:ext>
            </a:extLst>
          </p:cNvPr>
          <p:cNvSpPr/>
          <p:nvPr/>
        </p:nvSpPr>
        <p:spPr>
          <a:xfrm>
            <a:off x="2820099" y="5845797"/>
            <a:ext cx="1310817" cy="352787"/>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2" name="正方形/長方形 71">
            <a:extLst>
              <a:ext uri="{FF2B5EF4-FFF2-40B4-BE49-F238E27FC236}">
                <a16:creationId xmlns:a16="http://schemas.microsoft.com/office/drawing/2014/main" id="{424EFCA2-352A-89FD-F643-177A2B76D5E8}"/>
              </a:ext>
            </a:extLst>
          </p:cNvPr>
          <p:cNvSpPr/>
          <p:nvPr/>
        </p:nvSpPr>
        <p:spPr>
          <a:xfrm>
            <a:off x="5449428" y="5845797"/>
            <a:ext cx="1332227" cy="352787"/>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3" name="正方形/長方形 72">
            <a:extLst>
              <a:ext uri="{FF2B5EF4-FFF2-40B4-BE49-F238E27FC236}">
                <a16:creationId xmlns:a16="http://schemas.microsoft.com/office/drawing/2014/main" id="{798126DD-927F-B22A-D51D-6A666FC4571F}"/>
              </a:ext>
            </a:extLst>
          </p:cNvPr>
          <p:cNvSpPr/>
          <p:nvPr/>
        </p:nvSpPr>
        <p:spPr>
          <a:xfrm>
            <a:off x="4145742" y="539234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アルゴリズム</a:t>
            </a:r>
          </a:p>
        </p:txBody>
      </p:sp>
      <p:sp>
        <p:nvSpPr>
          <p:cNvPr id="74" name="正方形/長方形 73">
            <a:extLst>
              <a:ext uri="{FF2B5EF4-FFF2-40B4-BE49-F238E27FC236}">
                <a16:creationId xmlns:a16="http://schemas.microsoft.com/office/drawing/2014/main" id="{58417990-ED33-3EFF-62AE-2E80E0D4B6E4}"/>
              </a:ext>
            </a:extLst>
          </p:cNvPr>
          <p:cNvSpPr/>
          <p:nvPr/>
        </p:nvSpPr>
        <p:spPr>
          <a:xfrm>
            <a:off x="4794363" y="5392346"/>
            <a:ext cx="652645"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網羅</a:t>
            </a:r>
            <a:endParaRPr kumimoji="1" lang="en-US" altLang="ja-JP" sz="1000" dirty="0"/>
          </a:p>
          <a:p>
            <a:pPr algn="ctr"/>
            <a:r>
              <a:rPr kumimoji="1" lang="ja-JP" altLang="en-US" sz="1000" dirty="0"/>
              <a:t>解析</a:t>
            </a:r>
          </a:p>
        </p:txBody>
      </p:sp>
      <p:sp>
        <p:nvSpPr>
          <p:cNvPr id="75" name="正方形/長方形 74">
            <a:extLst>
              <a:ext uri="{FF2B5EF4-FFF2-40B4-BE49-F238E27FC236}">
                <a16:creationId xmlns:a16="http://schemas.microsoft.com/office/drawing/2014/main" id="{3A8E469B-E141-8D1C-B040-FDB41BEBE46F}"/>
              </a:ext>
            </a:extLst>
          </p:cNvPr>
          <p:cNvSpPr/>
          <p:nvPr/>
        </p:nvSpPr>
        <p:spPr>
          <a:xfrm>
            <a:off x="5451824" y="5388419"/>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6" name="吹き出し: 四角形 75">
            <a:extLst>
              <a:ext uri="{FF2B5EF4-FFF2-40B4-BE49-F238E27FC236}">
                <a16:creationId xmlns:a16="http://schemas.microsoft.com/office/drawing/2014/main" id="{0FA24340-7EB8-254A-5E85-F5D55C61F4F1}"/>
              </a:ext>
            </a:extLst>
          </p:cNvPr>
          <p:cNvSpPr/>
          <p:nvPr/>
        </p:nvSpPr>
        <p:spPr>
          <a:xfrm>
            <a:off x="6236556" y="4943817"/>
            <a:ext cx="1425892" cy="365125"/>
          </a:xfrm>
          <a:prstGeom prst="wedgeRectCallout">
            <a:avLst>
              <a:gd name="adj1" fmla="val 35386"/>
              <a:gd name="adj2" fmla="val 81709"/>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見守りシステムの</a:t>
            </a:r>
            <a:endParaRPr lang="en-US" altLang="ja-JP" sz="1000" dirty="0"/>
          </a:p>
          <a:p>
            <a:pPr algn="ctr"/>
            <a:r>
              <a:rPr lang="en-US" altLang="ja-JP" sz="1000" dirty="0"/>
              <a:t>End to End</a:t>
            </a:r>
            <a:r>
              <a:rPr lang="ja-JP" altLang="en-US" sz="1000" dirty="0"/>
              <a:t>的実験</a:t>
            </a:r>
            <a:endParaRPr kumimoji="1" lang="ja-JP" altLang="en-US" sz="1000" dirty="0"/>
          </a:p>
        </p:txBody>
      </p:sp>
      <p:cxnSp>
        <p:nvCxnSpPr>
          <p:cNvPr id="78" name="直線矢印コネクタ 77">
            <a:extLst>
              <a:ext uri="{FF2B5EF4-FFF2-40B4-BE49-F238E27FC236}">
                <a16:creationId xmlns:a16="http://schemas.microsoft.com/office/drawing/2014/main" id="{A60412D0-CD2B-5326-F024-BC36CBCBEE6C}"/>
              </a:ext>
            </a:extLst>
          </p:cNvPr>
          <p:cNvCxnSpPr>
            <a:cxnSpLocks/>
          </p:cNvCxnSpPr>
          <p:nvPr/>
        </p:nvCxnSpPr>
        <p:spPr>
          <a:xfrm>
            <a:off x="6764912" y="4255248"/>
            <a:ext cx="5267993" cy="0"/>
          </a:xfrm>
          <a:prstGeom prst="straightConnector1">
            <a:avLst/>
          </a:prstGeom>
          <a:ln w="57150">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D532D60E-056D-6836-3554-B9B1F9D30145}"/>
              </a:ext>
            </a:extLst>
          </p:cNvPr>
          <p:cNvSpPr txBox="1"/>
          <p:nvPr/>
        </p:nvSpPr>
        <p:spPr>
          <a:xfrm>
            <a:off x="6923714" y="3772859"/>
            <a:ext cx="4950394" cy="307777"/>
          </a:xfrm>
          <a:prstGeom prst="rect">
            <a:avLst/>
          </a:prstGeom>
          <a:solidFill>
            <a:schemeClr val="bg1"/>
          </a:solidFill>
        </p:spPr>
        <p:txBody>
          <a:bodyPr wrap="none" rtlCol="0">
            <a:spAutoFit/>
          </a:bodyPr>
          <a:lstStyle/>
          <a:p>
            <a:pPr algn="ctr"/>
            <a:r>
              <a:rPr kumimoji="1" lang="ja-JP" altLang="en-US" sz="1400" dirty="0"/>
              <a:t>会社推奨の在籍期間（最初半年は自費．</a:t>
            </a:r>
            <a:r>
              <a:rPr kumimoji="1" lang="en-US" altLang="ja-JP" sz="1400" dirty="0"/>
              <a:t>27</a:t>
            </a:r>
            <a:r>
              <a:rPr kumimoji="1" lang="ja-JP" altLang="en-US" sz="1400" dirty="0"/>
              <a:t>秋</a:t>
            </a:r>
            <a:r>
              <a:rPr kumimoji="1" lang="en-US" altLang="ja-JP" sz="1400" dirty="0"/>
              <a:t>~</a:t>
            </a:r>
            <a:r>
              <a:rPr kumimoji="1" lang="ja-JP" altLang="en-US" sz="1400" dirty="0"/>
              <a:t>は会社公式）</a:t>
            </a:r>
          </a:p>
        </p:txBody>
      </p:sp>
      <p:sp>
        <p:nvSpPr>
          <p:cNvPr id="93" name="テキスト ボックス 92">
            <a:extLst>
              <a:ext uri="{FF2B5EF4-FFF2-40B4-BE49-F238E27FC236}">
                <a16:creationId xmlns:a16="http://schemas.microsoft.com/office/drawing/2014/main" id="{44073026-A630-27D7-0232-0BA24DBD3E77}"/>
              </a:ext>
            </a:extLst>
          </p:cNvPr>
          <p:cNvSpPr txBox="1"/>
          <p:nvPr/>
        </p:nvSpPr>
        <p:spPr>
          <a:xfrm>
            <a:off x="8064653" y="2972034"/>
            <a:ext cx="1322555" cy="44627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endParaRPr kumimoji="1" lang="en-US" altLang="ja-JP" sz="1400" dirty="0"/>
          </a:p>
          <a:p>
            <a:pPr algn="ctr"/>
            <a:r>
              <a:rPr kumimoji="1" lang="ja-JP" altLang="en-US" sz="900" dirty="0"/>
              <a:t>（研修期間終了済）</a:t>
            </a:r>
            <a:endParaRPr kumimoji="1" lang="ja-JP" altLang="en-US" sz="1400" dirty="0"/>
          </a:p>
        </p:txBody>
      </p:sp>
      <p:sp>
        <p:nvSpPr>
          <p:cNvPr id="98" name="テキスト ボックス 97">
            <a:extLst>
              <a:ext uri="{FF2B5EF4-FFF2-40B4-BE49-F238E27FC236}">
                <a16:creationId xmlns:a16="http://schemas.microsoft.com/office/drawing/2014/main" id="{5A72F54F-1B0C-8735-DA05-C0CC940B9B54}"/>
              </a:ext>
            </a:extLst>
          </p:cNvPr>
          <p:cNvSpPr txBox="1"/>
          <p:nvPr/>
        </p:nvSpPr>
        <p:spPr>
          <a:xfrm>
            <a:off x="3935760" y="6571655"/>
            <a:ext cx="1727326" cy="338554"/>
          </a:xfrm>
          <a:prstGeom prst="rect">
            <a:avLst/>
          </a:prstGeom>
          <a:solidFill>
            <a:srgbClr val="FFFFFF">
              <a:alpha val="50196"/>
            </a:srgbClr>
          </a:solidFill>
        </p:spPr>
        <p:txBody>
          <a:bodyPr wrap="square" rtlCol="0">
            <a:spAutoFit/>
          </a:bodyPr>
          <a:lstStyle/>
          <a:p>
            <a:pPr algn="ctr"/>
            <a:r>
              <a:rPr kumimoji="1" lang="ja-JP" altLang="en-US" sz="800" dirty="0"/>
              <a:t>この辺り</a:t>
            </a:r>
            <a:r>
              <a:rPr lang="ja-JP" altLang="en-US" sz="800" dirty="0"/>
              <a:t>詰め気味</a:t>
            </a:r>
            <a:r>
              <a:rPr kumimoji="1" lang="ja-JP" altLang="en-US" sz="800" dirty="0"/>
              <a:t>なので，</a:t>
            </a:r>
            <a:endParaRPr kumimoji="1" lang="en-US" altLang="ja-JP" sz="800" dirty="0"/>
          </a:p>
          <a:p>
            <a:pPr algn="ctr"/>
            <a:r>
              <a:rPr kumimoji="1" lang="ja-JP" altLang="en-US" sz="800" dirty="0"/>
              <a:t>前後に分散させ</a:t>
            </a:r>
            <a:r>
              <a:rPr lang="ja-JP" altLang="en-US" sz="800" dirty="0"/>
              <a:t>られると良いが</a:t>
            </a:r>
            <a:r>
              <a:rPr lang="en-US" altLang="ja-JP" sz="800" dirty="0"/>
              <a:t>…</a:t>
            </a:r>
            <a:endParaRPr kumimoji="1" lang="en-US" altLang="ja-JP" sz="800" dirty="0"/>
          </a:p>
        </p:txBody>
      </p:sp>
      <p:sp>
        <p:nvSpPr>
          <p:cNvPr id="55" name="吹き出し: 四角形 54">
            <a:extLst>
              <a:ext uri="{FF2B5EF4-FFF2-40B4-BE49-F238E27FC236}">
                <a16:creationId xmlns:a16="http://schemas.microsoft.com/office/drawing/2014/main" id="{AC23094E-F0A2-E7A5-59C9-559B244BB0B8}"/>
              </a:ext>
            </a:extLst>
          </p:cNvPr>
          <p:cNvSpPr/>
          <p:nvPr/>
        </p:nvSpPr>
        <p:spPr>
          <a:xfrm>
            <a:off x="3846647" y="6206530"/>
            <a:ext cx="1425892" cy="365125"/>
          </a:xfrm>
          <a:prstGeom prst="wedgeRectCallout">
            <a:avLst>
              <a:gd name="adj1" fmla="val -21617"/>
              <a:gd name="adj2" fmla="val -71334"/>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800" dirty="0"/>
              <a:t>FY24</a:t>
            </a:r>
            <a:r>
              <a:rPr lang="ja-JP" altLang="en-US" sz="800" dirty="0"/>
              <a:t>の長崎実験データを活用した研究</a:t>
            </a:r>
            <a:endParaRPr kumimoji="1" lang="ja-JP" altLang="en-US" sz="800" dirty="0"/>
          </a:p>
        </p:txBody>
      </p:sp>
      <p:sp>
        <p:nvSpPr>
          <p:cNvPr id="10" name="吹き出し: 四角形 9">
            <a:extLst>
              <a:ext uri="{FF2B5EF4-FFF2-40B4-BE49-F238E27FC236}">
                <a16:creationId xmlns:a16="http://schemas.microsoft.com/office/drawing/2014/main" id="{B9448081-B477-3F28-9117-0AE68878AF39}"/>
              </a:ext>
            </a:extLst>
          </p:cNvPr>
          <p:cNvSpPr/>
          <p:nvPr/>
        </p:nvSpPr>
        <p:spPr>
          <a:xfrm>
            <a:off x="3417970" y="3719060"/>
            <a:ext cx="1425892" cy="365125"/>
          </a:xfrm>
          <a:prstGeom prst="wedgeRectCallout">
            <a:avLst>
              <a:gd name="adj1" fmla="val -55064"/>
              <a:gd name="adj2" fmla="val 75146"/>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800" dirty="0"/>
              <a:t>Rejected. </a:t>
            </a:r>
            <a:r>
              <a:rPr lang="ja-JP" altLang="en-US" sz="800" dirty="0"/>
              <a:t>方向性要検討</a:t>
            </a:r>
            <a:endParaRPr kumimoji="1" lang="ja-JP" altLang="en-US" sz="800" dirty="0"/>
          </a:p>
        </p:txBody>
      </p:sp>
    </p:spTree>
    <p:extLst>
      <p:ext uri="{BB962C8B-B14F-4D97-AF65-F5344CB8AC3E}">
        <p14:creationId xmlns:p14="http://schemas.microsoft.com/office/powerpoint/2010/main" val="717650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068FB-4857-97B6-CB50-40E8167A81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3368DF-2982-3579-DBF3-DCB5B9715FB8}"/>
              </a:ext>
            </a:extLst>
          </p:cNvPr>
          <p:cNvSpPr>
            <a:spLocks noGrp="1"/>
          </p:cNvSpPr>
          <p:nvPr>
            <p:ph type="title"/>
          </p:nvPr>
        </p:nvSpPr>
        <p:spPr/>
        <p:txBody>
          <a:bodyPr/>
          <a:lstStyle/>
          <a:p>
            <a:r>
              <a:rPr kumimoji="1" lang="ja-JP" altLang="en-US" dirty="0"/>
              <a:t>研究計画（日程・要件）</a:t>
            </a:r>
            <a:endParaRPr kumimoji="1" lang="ja-JP" altLang="en-US" dirty="0">
              <a:highlight>
                <a:srgbClr val="00FFFF"/>
              </a:highlight>
            </a:endParaRPr>
          </a:p>
        </p:txBody>
      </p:sp>
      <p:sp>
        <p:nvSpPr>
          <p:cNvPr id="3" name="コンテンツ プレースホルダー 2">
            <a:extLst>
              <a:ext uri="{FF2B5EF4-FFF2-40B4-BE49-F238E27FC236}">
                <a16:creationId xmlns:a16="http://schemas.microsoft.com/office/drawing/2014/main" id="{6045A0AF-BF7C-CEC3-83C4-D44F6AFE7CBE}"/>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0CC23C53-894C-08DE-C136-E57FC2020E8A}"/>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AB192E4-B1D7-DD64-02BA-6C0CB0B362DB}"/>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74A13CBC-EF11-C0FB-1587-B462997D8E81}"/>
              </a:ext>
            </a:extLst>
          </p:cNvPr>
          <p:cNvSpPr>
            <a:spLocks noGrp="1"/>
          </p:cNvSpPr>
          <p:nvPr>
            <p:ph type="sldNum" sz="quarter" idx="12"/>
          </p:nvPr>
        </p:nvSpPr>
        <p:spPr>
          <a:xfrm>
            <a:off x="9340497" y="-42792"/>
            <a:ext cx="2844800" cy="365125"/>
          </a:xfrm>
        </p:spPr>
        <p:txBody>
          <a:bodyPr/>
          <a:lstStyle/>
          <a:p>
            <a:fld id="{870B1737-2A00-4EFB-9FD3-149FCC30AA13}" type="slidenum">
              <a:rPr lang="ja-JP" altLang="en-US" smtClean="0"/>
              <a:pPr/>
              <a:t>29</a:t>
            </a:fld>
            <a:endParaRPr lang="ja-JP" altLang="en-US" dirty="0"/>
          </a:p>
        </p:txBody>
      </p:sp>
      <p:graphicFrame>
        <p:nvGraphicFramePr>
          <p:cNvPr id="7" name="表 6">
            <a:extLst>
              <a:ext uri="{FF2B5EF4-FFF2-40B4-BE49-F238E27FC236}">
                <a16:creationId xmlns:a16="http://schemas.microsoft.com/office/drawing/2014/main" id="{0B56ABB9-7C90-C2C7-0DFD-FFA46898EBED}"/>
              </a:ext>
            </a:extLst>
          </p:cNvPr>
          <p:cNvGraphicFramePr>
            <a:graphicFrameLocks noGrp="1"/>
          </p:cNvGraphicFramePr>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A766192C-45C2-3BE2-E168-9BBE9BFFB895}"/>
              </a:ext>
            </a:extLst>
          </p:cNvPr>
          <p:cNvSpPr/>
          <p:nvPr/>
        </p:nvSpPr>
        <p:spPr>
          <a:xfrm>
            <a:off x="1493758" y="3733186"/>
            <a:ext cx="582522"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cxnSp>
        <p:nvCxnSpPr>
          <p:cNvPr id="87" name="直線矢印コネクタ 86">
            <a:extLst>
              <a:ext uri="{FF2B5EF4-FFF2-40B4-BE49-F238E27FC236}">
                <a16:creationId xmlns:a16="http://schemas.microsoft.com/office/drawing/2014/main" id="{2D92762B-03E7-C61A-4F91-8BFFB1ED9A16}"/>
              </a:ext>
            </a:extLst>
          </p:cNvPr>
          <p:cNvCxnSpPr>
            <a:cxnSpLocks/>
          </p:cNvCxnSpPr>
          <p:nvPr/>
        </p:nvCxnSpPr>
        <p:spPr>
          <a:xfrm>
            <a:off x="8066176" y="6525344"/>
            <a:ext cx="3309706" cy="0"/>
          </a:xfrm>
          <a:prstGeom prst="straightConnector1">
            <a:avLst/>
          </a:prstGeom>
          <a:ln w="57150">
            <a:solidFill>
              <a:schemeClr val="accent5"/>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四角形: 角を丸くする 85">
            <a:extLst>
              <a:ext uri="{FF2B5EF4-FFF2-40B4-BE49-F238E27FC236}">
                <a16:creationId xmlns:a16="http://schemas.microsoft.com/office/drawing/2014/main" id="{4D052F3A-A3FA-E8AF-B14E-A36B0520CBEE}"/>
              </a:ext>
            </a:extLst>
          </p:cNvPr>
          <p:cNvSpPr/>
          <p:nvPr/>
        </p:nvSpPr>
        <p:spPr>
          <a:xfrm>
            <a:off x="8778812" y="6220126"/>
            <a:ext cx="1982983" cy="554068"/>
          </a:xfrm>
          <a:prstGeom prst="roundRect">
            <a:avLst/>
          </a:prstGeom>
          <a:solidFill>
            <a:schemeClr val="bg1"/>
          </a:solidFill>
          <a:ln>
            <a:solidFill>
              <a:schemeClr val="accent5"/>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B8A7332-32B9-C33B-91BA-DF29996D868D}"/>
              </a:ext>
            </a:extLst>
          </p:cNvPr>
          <p:cNvSpPr/>
          <p:nvPr/>
        </p:nvSpPr>
        <p:spPr>
          <a:xfrm>
            <a:off x="1493758" y="4083540"/>
            <a:ext cx="1944216"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 Advanced Robotics</a:t>
            </a:r>
            <a:endParaRPr kumimoji="1" lang="ja-JP" altLang="en-US" sz="1200" dirty="0"/>
          </a:p>
        </p:txBody>
      </p:sp>
      <p:graphicFrame>
        <p:nvGraphicFramePr>
          <p:cNvPr id="37" name="表 36">
            <a:extLst>
              <a:ext uri="{FF2B5EF4-FFF2-40B4-BE49-F238E27FC236}">
                <a16:creationId xmlns:a16="http://schemas.microsoft.com/office/drawing/2014/main" id="{A3438474-6449-3901-1F6B-E567D967E15C}"/>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D9C69872-A16B-D2A8-A73C-C8107D94D1A9}"/>
              </a:ext>
            </a:extLst>
          </p:cNvPr>
          <p:cNvSpPr/>
          <p:nvPr/>
        </p:nvSpPr>
        <p:spPr>
          <a:xfrm>
            <a:off x="6767939" y="4647139"/>
            <a:ext cx="66289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6F778B49-2670-36FC-CEB8-188C06678985}"/>
              </a:ext>
            </a:extLst>
          </p:cNvPr>
          <p:cNvSpPr/>
          <p:nvPr/>
        </p:nvSpPr>
        <p:spPr>
          <a:xfrm>
            <a:off x="7430835" y="4647139"/>
            <a:ext cx="1968074" cy="360040"/>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IEEE T-MSC</a:t>
            </a:r>
            <a:r>
              <a:rPr kumimoji="1" lang="ja-JP" altLang="en-US" sz="1000" dirty="0"/>
              <a:t>）</a:t>
            </a:r>
          </a:p>
        </p:txBody>
      </p:sp>
      <p:sp>
        <p:nvSpPr>
          <p:cNvPr id="13" name="正方形/長方形 12">
            <a:extLst>
              <a:ext uri="{FF2B5EF4-FFF2-40B4-BE49-F238E27FC236}">
                <a16:creationId xmlns:a16="http://schemas.microsoft.com/office/drawing/2014/main" id="{100392C1-5584-92A0-8293-B27CA49DE36B}"/>
              </a:ext>
            </a:extLst>
          </p:cNvPr>
          <p:cNvSpPr/>
          <p:nvPr/>
        </p:nvSpPr>
        <p:spPr>
          <a:xfrm>
            <a:off x="1493758" y="4647138"/>
            <a:ext cx="669936" cy="1551445"/>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900" dirty="0"/>
              <a:t>全体構想</a:t>
            </a:r>
            <a:endParaRPr lang="en-US" altLang="ja-JP" sz="900" dirty="0"/>
          </a:p>
          <a:p>
            <a:pPr algn="ctr"/>
            <a:r>
              <a:rPr lang="ja-JP" altLang="en-US" sz="900" dirty="0"/>
              <a:t>・</a:t>
            </a:r>
            <a:endParaRPr lang="en-US" altLang="ja-JP" sz="900" dirty="0"/>
          </a:p>
          <a:p>
            <a:pPr algn="ctr"/>
            <a:r>
              <a:rPr lang="ja-JP" altLang="en-US" sz="900" dirty="0"/>
              <a:t>研究間</a:t>
            </a:r>
            <a:endParaRPr lang="en-US" altLang="ja-JP" sz="900" dirty="0"/>
          </a:p>
          <a:p>
            <a:pPr algn="ctr"/>
            <a:r>
              <a:rPr lang="ja-JP" altLang="en-US" sz="900" dirty="0"/>
              <a:t>差別化</a:t>
            </a:r>
            <a:endParaRPr lang="en-US" altLang="ja-JP" sz="900" dirty="0"/>
          </a:p>
          <a:p>
            <a:pPr algn="ctr"/>
            <a:r>
              <a:rPr lang="ja-JP" altLang="en-US" sz="900" dirty="0"/>
              <a:t>戦略</a:t>
            </a:r>
            <a:endParaRPr kumimoji="1" lang="ja-JP" altLang="en-US" sz="900" dirty="0"/>
          </a:p>
        </p:txBody>
      </p:sp>
      <p:sp>
        <p:nvSpPr>
          <p:cNvPr id="17" name="正方形/長方形 16">
            <a:extLst>
              <a:ext uri="{FF2B5EF4-FFF2-40B4-BE49-F238E27FC236}">
                <a16:creationId xmlns:a16="http://schemas.microsoft.com/office/drawing/2014/main" id="{0A28BCEE-4FF0-8E3E-FC04-6AA4EAB2CCFD}"/>
              </a:ext>
            </a:extLst>
          </p:cNvPr>
          <p:cNvSpPr/>
          <p:nvPr/>
        </p:nvSpPr>
        <p:spPr>
          <a:xfrm>
            <a:off x="6778878" y="5406059"/>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2B58E31A-B541-DE00-572F-04827ED68950}"/>
              </a:ext>
            </a:extLst>
          </p:cNvPr>
          <p:cNvSpPr/>
          <p:nvPr/>
        </p:nvSpPr>
        <p:spPr>
          <a:xfrm>
            <a:off x="7413271" y="5406060"/>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5DF42B64-A31C-60B7-E7D0-93889BBBAC3A}"/>
              </a:ext>
            </a:extLst>
          </p:cNvPr>
          <p:cNvSpPr/>
          <p:nvPr/>
        </p:nvSpPr>
        <p:spPr>
          <a:xfrm>
            <a:off x="4131768" y="5842172"/>
            <a:ext cx="652645"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FBAD8567-37A8-793E-12DC-42EB950BA631}"/>
              </a:ext>
            </a:extLst>
          </p:cNvPr>
          <p:cNvSpPr/>
          <p:nvPr/>
        </p:nvSpPr>
        <p:spPr>
          <a:xfrm>
            <a:off x="4787595" y="5842897"/>
            <a:ext cx="66183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B8589E1B-71EA-96A9-7605-68CD6CEBC133}"/>
              </a:ext>
            </a:extLst>
          </p:cNvPr>
          <p:cNvSpPr/>
          <p:nvPr/>
        </p:nvSpPr>
        <p:spPr>
          <a:xfrm>
            <a:off x="6774379" y="5842171"/>
            <a:ext cx="64254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RA-L</a:t>
            </a:r>
            <a:endParaRPr kumimoji="1" lang="ja-JP" altLang="en-US" sz="1000" dirty="0"/>
          </a:p>
        </p:txBody>
      </p:sp>
      <p:sp>
        <p:nvSpPr>
          <p:cNvPr id="23" name="正方形/長方形 22">
            <a:extLst>
              <a:ext uri="{FF2B5EF4-FFF2-40B4-BE49-F238E27FC236}">
                <a16:creationId xmlns:a16="http://schemas.microsoft.com/office/drawing/2014/main" id="{32720EAE-4096-84F8-61F4-59BAA288AE03}"/>
              </a:ext>
            </a:extLst>
          </p:cNvPr>
          <p:cNvSpPr/>
          <p:nvPr/>
        </p:nvSpPr>
        <p:spPr>
          <a:xfrm>
            <a:off x="8961596" y="635324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3A0F9A81-7E24-D53F-D65C-F87F083FB5DF}"/>
              </a:ext>
            </a:extLst>
          </p:cNvPr>
          <p:cNvSpPr/>
          <p:nvPr/>
        </p:nvSpPr>
        <p:spPr>
          <a:xfrm>
            <a:off x="9880758" y="635324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E62F06AA-19C3-FE3C-5A4B-3E20AF993251}"/>
              </a:ext>
            </a:extLst>
          </p:cNvPr>
          <p:cNvSpPr/>
          <p:nvPr/>
        </p:nvSpPr>
        <p:spPr>
          <a:xfrm>
            <a:off x="7416925" y="5842732"/>
            <a:ext cx="1324454" cy="360041"/>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E7D0DD4D-F9F8-7DB4-11D6-98C578B3AD00}"/>
              </a:ext>
            </a:extLst>
          </p:cNvPr>
          <p:cNvSpPr/>
          <p:nvPr/>
        </p:nvSpPr>
        <p:spPr>
          <a:xfrm>
            <a:off x="8066176" y="5405462"/>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1A42FB30-3EB9-C48B-A211-93C7C1FF1D55}"/>
              </a:ext>
            </a:extLst>
          </p:cNvPr>
          <p:cNvSpPr/>
          <p:nvPr/>
        </p:nvSpPr>
        <p:spPr>
          <a:xfrm>
            <a:off x="8686349" y="5406280"/>
            <a:ext cx="2689533" cy="358404"/>
          </a:xfrm>
          <a:prstGeom prst="rect">
            <a:avLst/>
          </a:prstGeom>
          <a:solidFill>
            <a:schemeClr val="tx2">
              <a:lumMod val="20000"/>
              <a:lumOff val="80000"/>
            </a:schemeClr>
          </a:solidFill>
          <a:ln w="38100">
            <a:solidFill>
              <a:schemeClr val="accent2"/>
            </a:solidFill>
          </a:ln>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査読（投稿先未定）</a:t>
            </a:r>
          </a:p>
        </p:txBody>
      </p:sp>
      <p:sp>
        <p:nvSpPr>
          <p:cNvPr id="39" name="正方形/長方形 38">
            <a:extLst>
              <a:ext uri="{FF2B5EF4-FFF2-40B4-BE49-F238E27FC236}">
                <a16:creationId xmlns:a16="http://schemas.microsoft.com/office/drawing/2014/main" id="{C3BC3607-154D-7A8B-B781-477D6068EF3F}"/>
              </a:ext>
            </a:extLst>
          </p:cNvPr>
          <p:cNvSpPr/>
          <p:nvPr/>
        </p:nvSpPr>
        <p:spPr>
          <a:xfrm>
            <a:off x="4119597" y="4647139"/>
            <a:ext cx="1329831"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追加解析</a:t>
            </a:r>
            <a:endParaRPr kumimoji="1" lang="en-US" altLang="ja-JP" sz="700" dirty="0"/>
          </a:p>
          <a:p>
            <a:pPr algn="ctr"/>
            <a:r>
              <a:rPr lang="ja-JP" altLang="en-US" sz="700" dirty="0"/>
              <a:t>（必要性要検討）</a:t>
            </a:r>
            <a:endParaRPr kumimoji="1" lang="ja-JP" altLang="en-US" sz="700" dirty="0"/>
          </a:p>
        </p:txBody>
      </p:sp>
      <p:cxnSp>
        <p:nvCxnSpPr>
          <p:cNvPr id="42" name="直線矢印コネクタ 41">
            <a:extLst>
              <a:ext uri="{FF2B5EF4-FFF2-40B4-BE49-F238E27FC236}">
                <a16:creationId xmlns:a16="http://schemas.microsoft.com/office/drawing/2014/main" id="{D9E483AD-E42E-E3ED-75F4-26626C7295F5}"/>
              </a:ext>
            </a:extLst>
          </p:cNvPr>
          <p:cNvCxnSpPr>
            <a:cxnSpLocks/>
          </p:cNvCxnSpPr>
          <p:nvPr/>
        </p:nvCxnSpPr>
        <p:spPr>
          <a:xfrm>
            <a:off x="8977602" y="6107713"/>
            <a:ext cx="0" cy="2557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4" name="正方形/長方形 43">
            <a:extLst>
              <a:ext uri="{FF2B5EF4-FFF2-40B4-BE49-F238E27FC236}">
                <a16:creationId xmlns:a16="http://schemas.microsoft.com/office/drawing/2014/main" id="{4161D96C-61B3-A53F-B43B-8E0ECBF778F9}"/>
              </a:ext>
            </a:extLst>
          </p:cNvPr>
          <p:cNvSpPr/>
          <p:nvPr/>
        </p:nvSpPr>
        <p:spPr>
          <a:xfrm>
            <a:off x="2163694" y="4647139"/>
            <a:ext cx="637391"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戦略修正</a:t>
            </a:r>
          </a:p>
        </p:txBody>
      </p:sp>
      <p:sp>
        <p:nvSpPr>
          <p:cNvPr id="51" name="テキスト ボックス 50">
            <a:extLst>
              <a:ext uri="{FF2B5EF4-FFF2-40B4-BE49-F238E27FC236}">
                <a16:creationId xmlns:a16="http://schemas.microsoft.com/office/drawing/2014/main" id="{64EE1400-25C9-6731-1D37-1077404A01EF}"/>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32B88FB5-01C6-6EE1-0872-3AAAE675F3F1}"/>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9" name="吹き出し: 四角形 58">
            <a:extLst>
              <a:ext uri="{FF2B5EF4-FFF2-40B4-BE49-F238E27FC236}">
                <a16:creationId xmlns:a16="http://schemas.microsoft.com/office/drawing/2014/main" id="{480866E3-779A-3F6F-6896-227CB1997F17}"/>
              </a:ext>
            </a:extLst>
          </p:cNvPr>
          <p:cNvSpPr/>
          <p:nvPr/>
        </p:nvSpPr>
        <p:spPr>
          <a:xfrm>
            <a:off x="4081417" y="4255248"/>
            <a:ext cx="1425892" cy="365125"/>
          </a:xfrm>
          <a:prstGeom prst="wedgeRectCallout">
            <a:avLst>
              <a:gd name="adj1" fmla="val -17609"/>
              <a:gd name="adj2" fmla="val 77362"/>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追加シミュレーションや</a:t>
            </a:r>
            <a:endParaRPr lang="en-US" altLang="ja-JP" sz="800" dirty="0"/>
          </a:p>
          <a:p>
            <a:pPr algn="ctr"/>
            <a:r>
              <a:rPr lang="ja-JP" altLang="en-US" sz="800" dirty="0"/>
              <a:t>遠隔での現場アンケート</a:t>
            </a:r>
            <a:endParaRPr kumimoji="1" lang="ja-JP" altLang="en-US" sz="800" dirty="0"/>
          </a:p>
        </p:txBody>
      </p:sp>
      <p:sp>
        <p:nvSpPr>
          <p:cNvPr id="63" name="正方形/長方形 62">
            <a:extLst>
              <a:ext uri="{FF2B5EF4-FFF2-40B4-BE49-F238E27FC236}">
                <a16:creationId xmlns:a16="http://schemas.microsoft.com/office/drawing/2014/main" id="{D1B34B18-525A-4B3D-458F-50388E6C6AED}"/>
              </a:ext>
            </a:extLst>
          </p:cNvPr>
          <p:cNvSpPr/>
          <p:nvPr/>
        </p:nvSpPr>
        <p:spPr>
          <a:xfrm>
            <a:off x="2163694" y="5398507"/>
            <a:ext cx="637391"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戦略立案</a:t>
            </a:r>
          </a:p>
        </p:txBody>
      </p:sp>
      <p:sp>
        <p:nvSpPr>
          <p:cNvPr id="64" name="正方形/長方形 63">
            <a:extLst>
              <a:ext uri="{FF2B5EF4-FFF2-40B4-BE49-F238E27FC236}">
                <a16:creationId xmlns:a16="http://schemas.microsoft.com/office/drawing/2014/main" id="{4885AC92-5D02-14BE-7BB1-4D1E4738BC90}"/>
              </a:ext>
            </a:extLst>
          </p:cNvPr>
          <p:cNvSpPr/>
          <p:nvPr/>
        </p:nvSpPr>
        <p:spPr>
          <a:xfrm>
            <a:off x="2156902" y="5842171"/>
            <a:ext cx="674009"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アルゴリズム</a:t>
            </a:r>
          </a:p>
        </p:txBody>
      </p:sp>
      <p:sp>
        <p:nvSpPr>
          <p:cNvPr id="68" name="正方形/長方形 67">
            <a:extLst>
              <a:ext uri="{FF2B5EF4-FFF2-40B4-BE49-F238E27FC236}">
                <a16:creationId xmlns:a16="http://schemas.microsoft.com/office/drawing/2014/main" id="{BC4A45D2-3386-CA89-1F97-E2B806712446}"/>
              </a:ext>
            </a:extLst>
          </p:cNvPr>
          <p:cNvSpPr/>
          <p:nvPr/>
        </p:nvSpPr>
        <p:spPr>
          <a:xfrm>
            <a:off x="2801085" y="4647140"/>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69" name="正方形/長方形 68">
            <a:extLst>
              <a:ext uri="{FF2B5EF4-FFF2-40B4-BE49-F238E27FC236}">
                <a16:creationId xmlns:a16="http://schemas.microsoft.com/office/drawing/2014/main" id="{678258FA-FE63-BDCA-5827-C3E8438AA5F5}"/>
              </a:ext>
            </a:extLst>
          </p:cNvPr>
          <p:cNvSpPr/>
          <p:nvPr/>
        </p:nvSpPr>
        <p:spPr>
          <a:xfrm>
            <a:off x="5451824" y="4647140"/>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1" name="正方形/長方形 70">
            <a:extLst>
              <a:ext uri="{FF2B5EF4-FFF2-40B4-BE49-F238E27FC236}">
                <a16:creationId xmlns:a16="http://schemas.microsoft.com/office/drawing/2014/main" id="{A136F053-BA3C-5943-F180-8560F208323C}"/>
              </a:ext>
            </a:extLst>
          </p:cNvPr>
          <p:cNvSpPr/>
          <p:nvPr/>
        </p:nvSpPr>
        <p:spPr>
          <a:xfrm>
            <a:off x="2820099" y="5845797"/>
            <a:ext cx="1310817" cy="352787"/>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2" name="正方形/長方形 71">
            <a:extLst>
              <a:ext uri="{FF2B5EF4-FFF2-40B4-BE49-F238E27FC236}">
                <a16:creationId xmlns:a16="http://schemas.microsoft.com/office/drawing/2014/main" id="{CA53D19B-DFE0-604C-A160-D0ACBEB4BD6C}"/>
              </a:ext>
            </a:extLst>
          </p:cNvPr>
          <p:cNvSpPr/>
          <p:nvPr/>
        </p:nvSpPr>
        <p:spPr>
          <a:xfrm>
            <a:off x="5449428" y="5845797"/>
            <a:ext cx="1332227" cy="352787"/>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3" name="正方形/長方形 72">
            <a:extLst>
              <a:ext uri="{FF2B5EF4-FFF2-40B4-BE49-F238E27FC236}">
                <a16:creationId xmlns:a16="http://schemas.microsoft.com/office/drawing/2014/main" id="{1A353AD6-2AD7-A68F-8786-E5B7B8F6F667}"/>
              </a:ext>
            </a:extLst>
          </p:cNvPr>
          <p:cNvSpPr/>
          <p:nvPr/>
        </p:nvSpPr>
        <p:spPr>
          <a:xfrm>
            <a:off x="4145742" y="539234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アルゴリズム</a:t>
            </a:r>
          </a:p>
        </p:txBody>
      </p:sp>
      <p:sp>
        <p:nvSpPr>
          <p:cNvPr id="74" name="正方形/長方形 73">
            <a:extLst>
              <a:ext uri="{FF2B5EF4-FFF2-40B4-BE49-F238E27FC236}">
                <a16:creationId xmlns:a16="http://schemas.microsoft.com/office/drawing/2014/main" id="{C52FB91E-61DE-623F-F011-1E93850B2A6C}"/>
              </a:ext>
            </a:extLst>
          </p:cNvPr>
          <p:cNvSpPr/>
          <p:nvPr/>
        </p:nvSpPr>
        <p:spPr>
          <a:xfrm>
            <a:off x="4794363" y="5392346"/>
            <a:ext cx="652645"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網羅</a:t>
            </a:r>
            <a:endParaRPr kumimoji="1" lang="en-US" altLang="ja-JP" sz="1000" dirty="0"/>
          </a:p>
          <a:p>
            <a:pPr algn="ctr"/>
            <a:r>
              <a:rPr kumimoji="1" lang="ja-JP" altLang="en-US" sz="1000" dirty="0"/>
              <a:t>解析</a:t>
            </a:r>
          </a:p>
        </p:txBody>
      </p:sp>
      <p:sp>
        <p:nvSpPr>
          <p:cNvPr id="75" name="正方形/長方形 74">
            <a:extLst>
              <a:ext uri="{FF2B5EF4-FFF2-40B4-BE49-F238E27FC236}">
                <a16:creationId xmlns:a16="http://schemas.microsoft.com/office/drawing/2014/main" id="{8A4AFC22-0B59-5A9A-C568-AA36957FEA8E}"/>
              </a:ext>
            </a:extLst>
          </p:cNvPr>
          <p:cNvSpPr/>
          <p:nvPr/>
        </p:nvSpPr>
        <p:spPr>
          <a:xfrm>
            <a:off x="5451824" y="5388419"/>
            <a:ext cx="1329831" cy="360040"/>
          </a:xfrm>
          <a:prstGeom prst="rect">
            <a:avLst/>
          </a:prstGeom>
          <a:solidFill>
            <a:schemeClr val="bg2">
              <a:lumMod val="9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予備</a:t>
            </a:r>
          </a:p>
        </p:txBody>
      </p:sp>
      <p:sp>
        <p:nvSpPr>
          <p:cNvPr id="76" name="吹き出し: 四角形 75">
            <a:extLst>
              <a:ext uri="{FF2B5EF4-FFF2-40B4-BE49-F238E27FC236}">
                <a16:creationId xmlns:a16="http://schemas.microsoft.com/office/drawing/2014/main" id="{C19D5ACC-9A10-F2A3-FB70-23AAE325086E}"/>
              </a:ext>
            </a:extLst>
          </p:cNvPr>
          <p:cNvSpPr/>
          <p:nvPr/>
        </p:nvSpPr>
        <p:spPr>
          <a:xfrm>
            <a:off x="6236556" y="4943817"/>
            <a:ext cx="1425892" cy="365125"/>
          </a:xfrm>
          <a:prstGeom prst="wedgeRectCallout">
            <a:avLst>
              <a:gd name="adj1" fmla="val 35386"/>
              <a:gd name="adj2" fmla="val 81709"/>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見守りシステムの</a:t>
            </a:r>
            <a:endParaRPr lang="en-US" altLang="ja-JP" sz="1000" dirty="0"/>
          </a:p>
          <a:p>
            <a:pPr algn="ctr"/>
            <a:r>
              <a:rPr lang="en-US" altLang="ja-JP" sz="1000" dirty="0"/>
              <a:t>End to End</a:t>
            </a:r>
            <a:r>
              <a:rPr lang="ja-JP" altLang="en-US" sz="1000" dirty="0"/>
              <a:t>的実験</a:t>
            </a:r>
            <a:endParaRPr kumimoji="1" lang="ja-JP" altLang="en-US" sz="1000" dirty="0"/>
          </a:p>
        </p:txBody>
      </p:sp>
      <p:cxnSp>
        <p:nvCxnSpPr>
          <p:cNvPr id="78" name="直線矢印コネクタ 77">
            <a:extLst>
              <a:ext uri="{FF2B5EF4-FFF2-40B4-BE49-F238E27FC236}">
                <a16:creationId xmlns:a16="http://schemas.microsoft.com/office/drawing/2014/main" id="{4292E971-6881-7B6A-A9C7-773AAA105FAD}"/>
              </a:ext>
            </a:extLst>
          </p:cNvPr>
          <p:cNvCxnSpPr>
            <a:cxnSpLocks/>
          </p:cNvCxnSpPr>
          <p:nvPr/>
        </p:nvCxnSpPr>
        <p:spPr>
          <a:xfrm>
            <a:off x="6764912" y="4255248"/>
            <a:ext cx="5267993" cy="0"/>
          </a:xfrm>
          <a:prstGeom prst="straightConnector1">
            <a:avLst/>
          </a:prstGeom>
          <a:ln w="57150">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0DBD9F4F-CABB-EDB6-FA0C-0D701CA49F3E}"/>
              </a:ext>
            </a:extLst>
          </p:cNvPr>
          <p:cNvSpPr txBox="1"/>
          <p:nvPr/>
        </p:nvSpPr>
        <p:spPr>
          <a:xfrm>
            <a:off x="6923714" y="3772859"/>
            <a:ext cx="4950394" cy="307777"/>
          </a:xfrm>
          <a:prstGeom prst="rect">
            <a:avLst/>
          </a:prstGeom>
          <a:solidFill>
            <a:schemeClr val="bg1"/>
          </a:solidFill>
        </p:spPr>
        <p:txBody>
          <a:bodyPr wrap="none" rtlCol="0">
            <a:spAutoFit/>
          </a:bodyPr>
          <a:lstStyle/>
          <a:p>
            <a:pPr algn="ctr"/>
            <a:r>
              <a:rPr kumimoji="1" lang="ja-JP" altLang="en-US" sz="1400" dirty="0"/>
              <a:t>会社推奨の在籍期間（最初半年は自費．</a:t>
            </a:r>
            <a:r>
              <a:rPr kumimoji="1" lang="en-US" altLang="ja-JP" sz="1400" dirty="0"/>
              <a:t>27</a:t>
            </a:r>
            <a:r>
              <a:rPr kumimoji="1" lang="ja-JP" altLang="en-US" sz="1400" dirty="0"/>
              <a:t>秋</a:t>
            </a:r>
            <a:r>
              <a:rPr kumimoji="1" lang="en-US" altLang="ja-JP" sz="1400" dirty="0"/>
              <a:t>~</a:t>
            </a:r>
            <a:r>
              <a:rPr kumimoji="1" lang="ja-JP" altLang="en-US" sz="1400" dirty="0"/>
              <a:t>は会社公式）</a:t>
            </a:r>
          </a:p>
        </p:txBody>
      </p:sp>
      <p:sp>
        <p:nvSpPr>
          <p:cNvPr id="93" name="テキスト ボックス 92">
            <a:extLst>
              <a:ext uri="{FF2B5EF4-FFF2-40B4-BE49-F238E27FC236}">
                <a16:creationId xmlns:a16="http://schemas.microsoft.com/office/drawing/2014/main" id="{F0AA46BF-0F39-8C6D-EA27-FE73FF079E32}"/>
              </a:ext>
            </a:extLst>
          </p:cNvPr>
          <p:cNvSpPr txBox="1"/>
          <p:nvPr/>
        </p:nvSpPr>
        <p:spPr>
          <a:xfrm>
            <a:off x="8064653" y="2972034"/>
            <a:ext cx="1322555" cy="44627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endParaRPr kumimoji="1" lang="en-US" altLang="ja-JP" sz="1400" dirty="0"/>
          </a:p>
          <a:p>
            <a:pPr algn="ctr"/>
            <a:r>
              <a:rPr kumimoji="1" lang="ja-JP" altLang="en-US" sz="900" dirty="0"/>
              <a:t>（研修期間終了済）</a:t>
            </a:r>
            <a:endParaRPr kumimoji="1" lang="ja-JP" altLang="en-US" sz="1400" dirty="0"/>
          </a:p>
        </p:txBody>
      </p:sp>
      <p:sp>
        <p:nvSpPr>
          <p:cNvPr id="98" name="テキスト ボックス 97">
            <a:extLst>
              <a:ext uri="{FF2B5EF4-FFF2-40B4-BE49-F238E27FC236}">
                <a16:creationId xmlns:a16="http://schemas.microsoft.com/office/drawing/2014/main" id="{8BE5FF6B-BC0F-ABCE-8164-1E7E13708E0F}"/>
              </a:ext>
            </a:extLst>
          </p:cNvPr>
          <p:cNvSpPr txBox="1"/>
          <p:nvPr/>
        </p:nvSpPr>
        <p:spPr>
          <a:xfrm>
            <a:off x="3935760" y="6571655"/>
            <a:ext cx="1727326" cy="338554"/>
          </a:xfrm>
          <a:prstGeom prst="rect">
            <a:avLst/>
          </a:prstGeom>
          <a:solidFill>
            <a:srgbClr val="FFFFFF">
              <a:alpha val="50196"/>
            </a:srgbClr>
          </a:solidFill>
        </p:spPr>
        <p:txBody>
          <a:bodyPr wrap="square" rtlCol="0">
            <a:spAutoFit/>
          </a:bodyPr>
          <a:lstStyle/>
          <a:p>
            <a:pPr algn="ctr"/>
            <a:r>
              <a:rPr kumimoji="1" lang="ja-JP" altLang="en-US" sz="800" dirty="0"/>
              <a:t>この辺り</a:t>
            </a:r>
            <a:r>
              <a:rPr lang="ja-JP" altLang="en-US" sz="800" dirty="0"/>
              <a:t>詰め気味</a:t>
            </a:r>
            <a:r>
              <a:rPr kumimoji="1" lang="ja-JP" altLang="en-US" sz="800" dirty="0"/>
              <a:t>なので，</a:t>
            </a:r>
            <a:endParaRPr kumimoji="1" lang="en-US" altLang="ja-JP" sz="800" dirty="0"/>
          </a:p>
          <a:p>
            <a:pPr algn="ctr"/>
            <a:r>
              <a:rPr kumimoji="1" lang="ja-JP" altLang="en-US" sz="800" dirty="0"/>
              <a:t>前後に分散させ</a:t>
            </a:r>
            <a:r>
              <a:rPr lang="ja-JP" altLang="en-US" sz="800" dirty="0"/>
              <a:t>られると良いが</a:t>
            </a:r>
            <a:r>
              <a:rPr lang="en-US" altLang="ja-JP" sz="800" dirty="0"/>
              <a:t>…</a:t>
            </a:r>
            <a:endParaRPr kumimoji="1" lang="en-US" altLang="ja-JP" sz="800" dirty="0"/>
          </a:p>
        </p:txBody>
      </p:sp>
      <p:sp>
        <p:nvSpPr>
          <p:cNvPr id="55" name="吹き出し: 四角形 54">
            <a:extLst>
              <a:ext uri="{FF2B5EF4-FFF2-40B4-BE49-F238E27FC236}">
                <a16:creationId xmlns:a16="http://schemas.microsoft.com/office/drawing/2014/main" id="{7F57CC54-5C53-76FB-9EFF-AB4812B462A9}"/>
              </a:ext>
            </a:extLst>
          </p:cNvPr>
          <p:cNvSpPr/>
          <p:nvPr/>
        </p:nvSpPr>
        <p:spPr>
          <a:xfrm>
            <a:off x="3846647" y="6206530"/>
            <a:ext cx="1425892" cy="365125"/>
          </a:xfrm>
          <a:prstGeom prst="wedgeRectCallout">
            <a:avLst>
              <a:gd name="adj1" fmla="val -21617"/>
              <a:gd name="adj2" fmla="val -71334"/>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800" dirty="0"/>
              <a:t>FY24</a:t>
            </a:r>
            <a:r>
              <a:rPr lang="ja-JP" altLang="en-US" sz="800" dirty="0"/>
              <a:t>の長崎実験データを活用した研究</a:t>
            </a:r>
            <a:endParaRPr kumimoji="1" lang="ja-JP" altLang="en-US" sz="800" dirty="0"/>
          </a:p>
        </p:txBody>
      </p:sp>
      <p:sp>
        <p:nvSpPr>
          <p:cNvPr id="10" name="吹き出し: 四角形 9">
            <a:extLst>
              <a:ext uri="{FF2B5EF4-FFF2-40B4-BE49-F238E27FC236}">
                <a16:creationId xmlns:a16="http://schemas.microsoft.com/office/drawing/2014/main" id="{9E4161AD-33B8-DD5A-437E-4C83334D96DF}"/>
              </a:ext>
            </a:extLst>
          </p:cNvPr>
          <p:cNvSpPr/>
          <p:nvPr/>
        </p:nvSpPr>
        <p:spPr>
          <a:xfrm>
            <a:off x="3417970" y="3719060"/>
            <a:ext cx="1425892" cy="365125"/>
          </a:xfrm>
          <a:prstGeom prst="wedgeRectCallout">
            <a:avLst>
              <a:gd name="adj1" fmla="val -55064"/>
              <a:gd name="adj2" fmla="val 75146"/>
            </a:avLst>
          </a:prstGeom>
          <a:solidFill>
            <a:schemeClr val="accent1">
              <a:lumMod val="20000"/>
              <a:lumOff val="80000"/>
            </a:schemeClr>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800" dirty="0"/>
              <a:t>Rejected. </a:t>
            </a:r>
            <a:r>
              <a:rPr lang="ja-JP" altLang="en-US" sz="800" dirty="0"/>
              <a:t>方向性要検討</a:t>
            </a:r>
            <a:endParaRPr kumimoji="1" lang="ja-JP" altLang="en-US" sz="800" dirty="0"/>
          </a:p>
        </p:txBody>
      </p:sp>
    </p:spTree>
    <p:extLst>
      <p:ext uri="{BB962C8B-B14F-4D97-AF65-F5344CB8AC3E}">
        <p14:creationId xmlns:p14="http://schemas.microsoft.com/office/powerpoint/2010/main" val="18832939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D64C6-5B35-EA57-EB1A-6D5908EE2E5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70D580F-8746-80E8-6510-D5535C4E16AE}"/>
              </a:ext>
            </a:extLst>
          </p:cNvPr>
          <p:cNvSpPr>
            <a:spLocks noGrp="1"/>
          </p:cNvSpPr>
          <p:nvPr>
            <p:ph idx="1"/>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A8EE9797-EC18-A917-73E1-775F29533C40}"/>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F8632709-0E2C-4389-A61E-266AF6B7985A}"/>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862B241E-2218-C8A6-6D8E-78D8E711A3F9}"/>
              </a:ext>
            </a:extLst>
          </p:cNvPr>
          <p:cNvSpPr>
            <a:spLocks noGrp="1"/>
          </p:cNvSpPr>
          <p:nvPr>
            <p:ph type="sldNum" sz="quarter" idx="12"/>
          </p:nvPr>
        </p:nvSpPr>
        <p:spPr/>
        <p:txBody>
          <a:bodyPr/>
          <a:lstStyle/>
          <a:p>
            <a:fld id="{870B1737-2A00-4EFB-9FD3-149FCC30AA13}" type="slidenum">
              <a:rPr lang="ja-JP" altLang="en-US" smtClean="0"/>
              <a:pPr/>
              <a:t>30</a:t>
            </a:fld>
            <a:endParaRPr lang="ja-JP" altLang="en-US"/>
          </a:p>
        </p:txBody>
      </p:sp>
    </p:spTree>
    <p:extLst>
      <p:ext uri="{BB962C8B-B14F-4D97-AF65-F5344CB8AC3E}">
        <p14:creationId xmlns:p14="http://schemas.microsoft.com/office/powerpoint/2010/main" val="165709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7" name="直線矢印コネクタ 6">
            <a:extLst>
              <a:ext uri="{FF2B5EF4-FFF2-40B4-BE49-F238E27FC236}">
                <a16:creationId xmlns:a16="http://schemas.microsoft.com/office/drawing/2014/main" id="{2C254AF8-F735-7E59-9D69-C510054E3951}"/>
              </a:ext>
            </a:extLst>
          </p:cNvPr>
          <p:cNvCxnSpPr>
            <a:cxnSpLocks/>
          </p:cNvCxnSpPr>
          <p:nvPr/>
        </p:nvCxnSpPr>
        <p:spPr>
          <a:xfrm>
            <a:off x="8689452"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F7F4C856-4A5A-A068-1953-B6724EE25B6E}"/>
              </a:ext>
            </a:extLst>
          </p:cNvPr>
          <p:cNvCxnSpPr>
            <a:cxnSpLocks/>
          </p:cNvCxnSpPr>
          <p:nvPr/>
        </p:nvCxnSpPr>
        <p:spPr>
          <a:xfrm flipV="1">
            <a:off x="8928558"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AE660F57-F633-8C81-6BDD-30D1635EBBB9}"/>
              </a:ext>
            </a:extLst>
          </p:cNvPr>
          <p:cNvCxnSpPr>
            <a:cxnSpLocks/>
          </p:cNvCxnSpPr>
          <p:nvPr/>
        </p:nvCxnSpPr>
        <p:spPr>
          <a:xfrm flipV="1">
            <a:off x="9010958"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73000FE4-3FEC-6FD4-8AB2-A617975C7899}"/>
              </a:ext>
            </a:extLst>
          </p:cNvPr>
          <p:cNvCxnSpPr>
            <a:cxnSpLocks/>
          </p:cNvCxnSpPr>
          <p:nvPr/>
        </p:nvCxnSpPr>
        <p:spPr>
          <a:xfrm flipV="1">
            <a:off x="10707894"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0139DDEB-70B2-C7E8-18D7-E46ACF00909B}"/>
              </a:ext>
            </a:extLst>
          </p:cNvPr>
          <p:cNvCxnSpPr>
            <a:cxnSpLocks/>
          </p:cNvCxnSpPr>
          <p:nvPr/>
        </p:nvCxnSpPr>
        <p:spPr>
          <a:xfrm flipV="1">
            <a:off x="9013446" y="855577"/>
            <a:ext cx="1203043" cy="79057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63ED5591-2550-FEDF-0E39-22C3DE4B4C69}"/>
              </a:ext>
            </a:extLst>
          </p:cNvPr>
          <p:cNvCxnSpPr>
            <a:cxnSpLocks/>
          </p:cNvCxnSpPr>
          <p:nvPr/>
        </p:nvCxnSpPr>
        <p:spPr>
          <a:xfrm flipV="1">
            <a:off x="10247320" y="85172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D12F861-3549-B7EA-3DEF-B06ACC67A66F}"/>
              </a:ext>
            </a:extLst>
          </p:cNvPr>
          <p:cNvCxnSpPr>
            <a:cxnSpLocks/>
          </p:cNvCxnSpPr>
          <p:nvPr/>
        </p:nvCxnSpPr>
        <p:spPr>
          <a:xfrm flipV="1">
            <a:off x="10712458" y="855577"/>
            <a:ext cx="1203043" cy="79057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21972A55-4D0C-17B7-4A04-19E50D012944}"/>
              </a:ext>
            </a:extLst>
          </p:cNvPr>
          <p:cNvCxnSpPr>
            <a:cxnSpLocks/>
          </p:cNvCxnSpPr>
          <p:nvPr/>
        </p:nvCxnSpPr>
        <p:spPr>
          <a:xfrm flipV="1">
            <a:off x="11915501" y="85172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A53FE55F-F48B-B78D-4792-93463FAEDF77}"/>
              </a:ext>
            </a:extLst>
          </p:cNvPr>
          <p:cNvCxnSpPr>
            <a:cxnSpLocks/>
          </p:cNvCxnSpPr>
          <p:nvPr/>
        </p:nvCxnSpPr>
        <p:spPr>
          <a:xfrm>
            <a:off x="10247320"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6A721C99-5BDC-0C5B-81E7-8EA618594F04}"/>
              </a:ext>
            </a:extLst>
          </p:cNvPr>
          <p:cNvCxnSpPr>
            <a:cxnSpLocks/>
          </p:cNvCxnSpPr>
          <p:nvPr/>
        </p:nvCxnSpPr>
        <p:spPr>
          <a:xfrm>
            <a:off x="9048328" y="164614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B7D9DBC8-897A-86BE-703C-767E90261858}"/>
              </a:ext>
            </a:extLst>
          </p:cNvPr>
          <p:cNvCxnSpPr>
            <a:cxnSpLocks/>
          </p:cNvCxnSpPr>
          <p:nvPr/>
        </p:nvCxnSpPr>
        <p:spPr>
          <a:xfrm flipV="1">
            <a:off x="10716139" y="165090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793DC8F-33CC-C3E7-2A49-08CDD0DC7756}"/>
              </a:ext>
            </a:extLst>
          </p:cNvPr>
          <p:cNvCxnSpPr>
            <a:cxnSpLocks/>
          </p:cNvCxnSpPr>
          <p:nvPr/>
        </p:nvCxnSpPr>
        <p:spPr>
          <a:xfrm>
            <a:off x="10216489" y="851725"/>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A5D8AEF2-242B-6605-170D-ED048FA54364}"/>
              </a:ext>
            </a:extLst>
          </p:cNvPr>
          <p:cNvCxnSpPr>
            <a:cxnSpLocks/>
          </p:cNvCxnSpPr>
          <p:nvPr/>
        </p:nvCxnSpPr>
        <p:spPr>
          <a:xfrm flipV="1">
            <a:off x="9862841" y="165090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6BAFB026-7F7D-58E1-1231-4235380F7751}"/>
              </a:ext>
            </a:extLst>
          </p:cNvPr>
          <p:cNvCxnSpPr>
            <a:cxnSpLocks/>
          </p:cNvCxnSpPr>
          <p:nvPr/>
        </p:nvCxnSpPr>
        <p:spPr>
          <a:xfrm flipV="1">
            <a:off x="11099190" y="851347"/>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738E8E0-E257-A85E-E204-EF849874B9A6}"/>
              </a:ext>
            </a:extLst>
          </p:cNvPr>
          <p:cNvCxnSpPr>
            <a:cxnSpLocks/>
          </p:cNvCxnSpPr>
          <p:nvPr/>
        </p:nvCxnSpPr>
        <p:spPr>
          <a:xfrm flipV="1">
            <a:off x="9865268" y="84869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830388BF-730D-FD56-FE6E-78797C7A77F8}"/>
              </a:ext>
            </a:extLst>
          </p:cNvPr>
          <p:cNvCxnSpPr>
            <a:cxnSpLocks/>
          </p:cNvCxnSpPr>
          <p:nvPr/>
        </p:nvCxnSpPr>
        <p:spPr>
          <a:xfrm>
            <a:off x="9048328" y="237405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91AC5B2D-4BF1-446D-7E33-C761012F31D3}"/>
              </a:ext>
            </a:extLst>
          </p:cNvPr>
          <p:cNvCxnSpPr>
            <a:cxnSpLocks/>
          </p:cNvCxnSpPr>
          <p:nvPr/>
        </p:nvCxnSpPr>
        <p:spPr>
          <a:xfrm flipV="1">
            <a:off x="10692274" y="157741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6308100E-F6C2-33CC-EBDB-D8F5E5C1CC7B}"/>
              </a:ext>
            </a:extLst>
          </p:cNvPr>
          <p:cNvCxnSpPr>
            <a:cxnSpLocks/>
          </p:cNvCxnSpPr>
          <p:nvPr/>
        </p:nvCxnSpPr>
        <p:spPr>
          <a:xfrm flipV="1">
            <a:off x="9010958" y="157741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3BBFFDC0-D29C-67C2-9E32-352B26B4F415}"/>
              </a:ext>
            </a:extLst>
          </p:cNvPr>
          <p:cNvCxnSpPr>
            <a:cxnSpLocks/>
          </p:cNvCxnSpPr>
          <p:nvPr/>
        </p:nvCxnSpPr>
        <p:spPr>
          <a:xfrm>
            <a:off x="10256225" y="1574496"/>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9FD9B18B-9B93-90A1-1450-DCD04702D013}"/>
              </a:ext>
            </a:extLst>
          </p:cNvPr>
          <p:cNvCxnSpPr>
            <a:cxnSpLocks/>
          </p:cNvCxnSpPr>
          <p:nvPr/>
        </p:nvCxnSpPr>
        <p:spPr>
          <a:xfrm flipV="1">
            <a:off x="11363407" y="1248280"/>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DB2CF708-4F33-EA35-0840-AB08249B5184}"/>
              </a:ext>
            </a:extLst>
          </p:cNvPr>
          <p:cNvCxnSpPr>
            <a:cxnSpLocks/>
          </p:cNvCxnSpPr>
          <p:nvPr/>
        </p:nvCxnSpPr>
        <p:spPr>
          <a:xfrm>
            <a:off x="9646168" y="123293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CEE75333-F2D3-44CC-0352-AEEE762BE904}"/>
              </a:ext>
            </a:extLst>
          </p:cNvPr>
          <p:cNvSpPr txBox="1"/>
          <p:nvPr/>
        </p:nvSpPr>
        <p:spPr>
          <a:xfrm>
            <a:off x="10799108" y="3091034"/>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38" name="テキスト ボックス 37">
            <a:extLst>
              <a:ext uri="{FF2B5EF4-FFF2-40B4-BE49-F238E27FC236}">
                <a16:creationId xmlns:a16="http://schemas.microsoft.com/office/drawing/2014/main" id="{57BFBD27-4457-6676-29A0-BF025CE5AB30}"/>
              </a:ext>
            </a:extLst>
          </p:cNvPr>
          <p:cNvSpPr txBox="1"/>
          <p:nvPr/>
        </p:nvSpPr>
        <p:spPr>
          <a:xfrm>
            <a:off x="10421573" y="1825432"/>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39" name="テキスト ボックス 38">
            <a:extLst>
              <a:ext uri="{FF2B5EF4-FFF2-40B4-BE49-F238E27FC236}">
                <a16:creationId xmlns:a16="http://schemas.microsoft.com/office/drawing/2014/main" id="{4539F4E0-4EF1-F53C-4B62-8BEF28F0F912}"/>
              </a:ext>
            </a:extLst>
          </p:cNvPr>
          <p:cNvSpPr txBox="1"/>
          <p:nvPr/>
        </p:nvSpPr>
        <p:spPr>
          <a:xfrm>
            <a:off x="8663871" y="1194390"/>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40" name="直線矢印コネクタ 39">
            <a:extLst>
              <a:ext uri="{FF2B5EF4-FFF2-40B4-BE49-F238E27FC236}">
                <a16:creationId xmlns:a16="http://schemas.microsoft.com/office/drawing/2014/main" id="{25161702-E43D-83B8-F494-6F3A035315E3}"/>
              </a:ext>
            </a:extLst>
          </p:cNvPr>
          <p:cNvCxnSpPr>
            <a:cxnSpLocks/>
          </p:cNvCxnSpPr>
          <p:nvPr/>
        </p:nvCxnSpPr>
        <p:spPr>
          <a:xfrm flipV="1">
            <a:off x="9865268" y="1579252"/>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59E05DF4-210D-5987-3224-850BF9EE2972}"/>
              </a:ext>
            </a:extLst>
          </p:cNvPr>
          <p:cNvCxnSpPr>
            <a:cxnSpLocks/>
          </p:cNvCxnSpPr>
          <p:nvPr/>
        </p:nvCxnSpPr>
        <p:spPr>
          <a:xfrm>
            <a:off x="9646168" y="1963500"/>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2475D296-30D4-6A4D-991D-D064337F6DC5}"/>
              </a:ext>
            </a:extLst>
          </p:cNvPr>
          <p:cNvCxnSpPr>
            <a:cxnSpLocks/>
          </p:cNvCxnSpPr>
          <p:nvPr/>
        </p:nvCxnSpPr>
        <p:spPr>
          <a:xfrm flipV="1">
            <a:off x="9865268"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FA86B7DA-FD9E-BBE8-C664-40F55F1A9C43}"/>
              </a:ext>
            </a:extLst>
          </p:cNvPr>
          <p:cNvCxnSpPr>
            <a:cxnSpLocks/>
          </p:cNvCxnSpPr>
          <p:nvPr/>
        </p:nvCxnSpPr>
        <p:spPr>
          <a:xfrm>
            <a:off x="9646168"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8024F847-0914-20C3-90EE-0AAE3ADBA054}"/>
              </a:ext>
            </a:extLst>
          </p:cNvPr>
          <p:cNvCxnSpPr>
            <a:cxnSpLocks/>
          </p:cNvCxnSpPr>
          <p:nvPr/>
        </p:nvCxnSpPr>
        <p:spPr>
          <a:xfrm>
            <a:off x="331107"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4DDFD061-55CA-7BF1-D8ED-DD50CF72ACA7}"/>
              </a:ext>
            </a:extLst>
          </p:cNvPr>
          <p:cNvCxnSpPr>
            <a:cxnSpLocks/>
          </p:cNvCxnSpPr>
          <p:nvPr/>
        </p:nvCxnSpPr>
        <p:spPr>
          <a:xfrm flipV="1">
            <a:off x="570213"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54092CCE-9A6C-EB93-5F69-ACF7DA5236AC}"/>
              </a:ext>
            </a:extLst>
          </p:cNvPr>
          <p:cNvCxnSpPr>
            <a:cxnSpLocks/>
          </p:cNvCxnSpPr>
          <p:nvPr/>
        </p:nvCxnSpPr>
        <p:spPr>
          <a:xfrm flipV="1">
            <a:off x="652613"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2DE6F40F-6615-994F-B45E-81415ED4EEF4}"/>
              </a:ext>
            </a:extLst>
          </p:cNvPr>
          <p:cNvCxnSpPr>
            <a:cxnSpLocks/>
          </p:cNvCxnSpPr>
          <p:nvPr/>
        </p:nvCxnSpPr>
        <p:spPr>
          <a:xfrm flipV="1">
            <a:off x="2349549"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8F9F89EE-3626-1A7C-68DC-51F2D7FD7621}"/>
              </a:ext>
            </a:extLst>
          </p:cNvPr>
          <p:cNvCxnSpPr>
            <a:cxnSpLocks/>
          </p:cNvCxnSpPr>
          <p:nvPr/>
        </p:nvCxnSpPr>
        <p:spPr>
          <a:xfrm>
            <a:off x="1888975"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F5A1940F-48A5-5E82-98A0-ACF831E1ABDF}"/>
              </a:ext>
            </a:extLst>
          </p:cNvPr>
          <p:cNvSpPr txBox="1"/>
          <p:nvPr/>
        </p:nvSpPr>
        <p:spPr>
          <a:xfrm>
            <a:off x="2440763" y="3091034"/>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66" name="テキスト ボックス 65">
            <a:extLst>
              <a:ext uri="{FF2B5EF4-FFF2-40B4-BE49-F238E27FC236}">
                <a16:creationId xmlns:a16="http://schemas.microsoft.com/office/drawing/2014/main" id="{401FF0C8-541F-59A7-7E52-6F196D7F333F}"/>
              </a:ext>
            </a:extLst>
          </p:cNvPr>
          <p:cNvSpPr txBox="1"/>
          <p:nvPr/>
        </p:nvSpPr>
        <p:spPr>
          <a:xfrm>
            <a:off x="2063228" y="1825432"/>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67" name="テキスト ボックス 66">
            <a:extLst>
              <a:ext uri="{FF2B5EF4-FFF2-40B4-BE49-F238E27FC236}">
                <a16:creationId xmlns:a16="http://schemas.microsoft.com/office/drawing/2014/main" id="{87289D10-FA80-4597-7605-D73A0F336BEB}"/>
              </a:ext>
            </a:extLst>
          </p:cNvPr>
          <p:cNvSpPr txBox="1"/>
          <p:nvPr/>
        </p:nvSpPr>
        <p:spPr>
          <a:xfrm>
            <a:off x="305526" y="1194390"/>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70" name="直線矢印コネクタ 69">
            <a:extLst>
              <a:ext uri="{FF2B5EF4-FFF2-40B4-BE49-F238E27FC236}">
                <a16:creationId xmlns:a16="http://schemas.microsoft.com/office/drawing/2014/main" id="{4EE91ADD-ECD9-323C-0246-5E206BC8854F}"/>
              </a:ext>
            </a:extLst>
          </p:cNvPr>
          <p:cNvCxnSpPr>
            <a:cxnSpLocks/>
          </p:cNvCxnSpPr>
          <p:nvPr/>
        </p:nvCxnSpPr>
        <p:spPr>
          <a:xfrm flipV="1">
            <a:off x="1506923"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A63BF029-E944-39FF-D100-062248581AC6}"/>
              </a:ext>
            </a:extLst>
          </p:cNvPr>
          <p:cNvCxnSpPr>
            <a:cxnSpLocks/>
          </p:cNvCxnSpPr>
          <p:nvPr/>
        </p:nvCxnSpPr>
        <p:spPr>
          <a:xfrm>
            <a:off x="1287823"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楕円 71">
            <a:extLst>
              <a:ext uri="{FF2B5EF4-FFF2-40B4-BE49-F238E27FC236}">
                <a16:creationId xmlns:a16="http://schemas.microsoft.com/office/drawing/2014/main" id="{24ACA872-3060-2B83-8C3A-685614C874AB}"/>
              </a:ext>
            </a:extLst>
          </p:cNvPr>
          <p:cNvSpPr/>
          <p:nvPr/>
        </p:nvSpPr>
        <p:spPr>
          <a:xfrm>
            <a:off x="472593"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F32F0D6E-B747-4B1E-975D-16ADF9919751}"/>
              </a:ext>
            </a:extLst>
          </p:cNvPr>
          <p:cNvSpPr/>
          <p:nvPr/>
        </p:nvSpPr>
        <p:spPr>
          <a:xfrm>
            <a:off x="1321947"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51B03F46-D8BB-DCA3-5A94-E82C3E91E267}"/>
              </a:ext>
            </a:extLst>
          </p:cNvPr>
          <p:cNvSpPr/>
          <p:nvPr/>
        </p:nvSpPr>
        <p:spPr>
          <a:xfrm>
            <a:off x="2171342"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5DF79244-4437-EE22-7A24-6EC8303D75BE}"/>
              </a:ext>
            </a:extLst>
          </p:cNvPr>
          <p:cNvSpPr/>
          <p:nvPr/>
        </p:nvSpPr>
        <p:spPr>
          <a:xfrm>
            <a:off x="1128202"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A1D4950C-C51C-995C-C458-071B8F83DDE4}"/>
              </a:ext>
            </a:extLst>
          </p:cNvPr>
          <p:cNvSpPr/>
          <p:nvPr/>
        </p:nvSpPr>
        <p:spPr>
          <a:xfrm>
            <a:off x="1977556"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6933F6AD-798E-FE24-77FA-806B298A91D2}"/>
              </a:ext>
            </a:extLst>
          </p:cNvPr>
          <p:cNvSpPr/>
          <p:nvPr/>
        </p:nvSpPr>
        <p:spPr>
          <a:xfrm>
            <a:off x="2826951"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B060673F-078D-5724-5FB4-7A3FBE1B2041}"/>
              </a:ext>
            </a:extLst>
          </p:cNvPr>
          <p:cNvSpPr/>
          <p:nvPr/>
        </p:nvSpPr>
        <p:spPr>
          <a:xfrm>
            <a:off x="1719852"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9" name="楕円 78">
            <a:extLst>
              <a:ext uri="{FF2B5EF4-FFF2-40B4-BE49-F238E27FC236}">
                <a16:creationId xmlns:a16="http://schemas.microsoft.com/office/drawing/2014/main" id="{B951F594-4020-79AB-EED2-B7D641ED1615}"/>
              </a:ext>
            </a:extLst>
          </p:cNvPr>
          <p:cNvSpPr/>
          <p:nvPr/>
        </p:nvSpPr>
        <p:spPr>
          <a:xfrm>
            <a:off x="2569206"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0" name="楕円 79">
            <a:extLst>
              <a:ext uri="{FF2B5EF4-FFF2-40B4-BE49-F238E27FC236}">
                <a16:creationId xmlns:a16="http://schemas.microsoft.com/office/drawing/2014/main" id="{87B1D4AA-CFE8-ABD0-1C7F-846ECD9D48DD}"/>
              </a:ext>
            </a:extLst>
          </p:cNvPr>
          <p:cNvSpPr/>
          <p:nvPr/>
        </p:nvSpPr>
        <p:spPr>
          <a:xfrm>
            <a:off x="3418601"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94" name="グループ化 93">
            <a:extLst>
              <a:ext uri="{FF2B5EF4-FFF2-40B4-BE49-F238E27FC236}">
                <a16:creationId xmlns:a16="http://schemas.microsoft.com/office/drawing/2014/main" id="{74769418-F700-55ED-5031-9183A9E131CB}"/>
              </a:ext>
            </a:extLst>
          </p:cNvPr>
          <p:cNvGrpSpPr/>
          <p:nvPr/>
        </p:nvGrpSpPr>
        <p:grpSpPr>
          <a:xfrm>
            <a:off x="918613" y="4730597"/>
            <a:ext cx="334117" cy="412098"/>
            <a:chOff x="1004572" y="4149080"/>
            <a:chExt cx="334117" cy="412098"/>
          </a:xfrm>
        </p:grpSpPr>
        <p:sp>
          <p:nvSpPr>
            <p:cNvPr id="82" name="二等辺三角形 81">
              <a:extLst>
                <a:ext uri="{FF2B5EF4-FFF2-40B4-BE49-F238E27FC236}">
                  <a16:creationId xmlns:a16="http://schemas.microsoft.com/office/drawing/2014/main" id="{C5D629CA-B88A-1F57-5BF3-FE947E57443C}"/>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楕円 80">
              <a:extLst>
                <a:ext uri="{FF2B5EF4-FFF2-40B4-BE49-F238E27FC236}">
                  <a16:creationId xmlns:a16="http://schemas.microsoft.com/office/drawing/2014/main" id="{5E14F6A5-93C0-E27D-A789-AD9A1CE43E5C}"/>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5" name="グループ化 94">
            <a:extLst>
              <a:ext uri="{FF2B5EF4-FFF2-40B4-BE49-F238E27FC236}">
                <a16:creationId xmlns:a16="http://schemas.microsoft.com/office/drawing/2014/main" id="{2FC88961-4D3C-AEF9-B80B-B5DB234ACF2E}"/>
              </a:ext>
            </a:extLst>
          </p:cNvPr>
          <p:cNvGrpSpPr/>
          <p:nvPr/>
        </p:nvGrpSpPr>
        <p:grpSpPr>
          <a:xfrm>
            <a:off x="918613" y="5312114"/>
            <a:ext cx="334117" cy="467747"/>
            <a:chOff x="1837225" y="4093431"/>
            <a:chExt cx="334117" cy="467747"/>
          </a:xfrm>
        </p:grpSpPr>
        <p:sp>
          <p:nvSpPr>
            <p:cNvPr id="84" name="二等辺三角形 83">
              <a:extLst>
                <a:ext uri="{FF2B5EF4-FFF2-40B4-BE49-F238E27FC236}">
                  <a16:creationId xmlns:a16="http://schemas.microsoft.com/office/drawing/2014/main" id="{F3B8BFF2-BEA9-A88C-3597-2A5AA6D35049}"/>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楕円 84">
              <a:extLst>
                <a:ext uri="{FF2B5EF4-FFF2-40B4-BE49-F238E27FC236}">
                  <a16:creationId xmlns:a16="http://schemas.microsoft.com/office/drawing/2014/main" id="{344FAA48-F40F-1EC2-ECC7-000BD43384A3}"/>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フローチャート: 手作業 85">
              <a:extLst>
                <a:ext uri="{FF2B5EF4-FFF2-40B4-BE49-F238E27FC236}">
                  <a16:creationId xmlns:a16="http://schemas.microsoft.com/office/drawing/2014/main" id="{053BD072-0F42-7E42-23A0-55DC2D7F3210}"/>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3" name="グループ化 92">
            <a:extLst>
              <a:ext uri="{FF2B5EF4-FFF2-40B4-BE49-F238E27FC236}">
                <a16:creationId xmlns:a16="http://schemas.microsoft.com/office/drawing/2014/main" id="{ED4D687A-919F-7418-B261-974879675166}"/>
              </a:ext>
            </a:extLst>
          </p:cNvPr>
          <p:cNvGrpSpPr/>
          <p:nvPr/>
        </p:nvGrpSpPr>
        <p:grpSpPr>
          <a:xfrm>
            <a:off x="918613" y="4149080"/>
            <a:ext cx="334117" cy="412098"/>
            <a:chOff x="446620" y="4149080"/>
            <a:chExt cx="334117" cy="412098"/>
          </a:xfrm>
        </p:grpSpPr>
        <p:sp>
          <p:nvSpPr>
            <p:cNvPr id="87" name="二等辺三角形 86">
              <a:extLst>
                <a:ext uri="{FF2B5EF4-FFF2-40B4-BE49-F238E27FC236}">
                  <a16:creationId xmlns:a16="http://schemas.microsoft.com/office/drawing/2014/main" id="{EDEE932B-6760-A530-EBF0-386D8E8A53A7}"/>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C8C94FA3-769B-518A-EDC4-B4025E5FC7F0}"/>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6" name="グループ化 95">
            <a:extLst>
              <a:ext uri="{FF2B5EF4-FFF2-40B4-BE49-F238E27FC236}">
                <a16:creationId xmlns:a16="http://schemas.microsoft.com/office/drawing/2014/main" id="{2EB330BF-192C-F01E-B784-A0880256BFC4}"/>
              </a:ext>
            </a:extLst>
          </p:cNvPr>
          <p:cNvGrpSpPr/>
          <p:nvPr/>
        </p:nvGrpSpPr>
        <p:grpSpPr>
          <a:xfrm>
            <a:off x="905651" y="5949280"/>
            <a:ext cx="360040" cy="412097"/>
            <a:chOff x="2495600" y="4149081"/>
            <a:chExt cx="360040" cy="412097"/>
          </a:xfrm>
        </p:grpSpPr>
        <p:sp>
          <p:nvSpPr>
            <p:cNvPr id="89" name="正方形/長方形 88">
              <a:extLst>
                <a:ext uri="{FF2B5EF4-FFF2-40B4-BE49-F238E27FC236}">
                  <a16:creationId xmlns:a16="http://schemas.microsoft.com/office/drawing/2014/main" id="{C004459C-45D1-4DA9-4F7D-BD53926EDDF7}"/>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418FB08-C39B-812C-55B1-57DBF4D0C267}"/>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1" name="吹き出し: 四角形 90">
            <a:extLst>
              <a:ext uri="{FF2B5EF4-FFF2-40B4-BE49-F238E27FC236}">
                <a16:creationId xmlns:a16="http://schemas.microsoft.com/office/drawing/2014/main" id="{EA8C29FB-079C-75BD-2ECB-019F27EFD1D9}"/>
              </a:ext>
            </a:extLst>
          </p:cNvPr>
          <p:cNvSpPr/>
          <p:nvPr/>
        </p:nvSpPr>
        <p:spPr>
          <a:xfrm>
            <a:off x="3647728" y="1825432"/>
            <a:ext cx="1656184" cy="369332"/>
          </a:xfrm>
          <a:prstGeom prst="wedgeRectCallout">
            <a:avLst>
              <a:gd name="adj1" fmla="val -51521"/>
              <a:gd name="adj2" fmla="val 7075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ノード：部屋</a:t>
            </a:r>
            <a:endParaRPr kumimoji="1" lang="ja-JP" altLang="en-US" dirty="0"/>
          </a:p>
        </p:txBody>
      </p:sp>
      <p:sp>
        <p:nvSpPr>
          <p:cNvPr id="92" name="吹き出し: 四角形 91">
            <a:extLst>
              <a:ext uri="{FF2B5EF4-FFF2-40B4-BE49-F238E27FC236}">
                <a16:creationId xmlns:a16="http://schemas.microsoft.com/office/drawing/2014/main" id="{800E59D3-031D-2984-5A82-A835DFC5134E}"/>
              </a:ext>
            </a:extLst>
          </p:cNvPr>
          <p:cNvSpPr/>
          <p:nvPr/>
        </p:nvSpPr>
        <p:spPr>
          <a:xfrm>
            <a:off x="3647728" y="2547304"/>
            <a:ext cx="3372364" cy="369332"/>
          </a:xfrm>
          <a:prstGeom prst="wedgeRectCallout">
            <a:avLst>
              <a:gd name="adj1" fmla="val -60250"/>
              <a:gd name="adj2" fmla="val -5166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エッジ：視認性・移動可能性</a:t>
            </a:r>
            <a:endParaRPr kumimoji="1" lang="ja-JP" altLang="en-US" dirty="0"/>
          </a:p>
        </p:txBody>
      </p:sp>
      <p:sp>
        <p:nvSpPr>
          <p:cNvPr id="97" name="テキスト ボックス 96">
            <a:extLst>
              <a:ext uri="{FF2B5EF4-FFF2-40B4-BE49-F238E27FC236}">
                <a16:creationId xmlns:a16="http://schemas.microsoft.com/office/drawing/2014/main" id="{D79925B5-B568-3B5D-5F0B-E29B46A8AE72}"/>
              </a:ext>
            </a:extLst>
          </p:cNvPr>
          <p:cNvSpPr txBox="1"/>
          <p:nvPr/>
        </p:nvSpPr>
        <p:spPr>
          <a:xfrm>
            <a:off x="1415480" y="4222528"/>
            <a:ext cx="3121367" cy="369332"/>
          </a:xfrm>
          <a:prstGeom prst="rect">
            <a:avLst/>
          </a:prstGeom>
          <a:noFill/>
        </p:spPr>
        <p:txBody>
          <a:bodyPr wrap="none" rtlCol="0">
            <a:spAutoFit/>
          </a:bodyPr>
          <a:lstStyle/>
          <a:p>
            <a:r>
              <a:rPr kumimoji="1" lang="ja-JP" altLang="en-US" dirty="0"/>
              <a:t>患者</a:t>
            </a:r>
            <a:r>
              <a:rPr kumimoji="1" lang="en-US" altLang="ja-JP" dirty="0"/>
              <a:t>A</a:t>
            </a:r>
            <a:r>
              <a:rPr kumimoji="1" lang="ja-JP" altLang="en-US" dirty="0"/>
              <a:t>：認知症・</a:t>
            </a:r>
            <a:r>
              <a:rPr kumimoji="1" lang="en-US" altLang="ja-JP" dirty="0"/>
              <a:t>70</a:t>
            </a:r>
            <a:r>
              <a:rPr lang="ja-JP" altLang="en-US" dirty="0"/>
              <a:t>代・女性</a:t>
            </a:r>
            <a:endParaRPr kumimoji="1" lang="ja-JP" altLang="en-US" dirty="0"/>
          </a:p>
        </p:txBody>
      </p:sp>
      <p:sp>
        <p:nvSpPr>
          <p:cNvPr id="98" name="テキスト ボックス 97">
            <a:extLst>
              <a:ext uri="{FF2B5EF4-FFF2-40B4-BE49-F238E27FC236}">
                <a16:creationId xmlns:a16="http://schemas.microsoft.com/office/drawing/2014/main" id="{AF519850-3B62-2A06-06E3-658EFD2BF641}"/>
              </a:ext>
            </a:extLst>
          </p:cNvPr>
          <p:cNvSpPr txBox="1"/>
          <p:nvPr/>
        </p:nvSpPr>
        <p:spPr>
          <a:xfrm>
            <a:off x="1415480" y="4742221"/>
            <a:ext cx="3339376" cy="369332"/>
          </a:xfrm>
          <a:prstGeom prst="rect">
            <a:avLst/>
          </a:prstGeom>
          <a:noFill/>
        </p:spPr>
        <p:txBody>
          <a:bodyPr wrap="none" rtlCol="0">
            <a:spAutoFit/>
          </a:bodyPr>
          <a:lstStyle/>
          <a:p>
            <a:r>
              <a:rPr kumimoji="1" lang="ja-JP" altLang="en-US" dirty="0"/>
              <a:t>患者</a:t>
            </a:r>
            <a:r>
              <a:rPr kumimoji="1" lang="en-US" altLang="ja-JP" dirty="0"/>
              <a:t>B</a:t>
            </a:r>
            <a:r>
              <a:rPr kumimoji="1" lang="ja-JP" altLang="en-US" dirty="0"/>
              <a:t>：寝たきり・</a:t>
            </a:r>
            <a:r>
              <a:rPr lang="en-US" altLang="ja-JP" dirty="0"/>
              <a:t>9</a:t>
            </a:r>
            <a:r>
              <a:rPr kumimoji="1" lang="en-US" altLang="ja-JP" dirty="0"/>
              <a:t>0</a:t>
            </a:r>
            <a:r>
              <a:rPr lang="ja-JP" altLang="en-US" dirty="0"/>
              <a:t>代・男性</a:t>
            </a:r>
            <a:endParaRPr kumimoji="1" lang="ja-JP" altLang="en-US" dirty="0"/>
          </a:p>
        </p:txBody>
      </p:sp>
      <p:sp>
        <p:nvSpPr>
          <p:cNvPr id="99" name="テキスト ボックス 98">
            <a:extLst>
              <a:ext uri="{FF2B5EF4-FFF2-40B4-BE49-F238E27FC236}">
                <a16:creationId xmlns:a16="http://schemas.microsoft.com/office/drawing/2014/main" id="{BA5257B4-FB51-07EE-BF54-69AFBEA4D97E}"/>
              </a:ext>
            </a:extLst>
          </p:cNvPr>
          <p:cNvSpPr txBox="1"/>
          <p:nvPr/>
        </p:nvSpPr>
        <p:spPr>
          <a:xfrm>
            <a:off x="1415480" y="5398627"/>
            <a:ext cx="4044697" cy="369332"/>
          </a:xfrm>
          <a:prstGeom prst="rect">
            <a:avLst/>
          </a:prstGeom>
          <a:noFill/>
        </p:spPr>
        <p:txBody>
          <a:bodyPr wrap="none" rtlCol="0">
            <a:spAutoFit/>
          </a:bodyPr>
          <a:lstStyle/>
          <a:p>
            <a:r>
              <a:rPr kumimoji="1" lang="ja-JP" altLang="en-US" dirty="0"/>
              <a:t>スタッフ</a:t>
            </a:r>
            <a:r>
              <a:rPr kumimoji="1" lang="en-US" altLang="ja-JP" dirty="0"/>
              <a:t>D</a:t>
            </a:r>
            <a:r>
              <a:rPr kumimoji="1" lang="ja-JP" altLang="en-US" dirty="0"/>
              <a:t>：介護福祉士・</a:t>
            </a:r>
            <a:r>
              <a:rPr kumimoji="1" lang="en-US" altLang="ja-JP" dirty="0"/>
              <a:t>30</a:t>
            </a:r>
            <a:r>
              <a:rPr lang="ja-JP" altLang="en-US" dirty="0"/>
              <a:t>代・女性</a:t>
            </a:r>
            <a:endParaRPr kumimoji="1" lang="ja-JP" altLang="en-US" dirty="0"/>
          </a:p>
        </p:txBody>
      </p:sp>
      <p:sp>
        <p:nvSpPr>
          <p:cNvPr id="100" name="テキスト ボックス 99">
            <a:extLst>
              <a:ext uri="{FF2B5EF4-FFF2-40B4-BE49-F238E27FC236}">
                <a16:creationId xmlns:a16="http://schemas.microsoft.com/office/drawing/2014/main" id="{52C6D2A6-50C0-5E14-0222-8CB69BDCFFE6}"/>
              </a:ext>
            </a:extLst>
          </p:cNvPr>
          <p:cNvSpPr txBox="1"/>
          <p:nvPr/>
        </p:nvSpPr>
        <p:spPr>
          <a:xfrm>
            <a:off x="1415480" y="5995946"/>
            <a:ext cx="5147563" cy="369332"/>
          </a:xfrm>
          <a:prstGeom prst="rect">
            <a:avLst/>
          </a:prstGeom>
          <a:noFill/>
        </p:spPr>
        <p:txBody>
          <a:bodyPr wrap="none" rtlCol="0">
            <a:spAutoFit/>
          </a:bodyPr>
          <a:lstStyle/>
          <a:p>
            <a:r>
              <a:rPr kumimoji="1" lang="ja-JP" altLang="en-US" dirty="0"/>
              <a:t>ロボット</a:t>
            </a:r>
            <a:r>
              <a:rPr kumimoji="1" lang="en-US" altLang="ja-JP" dirty="0"/>
              <a:t>G</a:t>
            </a:r>
            <a:r>
              <a:rPr kumimoji="1" lang="ja-JP" altLang="en-US" dirty="0"/>
              <a:t>：</a:t>
            </a:r>
            <a:r>
              <a:rPr lang="ja-JP" altLang="en-US" dirty="0"/>
              <a:t>自立移動</a:t>
            </a:r>
            <a:r>
              <a:rPr kumimoji="1" lang="ja-JP" altLang="en-US" dirty="0"/>
              <a:t>・会話・ビデオ撮影</a:t>
            </a:r>
            <a:r>
              <a:rPr kumimoji="1" lang="en-US" altLang="ja-JP" dirty="0"/>
              <a:t>&amp;</a:t>
            </a:r>
            <a:r>
              <a:rPr kumimoji="1" lang="ja-JP" altLang="en-US" dirty="0"/>
              <a:t>伝送</a:t>
            </a:r>
          </a:p>
        </p:txBody>
      </p:sp>
    </p:spTree>
    <p:extLst>
      <p:ext uri="{BB962C8B-B14F-4D97-AF65-F5344CB8AC3E}">
        <p14:creationId xmlns:p14="http://schemas.microsoft.com/office/powerpoint/2010/main" val="4100358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9D12BD2-1CC6-A183-8397-347D7C298A95}"/>
            </a:ext>
          </a:extLst>
        </p:cNvPr>
        <p:cNvGrpSpPr/>
        <p:nvPr/>
      </p:nvGrpSpPr>
      <p:grpSpPr>
        <a:xfrm>
          <a:off x="0" y="0"/>
          <a:ext cx="0" cy="0"/>
          <a:chOff x="0" y="0"/>
          <a:chExt cx="0" cy="0"/>
        </a:xfrm>
      </p:grpSpPr>
      <p:cxnSp>
        <p:nvCxnSpPr>
          <p:cNvPr id="7" name="直線矢印コネクタ 6">
            <a:extLst>
              <a:ext uri="{FF2B5EF4-FFF2-40B4-BE49-F238E27FC236}">
                <a16:creationId xmlns:a16="http://schemas.microsoft.com/office/drawing/2014/main" id="{27C03B67-FA8D-81F2-322D-98154CCDC031}"/>
              </a:ext>
            </a:extLst>
          </p:cNvPr>
          <p:cNvCxnSpPr>
            <a:cxnSpLocks/>
          </p:cNvCxnSpPr>
          <p:nvPr/>
        </p:nvCxnSpPr>
        <p:spPr>
          <a:xfrm>
            <a:off x="8689452"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09F2ADA4-DCEE-FF21-3AF5-0AB32D846D72}"/>
              </a:ext>
            </a:extLst>
          </p:cNvPr>
          <p:cNvCxnSpPr>
            <a:cxnSpLocks/>
          </p:cNvCxnSpPr>
          <p:nvPr/>
        </p:nvCxnSpPr>
        <p:spPr>
          <a:xfrm flipV="1">
            <a:off x="8928558"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601F655E-07F7-ECE2-2F8E-B983BFAC7EFF}"/>
              </a:ext>
            </a:extLst>
          </p:cNvPr>
          <p:cNvCxnSpPr>
            <a:cxnSpLocks/>
          </p:cNvCxnSpPr>
          <p:nvPr/>
        </p:nvCxnSpPr>
        <p:spPr>
          <a:xfrm flipV="1">
            <a:off x="9010958"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893FC3EC-F3D4-94D3-C3F7-6D4D50454953}"/>
              </a:ext>
            </a:extLst>
          </p:cNvPr>
          <p:cNvCxnSpPr>
            <a:cxnSpLocks/>
          </p:cNvCxnSpPr>
          <p:nvPr/>
        </p:nvCxnSpPr>
        <p:spPr>
          <a:xfrm flipV="1">
            <a:off x="10707894"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68516250-400C-1CE5-DFC5-75E61040C419}"/>
              </a:ext>
            </a:extLst>
          </p:cNvPr>
          <p:cNvCxnSpPr>
            <a:cxnSpLocks/>
          </p:cNvCxnSpPr>
          <p:nvPr/>
        </p:nvCxnSpPr>
        <p:spPr>
          <a:xfrm flipV="1">
            <a:off x="9013446" y="855577"/>
            <a:ext cx="1203043" cy="79057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C65C2BE8-774A-AA50-226D-B4798C8DB7FF}"/>
              </a:ext>
            </a:extLst>
          </p:cNvPr>
          <p:cNvCxnSpPr>
            <a:cxnSpLocks/>
          </p:cNvCxnSpPr>
          <p:nvPr/>
        </p:nvCxnSpPr>
        <p:spPr>
          <a:xfrm flipV="1">
            <a:off x="10247320" y="85172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2AAA64F3-AD5F-D41C-DAB4-EA611F7BEB74}"/>
              </a:ext>
            </a:extLst>
          </p:cNvPr>
          <p:cNvCxnSpPr>
            <a:cxnSpLocks/>
          </p:cNvCxnSpPr>
          <p:nvPr/>
        </p:nvCxnSpPr>
        <p:spPr>
          <a:xfrm flipV="1">
            <a:off x="10712458" y="855577"/>
            <a:ext cx="1203043" cy="79057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9DF58897-14A7-AF79-4FB4-D7200EE8BBEA}"/>
              </a:ext>
            </a:extLst>
          </p:cNvPr>
          <p:cNvCxnSpPr>
            <a:cxnSpLocks/>
          </p:cNvCxnSpPr>
          <p:nvPr/>
        </p:nvCxnSpPr>
        <p:spPr>
          <a:xfrm flipV="1">
            <a:off x="11915501" y="85172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9BC88CAA-0B84-694A-6A70-26C1BE457A4F}"/>
              </a:ext>
            </a:extLst>
          </p:cNvPr>
          <p:cNvCxnSpPr>
            <a:cxnSpLocks/>
          </p:cNvCxnSpPr>
          <p:nvPr/>
        </p:nvCxnSpPr>
        <p:spPr>
          <a:xfrm>
            <a:off x="10247320"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7D776AD-1511-103A-5FB4-0468D0F280CA}"/>
              </a:ext>
            </a:extLst>
          </p:cNvPr>
          <p:cNvCxnSpPr>
            <a:cxnSpLocks/>
          </p:cNvCxnSpPr>
          <p:nvPr/>
        </p:nvCxnSpPr>
        <p:spPr>
          <a:xfrm>
            <a:off x="9048328" y="164614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EF4D94D5-DA1D-1678-1C68-09914ACAFE5D}"/>
              </a:ext>
            </a:extLst>
          </p:cNvPr>
          <p:cNvCxnSpPr>
            <a:cxnSpLocks/>
          </p:cNvCxnSpPr>
          <p:nvPr/>
        </p:nvCxnSpPr>
        <p:spPr>
          <a:xfrm flipV="1">
            <a:off x="10716139" y="165090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AA71863E-97D8-E87F-96D8-6829BECA7362}"/>
              </a:ext>
            </a:extLst>
          </p:cNvPr>
          <p:cNvCxnSpPr>
            <a:cxnSpLocks/>
          </p:cNvCxnSpPr>
          <p:nvPr/>
        </p:nvCxnSpPr>
        <p:spPr>
          <a:xfrm>
            <a:off x="10216489" y="851725"/>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FC342833-9957-47E8-350A-331964510AA4}"/>
              </a:ext>
            </a:extLst>
          </p:cNvPr>
          <p:cNvCxnSpPr>
            <a:cxnSpLocks/>
          </p:cNvCxnSpPr>
          <p:nvPr/>
        </p:nvCxnSpPr>
        <p:spPr>
          <a:xfrm flipV="1">
            <a:off x="9862841" y="1650905"/>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B2D47C32-CE6D-85BE-48EE-FAA2F84AE5F7}"/>
              </a:ext>
            </a:extLst>
          </p:cNvPr>
          <p:cNvCxnSpPr>
            <a:cxnSpLocks/>
          </p:cNvCxnSpPr>
          <p:nvPr/>
        </p:nvCxnSpPr>
        <p:spPr>
          <a:xfrm flipV="1">
            <a:off x="11099190" y="851347"/>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9D3932F-5112-50C1-22F4-384E59669F0C}"/>
              </a:ext>
            </a:extLst>
          </p:cNvPr>
          <p:cNvCxnSpPr>
            <a:cxnSpLocks/>
          </p:cNvCxnSpPr>
          <p:nvPr/>
        </p:nvCxnSpPr>
        <p:spPr>
          <a:xfrm flipV="1">
            <a:off x="9865268" y="84869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1797B8E7-8A27-836C-41E6-A6DDFE8E1F06}"/>
              </a:ext>
            </a:extLst>
          </p:cNvPr>
          <p:cNvCxnSpPr>
            <a:cxnSpLocks/>
          </p:cNvCxnSpPr>
          <p:nvPr/>
        </p:nvCxnSpPr>
        <p:spPr>
          <a:xfrm>
            <a:off x="9048328" y="237405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990957FC-17C9-BFDE-5922-AB0D7346FBE0}"/>
              </a:ext>
            </a:extLst>
          </p:cNvPr>
          <p:cNvCxnSpPr>
            <a:cxnSpLocks/>
          </p:cNvCxnSpPr>
          <p:nvPr/>
        </p:nvCxnSpPr>
        <p:spPr>
          <a:xfrm flipV="1">
            <a:off x="10692274" y="157741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E221B991-ED9C-E36D-D0F9-EBE8EE85E9B6}"/>
              </a:ext>
            </a:extLst>
          </p:cNvPr>
          <p:cNvCxnSpPr>
            <a:cxnSpLocks/>
          </p:cNvCxnSpPr>
          <p:nvPr/>
        </p:nvCxnSpPr>
        <p:spPr>
          <a:xfrm flipV="1">
            <a:off x="9010958" y="157741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0B73559B-8921-D27F-A615-B19FC3B5F899}"/>
              </a:ext>
            </a:extLst>
          </p:cNvPr>
          <p:cNvCxnSpPr>
            <a:cxnSpLocks/>
          </p:cNvCxnSpPr>
          <p:nvPr/>
        </p:nvCxnSpPr>
        <p:spPr>
          <a:xfrm>
            <a:off x="10256225" y="1574496"/>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A836BBFB-3BDE-1CEF-F7C2-619C5D09EB2E}"/>
              </a:ext>
            </a:extLst>
          </p:cNvPr>
          <p:cNvCxnSpPr>
            <a:cxnSpLocks/>
          </p:cNvCxnSpPr>
          <p:nvPr/>
        </p:nvCxnSpPr>
        <p:spPr>
          <a:xfrm flipV="1">
            <a:off x="11363407" y="1248280"/>
            <a:ext cx="0" cy="1446299"/>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5E1602D8-80C1-9204-30A8-E802BF74D711}"/>
              </a:ext>
            </a:extLst>
          </p:cNvPr>
          <p:cNvCxnSpPr>
            <a:cxnSpLocks/>
          </p:cNvCxnSpPr>
          <p:nvPr/>
        </p:nvCxnSpPr>
        <p:spPr>
          <a:xfrm>
            <a:off x="9646168" y="123293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363680CA-BAF2-2F33-9EA6-E0C9DACAD90F}"/>
              </a:ext>
            </a:extLst>
          </p:cNvPr>
          <p:cNvSpPr txBox="1"/>
          <p:nvPr/>
        </p:nvSpPr>
        <p:spPr>
          <a:xfrm>
            <a:off x="10799108" y="3091034"/>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38" name="テキスト ボックス 37">
            <a:extLst>
              <a:ext uri="{FF2B5EF4-FFF2-40B4-BE49-F238E27FC236}">
                <a16:creationId xmlns:a16="http://schemas.microsoft.com/office/drawing/2014/main" id="{A51CF879-F313-0E22-E5EE-F21B6122A3AC}"/>
              </a:ext>
            </a:extLst>
          </p:cNvPr>
          <p:cNvSpPr txBox="1"/>
          <p:nvPr/>
        </p:nvSpPr>
        <p:spPr>
          <a:xfrm>
            <a:off x="10421573" y="1825432"/>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39" name="テキスト ボックス 38">
            <a:extLst>
              <a:ext uri="{FF2B5EF4-FFF2-40B4-BE49-F238E27FC236}">
                <a16:creationId xmlns:a16="http://schemas.microsoft.com/office/drawing/2014/main" id="{F1CEC809-9BF3-7C75-A4A9-A27B4CE3C5D2}"/>
              </a:ext>
            </a:extLst>
          </p:cNvPr>
          <p:cNvSpPr txBox="1"/>
          <p:nvPr/>
        </p:nvSpPr>
        <p:spPr>
          <a:xfrm>
            <a:off x="8663871" y="1194390"/>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40" name="直線矢印コネクタ 39">
            <a:extLst>
              <a:ext uri="{FF2B5EF4-FFF2-40B4-BE49-F238E27FC236}">
                <a16:creationId xmlns:a16="http://schemas.microsoft.com/office/drawing/2014/main" id="{2FD1473B-33B3-8395-CCCF-9424FF38F20E}"/>
              </a:ext>
            </a:extLst>
          </p:cNvPr>
          <p:cNvCxnSpPr>
            <a:cxnSpLocks/>
          </p:cNvCxnSpPr>
          <p:nvPr/>
        </p:nvCxnSpPr>
        <p:spPr>
          <a:xfrm flipV="1">
            <a:off x="9865268" y="1579252"/>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3BBEB25-7CF0-B82A-2417-B4D5CF6EF986}"/>
              </a:ext>
            </a:extLst>
          </p:cNvPr>
          <p:cNvCxnSpPr>
            <a:cxnSpLocks/>
          </p:cNvCxnSpPr>
          <p:nvPr/>
        </p:nvCxnSpPr>
        <p:spPr>
          <a:xfrm>
            <a:off x="9646168" y="1963500"/>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01897844-1ECA-D1B7-327A-DF5FE40453AB}"/>
              </a:ext>
            </a:extLst>
          </p:cNvPr>
          <p:cNvCxnSpPr>
            <a:cxnSpLocks/>
          </p:cNvCxnSpPr>
          <p:nvPr/>
        </p:nvCxnSpPr>
        <p:spPr>
          <a:xfrm flipV="1">
            <a:off x="9865268"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F07E68BD-46D6-EEDB-356C-ABD634395CEF}"/>
              </a:ext>
            </a:extLst>
          </p:cNvPr>
          <p:cNvCxnSpPr>
            <a:cxnSpLocks/>
          </p:cNvCxnSpPr>
          <p:nvPr/>
        </p:nvCxnSpPr>
        <p:spPr>
          <a:xfrm>
            <a:off x="9646168"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 name="グループ化 1">
            <a:extLst>
              <a:ext uri="{FF2B5EF4-FFF2-40B4-BE49-F238E27FC236}">
                <a16:creationId xmlns:a16="http://schemas.microsoft.com/office/drawing/2014/main" id="{931A77C2-FA95-33C4-7AEF-DF3B7A2EA701}"/>
              </a:ext>
            </a:extLst>
          </p:cNvPr>
          <p:cNvGrpSpPr/>
          <p:nvPr/>
        </p:nvGrpSpPr>
        <p:grpSpPr>
          <a:xfrm>
            <a:off x="305526" y="1194390"/>
            <a:ext cx="3473115" cy="2265976"/>
            <a:chOff x="305526" y="1194390"/>
            <a:chExt cx="3473115" cy="2265976"/>
          </a:xfrm>
        </p:grpSpPr>
        <p:cxnSp>
          <p:nvCxnSpPr>
            <p:cNvPr id="44" name="直線矢印コネクタ 43">
              <a:extLst>
                <a:ext uri="{FF2B5EF4-FFF2-40B4-BE49-F238E27FC236}">
                  <a16:creationId xmlns:a16="http://schemas.microsoft.com/office/drawing/2014/main" id="{A1495EE3-DC17-D166-7B94-02CED8B00CBF}"/>
                </a:ext>
              </a:extLst>
            </p:cNvPr>
            <p:cNvCxnSpPr>
              <a:cxnSpLocks/>
            </p:cNvCxnSpPr>
            <p:nvPr/>
          </p:nvCxnSpPr>
          <p:spPr>
            <a:xfrm>
              <a:off x="331107" y="3101055"/>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80941124-409E-7347-2A95-6F2E55810374}"/>
                </a:ext>
              </a:extLst>
            </p:cNvPr>
            <p:cNvCxnSpPr>
              <a:cxnSpLocks/>
            </p:cNvCxnSpPr>
            <p:nvPr/>
          </p:nvCxnSpPr>
          <p:spPr>
            <a:xfrm flipV="1">
              <a:off x="570213" y="2119528"/>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CC09FF32-E618-E955-0F5E-B51D490E1370}"/>
                </a:ext>
              </a:extLst>
            </p:cNvPr>
            <p:cNvCxnSpPr>
              <a:cxnSpLocks/>
            </p:cNvCxnSpPr>
            <p:nvPr/>
          </p:nvCxnSpPr>
          <p:spPr>
            <a:xfrm flipV="1">
              <a:off x="652613" y="1328956"/>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A928BA0-7123-7C91-8A0B-19A309AC934D}"/>
                </a:ext>
              </a:extLst>
            </p:cNvPr>
            <p:cNvCxnSpPr>
              <a:cxnSpLocks/>
            </p:cNvCxnSpPr>
            <p:nvPr/>
          </p:nvCxnSpPr>
          <p:spPr>
            <a:xfrm flipV="1">
              <a:off x="2349549" y="2298024"/>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8065B4FE-C7C5-2E48-FE80-715FEB6BEFC4}"/>
                </a:ext>
              </a:extLst>
            </p:cNvPr>
            <p:cNvCxnSpPr>
              <a:cxnSpLocks/>
            </p:cNvCxnSpPr>
            <p:nvPr/>
          </p:nvCxnSpPr>
          <p:spPr>
            <a:xfrm>
              <a:off x="1888975" y="2298024"/>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48389680-26F8-4FDF-4CC9-FCC5CE5616D8}"/>
                </a:ext>
              </a:extLst>
            </p:cNvPr>
            <p:cNvSpPr txBox="1"/>
            <p:nvPr/>
          </p:nvSpPr>
          <p:spPr>
            <a:xfrm>
              <a:off x="2440763" y="3091034"/>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66" name="テキスト ボックス 65">
              <a:extLst>
                <a:ext uri="{FF2B5EF4-FFF2-40B4-BE49-F238E27FC236}">
                  <a16:creationId xmlns:a16="http://schemas.microsoft.com/office/drawing/2014/main" id="{F6B77508-68E5-6E80-BE2C-1A0477500142}"/>
                </a:ext>
              </a:extLst>
            </p:cNvPr>
            <p:cNvSpPr txBox="1"/>
            <p:nvPr/>
          </p:nvSpPr>
          <p:spPr>
            <a:xfrm>
              <a:off x="2063228" y="1825432"/>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67" name="テキスト ボックス 66">
              <a:extLst>
                <a:ext uri="{FF2B5EF4-FFF2-40B4-BE49-F238E27FC236}">
                  <a16:creationId xmlns:a16="http://schemas.microsoft.com/office/drawing/2014/main" id="{B412C86B-4EE0-ED4A-D33D-D6858C7023DE}"/>
                </a:ext>
              </a:extLst>
            </p:cNvPr>
            <p:cNvSpPr txBox="1"/>
            <p:nvPr/>
          </p:nvSpPr>
          <p:spPr>
            <a:xfrm>
              <a:off x="305526" y="1194390"/>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70" name="直線矢印コネクタ 69">
              <a:extLst>
                <a:ext uri="{FF2B5EF4-FFF2-40B4-BE49-F238E27FC236}">
                  <a16:creationId xmlns:a16="http://schemas.microsoft.com/office/drawing/2014/main" id="{6A412E36-14B2-BBCC-858D-99548255C8B4}"/>
                </a:ext>
              </a:extLst>
            </p:cNvPr>
            <p:cNvCxnSpPr>
              <a:cxnSpLocks/>
            </p:cNvCxnSpPr>
            <p:nvPr/>
          </p:nvCxnSpPr>
          <p:spPr>
            <a:xfrm flipV="1">
              <a:off x="1506923" y="2300946"/>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0DAD376E-15FA-19E5-03A4-AB7B826CE42D}"/>
                </a:ext>
              </a:extLst>
            </p:cNvPr>
            <p:cNvCxnSpPr>
              <a:cxnSpLocks/>
            </p:cNvCxnSpPr>
            <p:nvPr/>
          </p:nvCxnSpPr>
          <p:spPr>
            <a:xfrm>
              <a:off x="1287823" y="2685194"/>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楕円 71">
              <a:extLst>
                <a:ext uri="{FF2B5EF4-FFF2-40B4-BE49-F238E27FC236}">
                  <a16:creationId xmlns:a16="http://schemas.microsoft.com/office/drawing/2014/main" id="{E68CF256-60B8-8178-8811-7C477EC6A7CA}"/>
                </a:ext>
              </a:extLst>
            </p:cNvPr>
            <p:cNvSpPr/>
            <p:nvPr/>
          </p:nvSpPr>
          <p:spPr>
            <a:xfrm>
              <a:off x="472593"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BEFE61F1-160E-A0E2-2EE3-3A8E3BB2D7D8}"/>
                </a:ext>
              </a:extLst>
            </p:cNvPr>
            <p:cNvSpPr/>
            <p:nvPr/>
          </p:nvSpPr>
          <p:spPr>
            <a:xfrm>
              <a:off x="1321947"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4" name="楕円 73">
              <a:extLst>
                <a:ext uri="{FF2B5EF4-FFF2-40B4-BE49-F238E27FC236}">
                  <a16:creationId xmlns:a16="http://schemas.microsoft.com/office/drawing/2014/main" id="{CD946958-5F89-5FD5-4456-C9F0E9864E91}"/>
                </a:ext>
              </a:extLst>
            </p:cNvPr>
            <p:cNvSpPr/>
            <p:nvPr/>
          </p:nvSpPr>
          <p:spPr>
            <a:xfrm>
              <a:off x="2171342" y="300307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E45AC7ED-9A8F-7F75-C464-825DED8F9F7D}"/>
                </a:ext>
              </a:extLst>
            </p:cNvPr>
            <p:cNvSpPr/>
            <p:nvPr/>
          </p:nvSpPr>
          <p:spPr>
            <a:xfrm>
              <a:off x="1128202"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9D109A4A-2EE3-D442-65F5-22F6FBB468CC}"/>
                </a:ext>
              </a:extLst>
            </p:cNvPr>
            <p:cNvSpPr/>
            <p:nvPr/>
          </p:nvSpPr>
          <p:spPr>
            <a:xfrm>
              <a:off x="1977556"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D1858406-EF75-3F49-4162-2194953C2FF8}"/>
                </a:ext>
              </a:extLst>
            </p:cNvPr>
            <p:cNvSpPr/>
            <p:nvPr/>
          </p:nvSpPr>
          <p:spPr>
            <a:xfrm>
              <a:off x="2826951" y="2585517"/>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BB81E766-36F3-01F2-BA3D-F78C1393DCF1}"/>
                </a:ext>
              </a:extLst>
            </p:cNvPr>
            <p:cNvSpPr/>
            <p:nvPr/>
          </p:nvSpPr>
          <p:spPr>
            <a:xfrm>
              <a:off x="1719852"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79" name="楕円 78">
              <a:extLst>
                <a:ext uri="{FF2B5EF4-FFF2-40B4-BE49-F238E27FC236}">
                  <a16:creationId xmlns:a16="http://schemas.microsoft.com/office/drawing/2014/main" id="{AE2519F7-2BD5-7D5F-BCEC-DD23781BCFA6}"/>
                </a:ext>
              </a:extLst>
            </p:cNvPr>
            <p:cNvSpPr/>
            <p:nvPr/>
          </p:nvSpPr>
          <p:spPr>
            <a:xfrm>
              <a:off x="2569206"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0" name="楕円 79">
              <a:extLst>
                <a:ext uri="{FF2B5EF4-FFF2-40B4-BE49-F238E27FC236}">
                  <a16:creationId xmlns:a16="http://schemas.microsoft.com/office/drawing/2014/main" id="{E6A7D0AF-9170-3798-EC65-D78175E34F57}"/>
                </a:ext>
              </a:extLst>
            </p:cNvPr>
            <p:cNvSpPr/>
            <p:nvPr/>
          </p:nvSpPr>
          <p:spPr>
            <a:xfrm>
              <a:off x="3418601" y="220410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sp>
        <p:nvSpPr>
          <p:cNvPr id="91" name="吹き出し: 四角形 90">
            <a:extLst>
              <a:ext uri="{FF2B5EF4-FFF2-40B4-BE49-F238E27FC236}">
                <a16:creationId xmlns:a16="http://schemas.microsoft.com/office/drawing/2014/main" id="{95F8F908-0893-9BF3-3CB5-6F6C49477B5A}"/>
              </a:ext>
            </a:extLst>
          </p:cNvPr>
          <p:cNvSpPr/>
          <p:nvPr/>
        </p:nvSpPr>
        <p:spPr>
          <a:xfrm>
            <a:off x="3647728" y="1825432"/>
            <a:ext cx="1656184" cy="369332"/>
          </a:xfrm>
          <a:prstGeom prst="wedgeRectCallout">
            <a:avLst>
              <a:gd name="adj1" fmla="val -51521"/>
              <a:gd name="adj2" fmla="val 7075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ノード：部屋</a:t>
            </a:r>
            <a:endParaRPr kumimoji="1" lang="ja-JP" altLang="en-US" dirty="0"/>
          </a:p>
        </p:txBody>
      </p:sp>
      <p:sp>
        <p:nvSpPr>
          <p:cNvPr id="92" name="吹き出し: 四角形 91">
            <a:extLst>
              <a:ext uri="{FF2B5EF4-FFF2-40B4-BE49-F238E27FC236}">
                <a16:creationId xmlns:a16="http://schemas.microsoft.com/office/drawing/2014/main" id="{0C9B2B80-945B-FF01-EB9D-228648736CC0}"/>
              </a:ext>
            </a:extLst>
          </p:cNvPr>
          <p:cNvSpPr/>
          <p:nvPr/>
        </p:nvSpPr>
        <p:spPr>
          <a:xfrm>
            <a:off x="3647728" y="2547304"/>
            <a:ext cx="3372364" cy="369332"/>
          </a:xfrm>
          <a:prstGeom prst="wedgeRectCallout">
            <a:avLst>
              <a:gd name="adj1" fmla="val -60250"/>
              <a:gd name="adj2" fmla="val -51663"/>
            </a:avLst>
          </a:prstGeom>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エッジ：視認性・移動可能性</a:t>
            </a:r>
            <a:endParaRPr kumimoji="1" lang="ja-JP" altLang="en-US" dirty="0"/>
          </a:p>
        </p:txBody>
      </p:sp>
      <p:cxnSp>
        <p:nvCxnSpPr>
          <p:cNvPr id="4" name="直線矢印コネクタ 3">
            <a:extLst>
              <a:ext uri="{FF2B5EF4-FFF2-40B4-BE49-F238E27FC236}">
                <a16:creationId xmlns:a16="http://schemas.microsoft.com/office/drawing/2014/main" id="{05DAD6FB-8946-797E-7D87-AA6729729510}"/>
              </a:ext>
            </a:extLst>
          </p:cNvPr>
          <p:cNvCxnSpPr>
            <a:cxnSpLocks/>
          </p:cNvCxnSpPr>
          <p:nvPr/>
        </p:nvCxnSpPr>
        <p:spPr>
          <a:xfrm>
            <a:off x="119336"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D139C7BB-2AFB-B374-7A3C-F3D3B6D25265}"/>
              </a:ext>
            </a:extLst>
          </p:cNvPr>
          <p:cNvCxnSpPr>
            <a:cxnSpLocks/>
          </p:cNvCxnSpPr>
          <p:nvPr/>
        </p:nvCxnSpPr>
        <p:spPr>
          <a:xfrm flipV="1">
            <a:off x="358442"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2C4E73C9-C139-F611-E7E4-7F3D6EB2CF4A}"/>
              </a:ext>
            </a:extLst>
          </p:cNvPr>
          <p:cNvCxnSpPr>
            <a:cxnSpLocks/>
          </p:cNvCxnSpPr>
          <p:nvPr/>
        </p:nvCxnSpPr>
        <p:spPr>
          <a:xfrm flipV="1">
            <a:off x="440842"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245CB064-3490-29FA-1C57-69FB4551C12F}"/>
              </a:ext>
            </a:extLst>
          </p:cNvPr>
          <p:cNvCxnSpPr>
            <a:cxnSpLocks/>
          </p:cNvCxnSpPr>
          <p:nvPr/>
        </p:nvCxnSpPr>
        <p:spPr>
          <a:xfrm flipV="1">
            <a:off x="2137778"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940152E1-3CAE-2DB3-EF0C-FF29BBC02B63}"/>
              </a:ext>
            </a:extLst>
          </p:cNvPr>
          <p:cNvCxnSpPr>
            <a:cxnSpLocks/>
          </p:cNvCxnSpPr>
          <p:nvPr/>
        </p:nvCxnSpPr>
        <p:spPr>
          <a:xfrm>
            <a:off x="1677204"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6B63F6E5-6ECB-C7D4-30A6-7C56BEC1884F}"/>
              </a:ext>
            </a:extLst>
          </p:cNvPr>
          <p:cNvSpPr txBox="1"/>
          <p:nvPr/>
        </p:nvSpPr>
        <p:spPr>
          <a:xfrm>
            <a:off x="2228992" y="6020169"/>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16" name="テキスト ボックス 15">
            <a:extLst>
              <a:ext uri="{FF2B5EF4-FFF2-40B4-BE49-F238E27FC236}">
                <a16:creationId xmlns:a16="http://schemas.microsoft.com/office/drawing/2014/main" id="{8272704A-89BF-E485-2494-429BA2567263}"/>
              </a:ext>
            </a:extLst>
          </p:cNvPr>
          <p:cNvSpPr txBox="1"/>
          <p:nvPr/>
        </p:nvSpPr>
        <p:spPr>
          <a:xfrm>
            <a:off x="1851457" y="4754567"/>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17" name="テキスト ボックス 16">
            <a:extLst>
              <a:ext uri="{FF2B5EF4-FFF2-40B4-BE49-F238E27FC236}">
                <a16:creationId xmlns:a16="http://schemas.microsoft.com/office/drawing/2014/main" id="{5237CF6F-09F7-5B0F-1273-02473BF3607E}"/>
              </a:ext>
            </a:extLst>
          </p:cNvPr>
          <p:cNvSpPr txBox="1"/>
          <p:nvPr/>
        </p:nvSpPr>
        <p:spPr>
          <a:xfrm>
            <a:off x="93755" y="4123525"/>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24" name="直線矢印コネクタ 23">
            <a:extLst>
              <a:ext uri="{FF2B5EF4-FFF2-40B4-BE49-F238E27FC236}">
                <a16:creationId xmlns:a16="http://schemas.microsoft.com/office/drawing/2014/main" id="{BE18471E-3716-D91C-204A-0B5FA9EDEB6E}"/>
              </a:ext>
            </a:extLst>
          </p:cNvPr>
          <p:cNvCxnSpPr>
            <a:cxnSpLocks/>
          </p:cNvCxnSpPr>
          <p:nvPr/>
        </p:nvCxnSpPr>
        <p:spPr>
          <a:xfrm flipV="1">
            <a:off x="1295152"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43E0405A-5235-BF02-FFC6-873F4FBC0739}"/>
              </a:ext>
            </a:extLst>
          </p:cNvPr>
          <p:cNvCxnSpPr>
            <a:cxnSpLocks/>
          </p:cNvCxnSpPr>
          <p:nvPr/>
        </p:nvCxnSpPr>
        <p:spPr>
          <a:xfrm>
            <a:off x="1076052"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98ABB933-4089-2DD4-698F-86B3332F454A}"/>
              </a:ext>
            </a:extLst>
          </p:cNvPr>
          <p:cNvSpPr/>
          <p:nvPr/>
        </p:nvSpPr>
        <p:spPr>
          <a:xfrm>
            <a:off x="260822"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B0F01721-D4F7-B4F6-930D-E5BA24952EA3}"/>
              </a:ext>
            </a:extLst>
          </p:cNvPr>
          <p:cNvSpPr/>
          <p:nvPr/>
        </p:nvSpPr>
        <p:spPr>
          <a:xfrm>
            <a:off x="1110176"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6DE405FE-619C-5C06-A9E8-A4EB3C7E0BC2}"/>
              </a:ext>
            </a:extLst>
          </p:cNvPr>
          <p:cNvSpPr/>
          <p:nvPr/>
        </p:nvSpPr>
        <p:spPr>
          <a:xfrm>
            <a:off x="1959571"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9" name="楕円 48">
            <a:extLst>
              <a:ext uri="{FF2B5EF4-FFF2-40B4-BE49-F238E27FC236}">
                <a16:creationId xmlns:a16="http://schemas.microsoft.com/office/drawing/2014/main" id="{02B8A81F-3008-F760-0AD8-789B2F8DCF67}"/>
              </a:ext>
            </a:extLst>
          </p:cNvPr>
          <p:cNvSpPr/>
          <p:nvPr/>
        </p:nvSpPr>
        <p:spPr>
          <a:xfrm>
            <a:off x="916431"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0" name="楕円 49">
            <a:extLst>
              <a:ext uri="{FF2B5EF4-FFF2-40B4-BE49-F238E27FC236}">
                <a16:creationId xmlns:a16="http://schemas.microsoft.com/office/drawing/2014/main" id="{E038D4C7-8CF7-764E-7156-F417BE4464C7}"/>
              </a:ext>
            </a:extLst>
          </p:cNvPr>
          <p:cNvSpPr/>
          <p:nvPr/>
        </p:nvSpPr>
        <p:spPr>
          <a:xfrm>
            <a:off x="1765785"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01C45F56-2EE1-A6F9-4B98-EA45809182ED}"/>
              </a:ext>
            </a:extLst>
          </p:cNvPr>
          <p:cNvSpPr/>
          <p:nvPr/>
        </p:nvSpPr>
        <p:spPr>
          <a:xfrm>
            <a:off x="2615180"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9D6F641B-1EDE-DBC7-19FF-192152B5ABAB}"/>
              </a:ext>
            </a:extLst>
          </p:cNvPr>
          <p:cNvSpPr/>
          <p:nvPr/>
        </p:nvSpPr>
        <p:spPr>
          <a:xfrm>
            <a:off x="1508081"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A7070EA4-2FCC-5BC2-ADAF-E3E5A0E253CB}"/>
              </a:ext>
            </a:extLst>
          </p:cNvPr>
          <p:cNvSpPr/>
          <p:nvPr/>
        </p:nvSpPr>
        <p:spPr>
          <a:xfrm>
            <a:off x="2357435"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D5933886-56F3-3FA1-BF82-E171A2E2B98C}"/>
              </a:ext>
            </a:extLst>
          </p:cNvPr>
          <p:cNvSpPr/>
          <p:nvPr/>
        </p:nvSpPr>
        <p:spPr>
          <a:xfrm>
            <a:off x="3206830"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94" name="グループ化 93">
            <a:extLst>
              <a:ext uri="{FF2B5EF4-FFF2-40B4-BE49-F238E27FC236}">
                <a16:creationId xmlns:a16="http://schemas.microsoft.com/office/drawing/2014/main" id="{3781C2C5-DEDA-29E0-DAF1-AF3D9862207F}"/>
              </a:ext>
            </a:extLst>
          </p:cNvPr>
          <p:cNvGrpSpPr/>
          <p:nvPr/>
        </p:nvGrpSpPr>
        <p:grpSpPr>
          <a:xfrm>
            <a:off x="2627672" y="5389560"/>
            <a:ext cx="334117" cy="412098"/>
            <a:chOff x="1004572" y="4149080"/>
            <a:chExt cx="334117" cy="412098"/>
          </a:xfrm>
        </p:grpSpPr>
        <p:sp>
          <p:nvSpPr>
            <p:cNvPr id="82" name="二等辺三角形 81">
              <a:extLst>
                <a:ext uri="{FF2B5EF4-FFF2-40B4-BE49-F238E27FC236}">
                  <a16:creationId xmlns:a16="http://schemas.microsoft.com/office/drawing/2014/main" id="{D1F22877-035A-2F7A-EF23-398CAE87A373}"/>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楕円 80">
              <a:extLst>
                <a:ext uri="{FF2B5EF4-FFF2-40B4-BE49-F238E27FC236}">
                  <a16:creationId xmlns:a16="http://schemas.microsoft.com/office/drawing/2014/main" id="{BC3C8966-08AE-57AE-C5FB-61FE25298B60}"/>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5" name="グループ化 94">
            <a:extLst>
              <a:ext uri="{FF2B5EF4-FFF2-40B4-BE49-F238E27FC236}">
                <a16:creationId xmlns:a16="http://schemas.microsoft.com/office/drawing/2014/main" id="{C60CF798-88F8-C02B-20CC-57FDC346E29D}"/>
              </a:ext>
            </a:extLst>
          </p:cNvPr>
          <p:cNvGrpSpPr/>
          <p:nvPr/>
        </p:nvGrpSpPr>
        <p:grpSpPr>
          <a:xfrm>
            <a:off x="1778640" y="5303047"/>
            <a:ext cx="334117" cy="467747"/>
            <a:chOff x="1837225" y="4093431"/>
            <a:chExt cx="334117" cy="467747"/>
          </a:xfrm>
        </p:grpSpPr>
        <p:sp>
          <p:nvSpPr>
            <p:cNvPr id="84" name="二等辺三角形 83">
              <a:extLst>
                <a:ext uri="{FF2B5EF4-FFF2-40B4-BE49-F238E27FC236}">
                  <a16:creationId xmlns:a16="http://schemas.microsoft.com/office/drawing/2014/main" id="{4B8E674F-E53D-83E9-3C4D-9E6DCDC074FB}"/>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楕円 84">
              <a:extLst>
                <a:ext uri="{FF2B5EF4-FFF2-40B4-BE49-F238E27FC236}">
                  <a16:creationId xmlns:a16="http://schemas.microsoft.com/office/drawing/2014/main" id="{F32C52B5-F829-A9C8-19D0-2A87E28E3936}"/>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フローチャート: 手作業 85">
              <a:extLst>
                <a:ext uri="{FF2B5EF4-FFF2-40B4-BE49-F238E27FC236}">
                  <a16:creationId xmlns:a16="http://schemas.microsoft.com/office/drawing/2014/main" id="{E22D3A5D-A191-1794-54E3-C1FA80DFEB30}"/>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3" name="グループ化 92">
            <a:extLst>
              <a:ext uri="{FF2B5EF4-FFF2-40B4-BE49-F238E27FC236}">
                <a16:creationId xmlns:a16="http://schemas.microsoft.com/office/drawing/2014/main" id="{2B701B46-EB42-1825-498D-D721BAC1C823}"/>
              </a:ext>
            </a:extLst>
          </p:cNvPr>
          <p:cNvGrpSpPr/>
          <p:nvPr/>
        </p:nvGrpSpPr>
        <p:grpSpPr>
          <a:xfrm>
            <a:off x="271856" y="5792737"/>
            <a:ext cx="334117" cy="412098"/>
            <a:chOff x="446620" y="4149080"/>
            <a:chExt cx="334117" cy="412098"/>
          </a:xfrm>
        </p:grpSpPr>
        <p:sp>
          <p:nvSpPr>
            <p:cNvPr id="87" name="二等辺三角形 86">
              <a:extLst>
                <a:ext uri="{FF2B5EF4-FFF2-40B4-BE49-F238E27FC236}">
                  <a16:creationId xmlns:a16="http://schemas.microsoft.com/office/drawing/2014/main" id="{A10F09C1-2B6D-5766-151E-EDEE8BB5AF93}"/>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3A635A70-CC39-5771-A5DF-3CA8A89897A6}"/>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6" name="グループ化 95">
            <a:extLst>
              <a:ext uri="{FF2B5EF4-FFF2-40B4-BE49-F238E27FC236}">
                <a16:creationId xmlns:a16="http://schemas.microsoft.com/office/drawing/2014/main" id="{0EF8752C-C99C-8BE9-8FC9-DA2BF55DBF35}"/>
              </a:ext>
            </a:extLst>
          </p:cNvPr>
          <p:cNvGrpSpPr/>
          <p:nvPr/>
        </p:nvGrpSpPr>
        <p:grpSpPr>
          <a:xfrm>
            <a:off x="1971524" y="5820291"/>
            <a:ext cx="360040" cy="412097"/>
            <a:chOff x="2495600" y="4149081"/>
            <a:chExt cx="360040" cy="412097"/>
          </a:xfrm>
        </p:grpSpPr>
        <p:sp>
          <p:nvSpPr>
            <p:cNvPr id="89" name="正方形/長方形 88">
              <a:extLst>
                <a:ext uri="{FF2B5EF4-FFF2-40B4-BE49-F238E27FC236}">
                  <a16:creationId xmlns:a16="http://schemas.microsoft.com/office/drawing/2014/main" id="{1C01D60E-A09B-5BDC-9C14-C2228EFA3FBD}"/>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22D53B6E-B284-7A19-B4C3-5C0B1CC887A3}"/>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6" name="直線矢印コネクタ 55">
            <a:extLst>
              <a:ext uri="{FF2B5EF4-FFF2-40B4-BE49-F238E27FC236}">
                <a16:creationId xmlns:a16="http://schemas.microsoft.com/office/drawing/2014/main" id="{BD228A86-F992-F56F-AC48-CAD1D72664A4}"/>
              </a:ext>
            </a:extLst>
          </p:cNvPr>
          <p:cNvCxnSpPr>
            <a:cxnSpLocks/>
          </p:cNvCxnSpPr>
          <p:nvPr/>
        </p:nvCxnSpPr>
        <p:spPr>
          <a:xfrm>
            <a:off x="4272263"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84C01950-3994-9410-B600-8B7C0AD5EE7E}"/>
              </a:ext>
            </a:extLst>
          </p:cNvPr>
          <p:cNvCxnSpPr>
            <a:cxnSpLocks/>
          </p:cNvCxnSpPr>
          <p:nvPr/>
        </p:nvCxnSpPr>
        <p:spPr>
          <a:xfrm flipV="1">
            <a:off x="4511369"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矢印コネクタ 57">
            <a:extLst>
              <a:ext uri="{FF2B5EF4-FFF2-40B4-BE49-F238E27FC236}">
                <a16:creationId xmlns:a16="http://schemas.microsoft.com/office/drawing/2014/main" id="{577A34F8-CA75-BD8E-F419-FE53F0A4DEBF}"/>
              </a:ext>
            </a:extLst>
          </p:cNvPr>
          <p:cNvCxnSpPr>
            <a:cxnSpLocks/>
          </p:cNvCxnSpPr>
          <p:nvPr/>
        </p:nvCxnSpPr>
        <p:spPr>
          <a:xfrm flipV="1">
            <a:off x="4593769"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78C25BF6-AEC6-DD5C-DAA7-B30912DBE50E}"/>
              </a:ext>
            </a:extLst>
          </p:cNvPr>
          <p:cNvCxnSpPr>
            <a:cxnSpLocks/>
          </p:cNvCxnSpPr>
          <p:nvPr/>
        </p:nvCxnSpPr>
        <p:spPr>
          <a:xfrm flipV="1">
            <a:off x="6290705"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1E004146-F7ED-59B8-C23B-93DBB08730D4}"/>
              </a:ext>
            </a:extLst>
          </p:cNvPr>
          <p:cNvCxnSpPr>
            <a:cxnSpLocks/>
          </p:cNvCxnSpPr>
          <p:nvPr/>
        </p:nvCxnSpPr>
        <p:spPr>
          <a:xfrm>
            <a:off x="5830131"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テキスト ボックス 60">
            <a:extLst>
              <a:ext uri="{FF2B5EF4-FFF2-40B4-BE49-F238E27FC236}">
                <a16:creationId xmlns:a16="http://schemas.microsoft.com/office/drawing/2014/main" id="{81827509-F169-FCFA-5523-977BA8EE858A}"/>
              </a:ext>
            </a:extLst>
          </p:cNvPr>
          <p:cNvSpPr txBox="1"/>
          <p:nvPr/>
        </p:nvSpPr>
        <p:spPr>
          <a:xfrm>
            <a:off x="6381919" y="6020169"/>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62" name="テキスト ボックス 61">
            <a:extLst>
              <a:ext uri="{FF2B5EF4-FFF2-40B4-BE49-F238E27FC236}">
                <a16:creationId xmlns:a16="http://schemas.microsoft.com/office/drawing/2014/main" id="{42943AAC-CFE2-26D3-7F2E-A9D65E42F683}"/>
              </a:ext>
            </a:extLst>
          </p:cNvPr>
          <p:cNvSpPr txBox="1"/>
          <p:nvPr/>
        </p:nvSpPr>
        <p:spPr>
          <a:xfrm>
            <a:off x="6004384" y="4754567"/>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63" name="テキスト ボックス 62">
            <a:extLst>
              <a:ext uri="{FF2B5EF4-FFF2-40B4-BE49-F238E27FC236}">
                <a16:creationId xmlns:a16="http://schemas.microsoft.com/office/drawing/2014/main" id="{DC3B107D-2A46-D08E-7909-31D31E0B975A}"/>
              </a:ext>
            </a:extLst>
          </p:cNvPr>
          <p:cNvSpPr txBox="1"/>
          <p:nvPr/>
        </p:nvSpPr>
        <p:spPr>
          <a:xfrm>
            <a:off x="4246682" y="4123525"/>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64" name="直線矢印コネクタ 63">
            <a:extLst>
              <a:ext uri="{FF2B5EF4-FFF2-40B4-BE49-F238E27FC236}">
                <a16:creationId xmlns:a16="http://schemas.microsoft.com/office/drawing/2014/main" id="{362BCCFA-DF6A-93FE-27C9-8ABDC4C32DA6}"/>
              </a:ext>
            </a:extLst>
          </p:cNvPr>
          <p:cNvCxnSpPr>
            <a:cxnSpLocks/>
          </p:cNvCxnSpPr>
          <p:nvPr/>
        </p:nvCxnSpPr>
        <p:spPr>
          <a:xfrm flipV="1">
            <a:off x="5448079"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線矢印コネクタ 67">
            <a:extLst>
              <a:ext uri="{FF2B5EF4-FFF2-40B4-BE49-F238E27FC236}">
                <a16:creationId xmlns:a16="http://schemas.microsoft.com/office/drawing/2014/main" id="{542F3C39-8C7E-DEA2-5857-7CCF8D9CFFD9}"/>
              </a:ext>
            </a:extLst>
          </p:cNvPr>
          <p:cNvCxnSpPr>
            <a:cxnSpLocks/>
          </p:cNvCxnSpPr>
          <p:nvPr/>
        </p:nvCxnSpPr>
        <p:spPr>
          <a:xfrm>
            <a:off x="5228979"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楕円 68">
            <a:extLst>
              <a:ext uri="{FF2B5EF4-FFF2-40B4-BE49-F238E27FC236}">
                <a16:creationId xmlns:a16="http://schemas.microsoft.com/office/drawing/2014/main" id="{9A051672-48B9-3802-8E28-A7870AF84DB6}"/>
              </a:ext>
            </a:extLst>
          </p:cNvPr>
          <p:cNvSpPr/>
          <p:nvPr/>
        </p:nvSpPr>
        <p:spPr>
          <a:xfrm>
            <a:off x="4413749"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3" name="楕円 82">
            <a:extLst>
              <a:ext uri="{FF2B5EF4-FFF2-40B4-BE49-F238E27FC236}">
                <a16:creationId xmlns:a16="http://schemas.microsoft.com/office/drawing/2014/main" id="{4901DD90-E017-5A11-F73F-EBB6DA84C420}"/>
              </a:ext>
            </a:extLst>
          </p:cNvPr>
          <p:cNvSpPr/>
          <p:nvPr/>
        </p:nvSpPr>
        <p:spPr>
          <a:xfrm>
            <a:off x="5263103"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1" name="楕円 100">
            <a:extLst>
              <a:ext uri="{FF2B5EF4-FFF2-40B4-BE49-F238E27FC236}">
                <a16:creationId xmlns:a16="http://schemas.microsoft.com/office/drawing/2014/main" id="{AD8A9EC7-9E72-7EC1-FFCD-3CD1B93405E7}"/>
              </a:ext>
            </a:extLst>
          </p:cNvPr>
          <p:cNvSpPr/>
          <p:nvPr/>
        </p:nvSpPr>
        <p:spPr>
          <a:xfrm>
            <a:off x="6112498"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2" name="楕円 101">
            <a:extLst>
              <a:ext uri="{FF2B5EF4-FFF2-40B4-BE49-F238E27FC236}">
                <a16:creationId xmlns:a16="http://schemas.microsoft.com/office/drawing/2014/main" id="{236EAD7F-16CD-8887-9A2B-D1EED78651B7}"/>
              </a:ext>
            </a:extLst>
          </p:cNvPr>
          <p:cNvSpPr/>
          <p:nvPr/>
        </p:nvSpPr>
        <p:spPr>
          <a:xfrm>
            <a:off x="5069358"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3" name="楕円 102">
            <a:extLst>
              <a:ext uri="{FF2B5EF4-FFF2-40B4-BE49-F238E27FC236}">
                <a16:creationId xmlns:a16="http://schemas.microsoft.com/office/drawing/2014/main" id="{8ABA7D06-DF7E-C46A-2EC8-070FA82761AB}"/>
              </a:ext>
            </a:extLst>
          </p:cNvPr>
          <p:cNvSpPr/>
          <p:nvPr/>
        </p:nvSpPr>
        <p:spPr>
          <a:xfrm>
            <a:off x="5918712"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4" name="楕円 103">
            <a:extLst>
              <a:ext uri="{FF2B5EF4-FFF2-40B4-BE49-F238E27FC236}">
                <a16:creationId xmlns:a16="http://schemas.microsoft.com/office/drawing/2014/main" id="{5924BCFC-5B36-1EC9-B3FA-D0666B6613AC}"/>
              </a:ext>
            </a:extLst>
          </p:cNvPr>
          <p:cNvSpPr/>
          <p:nvPr/>
        </p:nvSpPr>
        <p:spPr>
          <a:xfrm>
            <a:off x="6768107"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5" name="楕円 104">
            <a:extLst>
              <a:ext uri="{FF2B5EF4-FFF2-40B4-BE49-F238E27FC236}">
                <a16:creationId xmlns:a16="http://schemas.microsoft.com/office/drawing/2014/main" id="{8308C158-8CF8-97FC-F97D-1660698AADD0}"/>
              </a:ext>
            </a:extLst>
          </p:cNvPr>
          <p:cNvSpPr/>
          <p:nvPr/>
        </p:nvSpPr>
        <p:spPr>
          <a:xfrm>
            <a:off x="5661008"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6" name="楕円 105">
            <a:extLst>
              <a:ext uri="{FF2B5EF4-FFF2-40B4-BE49-F238E27FC236}">
                <a16:creationId xmlns:a16="http://schemas.microsoft.com/office/drawing/2014/main" id="{A8021517-30DA-33B9-1A6C-245A89A8E7A1}"/>
              </a:ext>
            </a:extLst>
          </p:cNvPr>
          <p:cNvSpPr/>
          <p:nvPr/>
        </p:nvSpPr>
        <p:spPr>
          <a:xfrm>
            <a:off x="6510362"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07" name="楕円 106">
            <a:extLst>
              <a:ext uri="{FF2B5EF4-FFF2-40B4-BE49-F238E27FC236}">
                <a16:creationId xmlns:a16="http://schemas.microsoft.com/office/drawing/2014/main" id="{6A09BBDD-EA7F-F679-2DA0-4D4FFCB7B65B}"/>
              </a:ext>
            </a:extLst>
          </p:cNvPr>
          <p:cNvSpPr/>
          <p:nvPr/>
        </p:nvSpPr>
        <p:spPr>
          <a:xfrm>
            <a:off x="7359757"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108" name="グループ化 107">
            <a:extLst>
              <a:ext uri="{FF2B5EF4-FFF2-40B4-BE49-F238E27FC236}">
                <a16:creationId xmlns:a16="http://schemas.microsoft.com/office/drawing/2014/main" id="{801E6099-7CF0-270A-DA4A-336ACF168370}"/>
              </a:ext>
            </a:extLst>
          </p:cNvPr>
          <p:cNvGrpSpPr/>
          <p:nvPr/>
        </p:nvGrpSpPr>
        <p:grpSpPr>
          <a:xfrm>
            <a:off x="6780599" y="5389560"/>
            <a:ext cx="334117" cy="412098"/>
            <a:chOff x="1004572" y="4149080"/>
            <a:chExt cx="334117" cy="412098"/>
          </a:xfrm>
        </p:grpSpPr>
        <p:sp>
          <p:nvSpPr>
            <p:cNvPr id="109" name="二等辺三角形 108">
              <a:extLst>
                <a:ext uri="{FF2B5EF4-FFF2-40B4-BE49-F238E27FC236}">
                  <a16:creationId xmlns:a16="http://schemas.microsoft.com/office/drawing/2014/main" id="{6381B978-2A51-1232-A588-3E2E80B03F45}"/>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楕円 109">
              <a:extLst>
                <a:ext uri="{FF2B5EF4-FFF2-40B4-BE49-F238E27FC236}">
                  <a16:creationId xmlns:a16="http://schemas.microsoft.com/office/drawing/2014/main" id="{3B780B89-BA65-48B4-C7E2-C4F275524162}"/>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1" name="グループ化 110">
            <a:extLst>
              <a:ext uri="{FF2B5EF4-FFF2-40B4-BE49-F238E27FC236}">
                <a16:creationId xmlns:a16="http://schemas.microsoft.com/office/drawing/2014/main" id="{2067C4F8-A349-C3CE-E511-A62E11D852C5}"/>
              </a:ext>
            </a:extLst>
          </p:cNvPr>
          <p:cNvGrpSpPr/>
          <p:nvPr/>
        </p:nvGrpSpPr>
        <p:grpSpPr>
          <a:xfrm>
            <a:off x="5931567" y="5303047"/>
            <a:ext cx="334117" cy="467747"/>
            <a:chOff x="1837225" y="4093431"/>
            <a:chExt cx="334117" cy="467747"/>
          </a:xfrm>
        </p:grpSpPr>
        <p:sp>
          <p:nvSpPr>
            <p:cNvPr id="112" name="二等辺三角形 111">
              <a:extLst>
                <a:ext uri="{FF2B5EF4-FFF2-40B4-BE49-F238E27FC236}">
                  <a16:creationId xmlns:a16="http://schemas.microsoft.com/office/drawing/2014/main" id="{8535AA6F-6D3A-7CFD-C039-25041EFA0DA7}"/>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楕円 112">
              <a:extLst>
                <a:ext uri="{FF2B5EF4-FFF2-40B4-BE49-F238E27FC236}">
                  <a16:creationId xmlns:a16="http://schemas.microsoft.com/office/drawing/2014/main" id="{11FDD250-218E-4A61-949C-367EBF7159B8}"/>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フローチャート: 手作業 113">
              <a:extLst>
                <a:ext uri="{FF2B5EF4-FFF2-40B4-BE49-F238E27FC236}">
                  <a16:creationId xmlns:a16="http://schemas.microsoft.com/office/drawing/2014/main" id="{C589BF4A-2A23-6B01-6D05-1527B61B2007}"/>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5" name="グループ化 114">
            <a:extLst>
              <a:ext uri="{FF2B5EF4-FFF2-40B4-BE49-F238E27FC236}">
                <a16:creationId xmlns:a16="http://schemas.microsoft.com/office/drawing/2014/main" id="{A2BE5020-7638-F2A9-044B-C1E4A674E710}"/>
              </a:ext>
            </a:extLst>
          </p:cNvPr>
          <p:cNvGrpSpPr/>
          <p:nvPr/>
        </p:nvGrpSpPr>
        <p:grpSpPr>
          <a:xfrm>
            <a:off x="4424783" y="5792737"/>
            <a:ext cx="334117" cy="412098"/>
            <a:chOff x="446620" y="4149080"/>
            <a:chExt cx="334117" cy="412098"/>
          </a:xfrm>
        </p:grpSpPr>
        <p:sp>
          <p:nvSpPr>
            <p:cNvPr id="116" name="二等辺三角形 115">
              <a:extLst>
                <a:ext uri="{FF2B5EF4-FFF2-40B4-BE49-F238E27FC236}">
                  <a16:creationId xmlns:a16="http://schemas.microsoft.com/office/drawing/2014/main" id="{DD4D89B9-5891-30EA-9EE1-D42B6120C73E}"/>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楕円 116">
              <a:extLst>
                <a:ext uri="{FF2B5EF4-FFF2-40B4-BE49-F238E27FC236}">
                  <a16:creationId xmlns:a16="http://schemas.microsoft.com/office/drawing/2014/main" id="{714FF702-C6C7-1C1D-873B-02DC12C4F8E7}"/>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8" name="グループ化 117">
            <a:extLst>
              <a:ext uri="{FF2B5EF4-FFF2-40B4-BE49-F238E27FC236}">
                <a16:creationId xmlns:a16="http://schemas.microsoft.com/office/drawing/2014/main" id="{6C29EAB9-527F-0807-CBA1-4CCB469FAEDB}"/>
              </a:ext>
            </a:extLst>
          </p:cNvPr>
          <p:cNvGrpSpPr/>
          <p:nvPr/>
        </p:nvGrpSpPr>
        <p:grpSpPr>
          <a:xfrm>
            <a:off x="6124451" y="5820291"/>
            <a:ext cx="360040" cy="412097"/>
            <a:chOff x="2495600" y="4149081"/>
            <a:chExt cx="360040" cy="412097"/>
          </a:xfrm>
        </p:grpSpPr>
        <p:sp>
          <p:nvSpPr>
            <p:cNvPr id="119" name="正方形/長方形 118">
              <a:extLst>
                <a:ext uri="{FF2B5EF4-FFF2-40B4-BE49-F238E27FC236}">
                  <a16:creationId xmlns:a16="http://schemas.microsoft.com/office/drawing/2014/main" id="{F3C72863-EE54-2F85-B9A1-8DFBE4117413}"/>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正方形/長方形 119">
              <a:extLst>
                <a:ext uri="{FF2B5EF4-FFF2-40B4-BE49-F238E27FC236}">
                  <a16:creationId xmlns:a16="http://schemas.microsoft.com/office/drawing/2014/main" id="{1572D08B-2A3F-52D7-FC52-6457E1136E28}"/>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1" name="吹き出し: 四角形 120">
            <a:extLst>
              <a:ext uri="{FF2B5EF4-FFF2-40B4-BE49-F238E27FC236}">
                <a16:creationId xmlns:a16="http://schemas.microsoft.com/office/drawing/2014/main" id="{453D115A-B219-086F-C089-41EAD350D1D5}"/>
              </a:ext>
            </a:extLst>
          </p:cNvPr>
          <p:cNvSpPr/>
          <p:nvPr/>
        </p:nvSpPr>
        <p:spPr>
          <a:xfrm>
            <a:off x="6046072" y="4757488"/>
            <a:ext cx="1656184" cy="369332"/>
          </a:xfrm>
          <a:prstGeom prst="wedgeRectCallout">
            <a:avLst>
              <a:gd name="adj1" fmla="val -45080"/>
              <a:gd name="adj2" fmla="val 9963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見守り</a:t>
            </a:r>
            <a:r>
              <a:rPr lang="en-US" altLang="ja-JP" dirty="0"/>
              <a:t>&amp;</a:t>
            </a:r>
            <a:r>
              <a:rPr lang="ja-JP" altLang="en-US" dirty="0"/>
              <a:t>記録</a:t>
            </a:r>
            <a:endParaRPr kumimoji="1" lang="ja-JP" altLang="en-US" dirty="0"/>
          </a:p>
        </p:txBody>
      </p:sp>
      <p:cxnSp>
        <p:nvCxnSpPr>
          <p:cNvPr id="123" name="直線矢印コネクタ 122">
            <a:extLst>
              <a:ext uri="{FF2B5EF4-FFF2-40B4-BE49-F238E27FC236}">
                <a16:creationId xmlns:a16="http://schemas.microsoft.com/office/drawing/2014/main" id="{9A3A3D08-CC06-C25F-640A-609C36358AE2}"/>
              </a:ext>
            </a:extLst>
          </p:cNvPr>
          <p:cNvCxnSpPr>
            <a:cxnSpLocks/>
          </p:cNvCxnSpPr>
          <p:nvPr/>
        </p:nvCxnSpPr>
        <p:spPr>
          <a:xfrm>
            <a:off x="6248718" y="5514652"/>
            <a:ext cx="5193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5" name="吹き出し: 四角形 124">
            <a:extLst>
              <a:ext uri="{FF2B5EF4-FFF2-40B4-BE49-F238E27FC236}">
                <a16:creationId xmlns:a16="http://schemas.microsoft.com/office/drawing/2014/main" id="{CBA5C2F3-D986-8836-640E-6041FFD8A793}"/>
              </a:ext>
            </a:extLst>
          </p:cNvPr>
          <p:cNvSpPr/>
          <p:nvPr/>
        </p:nvSpPr>
        <p:spPr>
          <a:xfrm>
            <a:off x="6785230" y="5854002"/>
            <a:ext cx="948606" cy="369332"/>
          </a:xfrm>
          <a:prstGeom prst="wedgeRectCallout">
            <a:avLst>
              <a:gd name="adj1" fmla="val -34038"/>
              <a:gd name="adj2" fmla="val -90176"/>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ja-JP" dirty="0"/>
              <a:t>TV</a:t>
            </a:r>
            <a:r>
              <a:rPr lang="ja-JP" altLang="en-US" dirty="0"/>
              <a:t>視聴</a:t>
            </a:r>
            <a:endParaRPr kumimoji="1" lang="ja-JP" altLang="en-US" dirty="0"/>
          </a:p>
        </p:txBody>
      </p:sp>
      <p:sp>
        <p:nvSpPr>
          <p:cNvPr id="126" name="吹き出し: 四角形 125">
            <a:extLst>
              <a:ext uri="{FF2B5EF4-FFF2-40B4-BE49-F238E27FC236}">
                <a16:creationId xmlns:a16="http://schemas.microsoft.com/office/drawing/2014/main" id="{16377097-807E-B70B-A908-188DF0413CCF}"/>
              </a:ext>
            </a:extLst>
          </p:cNvPr>
          <p:cNvSpPr/>
          <p:nvPr/>
        </p:nvSpPr>
        <p:spPr>
          <a:xfrm>
            <a:off x="4230049" y="6424380"/>
            <a:ext cx="948606" cy="369332"/>
          </a:xfrm>
          <a:prstGeom prst="wedgeRectCallout">
            <a:avLst>
              <a:gd name="adj1" fmla="val -17437"/>
              <a:gd name="adj2" fmla="val -956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歩行</a:t>
            </a:r>
            <a:endParaRPr kumimoji="1" lang="ja-JP" altLang="en-US" dirty="0"/>
          </a:p>
        </p:txBody>
      </p:sp>
      <p:sp>
        <p:nvSpPr>
          <p:cNvPr id="127" name="吹き出し: 四角形 126">
            <a:extLst>
              <a:ext uri="{FF2B5EF4-FFF2-40B4-BE49-F238E27FC236}">
                <a16:creationId xmlns:a16="http://schemas.microsoft.com/office/drawing/2014/main" id="{19926908-C3E0-8147-0066-74F73EFCE3E1}"/>
              </a:ext>
            </a:extLst>
          </p:cNvPr>
          <p:cNvSpPr/>
          <p:nvPr/>
        </p:nvSpPr>
        <p:spPr>
          <a:xfrm>
            <a:off x="5996680" y="6424380"/>
            <a:ext cx="948606" cy="369332"/>
          </a:xfrm>
          <a:prstGeom prst="wedgeRectCallout">
            <a:avLst>
              <a:gd name="adj1" fmla="val -17437"/>
              <a:gd name="adj2" fmla="val -95678"/>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dirty="0"/>
              <a:t>待機</a:t>
            </a:r>
            <a:endParaRPr kumimoji="1" lang="ja-JP" altLang="en-US" dirty="0"/>
          </a:p>
        </p:txBody>
      </p:sp>
      <p:cxnSp>
        <p:nvCxnSpPr>
          <p:cNvPr id="128" name="直線矢印コネクタ 127">
            <a:extLst>
              <a:ext uri="{FF2B5EF4-FFF2-40B4-BE49-F238E27FC236}">
                <a16:creationId xmlns:a16="http://schemas.microsoft.com/office/drawing/2014/main" id="{1DBEBBF2-F515-98AE-9C29-9E0B945E0D70}"/>
              </a:ext>
            </a:extLst>
          </p:cNvPr>
          <p:cNvCxnSpPr>
            <a:cxnSpLocks/>
          </p:cNvCxnSpPr>
          <p:nvPr/>
        </p:nvCxnSpPr>
        <p:spPr>
          <a:xfrm>
            <a:off x="8627535" y="603019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線矢印コネクタ 128">
            <a:extLst>
              <a:ext uri="{FF2B5EF4-FFF2-40B4-BE49-F238E27FC236}">
                <a16:creationId xmlns:a16="http://schemas.microsoft.com/office/drawing/2014/main" id="{61205A98-152F-9AE3-37FC-5DBA312E6CA0}"/>
              </a:ext>
            </a:extLst>
          </p:cNvPr>
          <p:cNvCxnSpPr>
            <a:cxnSpLocks/>
          </p:cNvCxnSpPr>
          <p:nvPr/>
        </p:nvCxnSpPr>
        <p:spPr>
          <a:xfrm flipV="1">
            <a:off x="8866641" y="504866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線矢印コネクタ 129">
            <a:extLst>
              <a:ext uri="{FF2B5EF4-FFF2-40B4-BE49-F238E27FC236}">
                <a16:creationId xmlns:a16="http://schemas.microsoft.com/office/drawing/2014/main" id="{8C1FC3C1-B1C1-102D-E352-E808AE40AD5F}"/>
              </a:ext>
            </a:extLst>
          </p:cNvPr>
          <p:cNvCxnSpPr>
            <a:cxnSpLocks/>
          </p:cNvCxnSpPr>
          <p:nvPr/>
        </p:nvCxnSpPr>
        <p:spPr>
          <a:xfrm flipV="1">
            <a:off x="8949041" y="4258091"/>
            <a:ext cx="0" cy="1986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線矢印コネクタ 130">
            <a:extLst>
              <a:ext uri="{FF2B5EF4-FFF2-40B4-BE49-F238E27FC236}">
                <a16:creationId xmlns:a16="http://schemas.microsoft.com/office/drawing/2014/main" id="{D2B03B25-87A9-9CBD-941D-6988E006A5BA}"/>
              </a:ext>
            </a:extLst>
          </p:cNvPr>
          <p:cNvCxnSpPr>
            <a:cxnSpLocks/>
          </p:cNvCxnSpPr>
          <p:nvPr/>
        </p:nvCxnSpPr>
        <p:spPr>
          <a:xfrm flipV="1">
            <a:off x="10645977" y="522715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直線矢印コネクタ 131">
            <a:extLst>
              <a:ext uri="{FF2B5EF4-FFF2-40B4-BE49-F238E27FC236}">
                <a16:creationId xmlns:a16="http://schemas.microsoft.com/office/drawing/2014/main" id="{07CF3307-C85D-C1D7-0F90-07A046AAFB16}"/>
              </a:ext>
            </a:extLst>
          </p:cNvPr>
          <p:cNvCxnSpPr>
            <a:cxnSpLocks/>
          </p:cNvCxnSpPr>
          <p:nvPr/>
        </p:nvCxnSpPr>
        <p:spPr>
          <a:xfrm>
            <a:off x="10185403" y="5227159"/>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3" name="テキスト ボックス 132">
            <a:extLst>
              <a:ext uri="{FF2B5EF4-FFF2-40B4-BE49-F238E27FC236}">
                <a16:creationId xmlns:a16="http://schemas.microsoft.com/office/drawing/2014/main" id="{C7578C41-8D35-8D8C-E41A-6E924024B404}"/>
              </a:ext>
            </a:extLst>
          </p:cNvPr>
          <p:cNvSpPr txBox="1"/>
          <p:nvPr/>
        </p:nvSpPr>
        <p:spPr>
          <a:xfrm>
            <a:off x="10737191" y="6020169"/>
            <a:ext cx="287258" cy="369332"/>
          </a:xfrm>
          <a:prstGeom prst="rect">
            <a:avLst/>
          </a:prstGeom>
          <a:noFill/>
        </p:spPr>
        <p:txBody>
          <a:bodyPr wrap="none" rtlCol="0">
            <a:spAutoFit/>
          </a:bodyPr>
          <a:lstStyle/>
          <a:p>
            <a:r>
              <a:rPr kumimoji="1" lang="en-US" altLang="ja-JP" i="1" dirty="0"/>
              <a:t>x</a:t>
            </a:r>
            <a:endParaRPr kumimoji="1" lang="ja-JP" altLang="en-US" i="1" dirty="0"/>
          </a:p>
        </p:txBody>
      </p:sp>
      <p:sp>
        <p:nvSpPr>
          <p:cNvPr id="134" name="テキスト ボックス 133">
            <a:extLst>
              <a:ext uri="{FF2B5EF4-FFF2-40B4-BE49-F238E27FC236}">
                <a16:creationId xmlns:a16="http://schemas.microsoft.com/office/drawing/2014/main" id="{78ED6128-AB3E-72BB-6E58-D0C90FCC5A83}"/>
              </a:ext>
            </a:extLst>
          </p:cNvPr>
          <p:cNvSpPr txBox="1"/>
          <p:nvPr/>
        </p:nvSpPr>
        <p:spPr>
          <a:xfrm>
            <a:off x="10359656" y="4754567"/>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135" name="テキスト ボックス 134">
            <a:extLst>
              <a:ext uri="{FF2B5EF4-FFF2-40B4-BE49-F238E27FC236}">
                <a16:creationId xmlns:a16="http://schemas.microsoft.com/office/drawing/2014/main" id="{C003EFE5-ACE4-032C-7CF5-B41832EE8FFC}"/>
              </a:ext>
            </a:extLst>
          </p:cNvPr>
          <p:cNvSpPr txBox="1"/>
          <p:nvPr/>
        </p:nvSpPr>
        <p:spPr>
          <a:xfrm>
            <a:off x="8601954" y="4123525"/>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136" name="直線矢印コネクタ 135">
            <a:extLst>
              <a:ext uri="{FF2B5EF4-FFF2-40B4-BE49-F238E27FC236}">
                <a16:creationId xmlns:a16="http://schemas.microsoft.com/office/drawing/2014/main" id="{E905B852-7371-4CFF-7CFC-5C437D6F589B}"/>
              </a:ext>
            </a:extLst>
          </p:cNvPr>
          <p:cNvCxnSpPr>
            <a:cxnSpLocks/>
          </p:cNvCxnSpPr>
          <p:nvPr/>
        </p:nvCxnSpPr>
        <p:spPr>
          <a:xfrm flipV="1">
            <a:off x="9803351" y="5230081"/>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B5F2647B-4E3F-2D51-F0C4-1EB50F0C0E4D}"/>
              </a:ext>
            </a:extLst>
          </p:cNvPr>
          <p:cNvCxnSpPr>
            <a:cxnSpLocks/>
          </p:cNvCxnSpPr>
          <p:nvPr/>
        </p:nvCxnSpPr>
        <p:spPr>
          <a:xfrm>
            <a:off x="9584251" y="5614329"/>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8" name="楕円 137">
            <a:extLst>
              <a:ext uri="{FF2B5EF4-FFF2-40B4-BE49-F238E27FC236}">
                <a16:creationId xmlns:a16="http://schemas.microsoft.com/office/drawing/2014/main" id="{BFA74298-A58A-50E2-3BC3-F15A3D33FDD5}"/>
              </a:ext>
            </a:extLst>
          </p:cNvPr>
          <p:cNvSpPr/>
          <p:nvPr/>
        </p:nvSpPr>
        <p:spPr>
          <a:xfrm>
            <a:off x="8769021"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39" name="楕円 138">
            <a:extLst>
              <a:ext uri="{FF2B5EF4-FFF2-40B4-BE49-F238E27FC236}">
                <a16:creationId xmlns:a16="http://schemas.microsoft.com/office/drawing/2014/main" id="{23FB8622-2D71-37DD-D17D-129E47AA9531}"/>
              </a:ext>
            </a:extLst>
          </p:cNvPr>
          <p:cNvSpPr/>
          <p:nvPr/>
        </p:nvSpPr>
        <p:spPr>
          <a:xfrm>
            <a:off x="9618375"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0" name="楕円 139">
            <a:extLst>
              <a:ext uri="{FF2B5EF4-FFF2-40B4-BE49-F238E27FC236}">
                <a16:creationId xmlns:a16="http://schemas.microsoft.com/office/drawing/2014/main" id="{495EBB11-CB27-7FBC-5520-FA046CFA5B81}"/>
              </a:ext>
            </a:extLst>
          </p:cNvPr>
          <p:cNvSpPr/>
          <p:nvPr/>
        </p:nvSpPr>
        <p:spPr>
          <a:xfrm>
            <a:off x="10467770" y="5932206"/>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1" name="楕円 140">
            <a:extLst>
              <a:ext uri="{FF2B5EF4-FFF2-40B4-BE49-F238E27FC236}">
                <a16:creationId xmlns:a16="http://schemas.microsoft.com/office/drawing/2014/main" id="{A157394B-420E-1D37-3428-DD500E4F8930}"/>
              </a:ext>
            </a:extLst>
          </p:cNvPr>
          <p:cNvSpPr/>
          <p:nvPr/>
        </p:nvSpPr>
        <p:spPr>
          <a:xfrm>
            <a:off x="9424630"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2" name="楕円 141">
            <a:extLst>
              <a:ext uri="{FF2B5EF4-FFF2-40B4-BE49-F238E27FC236}">
                <a16:creationId xmlns:a16="http://schemas.microsoft.com/office/drawing/2014/main" id="{317265E4-B248-8AEF-C4A7-35D275426024}"/>
              </a:ext>
            </a:extLst>
          </p:cNvPr>
          <p:cNvSpPr/>
          <p:nvPr/>
        </p:nvSpPr>
        <p:spPr>
          <a:xfrm>
            <a:off x="10273984"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3" name="楕円 142">
            <a:extLst>
              <a:ext uri="{FF2B5EF4-FFF2-40B4-BE49-F238E27FC236}">
                <a16:creationId xmlns:a16="http://schemas.microsoft.com/office/drawing/2014/main" id="{760A557A-AF92-77DD-0FD9-0EE994EE5FF1}"/>
              </a:ext>
            </a:extLst>
          </p:cNvPr>
          <p:cNvSpPr/>
          <p:nvPr/>
        </p:nvSpPr>
        <p:spPr>
          <a:xfrm>
            <a:off x="11123379" y="5514652"/>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4" name="楕円 143">
            <a:extLst>
              <a:ext uri="{FF2B5EF4-FFF2-40B4-BE49-F238E27FC236}">
                <a16:creationId xmlns:a16="http://schemas.microsoft.com/office/drawing/2014/main" id="{EF4841BE-615A-669B-E494-DF5600C09669}"/>
              </a:ext>
            </a:extLst>
          </p:cNvPr>
          <p:cNvSpPr/>
          <p:nvPr/>
        </p:nvSpPr>
        <p:spPr>
          <a:xfrm>
            <a:off x="10016280"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5" name="楕円 144">
            <a:extLst>
              <a:ext uri="{FF2B5EF4-FFF2-40B4-BE49-F238E27FC236}">
                <a16:creationId xmlns:a16="http://schemas.microsoft.com/office/drawing/2014/main" id="{11A37172-F08E-08C8-BFB2-11218F607D9B}"/>
              </a:ext>
            </a:extLst>
          </p:cNvPr>
          <p:cNvSpPr/>
          <p:nvPr/>
        </p:nvSpPr>
        <p:spPr>
          <a:xfrm>
            <a:off x="10865634"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46" name="楕円 145">
            <a:extLst>
              <a:ext uri="{FF2B5EF4-FFF2-40B4-BE49-F238E27FC236}">
                <a16:creationId xmlns:a16="http://schemas.microsoft.com/office/drawing/2014/main" id="{159BD00A-9160-3A5C-4A9B-7958B477BC5E}"/>
              </a:ext>
            </a:extLst>
          </p:cNvPr>
          <p:cNvSpPr/>
          <p:nvPr/>
        </p:nvSpPr>
        <p:spPr>
          <a:xfrm>
            <a:off x="11715029" y="513324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147" name="グループ化 146">
            <a:extLst>
              <a:ext uri="{FF2B5EF4-FFF2-40B4-BE49-F238E27FC236}">
                <a16:creationId xmlns:a16="http://schemas.microsoft.com/office/drawing/2014/main" id="{7A1B9CD5-B674-2A2B-3520-727BA21944FA}"/>
              </a:ext>
            </a:extLst>
          </p:cNvPr>
          <p:cNvGrpSpPr/>
          <p:nvPr/>
        </p:nvGrpSpPr>
        <p:grpSpPr>
          <a:xfrm>
            <a:off x="11135871" y="5389560"/>
            <a:ext cx="334117" cy="412098"/>
            <a:chOff x="1004572" y="4149080"/>
            <a:chExt cx="334117" cy="412098"/>
          </a:xfrm>
        </p:grpSpPr>
        <p:sp>
          <p:nvSpPr>
            <p:cNvPr id="148" name="二等辺三角形 147">
              <a:extLst>
                <a:ext uri="{FF2B5EF4-FFF2-40B4-BE49-F238E27FC236}">
                  <a16:creationId xmlns:a16="http://schemas.microsoft.com/office/drawing/2014/main" id="{FB3D7FF8-1B97-B26C-5D3D-C4FAE5162B6C}"/>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楕円 148">
              <a:extLst>
                <a:ext uri="{FF2B5EF4-FFF2-40B4-BE49-F238E27FC236}">
                  <a16:creationId xmlns:a16="http://schemas.microsoft.com/office/drawing/2014/main" id="{882AD4BC-6FCF-69B6-6BC6-B8BABE9C3D72}"/>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0" name="グループ化 149">
            <a:extLst>
              <a:ext uri="{FF2B5EF4-FFF2-40B4-BE49-F238E27FC236}">
                <a16:creationId xmlns:a16="http://schemas.microsoft.com/office/drawing/2014/main" id="{54276622-9D4F-BB26-32C1-23D24335B318}"/>
              </a:ext>
            </a:extLst>
          </p:cNvPr>
          <p:cNvGrpSpPr/>
          <p:nvPr/>
        </p:nvGrpSpPr>
        <p:grpSpPr>
          <a:xfrm>
            <a:off x="10286839" y="5303047"/>
            <a:ext cx="334117" cy="467747"/>
            <a:chOff x="1837225" y="4093431"/>
            <a:chExt cx="334117" cy="467747"/>
          </a:xfrm>
        </p:grpSpPr>
        <p:sp>
          <p:nvSpPr>
            <p:cNvPr id="151" name="二等辺三角形 150">
              <a:extLst>
                <a:ext uri="{FF2B5EF4-FFF2-40B4-BE49-F238E27FC236}">
                  <a16:creationId xmlns:a16="http://schemas.microsoft.com/office/drawing/2014/main" id="{37411BE8-009F-52D3-E3EA-F10EA573D705}"/>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楕円 151">
              <a:extLst>
                <a:ext uri="{FF2B5EF4-FFF2-40B4-BE49-F238E27FC236}">
                  <a16:creationId xmlns:a16="http://schemas.microsoft.com/office/drawing/2014/main" id="{24A65B97-F961-3872-764D-3E8125297977}"/>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3" name="フローチャート: 手作業 152">
              <a:extLst>
                <a:ext uri="{FF2B5EF4-FFF2-40B4-BE49-F238E27FC236}">
                  <a16:creationId xmlns:a16="http://schemas.microsoft.com/office/drawing/2014/main" id="{8F709E69-BF86-0F2E-B484-65D4AE42730B}"/>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4" name="グループ化 153">
            <a:extLst>
              <a:ext uri="{FF2B5EF4-FFF2-40B4-BE49-F238E27FC236}">
                <a16:creationId xmlns:a16="http://schemas.microsoft.com/office/drawing/2014/main" id="{E952B0A3-D367-7318-A014-0930DDBD9D63}"/>
              </a:ext>
            </a:extLst>
          </p:cNvPr>
          <p:cNvGrpSpPr/>
          <p:nvPr/>
        </p:nvGrpSpPr>
        <p:grpSpPr>
          <a:xfrm>
            <a:off x="8780055" y="5792737"/>
            <a:ext cx="334117" cy="412098"/>
            <a:chOff x="446620" y="4149080"/>
            <a:chExt cx="334117" cy="412098"/>
          </a:xfrm>
        </p:grpSpPr>
        <p:sp>
          <p:nvSpPr>
            <p:cNvPr id="155" name="二等辺三角形 154">
              <a:extLst>
                <a:ext uri="{FF2B5EF4-FFF2-40B4-BE49-F238E27FC236}">
                  <a16:creationId xmlns:a16="http://schemas.microsoft.com/office/drawing/2014/main" id="{81BF5777-F970-A720-6064-8C6333ACCC96}"/>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6" name="楕円 155">
              <a:extLst>
                <a:ext uri="{FF2B5EF4-FFF2-40B4-BE49-F238E27FC236}">
                  <a16:creationId xmlns:a16="http://schemas.microsoft.com/office/drawing/2014/main" id="{102D8817-BA2F-34B5-0ECC-4459F87A7B35}"/>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7" name="グループ化 156">
            <a:extLst>
              <a:ext uri="{FF2B5EF4-FFF2-40B4-BE49-F238E27FC236}">
                <a16:creationId xmlns:a16="http://schemas.microsoft.com/office/drawing/2014/main" id="{381B95A4-35F7-91F7-0866-457E6ACEEC35}"/>
              </a:ext>
            </a:extLst>
          </p:cNvPr>
          <p:cNvGrpSpPr/>
          <p:nvPr/>
        </p:nvGrpSpPr>
        <p:grpSpPr>
          <a:xfrm>
            <a:off x="10479723" y="5820291"/>
            <a:ext cx="360040" cy="412097"/>
            <a:chOff x="2495600" y="4149081"/>
            <a:chExt cx="360040" cy="412097"/>
          </a:xfrm>
        </p:grpSpPr>
        <p:sp>
          <p:nvSpPr>
            <p:cNvPr id="158" name="正方形/長方形 157">
              <a:extLst>
                <a:ext uri="{FF2B5EF4-FFF2-40B4-BE49-F238E27FC236}">
                  <a16:creationId xmlns:a16="http://schemas.microsoft.com/office/drawing/2014/main" id="{91D0E104-D14C-2C47-0B92-E2ECFA211B77}"/>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正方形/長方形 158">
              <a:extLst>
                <a:ext uri="{FF2B5EF4-FFF2-40B4-BE49-F238E27FC236}">
                  <a16:creationId xmlns:a16="http://schemas.microsoft.com/office/drawing/2014/main" id="{A49F1A43-A528-5FB0-8201-EA080DD9FEBD}"/>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61" name="グラフィックス 160" descr="人工知能 単色塗りつぶし">
            <a:extLst>
              <a:ext uri="{FF2B5EF4-FFF2-40B4-BE49-F238E27FC236}">
                <a16:creationId xmlns:a16="http://schemas.microsoft.com/office/drawing/2014/main" id="{27EFCDB4-6AFF-B03C-DCCA-1866270596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75396" y="5929477"/>
            <a:ext cx="486970" cy="486970"/>
          </a:xfrm>
          <a:prstGeom prst="rect">
            <a:avLst/>
          </a:prstGeom>
        </p:spPr>
      </p:pic>
      <p:cxnSp>
        <p:nvCxnSpPr>
          <p:cNvPr id="162" name="直線矢印コネクタ 161">
            <a:extLst>
              <a:ext uri="{FF2B5EF4-FFF2-40B4-BE49-F238E27FC236}">
                <a16:creationId xmlns:a16="http://schemas.microsoft.com/office/drawing/2014/main" id="{E9B018D7-7653-2A09-E175-821F38420407}"/>
              </a:ext>
            </a:extLst>
          </p:cNvPr>
          <p:cNvCxnSpPr>
            <a:cxnSpLocks/>
            <a:stCxn id="161" idx="1"/>
            <a:endCxn id="158" idx="3"/>
          </p:cNvCxnSpPr>
          <p:nvPr/>
        </p:nvCxnSpPr>
        <p:spPr>
          <a:xfrm flipH="1" flipV="1">
            <a:off x="10839763" y="5905755"/>
            <a:ext cx="635633" cy="26720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線矢印コネクタ 164">
            <a:extLst>
              <a:ext uri="{FF2B5EF4-FFF2-40B4-BE49-F238E27FC236}">
                <a16:creationId xmlns:a16="http://schemas.microsoft.com/office/drawing/2014/main" id="{2A5F7DF3-C9C0-1B73-501F-D410099936D6}"/>
              </a:ext>
            </a:extLst>
          </p:cNvPr>
          <p:cNvCxnSpPr>
            <a:cxnSpLocks/>
            <a:endCxn id="152" idx="5"/>
          </p:cNvCxnSpPr>
          <p:nvPr/>
        </p:nvCxnSpPr>
        <p:spPr>
          <a:xfrm flipH="1" flipV="1">
            <a:off x="10536058" y="5557047"/>
            <a:ext cx="960542" cy="46312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7" name="吹き出し: 四角形 166">
            <a:extLst>
              <a:ext uri="{FF2B5EF4-FFF2-40B4-BE49-F238E27FC236}">
                <a16:creationId xmlns:a16="http://schemas.microsoft.com/office/drawing/2014/main" id="{4DA6070F-CFFD-BF07-2F6F-705E66F242A6}"/>
              </a:ext>
            </a:extLst>
          </p:cNvPr>
          <p:cNvSpPr/>
          <p:nvPr/>
        </p:nvSpPr>
        <p:spPr>
          <a:xfrm>
            <a:off x="10632092" y="4634537"/>
            <a:ext cx="2238132" cy="290396"/>
          </a:xfrm>
          <a:prstGeom prst="wedgeRectCallout">
            <a:avLst>
              <a:gd name="adj1" fmla="val -42527"/>
              <a:gd name="adj2" fmla="val 283317"/>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dirty="0"/>
              <a:t>① </a:t>
            </a:r>
            <a:r>
              <a:rPr lang="en-US" altLang="ja-JP" dirty="0"/>
              <a:t>A</a:t>
            </a:r>
            <a:r>
              <a:rPr lang="ja-JP" altLang="en-US" dirty="0"/>
              <a:t>さん見てきて</a:t>
            </a:r>
            <a:endParaRPr kumimoji="1" lang="ja-JP" altLang="en-US" dirty="0"/>
          </a:p>
        </p:txBody>
      </p:sp>
      <p:sp>
        <p:nvSpPr>
          <p:cNvPr id="168" name="吹き出し: 四角形 167">
            <a:extLst>
              <a:ext uri="{FF2B5EF4-FFF2-40B4-BE49-F238E27FC236}">
                <a16:creationId xmlns:a16="http://schemas.microsoft.com/office/drawing/2014/main" id="{ABCB78D4-6A8F-1F46-0653-C68D40668026}"/>
              </a:ext>
            </a:extLst>
          </p:cNvPr>
          <p:cNvSpPr/>
          <p:nvPr/>
        </p:nvSpPr>
        <p:spPr>
          <a:xfrm>
            <a:off x="9302507" y="6383769"/>
            <a:ext cx="2238132" cy="290394"/>
          </a:xfrm>
          <a:prstGeom prst="wedgeRectCallout">
            <a:avLst>
              <a:gd name="adj1" fmla="val 43951"/>
              <a:gd name="adj2" fmla="val -116910"/>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ja-JP" altLang="en-US" dirty="0"/>
              <a:t>② </a:t>
            </a:r>
            <a:r>
              <a:rPr lang="en-US" altLang="ja-JP" dirty="0"/>
              <a:t>A</a:t>
            </a:r>
            <a:r>
              <a:rPr lang="ja-JP" altLang="en-US" dirty="0"/>
              <a:t>さん見てきて</a:t>
            </a:r>
            <a:endParaRPr kumimoji="1" lang="ja-JP" altLang="en-US" dirty="0"/>
          </a:p>
        </p:txBody>
      </p:sp>
    </p:spTree>
    <p:extLst>
      <p:ext uri="{BB962C8B-B14F-4D97-AF65-F5344CB8AC3E}">
        <p14:creationId xmlns:p14="http://schemas.microsoft.com/office/powerpoint/2010/main" val="18413982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65" name="直線矢印コネクタ 64">
            <a:extLst>
              <a:ext uri="{FF2B5EF4-FFF2-40B4-BE49-F238E27FC236}">
                <a16:creationId xmlns:a16="http://schemas.microsoft.com/office/drawing/2014/main" id="{4B81FC25-60E3-1D6F-647E-781B6DE8DB18}"/>
              </a:ext>
            </a:extLst>
          </p:cNvPr>
          <p:cNvCxnSpPr>
            <a:cxnSpLocks/>
          </p:cNvCxnSpPr>
          <p:nvPr/>
        </p:nvCxnSpPr>
        <p:spPr>
          <a:xfrm flipV="1">
            <a:off x="1082667" y="100822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4831A8A5-19D4-C11D-A369-FF65868EA83F}"/>
              </a:ext>
            </a:extLst>
          </p:cNvPr>
          <p:cNvCxnSpPr>
            <a:cxnSpLocks/>
          </p:cNvCxnSpPr>
          <p:nvPr/>
        </p:nvCxnSpPr>
        <p:spPr>
          <a:xfrm>
            <a:off x="1057163" y="1820907"/>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87DA9CDB-D25B-B21F-8815-3BA591DF1C33}"/>
              </a:ext>
            </a:extLst>
          </p:cNvPr>
          <p:cNvCxnSpPr>
            <a:cxnSpLocks/>
          </p:cNvCxnSpPr>
          <p:nvPr/>
        </p:nvCxnSpPr>
        <p:spPr>
          <a:xfrm>
            <a:off x="733934" y="3242240"/>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725AB05F-8738-4CF5-CFF6-9FB00C4076BD}"/>
              </a:ext>
            </a:extLst>
          </p:cNvPr>
          <p:cNvCxnSpPr>
            <a:cxnSpLocks/>
          </p:cNvCxnSpPr>
          <p:nvPr/>
        </p:nvCxnSpPr>
        <p:spPr>
          <a:xfrm flipV="1">
            <a:off x="973040" y="2260713"/>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557A2247-CA2B-008F-BFD8-D0479CABCA65}"/>
              </a:ext>
            </a:extLst>
          </p:cNvPr>
          <p:cNvCxnSpPr>
            <a:cxnSpLocks/>
          </p:cNvCxnSpPr>
          <p:nvPr/>
        </p:nvCxnSpPr>
        <p:spPr>
          <a:xfrm flipV="1">
            <a:off x="1055440" y="663159"/>
            <a:ext cx="0" cy="2793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57DA9166-D63C-82D6-E5A3-A335276E7905}"/>
              </a:ext>
            </a:extLst>
          </p:cNvPr>
          <p:cNvCxnSpPr>
            <a:cxnSpLocks/>
          </p:cNvCxnSpPr>
          <p:nvPr/>
        </p:nvCxnSpPr>
        <p:spPr>
          <a:xfrm flipV="1">
            <a:off x="2752376" y="2439209"/>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054F61F-4449-162A-351C-C3D0FE5CFDB3}"/>
              </a:ext>
            </a:extLst>
          </p:cNvPr>
          <p:cNvCxnSpPr>
            <a:cxnSpLocks/>
          </p:cNvCxnSpPr>
          <p:nvPr/>
        </p:nvCxnSpPr>
        <p:spPr>
          <a:xfrm>
            <a:off x="2291802" y="2439209"/>
            <a:ext cx="166818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F925A50D-8E1B-9A5B-1EE5-8B25ADE7F80E}"/>
              </a:ext>
            </a:extLst>
          </p:cNvPr>
          <p:cNvSpPr txBox="1"/>
          <p:nvPr/>
        </p:nvSpPr>
        <p:spPr>
          <a:xfrm>
            <a:off x="2466055" y="1570195"/>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14" name="テキスト ボックス 13">
            <a:extLst>
              <a:ext uri="{FF2B5EF4-FFF2-40B4-BE49-F238E27FC236}">
                <a16:creationId xmlns:a16="http://schemas.microsoft.com/office/drawing/2014/main" id="{BE13044E-5483-A3E0-4CB2-818D494D1C09}"/>
              </a:ext>
            </a:extLst>
          </p:cNvPr>
          <p:cNvSpPr txBox="1"/>
          <p:nvPr/>
        </p:nvSpPr>
        <p:spPr>
          <a:xfrm>
            <a:off x="708353" y="635975"/>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15" name="直線矢印コネクタ 14">
            <a:extLst>
              <a:ext uri="{FF2B5EF4-FFF2-40B4-BE49-F238E27FC236}">
                <a16:creationId xmlns:a16="http://schemas.microsoft.com/office/drawing/2014/main" id="{0F2CC441-266E-01B6-B63A-1DFCFD224386}"/>
              </a:ext>
            </a:extLst>
          </p:cNvPr>
          <p:cNvCxnSpPr>
            <a:cxnSpLocks/>
          </p:cNvCxnSpPr>
          <p:nvPr/>
        </p:nvCxnSpPr>
        <p:spPr>
          <a:xfrm flipV="1">
            <a:off x="1909750" y="2442131"/>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F54FD662-C9B4-DE7F-C61D-05DE3B2097E5}"/>
              </a:ext>
            </a:extLst>
          </p:cNvPr>
          <p:cNvCxnSpPr>
            <a:cxnSpLocks/>
          </p:cNvCxnSpPr>
          <p:nvPr/>
        </p:nvCxnSpPr>
        <p:spPr>
          <a:xfrm>
            <a:off x="1690650" y="2826379"/>
            <a:ext cx="166781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楕円 16">
            <a:extLst>
              <a:ext uri="{FF2B5EF4-FFF2-40B4-BE49-F238E27FC236}">
                <a16:creationId xmlns:a16="http://schemas.microsoft.com/office/drawing/2014/main" id="{D3001ACD-0E86-CB89-8AB5-5EC95C6CBE12}"/>
              </a:ext>
            </a:extLst>
          </p:cNvPr>
          <p:cNvSpPr/>
          <p:nvPr/>
        </p:nvSpPr>
        <p:spPr>
          <a:xfrm>
            <a:off x="875420"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A41B6AEE-300F-06F5-2DA6-17865AF3F1D9}"/>
              </a:ext>
            </a:extLst>
          </p:cNvPr>
          <p:cNvSpPr/>
          <p:nvPr/>
        </p:nvSpPr>
        <p:spPr>
          <a:xfrm>
            <a:off x="1724774"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8D8BE854-249A-C40E-2B99-5617ABABCEA1}"/>
              </a:ext>
            </a:extLst>
          </p:cNvPr>
          <p:cNvSpPr/>
          <p:nvPr/>
        </p:nvSpPr>
        <p:spPr>
          <a:xfrm>
            <a:off x="2574169" y="3144256"/>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CD898881-C78C-EF59-5853-295D28D2EE6F}"/>
              </a:ext>
            </a:extLst>
          </p:cNvPr>
          <p:cNvSpPr/>
          <p:nvPr/>
        </p:nvSpPr>
        <p:spPr>
          <a:xfrm>
            <a:off x="1531029"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24417612-366F-CDA8-6099-449B2F855C17}"/>
              </a:ext>
            </a:extLst>
          </p:cNvPr>
          <p:cNvSpPr/>
          <p:nvPr/>
        </p:nvSpPr>
        <p:spPr>
          <a:xfrm>
            <a:off x="2380383"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7DE597F9-6FA1-1151-58C5-F4A5EA68A1C6}"/>
              </a:ext>
            </a:extLst>
          </p:cNvPr>
          <p:cNvSpPr/>
          <p:nvPr/>
        </p:nvSpPr>
        <p:spPr>
          <a:xfrm>
            <a:off x="3229778" y="2726702"/>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E95AC773-FE85-C156-00A5-7FAEE28FA55A}"/>
              </a:ext>
            </a:extLst>
          </p:cNvPr>
          <p:cNvSpPr/>
          <p:nvPr/>
        </p:nvSpPr>
        <p:spPr>
          <a:xfrm>
            <a:off x="2122679"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53BD5E28-D86E-9BAE-9E5B-AE9BE07714D5}"/>
              </a:ext>
            </a:extLst>
          </p:cNvPr>
          <p:cNvSpPr/>
          <p:nvPr/>
        </p:nvSpPr>
        <p:spPr>
          <a:xfrm>
            <a:off x="2972033"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5E6A6388-8ECA-BF41-E920-E17A80E22E01}"/>
              </a:ext>
            </a:extLst>
          </p:cNvPr>
          <p:cNvSpPr/>
          <p:nvPr/>
        </p:nvSpPr>
        <p:spPr>
          <a:xfrm>
            <a:off x="3821428" y="2345290"/>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1CC7FDFF-75AC-3C87-53E2-5C9566DD81A2}"/>
              </a:ext>
            </a:extLst>
          </p:cNvPr>
          <p:cNvGrpSpPr/>
          <p:nvPr/>
        </p:nvGrpSpPr>
        <p:grpSpPr>
          <a:xfrm>
            <a:off x="3242270" y="2601610"/>
            <a:ext cx="334117" cy="412098"/>
            <a:chOff x="1004572" y="4149080"/>
            <a:chExt cx="334117" cy="412098"/>
          </a:xfrm>
          <a:solidFill>
            <a:schemeClr val="bg1">
              <a:lumMod val="95000"/>
            </a:schemeClr>
          </a:solidFill>
        </p:grpSpPr>
        <p:sp>
          <p:nvSpPr>
            <p:cNvPr id="27" name="二等辺三角形 26">
              <a:extLst>
                <a:ext uri="{FF2B5EF4-FFF2-40B4-BE49-F238E27FC236}">
                  <a16:creationId xmlns:a16="http://schemas.microsoft.com/office/drawing/2014/main" id="{34B6F777-6EC9-CF11-0A31-7C09AEDE885F}"/>
                </a:ext>
              </a:extLst>
            </p:cNvPr>
            <p:cNvSpPr/>
            <p:nvPr/>
          </p:nvSpPr>
          <p:spPr>
            <a:xfrm rot="10800000">
              <a:off x="1004572"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A6ADF03-E4F0-9F21-FE50-48CA7D1F7A50}"/>
                </a:ext>
              </a:extLst>
            </p:cNvPr>
            <p:cNvSpPr/>
            <p:nvPr/>
          </p:nvSpPr>
          <p:spPr>
            <a:xfrm>
              <a:off x="1055440"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9" name="グループ化 28">
            <a:extLst>
              <a:ext uri="{FF2B5EF4-FFF2-40B4-BE49-F238E27FC236}">
                <a16:creationId xmlns:a16="http://schemas.microsoft.com/office/drawing/2014/main" id="{4F374E39-D438-D3E9-A326-D59F652B4602}"/>
              </a:ext>
            </a:extLst>
          </p:cNvPr>
          <p:cNvGrpSpPr/>
          <p:nvPr/>
        </p:nvGrpSpPr>
        <p:grpSpPr>
          <a:xfrm>
            <a:off x="2393238" y="2515097"/>
            <a:ext cx="334117" cy="467747"/>
            <a:chOff x="1837225" y="4093431"/>
            <a:chExt cx="334117" cy="467747"/>
          </a:xfrm>
          <a:solidFill>
            <a:schemeClr val="bg1">
              <a:lumMod val="95000"/>
            </a:schemeClr>
          </a:solidFill>
        </p:grpSpPr>
        <p:sp>
          <p:nvSpPr>
            <p:cNvPr id="30" name="二等辺三角形 29">
              <a:extLst>
                <a:ext uri="{FF2B5EF4-FFF2-40B4-BE49-F238E27FC236}">
                  <a16:creationId xmlns:a16="http://schemas.microsoft.com/office/drawing/2014/main" id="{865CFFD8-D1E6-2098-A8F9-DE9BDD10CD8F}"/>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1" name="楕円 30">
              <a:extLst>
                <a:ext uri="{FF2B5EF4-FFF2-40B4-BE49-F238E27FC236}">
                  <a16:creationId xmlns:a16="http://schemas.microsoft.com/office/drawing/2014/main" id="{D4642BF7-4278-F540-0845-3223AEA0419B}"/>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2" name="フローチャート: 手作業 31">
              <a:extLst>
                <a:ext uri="{FF2B5EF4-FFF2-40B4-BE49-F238E27FC236}">
                  <a16:creationId xmlns:a16="http://schemas.microsoft.com/office/drawing/2014/main" id="{2D02AF8A-0473-A415-4039-B750D7DCDC75}"/>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grpSp>
        <p:nvGrpSpPr>
          <p:cNvPr id="33" name="グループ化 32">
            <a:extLst>
              <a:ext uri="{FF2B5EF4-FFF2-40B4-BE49-F238E27FC236}">
                <a16:creationId xmlns:a16="http://schemas.microsoft.com/office/drawing/2014/main" id="{72C442E7-90E3-B6CC-0CAF-7080EB48F435}"/>
              </a:ext>
            </a:extLst>
          </p:cNvPr>
          <p:cNvGrpSpPr/>
          <p:nvPr/>
        </p:nvGrpSpPr>
        <p:grpSpPr>
          <a:xfrm>
            <a:off x="886454" y="3004787"/>
            <a:ext cx="334117" cy="412098"/>
            <a:chOff x="446620" y="4149080"/>
            <a:chExt cx="334117" cy="412098"/>
          </a:xfrm>
          <a:solidFill>
            <a:schemeClr val="bg1">
              <a:lumMod val="95000"/>
            </a:schemeClr>
          </a:solidFill>
        </p:grpSpPr>
        <p:sp>
          <p:nvSpPr>
            <p:cNvPr id="34" name="二等辺三角形 33">
              <a:extLst>
                <a:ext uri="{FF2B5EF4-FFF2-40B4-BE49-F238E27FC236}">
                  <a16:creationId xmlns:a16="http://schemas.microsoft.com/office/drawing/2014/main" id="{10F8DF8D-852C-4312-97D8-CEBDF222753D}"/>
                </a:ext>
              </a:extLst>
            </p:cNvPr>
            <p:cNvSpPr/>
            <p:nvPr/>
          </p:nvSpPr>
          <p:spPr>
            <a:xfrm>
              <a:off x="446620"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7A4DB282-36A6-A453-B030-59E20D9E8872}"/>
                </a:ext>
              </a:extLst>
            </p:cNvPr>
            <p:cNvSpPr/>
            <p:nvPr/>
          </p:nvSpPr>
          <p:spPr>
            <a:xfrm>
              <a:off x="497488"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8BCAB9E0-FA12-ECE3-6AA4-DD6F460252C8}"/>
              </a:ext>
            </a:extLst>
          </p:cNvPr>
          <p:cNvGrpSpPr/>
          <p:nvPr/>
        </p:nvGrpSpPr>
        <p:grpSpPr>
          <a:xfrm>
            <a:off x="2586122" y="3032341"/>
            <a:ext cx="360040" cy="412097"/>
            <a:chOff x="2495600" y="4149081"/>
            <a:chExt cx="360040" cy="412097"/>
          </a:xfrm>
          <a:solidFill>
            <a:schemeClr val="bg1">
              <a:lumMod val="95000"/>
            </a:schemeClr>
          </a:solidFill>
        </p:grpSpPr>
        <p:sp>
          <p:nvSpPr>
            <p:cNvPr id="37" name="正方形/長方形 36">
              <a:extLst>
                <a:ext uri="{FF2B5EF4-FFF2-40B4-BE49-F238E27FC236}">
                  <a16:creationId xmlns:a16="http://schemas.microsoft.com/office/drawing/2014/main" id="{9EBDE12F-925F-77C4-DD88-6E37710D9BC4}"/>
                </a:ext>
              </a:extLst>
            </p:cNvPr>
            <p:cNvSpPr/>
            <p:nvPr/>
          </p:nvSpPr>
          <p:spPr>
            <a:xfrm>
              <a:off x="2495600" y="4149081"/>
              <a:ext cx="360040" cy="170928"/>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8434B7A0-36B3-10BD-2923-83E6F448DC74}"/>
                </a:ext>
              </a:extLst>
            </p:cNvPr>
            <p:cNvSpPr/>
            <p:nvPr/>
          </p:nvSpPr>
          <p:spPr>
            <a:xfrm>
              <a:off x="2579628" y="4320009"/>
              <a:ext cx="191984" cy="241169"/>
            </a:xfrm>
            <a:prstGeom prst="rect">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39" name="直線矢印コネクタ 38">
            <a:extLst>
              <a:ext uri="{FF2B5EF4-FFF2-40B4-BE49-F238E27FC236}">
                <a16:creationId xmlns:a16="http://schemas.microsoft.com/office/drawing/2014/main" id="{72D2753A-2BE7-659F-55CE-D3E605D84449}"/>
              </a:ext>
            </a:extLst>
          </p:cNvPr>
          <p:cNvCxnSpPr>
            <a:cxnSpLocks/>
          </p:cNvCxnSpPr>
          <p:nvPr/>
        </p:nvCxnSpPr>
        <p:spPr>
          <a:xfrm>
            <a:off x="2710389" y="2726702"/>
            <a:ext cx="519389"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8876700A-84ED-6D4A-0683-BAAC0C4B556D}"/>
              </a:ext>
            </a:extLst>
          </p:cNvPr>
          <p:cNvCxnSpPr>
            <a:cxnSpLocks/>
          </p:cNvCxnSpPr>
          <p:nvPr/>
        </p:nvCxnSpPr>
        <p:spPr>
          <a:xfrm flipV="1">
            <a:off x="2752376" y="1005307"/>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2BA96769-9953-8E36-015A-514064B89865}"/>
              </a:ext>
            </a:extLst>
          </p:cNvPr>
          <p:cNvCxnSpPr>
            <a:cxnSpLocks/>
          </p:cNvCxnSpPr>
          <p:nvPr/>
        </p:nvCxnSpPr>
        <p:spPr>
          <a:xfrm>
            <a:off x="2291802" y="1005307"/>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576A3E3C-65FC-88DF-92AF-4CE3967FB887}"/>
              </a:ext>
            </a:extLst>
          </p:cNvPr>
          <p:cNvCxnSpPr>
            <a:cxnSpLocks/>
          </p:cNvCxnSpPr>
          <p:nvPr/>
        </p:nvCxnSpPr>
        <p:spPr>
          <a:xfrm flipV="1">
            <a:off x="1909750" y="1008229"/>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2E504722-B81D-51C7-3156-D6EDC24B5EBC}"/>
              </a:ext>
            </a:extLst>
          </p:cNvPr>
          <p:cNvCxnSpPr>
            <a:cxnSpLocks/>
          </p:cNvCxnSpPr>
          <p:nvPr/>
        </p:nvCxnSpPr>
        <p:spPr>
          <a:xfrm>
            <a:off x="1690650" y="1392477"/>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66B70397-7F10-AFB7-CF11-6E3EC755967F}"/>
              </a:ext>
            </a:extLst>
          </p:cNvPr>
          <p:cNvSpPr/>
          <p:nvPr/>
        </p:nvSpPr>
        <p:spPr>
          <a:xfrm>
            <a:off x="875420"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602DA4DC-55D3-B734-B5ED-4FDCE1FC9EC8}"/>
              </a:ext>
            </a:extLst>
          </p:cNvPr>
          <p:cNvSpPr/>
          <p:nvPr/>
        </p:nvSpPr>
        <p:spPr>
          <a:xfrm>
            <a:off x="1724774"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C2AC59A2-538A-2D11-B5D6-97E4775CFB59}"/>
              </a:ext>
            </a:extLst>
          </p:cNvPr>
          <p:cNvSpPr/>
          <p:nvPr/>
        </p:nvSpPr>
        <p:spPr>
          <a:xfrm>
            <a:off x="2574169" y="1710354"/>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1998FF81-4D52-A3F0-2010-D9911F63B475}"/>
              </a:ext>
            </a:extLst>
          </p:cNvPr>
          <p:cNvSpPr/>
          <p:nvPr/>
        </p:nvSpPr>
        <p:spPr>
          <a:xfrm>
            <a:off x="1531029"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49" name="楕円 48">
            <a:extLst>
              <a:ext uri="{FF2B5EF4-FFF2-40B4-BE49-F238E27FC236}">
                <a16:creationId xmlns:a16="http://schemas.microsoft.com/office/drawing/2014/main" id="{71B16D35-F7AF-7183-D52D-25EE0A386C40}"/>
              </a:ext>
            </a:extLst>
          </p:cNvPr>
          <p:cNvSpPr/>
          <p:nvPr/>
        </p:nvSpPr>
        <p:spPr>
          <a:xfrm>
            <a:off x="2380383"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0" name="楕円 49">
            <a:extLst>
              <a:ext uri="{FF2B5EF4-FFF2-40B4-BE49-F238E27FC236}">
                <a16:creationId xmlns:a16="http://schemas.microsoft.com/office/drawing/2014/main" id="{CA3045A2-3C4E-FCD7-0A0D-37C69362BA75}"/>
              </a:ext>
            </a:extLst>
          </p:cNvPr>
          <p:cNvSpPr/>
          <p:nvPr/>
        </p:nvSpPr>
        <p:spPr>
          <a:xfrm>
            <a:off x="3229778" y="1292800"/>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BA8A96C3-DDDB-68ED-4F29-ABA363AC7375}"/>
              </a:ext>
            </a:extLst>
          </p:cNvPr>
          <p:cNvSpPr/>
          <p:nvPr/>
        </p:nvSpPr>
        <p:spPr>
          <a:xfrm>
            <a:off x="2122679"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BFBC34FE-CAEF-B9E4-3313-E420A8A9D340}"/>
              </a:ext>
            </a:extLst>
          </p:cNvPr>
          <p:cNvSpPr/>
          <p:nvPr/>
        </p:nvSpPr>
        <p:spPr>
          <a:xfrm>
            <a:off x="2972033"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53" name="楕円 52">
            <a:extLst>
              <a:ext uri="{FF2B5EF4-FFF2-40B4-BE49-F238E27FC236}">
                <a16:creationId xmlns:a16="http://schemas.microsoft.com/office/drawing/2014/main" id="{8C1E9218-71E8-703E-B00B-83A7E73A37F2}"/>
              </a:ext>
            </a:extLst>
          </p:cNvPr>
          <p:cNvSpPr/>
          <p:nvPr/>
        </p:nvSpPr>
        <p:spPr>
          <a:xfrm>
            <a:off x="3821428" y="911388"/>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cxnSp>
        <p:nvCxnSpPr>
          <p:cNvPr id="54" name="直線矢印コネクタ 53">
            <a:extLst>
              <a:ext uri="{FF2B5EF4-FFF2-40B4-BE49-F238E27FC236}">
                <a16:creationId xmlns:a16="http://schemas.microsoft.com/office/drawing/2014/main" id="{188447B2-EE91-E3FF-A591-BF6BF7E097DB}"/>
              </a:ext>
            </a:extLst>
          </p:cNvPr>
          <p:cNvCxnSpPr>
            <a:cxnSpLocks/>
            <a:stCxn id="68" idx="2"/>
            <a:endCxn id="60" idx="7"/>
          </p:cNvCxnSpPr>
          <p:nvPr/>
        </p:nvCxnSpPr>
        <p:spPr>
          <a:xfrm flipH="1">
            <a:off x="1135673" y="1253589"/>
            <a:ext cx="459079" cy="34286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nvGrpSpPr>
          <p:cNvPr id="55" name="グループ化 54">
            <a:extLst>
              <a:ext uri="{FF2B5EF4-FFF2-40B4-BE49-F238E27FC236}">
                <a16:creationId xmlns:a16="http://schemas.microsoft.com/office/drawing/2014/main" id="{22DABD92-6B7B-8381-EC03-2876C433284A}"/>
              </a:ext>
            </a:extLst>
          </p:cNvPr>
          <p:cNvGrpSpPr/>
          <p:nvPr/>
        </p:nvGrpSpPr>
        <p:grpSpPr>
          <a:xfrm>
            <a:off x="3242270" y="1159245"/>
            <a:ext cx="334117" cy="412098"/>
            <a:chOff x="1004572" y="4149080"/>
            <a:chExt cx="334117" cy="412098"/>
          </a:xfrm>
        </p:grpSpPr>
        <p:sp>
          <p:nvSpPr>
            <p:cNvPr id="56" name="二等辺三角形 55">
              <a:extLst>
                <a:ext uri="{FF2B5EF4-FFF2-40B4-BE49-F238E27FC236}">
                  <a16:creationId xmlns:a16="http://schemas.microsoft.com/office/drawing/2014/main" id="{4F41FA79-FA93-C95E-83E2-1E9988753AA1}"/>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F8359393-401E-B24A-D753-A21483A0B6DA}"/>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D5C1F292-4F64-8D5E-9EDA-330D96EF3155}"/>
              </a:ext>
            </a:extLst>
          </p:cNvPr>
          <p:cNvGrpSpPr/>
          <p:nvPr/>
        </p:nvGrpSpPr>
        <p:grpSpPr>
          <a:xfrm>
            <a:off x="886454" y="1562422"/>
            <a:ext cx="334117" cy="412098"/>
            <a:chOff x="446620" y="4149080"/>
            <a:chExt cx="334117" cy="412098"/>
          </a:xfrm>
        </p:grpSpPr>
        <p:sp>
          <p:nvSpPr>
            <p:cNvPr id="59" name="二等辺三角形 58">
              <a:extLst>
                <a:ext uri="{FF2B5EF4-FFF2-40B4-BE49-F238E27FC236}">
                  <a16:creationId xmlns:a16="http://schemas.microsoft.com/office/drawing/2014/main" id="{E8F024EE-30CA-5E89-7DD2-06BC85B4C0FA}"/>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楕円 59">
              <a:extLst>
                <a:ext uri="{FF2B5EF4-FFF2-40B4-BE49-F238E27FC236}">
                  <a16:creationId xmlns:a16="http://schemas.microsoft.com/office/drawing/2014/main" id="{6B66EE92-C0FE-9433-8831-D7A0621F46DF}"/>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1" name="グループ化 60">
            <a:extLst>
              <a:ext uri="{FF2B5EF4-FFF2-40B4-BE49-F238E27FC236}">
                <a16:creationId xmlns:a16="http://schemas.microsoft.com/office/drawing/2014/main" id="{B9D25A31-9F9C-5164-3C72-DD43E6AB13EF}"/>
              </a:ext>
            </a:extLst>
          </p:cNvPr>
          <p:cNvGrpSpPr/>
          <p:nvPr/>
        </p:nvGrpSpPr>
        <p:grpSpPr>
          <a:xfrm>
            <a:off x="2586122" y="1589976"/>
            <a:ext cx="360040" cy="412097"/>
            <a:chOff x="2495600" y="4149081"/>
            <a:chExt cx="360040" cy="412097"/>
          </a:xfrm>
        </p:grpSpPr>
        <p:sp>
          <p:nvSpPr>
            <p:cNvPr id="62" name="正方形/長方形 61">
              <a:extLst>
                <a:ext uri="{FF2B5EF4-FFF2-40B4-BE49-F238E27FC236}">
                  <a16:creationId xmlns:a16="http://schemas.microsoft.com/office/drawing/2014/main" id="{C84CDA2E-D96E-8AB7-09C9-E3700F54F642}"/>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F52E4436-DE0A-8071-47BE-1CFA985196DE}"/>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6" name="グループ化 65">
            <a:extLst>
              <a:ext uri="{FF2B5EF4-FFF2-40B4-BE49-F238E27FC236}">
                <a16:creationId xmlns:a16="http://schemas.microsoft.com/office/drawing/2014/main" id="{911308AF-A204-C63C-9A1F-E76C194A140C}"/>
              </a:ext>
            </a:extLst>
          </p:cNvPr>
          <p:cNvGrpSpPr/>
          <p:nvPr/>
        </p:nvGrpSpPr>
        <p:grpSpPr>
          <a:xfrm>
            <a:off x="1543884" y="1081748"/>
            <a:ext cx="334117" cy="467747"/>
            <a:chOff x="1837225" y="4093431"/>
            <a:chExt cx="334117" cy="467747"/>
          </a:xfrm>
        </p:grpSpPr>
        <p:sp>
          <p:nvSpPr>
            <p:cNvPr id="67" name="二等辺三角形 66">
              <a:extLst>
                <a:ext uri="{FF2B5EF4-FFF2-40B4-BE49-F238E27FC236}">
                  <a16:creationId xmlns:a16="http://schemas.microsoft.com/office/drawing/2014/main" id="{F26B390E-5667-BED2-B711-456702496E60}"/>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楕円 67">
              <a:extLst>
                <a:ext uri="{FF2B5EF4-FFF2-40B4-BE49-F238E27FC236}">
                  <a16:creationId xmlns:a16="http://schemas.microsoft.com/office/drawing/2014/main" id="{5DD77BA2-FE35-2C93-9FBD-966090FB1019}"/>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フローチャート: 手作業 68">
              <a:extLst>
                <a:ext uri="{FF2B5EF4-FFF2-40B4-BE49-F238E27FC236}">
                  <a16:creationId xmlns:a16="http://schemas.microsoft.com/office/drawing/2014/main" id="{B000915C-EDA2-CBC2-58CE-A4D5E47F656A}"/>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72" name="直線矢印コネクタ 71">
            <a:extLst>
              <a:ext uri="{FF2B5EF4-FFF2-40B4-BE49-F238E27FC236}">
                <a16:creationId xmlns:a16="http://schemas.microsoft.com/office/drawing/2014/main" id="{4FEA7832-1DBB-469C-6950-E839C36D8A56}"/>
              </a:ext>
            </a:extLst>
          </p:cNvPr>
          <p:cNvCxnSpPr>
            <a:cxnSpLocks/>
          </p:cNvCxnSpPr>
          <p:nvPr/>
        </p:nvCxnSpPr>
        <p:spPr>
          <a:xfrm flipV="1">
            <a:off x="1087740" y="422972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749E053B-FBF0-1A8D-30F3-FAA81000C773}"/>
              </a:ext>
            </a:extLst>
          </p:cNvPr>
          <p:cNvCxnSpPr>
            <a:cxnSpLocks/>
          </p:cNvCxnSpPr>
          <p:nvPr/>
        </p:nvCxnSpPr>
        <p:spPr>
          <a:xfrm>
            <a:off x="1062236" y="504239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8AF3455C-85F8-D882-3931-AB1EB780D590}"/>
              </a:ext>
            </a:extLst>
          </p:cNvPr>
          <p:cNvCxnSpPr>
            <a:cxnSpLocks/>
          </p:cNvCxnSpPr>
          <p:nvPr/>
        </p:nvCxnSpPr>
        <p:spPr>
          <a:xfrm>
            <a:off x="739007" y="6463731"/>
            <a:ext cx="23041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EC0A0675-8E5C-EB41-A7F7-836CD5654D27}"/>
              </a:ext>
            </a:extLst>
          </p:cNvPr>
          <p:cNvCxnSpPr>
            <a:cxnSpLocks/>
          </p:cNvCxnSpPr>
          <p:nvPr/>
        </p:nvCxnSpPr>
        <p:spPr>
          <a:xfrm flipV="1">
            <a:off x="978113" y="5482204"/>
            <a:ext cx="1605455" cy="10550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ADDE818D-E61C-2CAA-577F-291DAE171546}"/>
              </a:ext>
            </a:extLst>
          </p:cNvPr>
          <p:cNvCxnSpPr>
            <a:cxnSpLocks/>
          </p:cNvCxnSpPr>
          <p:nvPr/>
        </p:nvCxnSpPr>
        <p:spPr>
          <a:xfrm flipV="1">
            <a:off x="1060513" y="3884650"/>
            <a:ext cx="0" cy="2793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90CB817A-85F4-3D2D-5F31-6CC5CBC86C8B}"/>
              </a:ext>
            </a:extLst>
          </p:cNvPr>
          <p:cNvCxnSpPr>
            <a:cxnSpLocks/>
          </p:cNvCxnSpPr>
          <p:nvPr/>
        </p:nvCxnSpPr>
        <p:spPr>
          <a:xfrm flipV="1">
            <a:off x="2757449" y="5660700"/>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F7F57F5D-31EB-5C04-A74B-403C43F67067}"/>
              </a:ext>
            </a:extLst>
          </p:cNvPr>
          <p:cNvCxnSpPr>
            <a:cxnSpLocks/>
          </p:cNvCxnSpPr>
          <p:nvPr/>
        </p:nvCxnSpPr>
        <p:spPr>
          <a:xfrm>
            <a:off x="2296875" y="5660700"/>
            <a:ext cx="166818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テキスト ボックス 79">
            <a:extLst>
              <a:ext uri="{FF2B5EF4-FFF2-40B4-BE49-F238E27FC236}">
                <a16:creationId xmlns:a16="http://schemas.microsoft.com/office/drawing/2014/main" id="{77118699-FC0E-40DF-876D-608174A273E6}"/>
              </a:ext>
            </a:extLst>
          </p:cNvPr>
          <p:cNvSpPr txBox="1"/>
          <p:nvPr/>
        </p:nvSpPr>
        <p:spPr>
          <a:xfrm>
            <a:off x="2471128" y="4791686"/>
            <a:ext cx="287258" cy="369332"/>
          </a:xfrm>
          <a:prstGeom prst="rect">
            <a:avLst/>
          </a:prstGeom>
          <a:noFill/>
        </p:spPr>
        <p:txBody>
          <a:bodyPr wrap="none" rtlCol="0">
            <a:spAutoFit/>
          </a:bodyPr>
          <a:lstStyle/>
          <a:p>
            <a:r>
              <a:rPr kumimoji="1" lang="en-US" altLang="ja-JP" i="1" dirty="0"/>
              <a:t>y</a:t>
            </a:r>
            <a:endParaRPr kumimoji="1" lang="ja-JP" altLang="en-US" i="1" dirty="0"/>
          </a:p>
        </p:txBody>
      </p:sp>
      <p:sp>
        <p:nvSpPr>
          <p:cNvPr id="81" name="テキスト ボックス 80">
            <a:extLst>
              <a:ext uri="{FF2B5EF4-FFF2-40B4-BE49-F238E27FC236}">
                <a16:creationId xmlns:a16="http://schemas.microsoft.com/office/drawing/2014/main" id="{E562EEC3-B634-E7BC-600F-ADBA52F199AC}"/>
              </a:ext>
            </a:extLst>
          </p:cNvPr>
          <p:cNvSpPr txBox="1"/>
          <p:nvPr/>
        </p:nvSpPr>
        <p:spPr>
          <a:xfrm>
            <a:off x="713426" y="3857466"/>
            <a:ext cx="248786" cy="369332"/>
          </a:xfrm>
          <a:prstGeom prst="rect">
            <a:avLst/>
          </a:prstGeom>
          <a:noFill/>
        </p:spPr>
        <p:txBody>
          <a:bodyPr wrap="none" rtlCol="0">
            <a:spAutoFit/>
          </a:bodyPr>
          <a:lstStyle/>
          <a:p>
            <a:r>
              <a:rPr kumimoji="1" lang="en-US" altLang="ja-JP" i="1" dirty="0"/>
              <a:t>t</a:t>
            </a:r>
            <a:endParaRPr kumimoji="1" lang="ja-JP" altLang="en-US" i="1" dirty="0"/>
          </a:p>
        </p:txBody>
      </p:sp>
      <p:cxnSp>
        <p:nvCxnSpPr>
          <p:cNvPr id="82" name="直線矢印コネクタ 81">
            <a:extLst>
              <a:ext uri="{FF2B5EF4-FFF2-40B4-BE49-F238E27FC236}">
                <a16:creationId xmlns:a16="http://schemas.microsoft.com/office/drawing/2014/main" id="{577304B5-39EE-4495-9A42-368CE1F6D0A0}"/>
              </a:ext>
            </a:extLst>
          </p:cNvPr>
          <p:cNvCxnSpPr>
            <a:cxnSpLocks/>
          </p:cNvCxnSpPr>
          <p:nvPr/>
        </p:nvCxnSpPr>
        <p:spPr>
          <a:xfrm flipV="1">
            <a:off x="1914823" y="5663622"/>
            <a:ext cx="1216142" cy="79918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82705082-FEAC-5E76-9892-9ABD3BFCCE77}"/>
              </a:ext>
            </a:extLst>
          </p:cNvPr>
          <p:cNvCxnSpPr>
            <a:cxnSpLocks/>
          </p:cNvCxnSpPr>
          <p:nvPr/>
        </p:nvCxnSpPr>
        <p:spPr>
          <a:xfrm>
            <a:off x="1695723" y="6047870"/>
            <a:ext cx="1667811" cy="0"/>
          </a:xfrm>
          <a:prstGeom prst="straightConnector1">
            <a:avLst/>
          </a:prstGeom>
          <a:ln>
            <a:solidFill>
              <a:schemeClr val="bg1">
                <a:lumMod val="7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楕円 83">
            <a:extLst>
              <a:ext uri="{FF2B5EF4-FFF2-40B4-BE49-F238E27FC236}">
                <a16:creationId xmlns:a16="http://schemas.microsoft.com/office/drawing/2014/main" id="{F6E34AFE-DE12-70BC-346E-B335AB68BC42}"/>
              </a:ext>
            </a:extLst>
          </p:cNvPr>
          <p:cNvSpPr/>
          <p:nvPr/>
        </p:nvSpPr>
        <p:spPr>
          <a:xfrm>
            <a:off x="880493"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5" name="楕円 84">
            <a:extLst>
              <a:ext uri="{FF2B5EF4-FFF2-40B4-BE49-F238E27FC236}">
                <a16:creationId xmlns:a16="http://schemas.microsoft.com/office/drawing/2014/main" id="{82C24487-C8A8-D837-962F-D195B5F13B40}"/>
              </a:ext>
            </a:extLst>
          </p:cNvPr>
          <p:cNvSpPr/>
          <p:nvPr/>
        </p:nvSpPr>
        <p:spPr>
          <a:xfrm>
            <a:off x="1729847"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6" name="楕円 85">
            <a:extLst>
              <a:ext uri="{FF2B5EF4-FFF2-40B4-BE49-F238E27FC236}">
                <a16:creationId xmlns:a16="http://schemas.microsoft.com/office/drawing/2014/main" id="{A2FC65D0-E028-98B0-E078-0DEBE6EA073A}"/>
              </a:ext>
            </a:extLst>
          </p:cNvPr>
          <p:cNvSpPr/>
          <p:nvPr/>
        </p:nvSpPr>
        <p:spPr>
          <a:xfrm>
            <a:off x="2579242" y="6365747"/>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7" name="楕円 86">
            <a:extLst>
              <a:ext uri="{FF2B5EF4-FFF2-40B4-BE49-F238E27FC236}">
                <a16:creationId xmlns:a16="http://schemas.microsoft.com/office/drawing/2014/main" id="{39A4DCA7-AA5F-9777-9B91-B44FB48B3FBD}"/>
              </a:ext>
            </a:extLst>
          </p:cNvPr>
          <p:cNvSpPr/>
          <p:nvPr/>
        </p:nvSpPr>
        <p:spPr>
          <a:xfrm>
            <a:off x="1536102"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A0F0C391-BC80-7044-EF23-883595946518}"/>
              </a:ext>
            </a:extLst>
          </p:cNvPr>
          <p:cNvSpPr/>
          <p:nvPr/>
        </p:nvSpPr>
        <p:spPr>
          <a:xfrm>
            <a:off x="2385456"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740DA922-064E-7015-2005-F8EECDBDCA73}"/>
              </a:ext>
            </a:extLst>
          </p:cNvPr>
          <p:cNvSpPr/>
          <p:nvPr/>
        </p:nvSpPr>
        <p:spPr>
          <a:xfrm>
            <a:off x="3234851" y="5948193"/>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0" name="楕円 89">
            <a:extLst>
              <a:ext uri="{FF2B5EF4-FFF2-40B4-BE49-F238E27FC236}">
                <a16:creationId xmlns:a16="http://schemas.microsoft.com/office/drawing/2014/main" id="{0FCD278A-AAA6-8F3E-F605-FC9F33AEAE5D}"/>
              </a:ext>
            </a:extLst>
          </p:cNvPr>
          <p:cNvSpPr/>
          <p:nvPr/>
        </p:nvSpPr>
        <p:spPr>
          <a:xfrm>
            <a:off x="2127752"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1" name="楕円 90">
            <a:extLst>
              <a:ext uri="{FF2B5EF4-FFF2-40B4-BE49-F238E27FC236}">
                <a16:creationId xmlns:a16="http://schemas.microsoft.com/office/drawing/2014/main" id="{0761DD71-5A44-DB9D-5853-7A6A6C1D2626}"/>
              </a:ext>
            </a:extLst>
          </p:cNvPr>
          <p:cNvSpPr/>
          <p:nvPr/>
        </p:nvSpPr>
        <p:spPr>
          <a:xfrm>
            <a:off x="2977106"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92" name="楕円 91">
            <a:extLst>
              <a:ext uri="{FF2B5EF4-FFF2-40B4-BE49-F238E27FC236}">
                <a16:creationId xmlns:a16="http://schemas.microsoft.com/office/drawing/2014/main" id="{C6F37FE9-D16D-2042-B75A-73CDDDE976B7}"/>
              </a:ext>
            </a:extLst>
          </p:cNvPr>
          <p:cNvSpPr/>
          <p:nvPr/>
        </p:nvSpPr>
        <p:spPr>
          <a:xfrm>
            <a:off x="3826501" y="5566781"/>
            <a:ext cx="360040" cy="197159"/>
          </a:xfrm>
          <a:prstGeom prst="ellipse">
            <a:avLst/>
          </a:prstGeom>
          <a:solidFill>
            <a:schemeClr val="bg1">
              <a:lumMod val="95000"/>
            </a:schemeClr>
          </a:solidFill>
          <a:ln>
            <a:solidFill>
              <a:schemeClr val="bg1">
                <a:lumMod val="7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93" name="グループ化 92">
            <a:extLst>
              <a:ext uri="{FF2B5EF4-FFF2-40B4-BE49-F238E27FC236}">
                <a16:creationId xmlns:a16="http://schemas.microsoft.com/office/drawing/2014/main" id="{A2C14B72-65DE-6E62-7B33-DD9352D03F5F}"/>
              </a:ext>
            </a:extLst>
          </p:cNvPr>
          <p:cNvGrpSpPr/>
          <p:nvPr/>
        </p:nvGrpSpPr>
        <p:grpSpPr>
          <a:xfrm>
            <a:off x="3247343" y="5823101"/>
            <a:ext cx="334117" cy="412098"/>
            <a:chOff x="1004572" y="4149080"/>
            <a:chExt cx="334117" cy="412098"/>
          </a:xfrm>
          <a:solidFill>
            <a:schemeClr val="bg1">
              <a:lumMod val="95000"/>
            </a:schemeClr>
          </a:solidFill>
        </p:grpSpPr>
        <p:sp>
          <p:nvSpPr>
            <p:cNvPr id="94" name="二等辺三角形 93">
              <a:extLst>
                <a:ext uri="{FF2B5EF4-FFF2-40B4-BE49-F238E27FC236}">
                  <a16:creationId xmlns:a16="http://schemas.microsoft.com/office/drawing/2014/main" id="{91270ACE-1500-0B17-7F77-593D05B74250}"/>
                </a:ext>
              </a:extLst>
            </p:cNvPr>
            <p:cNvSpPr/>
            <p:nvPr/>
          </p:nvSpPr>
          <p:spPr>
            <a:xfrm rot="10800000">
              <a:off x="1004572"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楕円 94">
              <a:extLst>
                <a:ext uri="{FF2B5EF4-FFF2-40B4-BE49-F238E27FC236}">
                  <a16:creationId xmlns:a16="http://schemas.microsoft.com/office/drawing/2014/main" id="{9435D03B-C272-E004-6D58-9F091D29F180}"/>
                </a:ext>
              </a:extLst>
            </p:cNvPr>
            <p:cNvSpPr/>
            <p:nvPr/>
          </p:nvSpPr>
          <p:spPr>
            <a:xfrm>
              <a:off x="1055440"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6" name="グループ化 95">
            <a:extLst>
              <a:ext uri="{FF2B5EF4-FFF2-40B4-BE49-F238E27FC236}">
                <a16:creationId xmlns:a16="http://schemas.microsoft.com/office/drawing/2014/main" id="{718EB1ED-8331-66BF-CBF7-4305188BD664}"/>
              </a:ext>
            </a:extLst>
          </p:cNvPr>
          <p:cNvGrpSpPr/>
          <p:nvPr/>
        </p:nvGrpSpPr>
        <p:grpSpPr>
          <a:xfrm>
            <a:off x="2398311" y="5736588"/>
            <a:ext cx="334117" cy="467747"/>
            <a:chOff x="1837225" y="4093431"/>
            <a:chExt cx="334117" cy="467747"/>
          </a:xfrm>
          <a:solidFill>
            <a:schemeClr val="bg1">
              <a:lumMod val="95000"/>
            </a:schemeClr>
          </a:solidFill>
        </p:grpSpPr>
        <p:sp>
          <p:nvSpPr>
            <p:cNvPr id="97" name="二等辺三角形 96">
              <a:extLst>
                <a:ext uri="{FF2B5EF4-FFF2-40B4-BE49-F238E27FC236}">
                  <a16:creationId xmlns:a16="http://schemas.microsoft.com/office/drawing/2014/main" id="{00E12B36-6EF2-52DB-4CE8-EFA34EFBE51C}"/>
                </a:ext>
              </a:extLst>
            </p:cNvPr>
            <p:cNvSpPr/>
            <p:nvPr/>
          </p:nvSpPr>
          <p:spPr>
            <a:xfrm>
              <a:off x="1837225"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楕円 97">
              <a:extLst>
                <a:ext uri="{FF2B5EF4-FFF2-40B4-BE49-F238E27FC236}">
                  <a16:creationId xmlns:a16="http://schemas.microsoft.com/office/drawing/2014/main" id="{DBFD4332-C567-3344-8E81-909E911C04E8}"/>
                </a:ext>
              </a:extLst>
            </p:cNvPr>
            <p:cNvSpPr/>
            <p:nvPr/>
          </p:nvSpPr>
          <p:spPr>
            <a:xfrm>
              <a:off x="1888093"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フローチャート: 手作業 98">
              <a:extLst>
                <a:ext uri="{FF2B5EF4-FFF2-40B4-BE49-F238E27FC236}">
                  <a16:creationId xmlns:a16="http://schemas.microsoft.com/office/drawing/2014/main" id="{7E7FF9A6-49D3-BF67-C526-ABB49F8D6B12}"/>
                </a:ext>
              </a:extLst>
            </p:cNvPr>
            <p:cNvSpPr/>
            <p:nvPr/>
          </p:nvSpPr>
          <p:spPr>
            <a:xfrm>
              <a:off x="1892673" y="4093431"/>
              <a:ext cx="223219" cy="86513"/>
            </a:xfrm>
            <a:prstGeom prst="flowChartManualOperation">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0" name="グループ化 99">
            <a:extLst>
              <a:ext uri="{FF2B5EF4-FFF2-40B4-BE49-F238E27FC236}">
                <a16:creationId xmlns:a16="http://schemas.microsoft.com/office/drawing/2014/main" id="{686ED7F0-013E-483E-381E-A48E717B5DE9}"/>
              </a:ext>
            </a:extLst>
          </p:cNvPr>
          <p:cNvGrpSpPr/>
          <p:nvPr/>
        </p:nvGrpSpPr>
        <p:grpSpPr>
          <a:xfrm>
            <a:off x="891527" y="6226278"/>
            <a:ext cx="334117" cy="412098"/>
            <a:chOff x="446620" y="4149080"/>
            <a:chExt cx="334117" cy="412098"/>
          </a:xfrm>
          <a:solidFill>
            <a:schemeClr val="bg1">
              <a:lumMod val="95000"/>
            </a:schemeClr>
          </a:solidFill>
        </p:grpSpPr>
        <p:sp>
          <p:nvSpPr>
            <p:cNvPr id="101" name="二等辺三角形 100">
              <a:extLst>
                <a:ext uri="{FF2B5EF4-FFF2-40B4-BE49-F238E27FC236}">
                  <a16:creationId xmlns:a16="http://schemas.microsoft.com/office/drawing/2014/main" id="{949D8EC3-7B81-6127-C44A-2FA6559E0D9C}"/>
                </a:ext>
              </a:extLst>
            </p:cNvPr>
            <p:cNvSpPr/>
            <p:nvPr/>
          </p:nvSpPr>
          <p:spPr>
            <a:xfrm>
              <a:off x="446620" y="4273146"/>
              <a:ext cx="334117" cy="288032"/>
            </a:xfrm>
            <a:prstGeom prst="triangl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楕円 101">
              <a:extLst>
                <a:ext uri="{FF2B5EF4-FFF2-40B4-BE49-F238E27FC236}">
                  <a16:creationId xmlns:a16="http://schemas.microsoft.com/office/drawing/2014/main" id="{4BD97E5F-15EA-614A-C048-A9149D229932}"/>
                </a:ext>
              </a:extLst>
            </p:cNvPr>
            <p:cNvSpPr/>
            <p:nvPr/>
          </p:nvSpPr>
          <p:spPr>
            <a:xfrm>
              <a:off x="497488" y="4149080"/>
              <a:ext cx="232383" cy="232383"/>
            </a:xfrm>
            <a:prstGeom prst="ellipse">
              <a:avLst/>
            </a:prstGeom>
            <a:grp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3" name="グループ化 102">
            <a:extLst>
              <a:ext uri="{FF2B5EF4-FFF2-40B4-BE49-F238E27FC236}">
                <a16:creationId xmlns:a16="http://schemas.microsoft.com/office/drawing/2014/main" id="{C58C72EB-811D-6815-4F8E-3AE06E92B024}"/>
              </a:ext>
            </a:extLst>
          </p:cNvPr>
          <p:cNvGrpSpPr/>
          <p:nvPr/>
        </p:nvGrpSpPr>
        <p:grpSpPr>
          <a:xfrm>
            <a:off x="2591195" y="6253832"/>
            <a:ext cx="360040" cy="412097"/>
            <a:chOff x="2495600" y="4149081"/>
            <a:chExt cx="360040" cy="412097"/>
          </a:xfrm>
          <a:solidFill>
            <a:schemeClr val="bg1">
              <a:lumMod val="95000"/>
            </a:schemeClr>
          </a:solidFill>
        </p:grpSpPr>
        <p:sp>
          <p:nvSpPr>
            <p:cNvPr id="104" name="正方形/長方形 103">
              <a:extLst>
                <a:ext uri="{FF2B5EF4-FFF2-40B4-BE49-F238E27FC236}">
                  <a16:creationId xmlns:a16="http://schemas.microsoft.com/office/drawing/2014/main" id="{6084FEA0-2987-74B2-C965-A6BC8ABF88EC}"/>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5" name="正方形/長方形 104">
              <a:extLst>
                <a:ext uri="{FF2B5EF4-FFF2-40B4-BE49-F238E27FC236}">
                  <a16:creationId xmlns:a16="http://schemas.microsoft.com/office/drawing/2014/main" id="{06F23104-27AE-41C3-F891-A29AA9A788F9}"/>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grpSp>
      <p:cxnSp>
        <p:nvCxnSpPr>
          <p:cNvPr id="106" name="直線矢印コネクタ 105">
            <a:extLst>
              <a:ext uri="{FF2B5EF4-FFF2-40B4-BE49-F238E27FC236}">
                <a16:creationId xmlns:a16="http://schemas.microsoft.com/office/drawing/2014/main" id="{E80188DF-AEE0-32B1-9494-20A80ABC6E75}"/>
              </a:ext>
            </a:extLst>
          </p:cNvPr>
          <p:cNvCxnSpPr>
            <a:cxnSpLocks/>
          </p:cNvCxnSpPr>
          <p:nvPr/>
        </p:nvCxnSpPr>
        <p:spPr>
          <a:xfrm>
            <a:off x="2715462" y="5948193"/>
            <a:ext cx="519389" cy="0"/>
          </a:xfrm>
          <a:prstGeom prst="straightConnector1">
            <a:avLst/>
          </a:prstGeom>
          <a:ln w="571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線矢印コネクタ 106">
            <a:extLst>
              <a:ext uri="{FF2B5EF4-FFF2-40B4-BE49-F238E27FC236}">
                <a16:creationId xmlns:a16="http://schemas.microsoft.com/office/drawing/2014/main" id="{63F0748E-5744-2772-8250-DCC30E5B69A6}"/>
              </a:ext>
            </a:extLst>
          </p:cNvPr>
          <p:cNvCxnSpPr>
            <a:cxnSpLocks/>
          </p:cNvCxnSpPr>
          <p:nvPr/>
        </p:nvCxnSpPr>
        <p:spPr>
          <a:xfrm flipV="1">
            <a:off x="2757449" y="4226798"/>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矢印コネクタ 107">
            <a:extLst>
              <a:ext uri="{FF2B5EF4-FFF2-40B4-BE49-F238E27FC236}">
                <a16:creationId xmlns:a16="http://schemas.microsoft.com/office/drawing/2014/main" id="{64F875F7-73AA-7E71-2362-6584673F3941}"/>
              </a:ext>
            </a:extLst>
          </p:cNvPr>
          <p:cNvCxnSpPr>
            <a:cxnSpLocks/>
          </p:cNvCxnSpPr>
          <p:nvPr/>
        </p:nvCxnSpPr>
        <p:spPr>
          <a:xfrm>
            <a:off x="2296875" y="4226798"/>
            <a:ext cx="166818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直線矢印コネクタ 108">
            <a:extLst>
              <a:ext uri="{FF2B5EF4-FFF2-40B4-BE49-F238E27FC236}">
                <a16:creationId xmlns:a16="http://schemas.microsoft.com/office/drawing/2014/main" id="{30C5E84C-6A33-66BF-6059-2CD5DD987953}"/>
              </a:ext>
            </a:extLst>
          </p:cNvPr>
          <p:cNvCxnSpPr>
            <a:cxnSpLocks/>
          </p:cNvCxnSpPr>
          <p:nvPr/>
        </p:nvCxnSpPr>
        <p:spPr>
          <a:xfrm flipV="1">
            <a:off x="1914823" y="4229720"/>
            <a:ext cx="1216142" cy="79918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直線矢印コネクタ 109">
            <a:extLst>
              <a:ext uri="{FF2B5EF4-FFF2-40B4-BE49-F238E27FC236}">
                <a16:creationId xmlns:a16="http://schemas.microsoft.com/office/drawing/2014/main" id="{C29671E3-6FFC-184F-8F55-A84BE84CDC2C}"/>
              </a:ext>
            </a:extLst>
          </p:cNvPr>
          <p:cNvCxnSpPr>
            <a:cxnSpLocks/>
          </p:cNvCxnSpPr>
          <p:nvPr/>
        </p:nvCxnSpPr>
        <p:spPr>
          <a:xfrm>
            <a:off x="1695723" y="4613968"/>
            <a:ext cx="166781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1" name="楕円 110">
            <a:extLst>
              <a:ext uri="{FF2B5EF4-FFF2-40B4-BE49-F238E27FC236}">
                <a16:creationId xmlns:a16="http://schemas.microsoft.com/office/drawing/2014/main" id="{07DF4A53-8002-3EB9-2FDD-487DE988DE08}"/>
              </a:ext>
            </a:extLst>
          </p:cNvPr>
          <p:cNvSpPr/>
          <p:nvPr/>
        </p:nvSpPr>
        <p:spPr>
          <a:xfrm>
            <a:off x="880493"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2" name="楕円 111">
            <a:extLst>
              <a:ext uri="{FF2B5EF4-FFF2-40B4-BE49-F238E27FC236}">
                <a16:creationId xmlns:a16="http://schemas.microsoft.com/office/drawing/2014/main" id="{8993999A-A357-1AFF-54D1-340C089C3FFE}"/>
              </a:ext>
            </a:extLst>
          </p:cNvPr>
          <p:cNvSpPr/>
          <p:nvPr/>
        </p:nvSpPr>
        <p:spPr>
          <a:xfrm>
            <a:off x="1729847"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3" name="楕円 112">
            <a:extLst>
              <a:ext uri="{FF2B5EF4-FFF2-40B4-BE49-F238E27FC236}">
                <a16:creationId xmlns:a16="http://schemas.microsoft.com/office/drawing/2014/main" id="{DC9A53CA-B699-0AE3-95B5-3AE225720E4B}"/>
              </a:ext>
            </a:extLst>
          </p:cNvPr>
          <p:cNvSpPr/>
          <p:nvPr/>
        </p:nvSpPr>
        <p:spPr>
          <a:xfrm>
            <a:off x="2579242" y="4931845"/>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4" name="楕円 113">
            <a:extLst>
              <a:ext uri="{FF2B5EF4-FFF2-40B4-BE49-F238E27FC236}">
                <a16:creationId xmlns:a16="http://schemas.microsoft.com/office/drawing/2014/main" id="{3AE3B14E-8444-FD64-57D9-2B3DF6082EE0}"/>
              </a:ext>
            </a:extLst>
          </p:cNvPr>
          <p:cNvSpPr/>
          <p:nvPr/>
        </p:nvSpPr>
        <p:spPr>
          <a:xfrm>
            <a:off x="1536102"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5" name="楕円 114">
            <a:extLst>
              <a:ext uri="{FF2B5EF4-FFF2-40B4-BE49-F238E27FC236}">
                <a16:creationId xmlns:a16="http://schemas.microsoft.com/office/drawing/2014/main" id="{EDDD2B11-6472-4E9A-9872-C42EF8DA8B11}"/>
              </a:ext>
            </a:extLst>
          </p:cNvPr>
          <p:cNvSpPr/>
          <p:nvPr/>
        </p:nvSpPr>
        <p:spPr>
          <a:xfrm>
            <a:off x="2385456"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6" name="楕円 115">
            <a:extLst>
              <a:ext uri="{FF2B5EF4-FFF2-40B4-BE49-F238E27FC236}">
                <a16:creationId xmlns:a16="http://schemas.microsoft.com/office/drawing/2014/main" id="{1DA970B6-72C8-9570-A4D3-2541D72C2096}"/>
              </a:ext>
            </a:extLst>
          </p:cNvPr>
          <p:cNvSpPr/>
          <p:nvPr/>
        </p:nvSpPr>
        <p:spPr>
          <a:xfrm>
            <a:off x="3234851" y="4514291"/>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7" name="楕円 116">
            <a:extLst>
              <a:ext uri="{FF2B5EF4-FFF2-40B4-BE49-F238E27FC236}">
                <a16:creationId xmlns:a16="http://schemas.microsoft.com/office/drawing/2014/main" id="{A169B705-9A26-B798-8553-FA56E187555D}"/>
              </a:ext>
            </a:extLst>
          </p:cNvPr>
          <p:cNvSpPr/>
          <p:nvPr/>
        </p:nvSpPr>
        <p:spPr>
          <a:xfrm>
            <a:off x="2127752"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8" name="楕円 117">
            <a:extLst>
              <a:ext uri="{FF2B5EF4-FFF2-40B4-BE49-F238E27FC236}">
                <a16:creationId xmlns:a16="http://schemas.microsoft.com/office/drawing/2014/main" id="{47A86FB8-2F7E-469C-71F8-D3969293021E}"/>
              </a:ext>
            </a:extLst>
          </p:cNvPr>
          <p:cNvSpPr/>
          <p:nvPr/>
        </p:nvSpPr>
        <p:spPr>
          <a:xfrm>
            <a:off x="2977106"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sp>
        <p:nvSpPr>
          <p:cNvPr id="119" name="楕円 118">
            <a:extLst>
              <a:ext uri="{FF2B5EF4-FFF2-40B4-BE49-F238E27FC236}">
                <a16:creationId xmlns:a16="http://schemas.microsoft.com/office/drawing/2014/main" id="{581FAD7D-317D-69B2-8234-E637050BD621}"/>
              </a:ext>
            </a:extLst>
          </p:cNvPr>
          <p:cNvSpPr/>
          <p:nvPr/>
        </p:nvSpPr>
        <p:spPr>
          <a:xfrm>
            <a:off x="3826501" y="4132879"/>
            <a:ext cx="360040" cy="197159"/>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a:p>
        </p:txBody>
      </p:sp>
      <p:grpSp>
        <p:nvGrpSpPr>
          <p:cNvPr id="121" name="グループ化 120">
            <a:extLst>
              <a:ext uri="{FF2B5EF4-FFF2-40B4-BE49-F238E27FC236}">
                <a16:creationId xmlns:a16="http://schemas.microsoft.com/office/drawing/2014/main" id="{674BDB10-DE38-219A-21AC-1D3B35290AD0}"/>
              </a:ext>
            </a:extLst>
          </p:cNvPr>
          <p:cNvGrpSpPr/>
          <p:nvPr/>
        </p:nvGrpSpPr>
        <p:grpSpPr>
          <a:xfrm>
            <a:off x="3247343" y="4380736"/>
            <a:ext cx="334117" cy="412098"/>
            <a:chOff x="1004572" y="4149080"/>
            <a:chExt cx="334117" cy="412098"/>
          </a:xfrm>
        </p:grpSpPr>
        <p:sp>
          <p:nvSpPr>
            <p:cNvPr id="122" name="二等辺三角形 121">
              <a:extLst>
                <a:ext uri="{FF2B5EF4-FFF2-40B4-BE49-F238E27FC236}">
                  <a16:creationId xmlns:a16="http://schemas.microsoft.com/office/drawing/2014/main" id="{C7B87B1C-C8A5-190F-2C86-AD3CCECD5AB4}"/>
                </a:ext>
              </a:extLst>
            </p:cNvPr>
            <p:cNvSpPr/>
            <p:nvPr/>
          </p:nvSpPr>
          <p:spPr>
            <a:xfrm rot="10800000">
              <a:off x="1004572"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楕円 122">
              <a:extLst>
                <a:ext uri="{FF2B5EF4-FFF2-40B4-BE49-F238E27FC236}">
                  <a16:creationId xmlns:a16="http://schemas.microsoft.com/office/drawing/2014/main" id="{E30F958D-6FC6-3126-5233-AE2FBEF4DAFB}"/>
                </a:ext>
              </a:extLst>
            </p:cNvPr>
            <p:cNvSpPr/>
            <p:nvPr/>
          </p:nvSpPr>
          <p:spPr>
            <a:xfrm>
              <a:off x="1055440"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4" name="グループ化 123">
            <a:extLst>
              <a:ext uri="{FF2B5EF4-FFF2-40B4-BE49-F238E27FC236}">
                <a16:creationId xmlns:a16="http://schemas.microsoft.com/office/drawing/2014/main" id="{A841D420-BE85-E872-BC85-4962BBCE69BE}"/>
              </a:ext>
            </a:extLst>
          </p:cNvPr>
          <p:cNvGrpSpPr/>
          <p:nvPr/>
        </p:nvGrpSpPr>
        <p:grpSpPr>
          <a:xfrm>
            <a:off x="891527" y="4783913"/>
            <a:ext cx="334117" cy="412098"/>
            <a:chOff x="446620" y="4149080"/>
            <a:chExt cx="334117" cy="412098"/>
          </a:xfrm>
        </p:grpSpPr>
        <p:sp>
          <p:nvSpPr>
            <p:cNvPr id="125" name="二等辺三角形 124">
              <a:extLst>
                <a:ext uri="{FF2B5EF4-FFF2-40B4-BE49-F238E27FC236}">
                  <a16:creationId xmlns:a16="http://schemas.microsoft.com/office/drawing/2014/main" id="{782661F6-AC91-34FE-76DC-2616B62F63AC}"/>
                </a:ext>
              </a:extLst>
            </p:cNvPr>
            <p:cNvSpPr/>
            <p:nvPr/>
          </p:nvSpPr>
          <p:spPr>
            <a:xfrm>
              <a:off x="446620"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A27A214C-05BB-C9AC-AF1D-FB09B3508978}"/>
                </a:ext>
              </a:extLst>
            </p:cNvPr>
            <p:cNvSpPr/>
            <p:nvPr/>
          </p:nvSpPr>
          <p:spPr>
            <a:xfrm>
              <a:off x="497488"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7" name="グループ化 126">
            <a:extLst>
              <a:ext uri="{FF2B5EF4-FFF2-40B4-BE49-F238E27FC236}">
                <a16:creationId xmlns:a16="http://schemas.microsoft.com/office/drawing/2014/main" id="{3112AFA4-9F51-1DE1-0010-FC39CFEF7495}"/>
              </a:ext>
            </a:extLst>
          </p:cNvPr>
          <p:cNvGrpSpPr/>
          <p:nvPr/>
        </p:nvGrpSpPr>
        <p:grpSpPr>
          <a:xfrm>
            <a:off x="1750660" y="4811467"/>
            <a:ext cx="360040" cy="412097"/>
            <a:chOff x="2495600" y="4149081"/>
            <a:chExt cx="360040" cy="412097"/>
          </a:xfrm>
        </p:grpSpPr>
        <p:sp>
          <p:nvSpPr>
            <p:cNvPr id="128" name="正方形/長方形 127">
              <a:extLst>
                <a:ext uri="{FF2B5EF4-FFF2-40B4-BE49-F238E27FC236}">
                  <a16:creationId xmlns:a16="http://schemas.microsoft.com/office/drawing/2014/main" id="{6DBC13BF-6538-9F63-CC9E-44B17BAD5CE6}"/>
                </a:ext>
              </a:extLst>
            </p:cNvPr>
            <p:cNvSpPr/>
            <p:nvPr/>
          </p:nvSpPr>
          <p:spPr>
            <a:xfrm>
              <a:off x="2495600" y="4149081"/>
              <a:ext cx="360040" cy="1709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9" name="正方形/長方形 128">
              <a:extLst>
                <a:ext uri="{FF2B5EF4-FFF2-40B4-BE49-F238E27FC236}">
                  <a16:creationId xmlns:a16="http://schemas.microsoft.com/office/drawing/2014/main" id="{3F69EBFF-57C9-F636-684D-F444DC62E74F}"/>
                </a:ext>
              </a:extLst>
            </p:cNvPr>
            <p:cNvSpPr/>
            <p:nvPr/>
          </p:nvSpPr>
          <p:spPr>
            <a:xfrm>
              <a:off x="2579628" y="4320009"/>
              <a:ext cx="191984" cy="241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0" name="グループ化 129">
            <a:extLst>
              <a:ext uri="{FF2B5EF4-FFF2-40B4-BE49-F238E27FC236}">
                <a16:creationId xmlns:a16="http://schemas.microsoft.com/office/drawing/2014/main" id="{0F0F6C1D-23AD-6435-1001-69D7F954E76B}"/>
              </a:ext>
            </a:extLst>
          </p:cNvPr>
          <p:cNvGrpSpPr/>
          <p:nvPr/>
        </p:nvGrpSpPr>
        <p:grpSpPr>
          <a:xfrm>
            <a:off x="2436412" y="4303239"/>
            <a:ext cx="334117" cy="467747"/>
            <a:chOff x="1837225" y="4093431"/>
            <a:chExt cx="334117" cy="467747"/>
          </a:xfrm>
        </p:grpSpPr>
        <p:sp>
          <p:nvSpPr>
            <p:cNvPr id="131" name="二等辺三角形 130">
              <a:extLst>
                <a:ext uri="{FF2B5EF4-FFF2-40B4-BE49-F238E27FC236}">
                  <a16:creationId xmlns:a16="http://schemas.microsoft.com/office/drawing/2014/main" id="{CCB2C531-017A-41C0-1F7E-FF25243F9CF4}"/>
                </a:ext>
              </a:extLst>
            </p:cNvPr>
            <p:cNvSpPr/>
            <p:nvPr/>
          </p:nvSpPr>
          <p:spPr>
            <a:xfrm>
              <a:off x="1837225" y="4273146"/>
              <a:ext cx="334117" cy="28803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2" name="楕円 131">
              <a:extLst>
                <a:ext uri="{FF2B5EF4-FFF2-40B4-BE49-F238E27FC236}">
                  <a16:creationId xmlns:a16="http://schemas.microsoft.com/office/drawing/2014/main" id="{A411736B-E647-5EA9-6225-36F4D57FB59C}"/>
                </a:ext>
              </a:extLst>
            </p:cNvPr>
            <p:cNvSpPr/>
            <p:nvPr/>
          </p:nvSpPr>
          <p:spPr>
            <a:xfrm>
              <a:off x="1888093" y="4149080"/>
              <a:ext cx="232383" cy="2323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フローチャート: 手作業 132">
              <a:extLst>
                <a:ext uri="{FF2B5EF4-FFF2-40B4-BE49-F238E27FC236}">
                  <a16:creationId xmlns:a16="http://schemas.microsoft.com/office/drawing/2014/main" id="{6543662C-8382-51CD-146D-0F0BE2CD879C}"/>
                </a:ext>
              </a:extLst>
            </p:cNvPr>
            <p:cNvSpPr/>
            <p:nvPr/>
          </p:nvSpPr>
          <p:spPr>
            <a:xfrm>
              <a:off x="1892673" y="4093431"/>
              <a:ext cx="223219" cy="86513"/>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34" name="直線矢印コネクタ 133">
            <a:extLst>
              <a:ext uri="{FF2B5EF4-FFF2-40B4-BE49-F238E27FC236}">
                <a16:creationId xmlns:a16="http://schemas.microsoft.com/office/drawing/2014/main" id="{7E732E2C-5473-E9ED-B920-A5EEDA70BC1D}"/>
              </a:ext>
            </a:extLst>
          </p:cNvPr>
          <p:cNvCxnSpPr>
            <a:cxnSpLocks/>
          </p:cNvCxnSpPr>
          <p:nvPr/>
        </p:nvCxnSpPr>
        <p:spPr>
          <a:xfrm>
            <a:off x="2745496" y="4475080"/>
            <a:ext cx="51938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5" name="直線矢印コネクタ 134">
            <a:extLst>
              <a:ext uri="{FF2B5EF4-FFF2-40B4-BE49-F238E27FC236}">
                <a16:creationId xmlns:a16="http://schemas.microsoft.com/office/drawing/2014/main" id="{4439D600-324A-7572-319A-872A154D2708}"/>
              </a:ext>
            </a:extLst>
          </p:cNvPr>
          <p:cNvCxnSpPr>
            <a:cxnSpLocks/>
            <a:stCxn id="128" idx="1"/>
            <a:endCxn id="126" idx="6"/>
          </p:cNvCxnSpPr>
          <p:nvPr/>
        </p:nvCxnSpPr>
        <p:spPr>
          <a:xfrm flipH="1">
            <a:off x="1174778" y="4896931"/>
            <a:ext cx="575882" cy="317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38" name="グラフィックス 137" descr="人工知能 単色塗りつぶし">
            <a:extLst>
              <a:ext uri="{FF2B5EF4-FFF2-40B4-BE49-F238E27FC236}">
                <a16:creationId xmlns:a16="http://schemas.microsoft.com/office/drawing/2014/main" id="{496BA274-BA0E-BB6C-1F5C-33CF76B448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28387" y="3141527"/>
            <a:ext cx="486970" cy="486970"/>
          </a:xfrm>
          <a:prstGeom prst="rect">
            <a:avLst/>
          </a:prstGeom>
        </p:spPr>
      </p:pic>
      <p:cxnSp>
        <p:nvCxnSpPr>
          <p:cNvPr id="140" name="直線矢印コネクタ 139">
            <a:extLst>
              <a:ext uri="{FF2B5EF4-FFF2-40B4-BE49-F238E27FC236}">
                <a16:creationId xmlns:a16="http://schemas.microsoft.com/office/drawing/2014/main" id="{6F09F496-0B1A-425C-750E-F8D7ECC06E18}"/>
              </a:ext>
            </a:extLst>
          </p:cNvPr>
          <p:cNvCxnSpPr>
            <a:cxnSpLocks/>
          </p:cNvCxnSpPr>
          <p:nvPr/>
        </p:nvCxnSpPr>
        <p:spPr>
          <a:xfrm flipH="1" flipV="1">
            <a:off x="2689049" y="2769097"/>
            <a:ext cx="960542" cy="46312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41" name="グラフィックス 140" descr="人工知能 単色塗りつぶし">
            <a:extLst>
              <a:ext uri="{FF2B5EF4-FFF2-40B4-BE49-F238E27FC236}">
                <a16:creationId xmlns:a16="http://schemas.microsoft.com/office/drawing/2014/main" id="{24A683A3-5AE0-68AB-AD72-D4405E3F04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1598" y="6363018"/>
            <a:ext cx="486970" cy="486970"/>
          </a:xfrm>
          <a:prstGeom prst="rect">
            <a:avLst/>
          </a:prstGeom>
        </p:spPr>
      </p:pic>
      <p:cxnSp>
        <p:nvCxnSpPr>
          <p:cNvPr id="142" name="直線矢印コネクタ 141">
            <a:extLst>
              <a:ext uri="{FF2B5EF4-FFF2-40B4-BE49-F238E27FC236}">
                <a16:creationId xmlns:a16="http://schemas.microsoft.com/office/drawing/2014/main" id="{85B631DD-079E-582A-E158-A535905DDD5D}"/>
              </a:ext>
            </a:extLst>
          </p:cNvPr>
          <p:cNvCxnSpPr>
            <a:cxnSpLocks/>
            <a:stCxn id="141" idx="1"/>
          </p:cNvCxnSpPr>
          <p:nvPr/>
        </p:nvCxnSpPr>
        <p:spPr>
          <a:xfrm flipH="1" flipV="1">
            <a:off x="2965965" y="6339296"/>
            <a:ext cx="635633" cy="267207"/>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6861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EE6AEB-1669-2774-0225-8D531C885011}"/>
              </a:ext>
            </a:extLst>
          </p:cNvPr>
          <p:cNvSpPr>
            <a:spLocks noGrp="1"/>
          </p:cNvSpPr>
          <p:nvPr>
            <p:ph type="title"/>
          </p:nvPr>
        </p:nvSpPr>
        <p:spPr/>
        <p:txBody>
          <a:bodyPr/>
          <a:lstStyle/>
          <a:p>
            <a:endParaRPr kumimoji="1" lang="ja-JP" altLang="en-US"/>
          </a:p>
        </p:txBody>
      </p:sp>
      <p:pic>
        <p:nvPicPr>
          <p:cNvPr id="91" name="コンテンツ プレースホルダー 90" descr="医師女性 単色塗りつぶし">
            <a:extLst>
              <a:ext uri="{FF2B5EF4-FFF2-40B4-BE49-F238E27FC236}">
                <a16:creationId xmlns:a16="http://schemas.microsoft.com/office/drawing/2014/main" id="{B8BC5FD7-7D02-874A-704F-6DAF6EAD929E}"/>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11040810" y="5227342"/>
            <a:ext cx="914400" cy="914400"/>
          </a:xfrm>
        </p:spPr>
      </p:pic>
      <p:sp>
        <p:nvSpPr>
          <p:cNvPr id="4" name="日付プレースホルダー 3">
            <a:extLst>
              <a:ext uri="{FF2B5EF4-FFF2-40B4-BE49-F238E27FC236}">
                <a16:creationId xmlns:a16="http://schemas.microsoft.com/office/drawing/2014/main" id="{A330D95B-8EE9-6100-9560-DC4232203B5B}"/>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0E99BB21-292C-2359-1C33-A9025D544F6A}"/>
              </a:ext>
            </a:extLst>
          </p:cNvPr>
          <p:cNvSpPr>
            <a:spLocks noGrp="1"/>
          </p:cNvSpPr>
          <p:nvPr>
            <p:ph type="ftr" sz="quarter" idx="11"/>
          </p:nvPr>
        </p:nvSpPr>
        <p:spPr>
          <a:xfrm>
            <a:off x="4165600" y="6492875"/>
            <a:ext cx="3860800" cy="365125"/>
          </a:xfrm>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5BAA981C-4754-9DD3-6B47-54D9C4448B75}"/>
              </a:ext>
            </a:extLst>
          </p:cNvPr>
          <p:cNvSpPr>
            <a:spLocks noGrp="1"/>
          </p:cNvSpPr>
          <p:nvPr>
            <p:ph type="sldNum" sz="quarter" idx="12"/>
          </p:nvPr>
        </p:nvSpPr>
        <p:spPr>
          <a:xfrm>
            <a:off x="9227864" y="103586"/>
            <a:ext cx="2844800" cy="365125"/>
          </a:xfrm>
        </p:spPr>
        <p:txBody>
          <a:bodyPr/>
          <a:lstStyle/>
          <a:p>
            <a:fld id="{870B1737-2A00-4EFB-9FD3-149FCC30AA13}" type="slidenum">
              <a:rPr lang="ja-JP" altLang="en-US" smtClean="0"/>
              <a:pPr/>
              <a:t>34</a:t>
            </a:fld>
            <a:endParaRPr lang="ja-JP" altLang="en-US"/>
          </a:p>
        </p:txBody>
      </p:sp>
      <p:grpSp>
        <p:nvGrpSpPr>
          <p:cNvPr id="7" name="グループ化 6">
            <a:extLst>
              <a:ext uri="{FF2B5EF4-FFF2-40B4-BE49-F238E27FC236}">
                <a16:creationId xmlns:a16="http://schemas.microsoft.com/office/drawing/2014/main" id="{8843522F-05B6-9B35-DFA2-D3559787F6CB}"/>
              </a:ext>
            </a:extLst>
          </p:cNvPr>
          <p:cNvGrpSpPr/>
          <p:nvPr/>
        </p:nvGrpSpPr>
        <p:grpSpPr>
          <a:xfrm>
            <a:off x="5656215" y="4043017"/>
            <a:ext cx="3339972" cy="2465507"/>
            <a:chOff x="4007768" y="1483939"/>
            <a:chExt cx="4488344" cy="3313213"/>
          </a:xfrm>
        </p:grpSpPr>
        <p:cxnSp>
          <p:nvCxnSpPr>
            <p:cNvPr id="8" name="直線矢印コネクタ 7">
              <a:extLst>
                <a:ext uri="{FF2B5EF4-FFF2-40B4-BE49-F238E27FC236}">
                  <a16:creationId xmlns:a16="http://schemas.microsoft.com/office/drawing/2014/main" id="{1B85975D-FA69-DAEE-5699-C36DD9B7238C}"/>
                </a:ext>
              </a:extLst>
            </p:cNvPr>
            <p:cNvCxnSpPr>
              <a:cxnSpLocks/>
            </p:cNvCxnSpPr>
            <p:nvPr/>
          </p:nvCxnSpPr>
          <p:spPr>
            <a:xfrm>
              <a:off x="4007768" y="4509120"/>
              <a:ext cx="30963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89CAFDB9-F2D4-B583-F7B9-615D1D0E0C90}"/>
                </a:ext>
              </a:extLst>
            </p:cNvPr>
            <p:cNvCxnSpPr>
              <a:cxnSpLocks/>
            </p:cNvCxnSpPr>
            <p:nvPr/>
          </p:nvCxnSpPr>
          <p:spPr>
            <a:xfrm flipV="1">
              <a:off x="4295800" y="2457692"/>
              <a:ext cx="3272016" cy="2150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EC8BFD29-4F7F-98ED-6A00-89164D0D45CE}"/>
                </a:ext>
              </a:extLst>
            </p:cNvPr>
            <p:cNvCxnSpPr>
              <a:cxnSpLocks/>
            </p:cNvCxnSpPr>
            <p:nvPr/>
          </p:nvCxnSpPr>
          <p:spPr>
            <a:xfrm flipV="1">
              <a:off x="4439816" y="2127727"/>
              <a:ext cx="0" cy="2669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CEDD315-3D4E-2BA2-60C2-B7FC77F8192B}"/>
                </a:ext>
              </a:extLst>
            </p:cNvPr>
            <p:cNvCxnSpPr>
              <a:cxnSpLocks/>
            </p:cNvCxnSpPr>
            <p:nvPr/>
          </p:nvCxnSpPr>
          <p:spPr>
            <a:xfrm>
              <a:off x="5015880" y="4149080"/>
              <a:ext cx="224124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998CC4AE-E0DE-DC48-E1BD-7D21F529FFA7}"/>
                </a:ext>
              </a:extLst>
            </p:cNvPr>
            <p:cNvCxnSpPr>
              <a:cxnSpLocks/>
            </p:cNvCxnSpPr>
            <p:nvPr/>
          </p:nvCxnSpPr>
          <p:spPr>
            <a:xfrm>
              <a:off x="5519936" y="3789040"/>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001C3B3F-B1BF-165C-DA6C-FB8A7C869110}"/>
                </a:ext>
              </a:extLst>
            </p:cNvPr>
            <p:cNvCxnSpPr>
              <a:cxnSpLocks/>
            </p:cNvCxnSpPr>
            <p:nvPr/>
          </p:nvCxnSpPr>
          <p:spPr>
            <a:xfrm>
              <a:off x="6096000" y="3429000"/>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2DF45C76-C055-529C-593A-189E9D95219E}"/>
                </a:ext>
              </a:extLst>
            </p:cNvPr>
            <p:cNvCxnSpPr>
              <a:cxnSpLocks/>
            </p:cNvCxnSpPr>
            <p:nvPr/>
          </p:nvCxnSpPr>
          <p:spPr>
            <a:xfrm flipV="1">
              <a:off x="5216038" y="3140968"/>
              <a:ext cx="2074095"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93BC554F-36EB-FE8E-29FB-46E88F5746EF}"/>
                </a:ext>
              </a:extLst>
            </p:cNvPr>
            <p:cNvCxnSpPr>
              <a:cxnSpLocks/>
            </p:cNvCxnSpPr>
            <p:nvPr/>
          </p:nvCxnSpPr>
          <p:spPr>
            <a:xfrm flipV="1">
              <a:off x="5978122" y="3140968"/>
              <a:ext cx="2074096"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1713E01-D3CF-89B2-BB7D-BEE014D56620}"/>
                </a:ext>
              </a:extLst>
            </p:cNvPr>
            <p:cNvCxnSpPr>
              <a:cxnSpLocks/>
            </p:cNvCxnSpPr>
            <p:nvPr/>
          </p:nvCxnSpPr>
          <p:spPr>
            <a:xfrm flipV="1">
              <a:off x="6744072" y="3459347"/>
              <a:ext cx="1585740" cy="1042058"/>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F3C77A4-1805-5AD2-C0D8-2C2429E57AB1}"/>
                </a:ext>
              </a:extLst>
            </p:cNvPr>
            <p:cNvCxnSpPr>
              <a:cxnSpLocks/>
              <a:endCxn id="35" idx="0"/>
            </p:cNvCxnSpPr>
            <p:nvPr/>
          </p:nvCxnSpPr>
          <p:spPr>
            <a:xfrm flipV="1">
              <a:off x="5014715" y="2198355"/>
              <a:ext cx="0" cy="194711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5E3C1C71-FCFD-13CF-70CD-389D8D18EF4C}"/>
                </a:ext>
              </a:extLst>
            </p:cNvPr>
            <p:cNvCxnSpPr>
              <a:cxnSpLocks/>
            </p:cNvCxnSpPr>
            <p:nvPr/>
          </p:nvCxnSpPr>
          <p:spPr>
            <a:xfrm flipV="1">
              <a:off x="5532810" y="1836263"/>
              <a:ext cx="0" cy="196897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09F987BD-2E26-3B9E-A80E-B7F7D957ECFE}"/>
                </a:ext>
              </a:extLst>
            </p:cNvPr>
            <p:cNvCxnSpPr>
              <a:cxnSpLocks/>
            </p:cNvCxnSpPr>
            <p:nvPr/>
          </p:nvCxnSpPr>
          <p:spPr>
            <a:xfrm flipV="1">
              <a:off x="6096000" y="1484784"/>
              <a:ext cx="0" cy="206562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833F28F2-4ACA-BA37-5D4F-66743C897A2E}"/>
                </a:ext>
              </a:extLst>
            </p:cNvPr>
            <p:cNvCxnSpPr>
              <a:cxnSpLocks/>
            </p:cNvCxnSpPr>
            <p:nvPr/>
          </p:nvCxnSpPr>
          <p:spPr>
            <a:xfrm flipV="1">
              <a:off x="4448453" y="2488616"/>
              <a:ext cx="2079595" cy="13665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5DF050A0-FD7D-D8F7-7A20-5CF3D44F5B55}"/>
                </a:ext>
              </a:extLst>
            </p:cNvPr>
            <p:cNvCxnSpPr>
              <a:cxnSpLocks/>
            </p:cNvCxnSpPr>
            <p:nvPr/>
          </p:nvCxnSpPr>
          <p:spPr>
            <a:xfrm flipV="1">
              <a:off x="4448453" y="2127727"/>
              <a:ext cx="1636063" cy="107512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109380E0-F748-C485-8010-C52354498015}"/>
                </a:ext>
              </a:extLst>
            </p:cNvPr>
            <p:cNvCxnSpPr>
              <a:cxnSpLocks/>
            </p:cNvCxnSpPr>
            <p:nvPr/>
          </p:nvCxnSpPr>
          <p:spPr>
            <a:xfrm flipV="1">
              <a:off x="4443160" y="1491588"/>
              <a:ext cx="1616682" cy="10623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52E881B8-DF91-667B-4BB6-1652B42C3977}"/>
                </a:ext>
              </a:extLst>
            </p:cNvPr>
            <p:cNvCxnSpPr>
              <a:cxnSpLocks/>
            </p:cNvCxnSpPr>
            <p:nvPr/>
          </p:nvCxnSpPr>
          <p:spPr>
            <a:xfrm>
              <a:off x="6096000" y="2780928"/>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A980C9F0-45F0-0A59-A888-DA4E8468D894}"/>
                </a:ext>
              </a:extLst>
            </p:cNvPr>
            <p:cNvCxnSpPr>
              <a:cxnSpLocks/>
            </p:cNvCxnSpPr>
            <p:nvPr/>
          </p:nvCxnSpPr>
          <p:spPr>
            <a:xfrm>
              <a:off x="6096000" y="2132856"/>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C895CDE-C25A-D3C1-8B36-9666A2AF12B8}"/>
                </a:ext>
              </a:extLst>
            </p:cNvPr>
            <p:cNvCxnSpPr>
              <a:cxnSpLocks/>
            </p:cNvCxnSpPr>
            <p:nvPr/>
          </p:nvCxnSpPr>
          <p:spPr>
            <a:xfrm>
              <a:off x="6096000" y="1484784"/>
              <a:ext cx="232225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8A7BA35A-345B-5AB4-327B-E3D613EFEB4D}"/>
                </a:ext>
              </a:extLst>
            </p:cNvPr>
            <p:cNvCxnSpPr>
              <a:cxnSpLocks/>
            </p:cNvCxnSpPr>
            <p:nvPr/>
          </p:nvCxnSpPr>
          <p:spPr>
            <a:xfrm flipV="1">
              <a:off x="688808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E495801-F68E-CC57-C764-FF8F8C73FA87}"/>
                </a:ext>
              </a:extLst>
            </p:cNvPr>
            <p:cNvCxnSpPr>
              <a:cxnSpLocks/>
            </p:cNvCxnSpPr>
            <p:nvPr/>
          </p:nvCxnSpPr>
          <p:spPr>
            <a:xfrm flipV="1">
              <a:off x="760816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36D7E02-D904-0EE7-A414-3EB2AB9A6EC6}"/>
                </a:ext>
              </a:extLst>
            </p:cNvPr>
            <p:cNvCxnSpPr>
              <a:cxnSpLocks/>
            </p:cNvCxnSpPr>
            <p:nvPr/>
          </p:nvCxnSpPr>
          <p:spPr>
            <a:xfrm flipV="1">
              <a:off x="8400256" y="1484784"/>
              <a:ext cx="0" cy="197456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99CC0D8D-0EEB-465B-DD24-607AAFDF9755}"/>
                </a:ext>
              </a:extLst>
            </p:cNvPr>
            <p:cNvCxnSpPr>
              <a:cxnSpLocks/>
            </p:cNvCxnSpPr>
            <p:nvPr/>
          </p:nvCxnSpPr>
          <p:spPr>
            <a:xfrm flipV="1">
              <a:off x="6348027" y="1483939"/>
              <a:ext cx="2063714" cy="135615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D5EC86A2-2180-674C-4F6E-C42A73BD0064}"/>
                </a:ext>
              </a:extLst>
            </p:cNvPr>
            <p:cNvCxnSpPr>
              <a:cxnSpLocks/>
            </p:cNvCxnSpPr>
            <p:nvPr/>
          </p:nvCxnSpPr>
          <p:spPr>
            <a:xfrm>
              <a:off x="5519936" y="3140968"/>
              <a:ext cx="2448272"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フリーフォーム: 図形 30">
              <a:extLst>
                <a:ext uri="{FF2B5EF4-FFF2-40B4-BE49-F238E27FC236}">
                  <a16:creationId xmlns:a16="http://schemas.microsoft.com/office/drawing/2014/main" id="{72C205B2-60A4-7D5C-E7B2-649D5A519568}"/>
                </a:ext>
              </a:extLst>
            </p:cNvPr>
            <p:cNvSpPr/>
            <p:nvPr/>
          </p:nvSpPr>
          <p:spPr>
            <a:xfrm>
              <a:off x="6296025" y="2774156"/>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32" name="グループ化 31">
              <a:extLst>
                <a:ext uri="{FF2B5EF4-FFF2-40B4-BE49-F238E27FC236}">
                  <a16:creationId xmlns:a16="http://schemas.microsoft.com/office/drawing/2014/main" id="{A2F7C80C-3C67-88DE-C9DA-59B06DE38DBF}"/>
                </a:ext>
              </a:extLst>
            </p:cNvPr>
            <p:cNvGrpSpPr/>
            <p:nvPr/>
          </p:nvGrpSpPr>
          <p:grpSpPr>
            <a:xfrm>
              <a:off x="6294021" y="2767211"/>
              <a:ext cx="2124238" cy="1032913"/>
              <a:chOff x="6294021" y="2767211"/>
              <a:chExt cx="2124238" cy="1032913"/>
            </a:xfrm>
          </p:grpSpPr>
          <p:cxnSp>
            <p:nvCxnSpPr>
              <p:cNvPr id="69" name="直線矢印コネクタ 68">
                <a:extLst>
                  <a:ext uri="{FF2B5EF4-FFF2-40B4-BE49-F238E27FC236}">
                    <a16:creationId xmlns:a16="http://schemas.microsoft.com/office/drawing/2014/main" id="{D3352B3A-0474-BC13-4503-AAB7E29210AC}"/>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0" name="直線矢印コネクタ 69">
                <a:extLst>
                  <a:ext uri="{FF2B5EF4-FFF2-40B4-BE49-F238E27FC236}">
                    <a16:creationId xmlns:a16="http://schemas.microsoft.com/office/drawing/2014/main" id="{4D94DC99-A8B9-8067-9E11-AA0BEC115BFB}"/>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1" name="直線矢印コネクタ 70">
                <a:extLst>
                  <a:ext uri="{FF2B5EF4-FFF2-40B4-BE49-F238E27FC236}">
                    <a16:creationId xmlns:a16="http://schemas.microsoft.com/office/drawing/2014/main" id="{58A0F173-4D23-81F8-970F-CEE2982DD61A}"/>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2" name="直線矢印コネクタ 71">
                <a:extLst>
                  <a:ext uri="{FF2B5EF4-FFF2-40B4-BE49-F238E27FC236}">
                    <a16:creationId xmlns:a16="http://schemas.microsoft.com/office/drawing/2014/main" id="{AD187309-B63A-A744-EE3D-9269F50DC5C6}"/>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3" name="直線矢印コネクタ 72">
                <a:extLst>
                  <a:ext uri="{FF2B5EF4-FFF2-40B4-BE49-F238E27FC236}">
                    <a16:creationId xmlns:a16="http://schemas.microsoft.com/office/drawing/2014/main" id="{EA4FB9FE-6785-1C12-F00E-DF32F064158E}"/>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4" name="直線矢印コネクタ 73">
                <a:extLst>
                  <a:ext uri="{FF2B5EF4-FFF2-40B4-BE49-F238E27FC236}">
                    <a16:creationId xmlns:a16="http://schemas.microsoft.com/office/drawing/2014/main" id="{4DCC6F31-D406-1AF5-1967-E6A05B8F9C12}"/>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5" name="直線矢印コネクタ 74">
                <a:extLst>
                  <a:ext uri="{FF2B5EF4-FFF2-40B4-BE49-F238E27FC236}">
                    <a16:creationId xmlns:a16="http://schemas.microsoft.com/office/drawing/2014/main" id="{B0FC3421-B419-3776-87C9-73878D404857}"/>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6" name="直線矢印コネクタ 75">
                <a:extLst>
                  <a:ext uri="{FF2B5EF4-FFF2-40B4-BE49-F238E27FC236}">
                    <a16:creationId xmlns:a16="http://schemas.microsoft.com/office/drawing/2014/main" id="{C5134455-DDE2-A0D1-1283-F2EEC921B903}"/>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7" name="直線矢印コネクタ 76">
                <a:extLst>
                  <a:ext uri="{FF2B5EF4-FFF2-40B4-BE49-F238E27FC236}">
                    <a16:creationId xmlns:a16="http://schemas.microsoft.com/office/drawing/2014/main" id="{5D2C752C-A375-B87B-8A33-CC761438B057}"/>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8" name="直線矢印コネクタ 77">
                <a:extLst>
                  <a:ext uri="{FF2B5EF4-FFF2-40B4-BE49-F238E27FC236}">
                    <a16:creationId xmlns:a16="http://schemas.microsoft.com/office/drawing/2014/main" id="{211F944E-1A64-F439-8985-BAE810BF702F}"/>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9" name="直線矢印コネクタ 78">
                <a:extLst>
                  <a:ext uri="{FF2B5EF4-FFF2-40B4-BE49-F238E27FC236}">
                    <a16:creationId xmlns:a16="http://schemas.microsoft.com/office/drawing/2014/main" id="{85A2A47F-72C2-F7B3-7DE5-08761301D15C}"/>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80" name="直線矢印コネクタ 79">
                <a:extLst>
                  <a:ext uri="{FF2B5EF4-FFF2-40B4-BE49-F238E27FC236}">
                    <a16:creationId xmlns:a16="http://schemas.microsoft.com/office/drawing/2014/main" id="{C7FFF561-877B-0A44-3DE5-CEFC3DE14AF6}"/>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33" name="フリーフォーム: 図形 32">
              <a:extLst>
                <a:ext uri="{FF2B5EF4-FFF2-40B4-BE49-F238E27FC236}">
                  <a16:creationId xmlns:a16="http://schemas.microsoft.com/office/drawing/2014/main" id="{4E0414AB-84A1-59B5-66EE-DAAD494939AD}"/>
                </a:ext>
              </a:extLst>
            </p:cNvPr>
            <p:cNvSpPr/>
            <p:nvPr/>
          </p:nvSpPr>
          <p:spPr>
            <a:xfrm>
              <a:off x="5273489" y="2540674"/>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34" name="グループ化 33">
              <a:extLst>
                <a:ext uri="{FF2B5EF4-FFF2-40B4-BE49-F238E27FC236}">
                  <a16:creationId xmlns:a16="http://schemas.microsoft.com/office/drawing/2014/main" id="{D045FB6E-9BA1-FE97-C350-47D84D9D7D8E}"/>
                </a:ext>
              </a:extLst>
            </p:cNvPr>
            <p:cNvGrpSpPr/>
            <p:nvPr/>
          </p:nvGrpSpPr>
          <p:grpSpPr>
            <a:xfrm>
              <a:off x="5273543" y="2539661"/>
              <a:ext cx="2124238" cy="1032913"/>
              <a:chOff x="6294021" y="2767211"/>
              <a:chExt cx="2124238" cy="1032913"/>
            </a:xfrm>
          </p:grpSpPr>
          <p:cxnSp>
            <p:nvCxnSpPr>
              <p:cNvPr id="57" name="直線矢印コネクタ 56">
                <a:extLst>
                  <a:ext uri="{FF2B5EF4-FFF2-40B4-BE49-F238E27FC236}">
                    <a16:creationId xmlns:a16="http://schemas.microsoft.com/office/drawing/2014/main" id="{4B5BEB99-EB8D-BA37-0420-706AAF8C8386}"/>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58" name="直線矢印コネクタ 57">
                <a:extLst>
                  <a:ext uri="{FF2B5EF4-FFF2-40B4-BE49-F238E27FC236}">
                    <a16:creationId xmlns:a16="http://schemas.microsoft.com/office/drawing/2014/main" id="{F540C420-5757-EA9E-99D7-FE80FD8335FF}"/>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59" name="直線矢印コネクタ 58">
                <a:extLst>
                  <a:ext uri="{FF2B5EF4-FFF2-40B4-BE49-F238E27FC236}">
                    <a16:creationId xmlns:a16="http://schemas.microsoft.com/office/drawing/2014/main" id="{BB19CE36-2EBA-A248-97CD-21C3CE705F96}"/>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0" name="直線矢印コネクタ 59">
                <a:extLst>
                  <a:ext uri="{FF2B5EF4-FFF2-40B4-BE49-F238E27FC236}">
                    <a16:creationId xmlns:a16="http://schemas.microsoft.com/office/drawing/2014/main" id="{2903E46C-6B19-BA1D-2DE6-A68F72A6038B}"/>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1" name="直線矢印コネクタ 60">
                <a:extLst>
                  <a:ext uri="{FF2B5EF4-FFF2-40B4-BE49-F238E27FC236}">
                    <a16:creationId xmlns:a16="http://schemas.microsoft.com/office/drawing/2014/main" id="{25FDF5AE-883D-35F7-ABD5-C2375ABAE604}"/>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2" name="直線矢印コネクタ 61">
                <a:extLst>
                  <a:ext uri="{FF2B5EF4-FFF2-40B4-BE49-F238E27FC236}">
                    <a16:creationId xmlns:a16="http://schemas.microsoft.com/office/drawing/2014/main" id="{8A0C0BCC-608E-E35F-DA5A-F8EF33665858}"/>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3" name="直線矢印コネクタ 62">
                <a:extLst>
                  <a:ext uri="{FF2B5EF4-FFF2-40B4-BE49-F238E27FC236}">
                    <a16:creationId xmlns:a16="http://schemas.microsoft.com/office/drawing/2014/main" id="{509DB255-E502-F775-2B81-FC10F2E71F46}"/>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4" name="直線矢印コネクタ 63">
                <a:extLst>
                  <a:ext uri="{FF2B5EF4-FFF2-40B4-BE49-F238E27FC236}">
                    <a16:creationId xmlns:a16="http://schemas.microsoft.com/office/drawing/2014/main" id="{10E0E61E-EEED-D714-B81C-A5837C6971EA}"/>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5" name="直線矢印コネクタ 64">
                <a:extLst>
                  <a:ext uri="{FF2B5EF4-FFF2-40B4-BE49-F238E27FC236}">
                    <a16:creationId xmlns:a16="http://schemas.microsoft.com/office/drawing/2014/main" id="{2F2172CA-EB8E-E9F3-1102-817BAD471562}"/>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6" name="直線矢印コネクタ 65">
                <a:extLst>
                  <a:ext uri="{FF2B5EF4-FFF2-40B4-BE49-F238E27FC236}">
                    <a16:creationId xmlns:a16="http://schemas.microsoft.com/office/drawing/2014/main" id="{7E1C2380-AFBC-88A1-5155-133C455C08D3}"/>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7" name="直線矢印コネクタ 66">
                <a:extLst>
                  <a:ext uri="{FF2B5EF4-FFF2-40B4-BE49-F238E27FC236}">
                    <a16:creationId xmlns:a16="http://schemas.microsoft.com/office/drawing/2014/main" id="{98AE221F-7C51-9FE3-B450-41F39B87D2C4}"/>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8" name="直線矢印コネクタ 67">
                <a:extLst>
                  <a:ext uri="{FF2B5EF4-FFF2-40B4-BE49-F238E27FC236}">
                    <a16:creationId xmlns:a16="http://schemas.microsoft.com/office/drawing/2014/main" id="{B92D511F-E5F1-029C-00D2-A9FB1B2CC621}"/>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35" name="フリーフォーム: 図形 34">
              <a:extLst>
                <a:ext uri="{FF2B5EF4-FFF2-40B4-BE49-F238E27FC236}">
                  <a16:creationId xmlns:a16="http://schemas.microsoft.com/office/drawing/2014/main" id="{190099CE-24AE-CA0C-1946-58CC98B86898}"/>
                </a:ext>
              </a:extLst>
            </p:cNvPr>
            <p:cNvSpPr/>
            <p:nvPr/>
          </p:nvSpPr>
          <p:spPr>
            <a:xfrm>
              <a:off x="4417021" y="2198355"/>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grpSp>
          <p:nvGrpSpPr>
            <p:cNvPr id="36" name="グループ化 35">
              <a:extLst>
                <a:ext uri="{FF2B5EF4-FFF2-40B4-BE49-F238E27FC236}">
                  <a16:creationId xmlns:a16="http://schemas.microsoft.com/office/drawing/2014/main" id="{9B6FE059-91BA-8E7A-FB40-63A127D8433E}"/>
                </a:ext>
              </a:extLst>
            </p:cNvPr>
            <p:cNvGrpSpPr/>
            <p:nvPr/>
          </p:nvGrpSpPr>
          <p:grpSpPr>
            <a:xfrm>
              <a:off x="4425156" y="2182728"/>
              <a:ext cx="2124238" cy="1032913"/>
              <a:chOff x="6294021" y="2767211"/>
              <a:chExt cx="2124238" cy="1032913"/>
            </a:xfrm>
          </p:grpSpPr>
          <p:cxnSp>
            <p:nvCxnSpPr>
              <p:cNvPr id="45" name="直線矢印コネクタ 44">
                <a:extLst>
                  <a:ext uri="{FF2B5EF4-FFF2-40B4-BE49-F238E27FC236}">
                    <a16:creationId xmlns:a16="http://schemas.microsoft.com/office/drawing/2014/main" id="{9B42F2A2-C207-E7C4-5641-5BC5A71D8852}"/>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C0AA72AB-7F30-DF8B-CBF3-2274C19F525F}"/>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85592BC3-B941-54FC-DC89-D1645310E939}"/>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69E718E7-72B2-E14F-8E82-2DBDEA2BDFAD}"/>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DF523A63-D0A8-B9C8-8C87-F761EED339FC}"/>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36C1C2A4-EC2A-B946-F12B-B7D0BA9149FD}"/>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0B9CD08B-D787-EEE8-79D1-55948DB3B6F2}"/>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761B9E3A-08B6-FB35-E051-A1D361EA6F84}"/>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94BB3345-D17A-9B88-B67C-03DD7D47AEC1}"/>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366405E3-A274-0D2B-EAD5-D6A6D9DB0067}"/>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矢印コネクタ 54">
                <a:extLst>
                  <a:ext uri="{FF2B5EF4-FFF2-40B4-BE49-F238E27FC236}">
                    <a16:creationId xmlns:a16="http://schemas.microsoft.com/office/drawing/2014/main" id="{2B2066A6-F3FB-AF40-460C-F279DA3CE3C7}"/>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矢印コネクタ 55">
                <a:extLst>
                  <a:ext uri="{FF2B5EF4-FFF2-40B4-BE49-F238E27FC236}">
                    <a16:creationId xmlns:a16="http://schemas.microsoft.com/office/drawing/2014/main" id="{B7BBF5FA-6E7C-30CA-CA4F-8F1A27F4AEE3}"/>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7" name="直線矢印コネクタ 36">
              <a:extLst>
                <a:ext uri="{FF2B5EF4-FFF2-40B4-BE49-F238E27FC236}">
                  <a16:creationId xmlns:a16="http://schemas.microsoft.com/office/drawing/2014/main" id="{0893D4EF-EABF-8772-0FA1-71FCABF96CF3}"/>
                </a:ext>
              </a:extLst>
            </p:cNvPr>
            <p:cNvCxnSpPr>
              <a:cxnSpLocks/>
            </p:cNvCxnSpPr>
            <p:nvPr/>
          </p:nvCxnSpPr>
          <p:spPr>
            <a:xfrm flipV="1">
              <a:off x="6744072" y="2573990"/>
              <a:ext cx="0" cy="193513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61474985-58BA-26AC-F756-7AFE905F992F}"/>
                </a:ext>
              </a:extLst>
            </p:cNvPr>
            <p:cNvCxnSpPr>
              <a:cxnSpLocks/>
            </p:cNvCxnSpPr>
            <p:nvPr/>
          </p:nvCxnSpPr>
          <p:spPr>
            <a:xfrm>
              <a:off x="4439816" y="2564904"/>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24764BB7-17F0-1645-B7EA-72EDADC5CA77}"/>
                </a:ext>
              </a:extLst>
            </p:cNvPr>
            <p:cNvCxnSpPr>
              <a:cxnSpLocks/>
            </p:cNvCxnSpPr>
            <p:nvPr/>
          </p:nvCxnSpPr>
          <p:spPr>
            <a:xfrm flipV="1">
              <a:off x="6803714"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0B7321A4-BEAF-0302-566B-F078D50F0512}"/>
                </a:ext>
              </a:extLst>
            </p:cNvPr>
            <p:cNvCxnSpPr>
              <a:cxnSpLocks/>
            </p:cNvCxnSpPr>
            <p:nvPr/>
          </p:nvCxnSpPr>
          <p:spPr>
            <a:xfrm flipV="1">
              <a:off x="5273489"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D55D96DC-1B11-C589-F923-C15AF6CB50B4}"/>
                </a:ext>
              </a:extLst>
            </p:cNvPr>
            <p:cNvCxnSpPr>
              <a:cxnSpLocks/>
            </p:cNvCxnSpPr>
            <p:nvPr/>
          </p:nvCxnSpPr>
          <p:spPr>
            <a:xfrm flipV="1">
              <a:off x="5879976" y="3570051"/>
              <a:ext cx="0" cy="218989"/>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2EEBAB3F-3F1C-F932-8D61-C69FF32D91DE}"/>
                </a:ext>
              </a:extLst>
            </p:cNvPr>
            <p:cNvSpPr txBox="1"/>
            <p:nvPr/>
          </p:nvSpPr>
          <p:spPr>
            <a:xfrm>
              <a:off x="4150632" y="1552628"/>
              <a:ext cx="646331" cy="461664"/>
            </a:xfrm>
            <a:prstGeom prst="rect">
              <a:avLst/>
            </a:prstGeom>
            <a:noFill/>
          </p:spPr>
          <p:txBody>
            <a:bodyPr wrap="none" rtlCol="0">
              <a:spAutoFit/>
            </a:bodyPr>
            <a:lstStyle/>
            <a:p>
              <a:pPr algn="ctr"/>
              <a:r>
                <a:rPr lang="ja-JP" altLang="en-US" sz="1200" dirty="0"/>
                <a:t>出力</a:t>
              </a:r>
              <a:endParaRPr lang="en-US" altLang="ja-JP" sz="1200" dirty="0"/>
            </a:p>
            <a:p>
              <a:pPr algn="ctr"/>
              <a:r>
                <a:rPr lang="ja-JP" altLang="en-US" sz="1200" dirty="0"/>
                <a:t>詳細度</a:t>
              </a:r>
              <a:endParaRPr kumimoji="1" lang="ja-JP" altLang="en-US" sz="1200" dirty="0"/>
            </a:p>
          </p:txBody>
        </p:sp>
        <p:sp>
          <p:nvSpPr>
            <p:cNvPr id="43" name="テキスト ボックス 42">
              <a:extLst>
                <a:ext uri="{FF2B5EF4-FFF2-40B4-BE49-F238E27FC236}">
                  <a16:creationId xmlns:a16="http://schemas.microsoft.com/office/drawing/2014/main" id="{519059A0-BA92-D517-7966-981E79300140}"/>
                </a:ext>
              </a:extLst>
            </p:cNvPr>
            <p:cNvSpPr txBox="1"/>
            <p:nvPr/>
          </p:nvSpPr>
          <p:spPr>
            <a:xfrm>
              <a:off x="7193297" y="4379573"/>
              <a:ext cx="800221" cy="277000"/>
            </a:xfrm>
            <a:prstGeom prst="rect">
              <a:avLst/>
            </a:prstGeom>
            <a:noFill/>
          </p:spPr>
          <p:txBody>
            <a:bodyPr wrap="none" rtlCol="0">
              <a:spAutoFit/>
            </a:bodyPr>
            <a:lstStyle/>
            <a:p>
              <a:pPr algn="ctr"/>
              <a:r>
                <a:rPr kumimoji="1" lang="ja-JP" altLang="en-US" sz="1200" dirty="0"/>
                <a:t>計測領域</a:t>
              </a:r>
            </a:p>
          </p:txBody>
        </p:sp>
        <p:sp>
          <p:nvSpPr>
            <p:cNvPr id="44" name="テキスト ボックス 43">
              <a:extLst>
                <a:ext uri="{FF2B5EF4-FFF2-40B4-BE49-F238E27FC236}">
                  <a16:creationId xmlns:a16="http://schemas.microsoft.com/office/drawing/2014/main" id="{5FACEC35-F2A5-AC5B-5FA7-58A47492A0DE}"/>
                </a:ext>
              </a:extLst>
            </p:cNvPr>
            <p:cNvSpPr txBox="1"/>
            <p:nvPr/>
          </p:nvSpPr>
          <p:spPr>
            <a:xfrm>
              <a:off x="7695893" y="2324576"/>
              <a:ext cx="800219" cy="277000"/>
            </a:xfrm>
            <a:prstGeom prst="rect">
              <a:avLst/>
            </a:prstGeom>
            <a:noFill/>
          </p:spPr>
          <p:txBody>
            <a:bodyPr wrap="none" rtlCol="0">
              <a:spAutoFit/>
            </a:bodyPr>
            <a:lstStyle/>
            <a:p>
              <a:pPr algn="ctr"/>
              <a:r>
                <a:rPr kumimoji="1" lang="ja-JP" altLang="en-US" sz="1200" dirty="0"/>
                <a:t>計測時間</a:t>
              </a:r>
            </a:p>
          </p:txBody>
        </p:sp>
        <p:cxnSp>
          <p:nvCxnSpPr>
            <p:cNvPr id="81" name="直線矢印コネクタ 80">
              <a:extLst>
                <a:ext uri="{FF2B5EF4-FFF2-40B4-BE49-F238E27FC236}">
                  <a16:creationId xmlns:a16="http://schemas.microsoft.com/office/drawing/2014/main" id="{2A995168-42A4-6AD7-9F36-851EFB6F6324}"/>
                </a:ext>
              </a:extLst>
            </p:cNvPr>
            <p:cNvCxnSpPr>
              <a:cxnSpLocks/>
            </p:cNvCxnSpPr>
            <p:nvPr/>
          </p:nvCxnSpPr>
          <p:spPr>
            <a:xfrm flipV="1">
              <a:off x="7378515" y="3190367"/>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0F202E96-7E76-188B-801F-81DFE67FD4EB}"/>
                </a:ext>
              </a:extLst>
            </p:cNvPr>
            <p:cNvCxnSpPr>
              <a:cxnSpLocks/>
            </p:cNvCxnSpPr>
            <p:nvPr/>
          </p:nvCxnSpPr>
          <p:spPr>
            <a:xfrm flipV="1">
              <a:off x="5969163"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55567D81-D4B7-A1AF-1DF6-A6BB6C368CE3}"/>
                </a:ext>
              </a:extLst>
            </p:cNvPr>
            <p:cNvCxnSpPr>
              <a:cxnSpLocks/>
            </p:cNvCxnSpPr>
            <p:nvPr/>
          </p:nvCxnSpPr>
          <p:spPr>
            <a:xfrm flipV="1">
              <a:off x="4439816"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A7DF70E2-E802-AD05-F20F-39F690731523}"/>
                </a:ext>
              </a:extLst>
            </p:cNvPr>
            <p:cNvCxnSpPr>
              <a:cxnSpLocks/>
            </p:cNvCxnSpPr>
            <p:nvPr/>
          </p:nvCxnSpPr>
          <p:spPr>
            <a:xfrm flipV="1">
              <a:off x="6522047" y="2844840"/>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6" name="テキスト ボックス 85">
            <a:extLst>
              <a:ext uri="{FF2B5EF4-FFF2-40B4-BE49-F238E27FC236}">
                <a16:creationId xmlns:a16="http://schemas.microsoft.com/office/drawing/2014/main" id="{C0698F80-365C-3156-3F9B-9A33ED4B1F60}"/>
              </a:ext>
            </a:extLst>
          </p:cNvPr>
          <p:cNvSpPr txBox="1"/>
          <p:nvPr/>
        </p:nvSpPr>
        <p:spPr>
          <a:xfrm>
            <a:off x="6243489" y="5060528"/>
            <a:ext cx="889987" cy="261610"/>
          </a:xfrm>
          <a:prstGeom prst="rect">
            <a:avLst/>
          </a:prstGeom>
          <a:noFill/>
        </p:spPr>
        <p:txBody>
          <a:bodyPr wrap="none" rtlCol="0">
            <a:spAutoFit/>
          </a:bodyPr>
          <a:lstStyle/>
          <a:p>
            <a:pPr algn="ctr"/>
            <a:r>
              <a:rPr kumimoji="1" lang="ja-JP" altLang="en-US" sz="1100" dirty="0">
                <a:highlight>
                  <a:srgbClr val="FFFF00"/>
                </a:highlight>
              </a:rPr>
              <a:t>システム①</a:t>
            </a:r>
          </a:p>
        </p:txBody>
      </p:sp>
      <p:sp>
        <p:nvSpPr>
          <p:cNvPr id="87" name="テキスト ボックス 86">
            <a:extLst>
              <a:ext uri="{FF2B5EF4-FFF2-40B4-BE49-F238E27FC236}">
                <a16:creationId xmlns:a16="http://schemas.microsoft.com/office/drawing/2014/main" id="{A0DA2D82-01B0-7BC6-ECFD-33B502C60E00}"/>
              </a:ext>
            </a:extLst>
          </p:cNvPr>
          <p:cNvSpPr txBox="1"/>
          <p:nvPr/>
        </p:nvSpPr>
        <p:spPr>
          <a:xfrm>
            <a:off x="6863451" y="5344605"/>
            <a:ext cx="889987" cy="261610"/>
          </a:xfrm>
          <a:prstGeom prst="rect">
            <a:avLst/>
          </a:prstGeom>
          <a:noFill/>
        </p:spPr>
        <p:txBody>
          <a:bodyPr wrap="none" rtlCol="0">
            <a:spAutoFit/>
          </a:bodyPr>
          <a:lstStyle/>
          <a:p>
            <a:pPr algn="ctr"/>
            <a:r>
              <a:rPr kumimoji="1" lang="ja-JP" altLang="en-US" sz="1100">
                <a:highlight>
                  <a:srgbClr val="FFFF00"/>
                </a:highlight>
              </a:rPr>
              <a:t>システム②</a:t>
            </a:r>
            <a:endParaRPr kumimoji="1" lang="ja-JP" altLang="en-US" sz="1100" dirty="0">
              <a:highlight>
                <a:srgbClr val="FFFF00"/>
              </a:highlight>
            </a:endParaRPr>
          </a:p>
        </p:txBody>
      </p:sp>
      <p:sp>
        <p:nvSpPr>
          <p:cNvPr id="88" name="テキスト ボックス 87">
            <a:extLst>
              <a:ext uri="{FF2B5EF4-FFF2-40B4-BE49-F238E27FC236}">
                <a16:creationId xmlns:a16="http://schemas.microsoft.com/office/drawing/2014/main" id="{D088DC6D-203C-6E6D-C653-9BBA255CB519}"/>
              </a:ext>
            </a:extLst>
          </p:cNvPr>
          <p:cNvSpPr txBox="1"/>
          <p:nvPr/>
        </p:nvSpPr>
        <p:spPr>
          <a:xfrm>
            <a:off x="7633455" y="5511449"/>
            <a:ext cx="889987" cy="261610"/>
          </a:xfrm>
          <a:prstGeom prst="rect">
            <a:avLst/>
          </a:prstGeom>
          <a:noFill/>
        </p:spPr>
        <p:txBody>
          <a:bodyPr wrap="none" rtlCol="0">
            <a:spAutoFit/>
          </a:bodyPr>
          <a:lstStyle/>
          <a:p>
            <a:pPr algn="ctr"/>
            <a:r>
              <a:rPr kumimoji="1" lang="ja-JP" altLang="en-US" sz="1100" dirty="0">
                <a:highlight>
                  <a:srgbClr val="FFFF00"/>
                </a:highlight>
              </a:rPr>
              <a:t>システム③</a:t>
            </a:r>
          </a:p>
        </p:txBody>
      </p:sp>
      <p:sp>
        <p:nvSpPr>
          <p:cNvPr id="89" name="正方形/長方形 88">
            <a:extLst>
              <a:ext uri="{FF2B5EF4-FFF2-40B4-BE49-F238E27FC236}">
                <a16:creationId xmlns:a16="http://schemas.microsoft.com/office/drawing/2014/main" id="{56C195BC-615A-92F3-BE03-1FCEB1839CB6}"/>
              </a:ext>
            </a:extLst>
          </p:cNvPr>
          <p:cNvSpPr/>
          <p:nvPr/>
        </p:nvSpPr>
        <p:spPr>
          <a:xfrm>
            <a:off x="9591484" y="3921188"/>
            <a:ext cx="936104" cy="24827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システム④</a:t>
            </a:r>
          </a:p>
        </p:txBody>
      </p:sp>
      <p:cxnSp>
        <p:nvCxnSpPr>
          <p:cNvPr id="95" name="直線矢印コネクタ 94">
            <a:extLst>
              <a:ext uri="{FF2B5EF4-FFF2-40B4-BE49-F238E27FC236}">
                <a16:creationId xmlns:a16="http://schemas.microsoft.com/office/drawing/2014/main" id="{42C070D3-F493-C337-2F34-D989E8825156}"/>
              </a:ext>
            </a:extLst>
          </p:cNvPr>
          <p:cNvCxnSpPr>
            <a:cxnSpLocks/>
          </p:cNvCxnSpPr>
          <p:nvPr/>
        </p:nvCxnSpPr>
        <p:spPr>
          <a:xfrm>
            <a:off x="7308444" y="4965281"/>
            <a:ext cx="228304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00E36B33-5824-8621-9DFB-DC69F703760C}"/>
              </a:ext>
            </a:extLst>
          </p:cNvPr>
          <p:cNvCxnSpPr>
            <a:cxnSpLocks/>
          </p:cNvCxnSpPr>
          <p:nvPr/>
        </p:nvCxnSpPr>
        <p:spPr>
          <a:xfrm>
            <a:off x="7894153" y="5198961"/>
            <a:ext cx="169733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A37B5CB6-FF5E-B73B-6788-88C055441120}"/>
              </a:ext>
            </a:extLst>
          </p:cNvPr>
          <p:cNvCxnSpPr>
            <a:cxnSpLocks/>
          </p:cNvCxnSpPr>
          <p:nvPr/>
        </p:nvCxnSpPr>
        <p:spPr>
          <a:xfrm>
            <a:off x="8752559" y="5433356"/>
            <a:ext cx="838925"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矢印コネクタ 100">
            <a:extLst>
              <a:ext uri="{FF2B5EF4-FFF2-40B4-BE49-F238E27FC236}">
                <a16:creationId xmlns:a16="http://schemas.microsoft.com/office/drawing/2014/main" id="{4480954C-72DC-7CD4-5E7A-E4850082C3DD}"/>
              </a:ext>
            </a:extLst>
          </p:cNvPr>
          <p:cNvCxnSpPr>
            <a:cxnSpLocks/>
          </p:cNvCxnSpPr>
          <p:nvPr/>
        </p:nvCxnSpPr>
        <p:spPr>
          <a:xfrm>
            <a:off x="10527588" y="5684542"/>
            <a:ext cx="59390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グラフィックス 104" descr="医師男性 単色塗りつぶし">
            <a:extLst>
              <a:ext uri="{FF2B5EF4-FFF2-40B4-BE49-F238E27FC236}">
                <a16:creationId xmlns:a16="http://schemas.microsoft.com/office/drawing/2014/main" id="{C94B61D0-CD84-54DF-F783-2728156D3D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39922" y="4211372"/>
            <a:ext cx="914400" cy="914400"/>
          </a:xfrm>
          <a:prstGeom prst="rect">
            <a:avLst/>
          </a:prstGeom>
        </p:spPr>
      </p:pic>
      <p:cxnSp>
        <p:nvCxnSpPr>
          <p:cNvPr id="106" name="直線矢印コネクタ 105">
            <a:extLst>
              <a:ext uri="{FF2B5EF4-FFF2-40B4-BE49-F238E27FC236}">
                <a16:creationId xmlns:a16="http://schemas.microsoft.com/office/drawing/2014/main" id="{CB27FA93-1D80-122E-6422-D2862CB4091B}"/>
              </a:ext>
            </a:extLst>
          </p:cNvPr>
          <p:cNvCxnSpPr>
            <a:cxnSpLocks/>
          </p:cNvCxnSpPr>
          <p:nvPr/>
        </p:nvCxnSpPr>
        <p:spPr>
          <a:xfrm>
            <a:off x="10527588" y="4668572"/>
            <a:ext cx="593909"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88" name="グループ化 187">
            <a:extLst>
              <a:ext uri="{FF2B5EF4-FFF2-40B4-BE49-F238E27FC236}">
                <a16:creationId xmlns:a16="http://schemas.microsoft.com/office/drawing/2014/main" id="{7325D4F4-681B-530B-B70F-F6F3F7B47109}"/>
              </a:ext>
            </a:extLst>
          </p:cNvPr>
          <p:cNvGrpSpPr/>
          <p:nvPr/>
        </p:nvGrpSpPr>
        <p:grpSpPr>
          <a:xfrm>
            <a:off x="5656215" y="1069053"/>
            <a:ext cx="3431240" cy="2465507"/>
            <a:chOff x="4007768" y="1483939"/>
            <a:chExt cx="4610992" cy="3313213"/>
          </a:xfrm>
        </p:grpSpPr>
        <p:cxnSp>
          <p:nvCxnSpPr>
            <p:cNvPr id="189" name="直線矢印コネクタ 188">
              <a:extLst>
                <a:ext uri="{FF2B5EF4-FFF2-40B4-BE49-F238E27FC236}">
                  <a16:creationId xmlns:a16="http://schemas.microsoft.com/office/drawing/2014/main" id="{67570632-23D9-8303-DABC-34E4AC0AEABB}"/>
                </a:ext>
              </a:extLst>
            </p:cNvPr>
            <p:cNvCxnSpPr>
              <a:cxnSpLocks/>
            </p:cNvCxnSpPr>
            <p:nvPr/>
          </p:nvCxnSpPr>
          <p:spPr>
            <a:xfrm>
              <a:off x="4007768" y="4509120"/>
              <a:ext cx="30963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450B6641-AEE7-ABAB-EE30-8E19323BEA04}"/>
                </a:ext>
              </a:extLst>
            </p:cNvPr>
            <p:cNvCxnSpPr>
              <a:cxnSpLocks/>
            </p:cNvCxnSpPr>
            <p:nvPr/>
          </p:nvCxnSpPr>
          <p:spPr>
            <a:xfrm flipV="1">
              <a:off x="4295800" y="2457692"/>
              <a:ext cx="3272016" cy="2150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直線矢印コネクタ 190">
              <a:extLst>
                <a:ext uri="{FF2B5EF4-FFF2-40B4-BE49-F238E27FC236}">
                  <a16:creationId xmlns:a16="http://schemas.microsoft.com/office/drawing/2014/main" id="{45594DB1-6050-54F8-7592-9D747AF7C5CC}"/>
                </a:ext>
              </a:extLst>
            </p:cNvPr>
            <p:cNvCxnSpPr>
              <a:cxnSpLocks/>
            </p:cNvCxnSpPr>
            <p:nvPr/>
          </p:nvCxnSpPr>
          <p:spPr>
            <a:xfrm flipV="1">
              <a:off x="4439816" y="2127727"/>
              <a:ext cx="0" cy="2669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2" name="直線矢印コネクタ 191">
              <a:extLst>
                <a:ext uri="{FF2B5EF4-FFF2-40B4-BE49-F238E27FC236}">
                  <a16:creationId xmlns:a16="http://schemas.microsoft.com/office/drawing/2014/main" id="{81CAC5B3-943A-CAA1-62C2-B78DB8E205E5}"/>
                </a:ext>
              </a:extLst>
            </p:cNvPr>
            <p:cNvCxnSpPr>
              <a:cxnSpLocks/>
            </p:cNvCxnSpPr>
            <p:nvPr/>
          </p:nvCxnSpPr>
          <p:spPr>
            <a:xfrm>
              <a:off x="5015880" y="4149080"/>
              <a:ext cx="224124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直線矢印コネクタ 192">
              <a:extLst>
                <a:ext uri="{FF2B5EF4-FFF2-40B4-BE49-F238E27FC236}">
                  <a16:creationId xmlns:a16="http://schemas.microsoft.com/office/drawing/2014/main" id="{9AFC1590-F59B-7C17-9553-109330D9EE67}"/>
                </a:ext>
              </a:extLst>
            </p:cNvPr>
            <p:cNvCxnSpPr>
              <a:cxnSpLocks/>
            </p:cNvCxnSpPr>
            <p:nvPr/>
          </p:nvCxnSpPr>
          <p:spPr>
            <a:xfrm>
              <a:off x="5519936" y="3789040"/>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4" name="直線矢印コネクタ 193">
              <a:extLst>
                <a:ext uri="{FF2B5EF4-FFF2-40B4-BE49-F238E27FC236}">
                  <a16:creationId xmlns:a16="http://schemas.microsoft.com/office/drawing/2014/main" id="{C2562B9F-C3E3-7CA9-D873-319D8F7D52F5}"/>
                </a:ext>
              </a:extLst>
            </p:cNvPr>
            <p:cNvCxnSpPr>
              <a:cxnSpLocks/>
            </p:cNvCxnSpPr>
            <p:nvPr/>
          </p:nvCxnSpPr>
          <p:spPr>
            <a:xfrm>
              <a:off x="6096000" y="3429000"/>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直線矢印コネクタ 194">
              <a:extLst>
                <a:ext uri="{FF2B5EF4-FFF2-40B4-BE49-F238E27FC236}">
                  <a16:creationId xmlns:a16="http://schemas.microsoft.com/office/drawing/2014/main" id="{12A69365-B045-23C4-F154-B6FC2B7AE122}"/>
                </a:ext>
              </a:extLst>
            </p:cNvPr>
            <p:cNvCxnSpPr>
              <a:cxnSpLocks/>
            </p:cNvCxnSpPr>
            <p:nvPr/>
          </p:nvCxnSpPr>
          <p:spPr>
            <a:xfrm flipV="1">
              <a:off x="5216038" y="3140968"/>
              <a:ext cx="2074095"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直線矢印コネクタ 195">
              <a:extLst>
                <a:ext uri="{FF2B5EF4-FFF2-40B4-BE49-F238E27FC236}">
                  <a16:creationId xmlns:a16="http://schemas.microsoft.com/office/drawing/2014/main" id="{C4E35819-7CC4-9C7F-D611-65C4E58875B2}"/>
                </a:ext>
              </a:extLst>
            </p:cNvPr>
            <p:cNvCxnSpPr>
              <a:cxnSpLocks/>
            </p:cNvCxnSpPr>
            <p:nvPr/>
          </p:nvCxnSpPr>
          <p:spPr>
            <a:xfrm flipV="1">
              <a:off x="5978122" y="3140968"/>
              <a:ext cx="2074096"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7" name="直線矢印コネクタ 196">
              <a:extLst>
                <a:ext uri="{FF2B5EF4-FFF2-40B4-BE49-F238E27FC236}">
                  <a16:creationId xmlns:a16="http://schemas.microsoft.com/office/drawing/2014/main" id="{92F1C43B-B256-26FA-E527-5A124CE36DFB}"/>
                </a:ext>
              </a:extLst>
            </p:cNvPr>
            <p:cNvCxnSpPr>
              <a:cxnSpLocks/>
            </p:cNvCxnSpPr>
            <p:nvPr/>
          </p:nvCxnSpPr>
          <p:spPr>
            <a:xfrm flipV="1">
              <a:off x="6744072" y="3459347"/>
              <a:ext cx="1585740" cy="1042058"/>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8" name="直線矢印コネクタ 197">
              <a:extLst>
                <a:ext uri="{FF2B5EF4-FFF2-40B4-BE49-F238E27FC236}">
                  <a16:creationId xmlns:a16="http://schemas.microsoft.com/office/drawing/2014/main" id="{DD7A809A-EA71-385E-863D-6F1893B02E20}"/>
                </a:ext>
              </a:extLst>
            </p:cNvPr>
            <p:cNvCxnSpPr>
              <a:cxnSpLocks/>
              <a:endCxn id="216" idx="0"/>
            </p:cNvCxnSpPr>
            <p:nvPr/>
          </p:nvCxnSpPr>
          <p:spPr>
            <a:xfrm flipV="1">
              <a:off x="5014715" y="2198355"/>
              <a:ext cx="0" cy="194711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9" name="直線矢印コネクタ 198">
              <a:extLst>
                <a:ext uri="{FF2B5EF4-FFF2-40B4-BE49-F238E27FC236}">
                  <a16:creationId xmlns:a16="http://schemas.microsoft.com/office/drawing/2014/main" id="{56ACB6A6-0E45-906E-18C5-064DBA0D6A6B}"/>
                </a:ext>
              </a:extLst>
            </p:cNvPr>
            <p:cNvCxnSpPr>
              <a:cxnSpLocks/>
            </p:cNvCxnSpPr>
            <p:nvPr/>
          </p:nvCxnSpPr>
          <p:spPr>
            <a:xfrm flipV="1">
              <a:off x="5532810" y="1836263"/>
              <a:ext cx="0" cy="196897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直線矢印コネクタ 199">
              <a:extLst>
                <a:ext uri="{FF2B5EF4-FFF2-40B4-BE49-F238E27FC236}">
                  <a16:creationId xmlns:a16="http://schemas.microsoft.com/office/drawing/2014/main" id="{5E4213F5-117A-AD70-3DA8-DD2D7AF26FC4}"/>
                </a:ext>
              </a:extLst>
            </p:cNvPr>
            <p:cNvCxnSpPr>
              <a:cxnSpLocks/>
            </p:cNvCxnSpPr>
            <p:nvPr/>
          </p:nvCxnSpPr>
          <p:spPr>
            <a:xfrm flipV="1">
              <a:off x="6096000" y="1484784"/>
              <a:ext cx="0" cy="206562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1" name="直線矢印コネクタ 200">
              <a:extLst>
                <a:ext uri="{FF2B5EF4-FFF2-40B4-BE49-F238E27FC236}">
                  <a16:creationId xmlns:a16="http://schemas.microsoft.com/office/drawing/2014/main" id="{EDD49750-C42B-CCFF-142A-07E3EC96732A}"/>
                </a:ext>
              </a:extLst>
            </p:cNvPr>
            <p:cNvCxnSpPr>
              <a:cxnSpLocks/>
            </p:cNvCxnSpPr>
            <p:nvPr/>
          </p:nvCxnSpPr>
          <p:spPr>
            <a:xfrm flipV="1">
              <a:off x="4448453" y="2488616"/>
              <a:ext cx="2079595" cy="13665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2" name="直線矢印コネクタ 201">
              <a:extLst>
                <a:ext uri="{FF2B5EF4-FFF2-40B4-BE49-F238E27FC236}">
                  <a16:creationId xmlns:a16="http://schemas.microsoft.com/office/drawing/2014/main" id="{2FDBA15C-280E-C7A6-4ADF-9A4ACBC59DD2}"/>
                </a:ext>
              </a:extLst>
            </p:cNvPr>
            <p:cNvCxnSpPr>
              <a:cxnSpLocks/>
            </p:cNvCxnSpPr>
            <p:nvPr/>
          </p:nvCxnSpPr>
          <p:spPr>
            <a:xfrm flipV="1">
              <a:off x="4448453" y="2127727"/>
              <a:ext cx="1636063" cy="107512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3" name="直線矢印コネクタ 202">
              <a:extLst>
                <a:ext uri="{FF2B5EF4-FFF2-40B4-BE49-F238E27FC236}">
                  <a16:creationId xmlns:a16="http://schemas.microsoft.com/office/drawing/2014/main" id="{DCF80822-08FE-8BF9-69AA-741157BF588A}"/>
                </a:ext>
              </a:extLst>
            </p:cNvPr>
            <p:cNvCxnSpPr>
              <a:cxnSpLocks/>
            </p:cNvCxnSpPr>
            <p:nvPr/>
          </p:nvCxnSpPr>
          <p:spPr>
            <a:xfrm flipV="1">
              <a:off x="4443160" y="1491588"/>
              <a:ext cx="1616682" cy="10623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直線矢印コネクタ 203">
              <a:extLst>
                <a:ext uri="{FF2B5EF4-FFF2-40B4-BE49-F238E27FC236}">
                  <a16:creationId xmlns:a16="http://schemas.microsoft.com/office/drawing/2014/main" id="{328E6B74-017F-3DCF-669A-05729488892D}"/>
                </a:ext>
              </a:extLst>
            </p:cNvPr>
            <p:cNvCxnSpPr>
              <a:cxnSpLocks/>
            </p:cNvCxnSpPr>
            <p:nvPr/>
          </p:nvCxnSpPr>
          <p:spPr>
            <a:xfrm>
              <a:off x="6096000" y="2780928"/>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5" name="直線矢印コネクタ 204">
              <a:extLst>
                <a:ext uri="{FF2B5EF4-FFF2-40B4-BE49-F238E27FC236}">
                  <a16:creationId xmlns:a16="http://schemas.microsoft.com/office/drawing/2014/main" id="{57DC2F0F-0C46-7D55-9FFC-E31CC6274A85}"/>
                </a:ext>
              </a:extLst>
            </p:cNvPr>
            <p:cNvCxnSpPr>
              <a:cxnSpLocks/>
            </p:cNvCxnSpPr>
            <p:nvPr/>
          </p:nvCxnSpPr>
          <p:spPr>
            <a:xfrm>
              <a:off x="6096000" y="2132856"/>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6" name="直線矢印コネクタ 205">
              <a:extLst>
                <a:ext uri="{FF2B5EF4-FFF2-40B4-BE49-F238E27FC236}">
                  <a16:creationId xmlns:a16="http://schemas.microsoft.com/office/drawing/2014/main" id="{8B6FAE04-EAA7-B1EA-AF9C-0B04AE54833A}"/>
                </a:ext>
              </a:extLst>
            </p:cNvPr>
            <p:cNvCxnSpPr>
              <a:cxnSpLocks/>
            </p:cNvCxnSpPr>
            <p:nvPr/>
          </p:nvCxnSpPr>
          <p:spPr>
            <a:xfrm>
              <a:off x="6096000" y="1484784"/>
              <a:ext cx="232225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7" name="直線矢印コネクタ 206">
              <a:extLst>
                <a:ext uri="{FF2B5EF4-FFF2-40B4-BE49-F238E27FC236}">
                  <a16:creationId xmlns:a16="http://schemas.microsoft.com/office/drawing/2014/main" id="{732F2C8B-DF91-5413-7265-2FA6374B9837}"/>
                </a:ext>
              </a:extLst>
            </p:cNvPr>
            <p:cNvCxnSpPr>
              <a:cxnSpLocks/>
            </p:cNvCxnSpPr>
            <p:nvPr/>
          </p:nvCxnSpPr>
          <p:spPr>
            <a:xfrm flipV="1">
              <a:off x="688808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8" name="直線矢印コネクタ 207">
              <a:extLst>
                <a:ext uri="{FF2B5EF4-FFF2-40B4-BE49-F238E27FC236}">
                  <a16:creationId xmlns:a16="http://schemas.microsoft.com/office/drawing/2014/main" id="{4D6FFEE7-0ABB-7445-A52F-AD13A742EF27}"/>
                </a:ext>
              </a:extLst>
            </p:cNvPr>
            <p:cNvCxnSpPr>
              <a:cxnSpLocks/>
            </p:cNvCxnSpPr>
            <p:nvPr/>
          </p:nvCxnSpPr>
          <p:spPr>
            <a:xfrm flipV="1">
              <a:off x="760816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9" name="直線矢印コネクタ 208">
              <a:extLst>
                <a:ext uri="{FF2B5EF4-FFF2-40B4-BE49-F238E27FC236}">
                  <a16:creationId xmlns:a16="http://schemas.microsoft.com/office/drawing/2014/main" id="{AAF234A7-D6FA-4D06-037A-BC8EAE5CD7B1}"/>
                </a:ext>
              </a:extLst>
            </p:cNvPr>
            <p:cNvCxnSpPr>
              <a:cxnSpLocks/>
            </p:cNvCxnSpPr>
            <p:nvPr/>
          </p:nvCxnSpPr>
          <p:spPr>
            <a:xfrm flipV="1">
              <a:off x="8400256" y="1484784"/>
              <a:ext cx="0" cy="197456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0" name="直線矢印コネクタ 209">
              <a:extLst>
                <a:ext uri="{FF2B5EF4-FFF2-40B4-BE49-F238E27FC236}">
                  <a16:creationId xmlns:a16="http://schemas.microsoft.com/office/drawing/2014/main" id="{A5386769-48A0-8961-9582-235C5F0EFA4F}"/>
                </a:ext>
              </a:extLst>
            </p:cNvPr>
            <p:cNvCxnSpPr>
              <a:cxnSpLocks/>
            </p:cNvCxnSpPr>
            <p:nvPr/>
          </p:nvCxnSpPr>
          <p:spPr>
            <a:xfrm flipV="1">
              <a:off x="6348027" y="1483939"/>
              <a:ext cx="2063714" cy="135615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1" name="直線矢印コネクタ 210">
              <a:extLst>
                <a:ext uri="{FF2B5EF4-FFF2-40B4-BE49-F238E27FC236}">
                  <a16:creationId xmlns:a16="http://schemas.microsoft.com/office/drawing/2014/main" id="{F520BD72-BD5D-B59C-F97E-77C6DE017D6D}"/>
                </a:ext>
              </a:extLst>
            </p:cNvPr>
            <p:cNvCxnSpPr>
              <a:cxnSpLocks/>
            </p:cNvCxnSpPr>
            <p:nvPr/>
          </p:nvCxnSpPr>
          <p:spPr>
            <a:xfrm>
              <a:off x="5519936" y="3140968"/>
              <a:ext cx="2448272"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2" name="フリーフォーム: 図形 211">
              <a:extLst>
                <a:ext uri="{FF2B5EF4-FFF2-40B4-BE49-F238E27FC236}">
                  <a16:creationId xmlns:a16="http://schemas.microsoft.com/office/drawing/2014/main" id="{21DFA1F1-B696-6F13-B99D-3249E03B755E}"/>
                </a:ext>
              </a:extLst>
            </p:cNvPr>
            <p:cNvSpPr/>
            <p:nvPr/>
          </p:nvSpPr>
          <p:spPr>
            <a:xfrm>
              <a:off x="6296025" y="2774156"/>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213" name="グループ化 212">
              <a:extLst>
                <a:ext uri="{FF2B5EF4-FFF2-40B4-BE49-F238E27FC236}">
                  <a16:creationId xmlns:a16="http://schemas.microsoft.com/office/drawing/2014/main" id="{474A46CF-2D32-E339-0C5A-B8970B5D6D90}"/>
                </a:ext>
              </a:extLst>
            </p:cNvPr>
            <p:cNvGrpSpPr/>
            <p:nvPr/>
          </p:nvGrpSpPr>
          <p:grpSpPr>
            <a:xfrm>
              <a:off x="6294021" y="2767211"/>
              <a:ext cx="2124238" cy="1032913"/>
              <a:chOff x="6294021" y="2767211"/>
              <a:chExt cx="2124238" cy="1032913"/>
            </a:xfrm>
          </p:grpSpPr>
          <p:cxnSp>
            <p:nvCxnSpPr>
              <p:cNvPr id="254" name="直線矢印コネクタ 253">
                <a:extLst>
                  <a:ext uri="{FF2B5EF4-FFF2-40B4-BE49-F238E27FC236}">
                    <a16:creationId xmlns:a16="http://schemas.microsoft.com/office/drawing/2014/main" id="{6113C001-2433-3CFB-DE4B-71535DD8556D}"/>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5" name="直線矢印コネクタ 254">
                <a:extLst>
                  <a:ext uri="{FF2B5EF4-FFF2-40B4-BE49-F238E27FC236}">
                    <a16:creationId xmlns:a16="http://schemas.microsoft.com/office/drawing/2014/main" id="{9C693FA4-BC26-55A0-6709-5B55D4E41799}"/>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6" name="直線矢印コネクタ 255">
                <a:extLst>
                  <a:ext uri="{FF2B5EF4-FFF2-40B4-BE49-F238E27FC236}">
                    <a16:creationId xmlns:a16="http://schemas.microsoft.com/office/drawing/2014/main" id="{A7936E7D-5D21-4D36-D58D-39D11A4B7EDF}"/>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7" name="直線矢印コネクタ 256">
                <a:extLst>
                  <a:ext uri="{FF2B5EF4-FFF2-40B4-BE49-F238E27FC236}">
                    <a16:creationId xmlns:a16="http://schemas.microsoft.com/office/drawing/2014/main" id="{197ACFDD-B56D-277B-989D-F35E7F2CD79A}"/>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8" name="直線矢印コネクタ 257">
                <a:extLst>
                  <a:ext uri="{FF2B5EF4-FFF2-40B4-BE49-F238E27FC236}">
                    <a16:creationId xmlns:a16="http://schemas.microsoft.com/office/drawing/2014/main" id="{8A1A3283-85A5-F14E-1355-AAC27F9BAA9C}"/>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59" name="直線矢印コネクタ 258">
                <a:extLst>
                  <a:ext uri="{FF2B5EF4-FFF2-40B4-BE49-F238E27FC236}">
                    <a16:creationId xmlns:a16="http://schemas.microsoft.com/office/drawing/2014/main" id="{7A20ABA4-7A56-D7F9-2EDF-89D9DF9CA58D}"/>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0" name="直線矢印コネクタ 259">
                <a:extLst>
                  <a:ext uri="{FF2B5EF4-FFF2-40B4-BE49-F238E27FC236}">
                    <a16:creationId xmlns:a16="http://schemas.microsoft.com/office/drawing/2014/main" id="{191E481D-FC9F-5DA9-6DCA-E72FA8CCEC10}"/>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1" name="直線矢印コネクタ 260">
                <a:extLst>
                  <a:ext uri="{FF2B5EF4-FFF2-40B4-BE49-F238E27FC236}">
                    <a16:creationId xmlns:a16="http://schemas.microsoft.com/office/drawing/2014/main" id="{E395AA07-EFD6-969A-DB81-34C7E2DA95B9}"/>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2" name="直線矢印コネクタ 261">
                <a:extLst>
                  <a:ext uri="{FF2B5EF4-FFF2-40B4-BE49-F238E27FC236}">
                    <a16:creationId xmlns:a16="http://schemas.microsoft.com/office/drawing/2014/main" id="{A06279A6-0810-62B7-EE13-2EFBAB6BD124}"/>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3" name="直線矢印コネクタ 262">
                <a:extLst>
                  <a:ext uri="{FF2B5EF4-FFF2-40B4-BE49-F238E27FC236}">
                    <a16:creationId xmlns:a16="http://schemas.microsoft.com/office/drawing/2014/main" id="{0A1E89BA-D551-DC6A-A998-4D484BF7A682}"/>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4" name="直線矢印コネクタ 263">
                <a:extLst>
                  <a:ext uri="{FF2B5EF4-FFF2-40B4-BE49-F238E27FC236}">
                    <a16:creationId xmlns:a16="http://schemas.microsoft.com/office/drawing/2014/main" id="{F79AC375-05B9-A427-3049-F7ABB0156CD2}"/>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65" name="直線矢印コネクタ 264">
                <a:extLst>
                  <a:ext uri="{FF2B5EF4-FFF2-40B4-BE49-F238E27FC236}">
                    <a16:creationId xmlns:a16="http://schemas.microsoft.com/office/drawing/2014/main" id="{42FB5BFD-4552-C4D7-6D7D-C6D65F32F473}"/>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214" name="フリーフォーム: 図形 213">
              <a:extLst>
                <a:ext uri="{FF2B5EF4-FFF2-40B4-BE49-F238E27FC236}">
                  <a16:creationId xmlns:a16="http://schemas.microsoft.com/office/drawing/2014/main" id="{E9FA4584-108E-A492-6F9A-6A61BDCB72C9}"/>
                </a:ext>
              </a:extLst>
            </p:cNvPr>
            <p:cNvSpPr/>
            <p:nvPr/>
          </p:nvSpPr>
          <p:spPr>
            <a:xfrm>
              <a:off x="5273489" y="2540674"/>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215" name="グループ化 214">
              <a:extLst>
                <a:ext uri="{FF2B5EF4-FFF2-40B4-BE49-F238E27FC236}">
                  <a16:creationId xmlns:a16="http://schemas.microsoft.com/office/drawing/2014/main" id="{BAF2B28D-2FC4-B461-A3E9-07BE33532C6C}"/>
                </a:ext>
              </a:extLst>
            </p:cNvPr>
            <p:cNvGrpSpPr/>
            <p:nvPr/>
          </p:nvGrpSpPr>
          <p:grpSpPr>
            <a:xfrm>
              <a:off x="5273543" y="2539661"/>
              <a:ext cx="2124238" cy="1032913"/>
              <a:chOff x="6294021" y="2767211"/>
              <a:chExt cx="2124238" cy="1032913"/>
            </a:xfrm>
          </p:grpSpPr>
          <p:cxnSp>
            <p:nvCxnSpPr>
              <p:cNvPr id="242" name="直線矢印コネクタ 241">
                <a:extLst>
                  <a:ext uri="{FF2B5EF4-FFF2-40B4-BE49-F238E27FC236}">
                    <a16:creationId xmlns:a16="http://schemas.microsoft.com/office/drawing/2014/main" id="{5D58230B-4918-BA8D-076F-6C343D70B1CE}"/>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3" name="直線矢印コネクタ 242">
                <a:extLst>
                  <a:ext uri="{FF2B5EF4-FFF2-40B4-BE49-F238E27FC236}">
                    <a16:creationId xmlns:a16="http://schemas.microsoft.com/office/drawing/2014/main" id="{11869767-9DEC-5D92-D954-8833FC21149F}"/>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4" name="直線矢印コネクタ 243">
                <a:extLst>
                  <a:ext uri="{FF2B5EF4-FFF2-40B4-BE49-F238E27FC236}">
                    <a16:creationId xmlns:a16="http://schemas.microsoft.com/office/drawing/2014/main" id="{EA8B555F-2431-54DB-D4CE-B2FBB90E8258}"/>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5" name="直線矢印コネクタ 244">
                <a:extLst>
                  <a:ext uri="{FF2B5EF4-FFF2-40B4-BE49-F238E27FC236}">
                    <a16:creationId xmlns:a16="http://schemas.microsoft.com/office/drawing/2014/main" id="{F2B129E7-3C51-6F29-0E31-AE99D03B3923}"/>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6" name="直線矢印コネクタ 245">
                <a:extLst>
                  <a:ext uri="{FF2B5EF4-FFF2-40B4-BE49-F238E27FC236}">
                    <a16:creationId xmlns:a16="http://schemas.microsoft.com/office/drawing/2014/main" id="{DE875FBE-BBA6-E685-3EFD-5843235720C8}"/>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7" name="直線矢印コネクタ 246">
                <a:extLst>
                  <a:ext uri="{FF2B5EF4-FFF2-40B4-BE49-F238E27FC236}">
                    <a16:creationId xmlns:a16="http://schemas.microsoft.com/office/drawing/2014/main" id="{3DEDE975-B0FE-8176-7E72-9C9420C5AA8A}"/>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8" name="直線矢印コネクタ 247">
                <a:extLst>
                  <a:ext uri="{FF2B5EF4-FFF2-40B4-BE49-F238E27FC236}">
                    <a16:creationId xmlns:a16="http://schemas.microsoft.com/office/drawing/2014/main" id="{054EB5CC-44DA-EEE7-D1AE-D2B72ECF69D0}"/>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49" name="直線矢印コネクタ 248">
                <a:extLst>
                  <a:ext uri="{FF2B5EF4-FFF2-40B4-BE49-F238E27FC236}">
                    <a16:creationId xmlns:a16="http://schemas.microsoft.com/office/drawing/2014/main" id="{6C8C7EF6-9376-9C8B-C62D-AFD98024534A}"/>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50" name="直線矢印コネクタ 249">
                <a:extLst>
                  <a:ext uri="{FF2B5EF4-FFF2-40B4-BE49-F238E27FC236}">
                    <a16:creationId xmlns:a16="http://schemas.microsoft.com/office/drawing/2014/main" id="{9E8BF7A6-392C-E356-59D6-6A2139A52E33}"/>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51" name="直線矢印コネクタ 250">
                <a:extLst>
                  <a:ext uri="{FF2B5EF4-FFF2-40B4-BE49-F238E27FC236}">
                    <a16:creationId xmlns:a16="http://schemas.microsoft.com/office/drawing/2014/main" id="{BAB8CFC5-025C-892B-1685-F1A0E72B24B5}"/>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52" name="直線矢印コネクタ 251">
                <a:extLst>
                  <a:ext uri="{FF2B5EF4-FFF2-40B4-BE49-F238E27FC236}">
                    <a16:creationId xmlns:a16="http://schemas.microsoft.com/office/drawing/2014/main" id="{5641A499-9307-E57A-5FDF-392CB487CBE9}"/>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53" name="直線矢印コネクタ 252">
                <a:extLst>
                  <a:ext uri="{FF2B5EF4-FFF2-40B4-BE49-F238E27FC236}">
                    <a16:creationId xmlns:a16="http://schemas.microsoft.com/office/drawing/2014/main" id="{90311ABB-B9AB-FC17-5BCD-87148B994BF3}"/>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216" name="フリーフォーム: 図形 215">
              <a:extLst>
                <a:ext uri="{FF2B5EF4-FFF2-40B4-BE49-F238E27FC236}">
                  <a16:creationId xmlns:a16="http://schemas.microsoft.com/office/drawing/2014/main" id="{748ECB7C-8040-54BF-2370-08B59FD378D6}"/>
                </a:ext>
              </a:extLst>
            </p:cNvPr>
            <p:cNvSpPr/>
            <p:nvPr/>
          </p:nvSpPr>
          <p:spPr>
            <a:xfrm>
              <a:off x="4417021" y="2198355"/>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grpSp>
          <p:nvGrpSpPr>
            <p:cNvPr id="217" name="グループ化 216">
              <a:extLst>
                <a:ext uri="{FF2B5EF4-FFF2-40B4-BE49-F238E27FC236}">
                  <a16:creationId xmlns:a16="http://schemas.microsoft.com/office/drawing/2014/main" id="{A80B8D60-532C-A6B2-B7A4-0BEC83FEB63E}"/>
                </a:ext>
              </a:extLst>
            </p:cNvPr>
            <p:cNvGrpSpPr/>
            <p:nvPr/>
          </p:nvGrpSpPr>
          <p:grpSpPr>
            <a:xfrm>
              <a:off x="4425156" y="2182728"/>
              <a:ext cx="2124238" cy="1032913"/>
              <a:chOff x="6294021" y="2767211"/>
              <a:chExt cx="2124238" cy="1032913"/>
            </a:xfrm>
          </p:grpSpPr>
          <p:cxnSp>
            <p:nvCxnSpPr>
              <p:cNvPr id="230" name="直線矢印コネクタ 229">
                <a:extLst>
                  <a:ext uri="{FF2B5EF4-FFF2-40B4-BE49-F238E27FC236}">
                    <a16:creationId xmlns:a16="http://schemas.microsoft.com/office/drawing/2014/main" id="{18343F4A-3D77-6AAE-2351-16E3E0798BA5}"/>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直線矢印コネクタ 230">
                <a:extLst>
                  <a:ext uri="{FF2B5EF4-FFF2-40B4-BE49-F238E27FC236}">
                    <a16:creationId xmlns:a16="http://schemas.microsoft.com/office/drawing/2014/main" id="{6DF9EBBB-97B5-A2B2-F471-34A2E8BD0557}"/>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直線矢印コネクタ 231">
                <a:extLst>
                  <a:ext uri="{FF2B5EF4-FFF2-40B4-BE49-F238E27FC236}">
                    <a16:creationId xmlns:a16="http://schemas.microsoft.com/office/drawing/2014/main" id="{577AE162-4C0D-50A4-BD92-36389C6AD6BF}"/>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直線矢印コネクタ 232">
                <a:extLst>
                  <a:ext uri="{FF2B5EF4-FFF2-40B4-BE49-F238E27FC236}">
                    <a16:creationId xmlns:a16="http://schemas.microsoft.com/office/drawing/2014/main" id="{F19B8303-5970-85DA-AE2C-5E03EAE9C379}"/>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直線矢印コネクタ 233">
                <a:extLst>
                  <a:ext uri="{FF2B5EF4-FFF2-40B4-BE49-F238E27FC236}">
                    <a16:creationId xmlns:a16="http://schemas.microsoft.com/office/drawing/2014/main" id="{151E2B4C-6A3F-A8BA-8AAB-FB87278E5CEB}"/>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5" name="直線矢印コネクタ 234">
                <a:extLst>
                  <a:ext uri="{FF2B5EF4-FFF2-40B4-BE49-F238E27FC236}">
                    <a16:creationId xmlns:a16="http://schemas.microsoft.com/office/drawing/2014/main" id="{A3AAE3B1-3315-EB6B-FDF7-D9DE3DA0D05F}"/>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 name="直線矢印コネクタ 235">
                <a:extLst>
                  <a:ext uri="{FF2B5EF4-FFF2-40B4-BE49-F238E27FC236}">
                    <a16:creationId xmlns:a16="http://schemas.microsoft.com/office/drawing/2014/main" id="{8389293B-DDA1-644A-4BB1-CDFB4D3D9A84}"/>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7" name="直線矢印コネクタ 236">
                <a:extLst>
                  <a:ext uri="{FF2B5EF4-FFF2-40B4-BE49-F238E27FC236}">
                    <a16:creationId xmlns:a16="http://schemas.microsoft.com/office/drawing/2014/main" id="{DE7798F0-DC9F-F311-D514-0A596E2116CD}"/>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8" name="直線矢印コネクタ 237">
                <a:extLst>
                  <a:ext uri="{FF2B5EF4-FFF2-40B4-BE49-F238E27FC236}">
                    <a16:creationId xmlns:a16="http://schemas.microsoft.com/office/drawing/2014/main" id="{BEB2B45E-343F-8A36-EB36-479632CCDDC4}"/>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直線矢印コネクタ 238">
                <a:extLst>
                  <a:ext uri="{FF2B5EF4-FFF2-40B4-BE49-F238E27FC236}">
                    <a16:creationId xmlns:a16="http://schemas.microsoft.com/office/drawing/2014/main" id="{BA2A40C2-2D00-17D9-E4B8-A1A7A82D3F03}"/>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 name="直線矢印コネクタ 239">
                <a:extLst>
                  <a:ext uri="{FF2B5EF4-FFF2-40B4-BE49-F238E27FC236}">
                    <a16:creationId xmlns:a16="http://schemas.microsoft.com/office/drawing/2014/main" id="{B4DB4FAA-60A7-ADF2-FEAA-71FEF46783D7}"/>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1" name="直線矢印コネクタ 240">
                <a:extLst>
                  <a:ext uri="{FF2B5EF4-FFF2-40B4-BE49-F238E27FC236}">
                    <a16:creationId xmlns:a16="http://schemas.microsoft.com/office/drawing/2014/main" id="{C37684F9-1800-DD9E-AB4B-97B3C0179D95}"/>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8" name="直線矢印コネクタ 217">
              <a:extLst>
                <a:ext uri="{FF2B5EF4-FFF2-40B4-BE49-F238E27FC236}">
                  <a16:creationId xmlns:a16="http://schemas.microsoft.com/office/drawing/2014/main" id="{D029E100-9123-5203-37C0-E8772616C82B}"/>
                </a:ext>
              </a:extLst>
            </p:cNvPr>
            <p:cNvCxnSpPr>
              <a:cxnSpLocks/>
            </p:cNvCxnSpPr>
            <p:nvPr/>
          </p:nvCxnSpPr>
          <p:spPr>
            <a:xfrm flipV="1">
              <a:off x="6744072" y="2573990"/>
              <a:ext cx="0" cy="193513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9" name="直線矢印コネクタ 218">
              <a:extLst>
                <a:ext uri="{FF2B5EF4-FFF2-40B4-BE49-F238E27FC236}">
                  <a16:creationId xmlns:a16="http://schemas.microsoft.com/office/drawing/2014/main" id="{ABB72719-CA1B-E36D-FA13-6E7CB8A44AD1}"/>
                </a:ext>
              </a:extLst>
            </p:cNvPr>
            <p:cNvCxnSpPr>
              <a:cxnSpLocks/>
            </p:cNvCxnSpPr>
            <p:nvPr/>
          </p:nvCxnSpPr>
          <p:spPr>
            <a:xfrm>
              <a:off x="4439816" y="2564904"/>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0" name="直線矢印コネクタ 219">
              <a:extLst>
                <a:ext uri="{FF2B5EF4-FFF2-40B4-BE49-F238E27FC236}">
                  <a16:creationId xmlns:a16="http://schemas.microsoft.com/office/drawing/2014/main" id="{E7D787D2-679A-1275-6DE4-FDBE840A145C}"/>
                </a:ext>
              </a:extLst>
            </p:cNvPr>
            <p:cNvCxnSpPr>
              <a:cxnSpLocks/>
            </p:cNvCxnSpPr>
            <p:nvPr/>
          </p:nvCxnSpPr>
          <p:spPr>
            <a:xfrm flipV="1">
              <a:off x="6803714"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1" name="直線矢印コネクタ 220">
              <a:extLst>
                <a:ext uri="{FF2B5EF4-FFF2-40B4-BE49-F238E27FC236}">
                  <a16:creationId xmlns:a16="http://schemas.microsoft.com/office/drawing/2014/main" id="{3E44ACCA-6A63-C2B6-85AD-5F6075A0D66A}"/>
                </a:ext>
              </a:extLst>
            </p:cNvPr>
            <p:cNvCxnSpPr>
              <a:cxnSpLocks/>
            </p:cNvCxnSpPr>
            <p:nvPr/>
          </p:nvCxnSpPr>
          <p:spPr>
            <a:xfrm flipV="1">
              <a:off x="5273489"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2" name="直線矢印コネクタ 221">
              <a:extLst>
                <a:ext uri="{FF2B5EF4-FFF2-40B4-BE49-F238E27FC236}">
                  <a16:creationId xmlns:a16="http://schemas.microsoft.com/office/drawing/2014/main" id="{CDAF7754-6C0F-1DD3-E9DE-5426445C331C}"/>
                </a:ext>
              </a:extLst>
            </p:cNvPr>
            <p:cNvCxnSpPr>
              <a:cxnSpLocks/>
            </p:cNvCxnSpPr>
            <p:nvPr/>
          </p:nvCxnSpPr>
          <p:spPr>
            <a:xfrm flipV="1">
              <a:off x="5879976" y="3570051"/>
              <a:ext cx="0" cy="218989"/>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テキスト ボックス 222">
              <a:extLst>
                <a:ext uri="{FF2B5EF4-FFF2-40B4-BE49-F238E27FC236}">
                  <a16:creationId xmlns:a16="http://schemas.microsoft.com/office/drawing/2014/main" id="{331FCB85-155C-C2C2-4421-1F69C9161CA6}"/>
                </a:ext>
              </a:extLst>
            </p:cNvPr>
            <p:cNvSpPr txBox="1"/>
            <p:nvPr/>
          </p:nvSpPr>
          <p:spPr>
            <a:xfrm>
              <a:off x="4150632" y="1552628"/>
              <a:ext cx="646331" cy="461664"/>
            </a:xfrm>
            <a:prstGeom prst="rect">
              <a:avLst/>
            </a:prstGeom>
            <a:noFill/>
          </p:spPr>
          <p:txBody>
            <a:bodyPr wrap="none" rtlCol="0">
              <a:spAutoFit/>
            </a:bodyPr>
            <a:lstStyle/>
            <a:p>
              <a:pPr algn="ctr"/>
              <a:r>
                <a:rPr lang="ja-JP" altLang="en-US" sz="1200" dirty="0"/>
                <a:t>出力</a:t>
              </a:r>
              <a:endParaRPr lang="en-US" altLang="ja-JP" sz="1200" dirty="0"/>
            </a:p>
            <a:p>
              <a:pPr algn="ctr"/>
              <a:r>
                <a:rPr lang="ja-JP" altLang="en-US" sz="1200" dirty="0"/>
                <a:t>詳細度</a:t>
              </a:r>
              <a:endParaRPr kumimoji="1" lang="ja-JP" altLang="en-US" sz="1200" dirty="0"/>
            </a:p>
          </p:txBody>
        </p:sp>
        <p:sp>
          <p:nvSpPr>
            <p:cNvPr id="224" name="テキスト ボックス 223">
              <a:extLst>
                <a:ext uri="{FF2B5EF4-FFF2-40B4-BE49-F238E27FC236}">
                  <a16:creationId xmlns:a16="http://schemas.microsoft.com/office/drawing/2014/main" id="{B8C84E72-5602-F461-01E7-59F1D36BD40D}"/>
                </a:ext>
              </a:extLst>
            </p:cNvPr>
            <p:cNvSpPr txBox="1"/>
            <p:nvPr/>
          </p:nvSpPr>
          <p:spPr>
            <a:xfrm>
              <a:off x="7193297" y="4379573"/>
              <a:ext cx="800221" cy="277000"/>
            </a:xfrm>
            <a:prstGeom prst="rect">
              <a:avLst/>
            </a:prstGeom>
            <a:noFill/>
          </p:spPr>
          <p:txBody>
            <a:bodyPr wrap="none" rtlCol="0">
              <a:spAutoFit/>
            </a:bodyPr>
            <a:lstStyle/>
            <a:p>
              <a:pPr algn="ctr"/>
              <a:r>
                <a:rPr kumimoji="1" lang="ja-JP" altLang="en-US" sz="1200" dirty="0"/>
                <a:t>計測領域</a:t>
              </a:r>
            </a:p>
          </p:txBody>
        </p:sp>
        <p:sp>
          <p:nvSpPr>
            <p:cNvPr id="225" name="テキスト ボックス 224">
              <a:extLst>
                <a:ext uri="{FF2B5EF4-FFF2-40B4-BE49-F238E27FC236}">
                  <a16:creationId xmlns:a16="http://schemas.microsoft.com/office/drawing/2014/main" id="{4829060A-1875-D871-2274-BDB783E1A956}"/>
                </a:ext>
              </a:extLst>
            </p:cNvPr>
            <p:cNvSpPr txBox="1"/>
            <p:nvPr/>
          </p:nvSpPr>
          <p:spPr>
            <a:xfrm>
              <a:off x="7818541" y="2164317"/>
              <a:ext cx="800219" cy="277000"/>
            </a:xfrm>
            <a:prstGeom prst="rect">
              <a:avLst/>
            </a:prstGeom>
            <a:noFill/>
          </p:spPr>
          <p:txBody>
            <a:bodyPr wrap="none" rtlCol="0">
              <a:spAutoFit/>
            </a:bodyPr>
            <a:lstStyle/>
            <a:p>
              <a:pPr algn="ctr"/>
              <a:r>
                <a:rPr kumimoji="1" lang="ja-JP" altLang="en-US" sz="1200" dirty="0"/>
                <a:t>計測時間</a:t>
              </a:r>
            </a:p>
          </p:txBody>
        </p:sp>
        <p:cxnSp>
          <p:nvCxnSpPr>
            <p:cNvPr id="226" name="直線矢印コネクタ 225">
              <a:extLst>
                <a:ext uri="{FF2B5EF4-FFF2-40B4-BE49-F238E27FC236}">
                  <a16:creationId xmlns:a16="http://schemas.microsoft.com/office/drawing/2014/main" id="{95C6FC8F-5929-D0E9-FDA7-F00A269D097E}"/>
                </a:ext>
              </a:extLst>
            </p:cNvPr>
            <p:cNvCxnSpPr>
              <a:cxnSpLocks/>
            </p:cNvCxnSpPr>
            <p:nvPr/>
          </p:nvCxnSpPr>
          <p:spPr>
            <a:xfrm flipV="1">
              <a:off x="7378515" y="3190367"/>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7" name="直線矢印コネクタ 226">
              <a:extLst>
                <a:ext uri="{FF2B5EF4-FFF2-40B4-BE49-F238E27FC236}">
                  <a16:creationId xmlns:a16="http://schemas.microsoft.com/office/drawing/2014/main" id="{EE9FBD4F-A2CC-162C-A4A9-C949E2F00D3D}"/>
                </a:ext>
              </a:extLst>
            </p:cNvPr>
            <p:cNvCxnSpPr>
              <a:cxnSpLocks/>
            </p:cNvCxnSpPr>
            <p:nvPr/>
          </p:nvCxnSpPr>
          <p:spPr>
            <a:xfrm flipV="1">
              <a:off x="5969163"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8" name="直線矢印コネクタ 227">
              <a:extLst>
                <a:ext uri="{FF2B5EF4-FFF2-40B4-BE49-F238E27FC236}">
                  <a16:creationId xmlns:a16="http://schemas.microsoft.com/office/drawing/2014/main" id="{CA209C5D-BBC5-2904-491F-4523DF193A4A}"/>
                </a:ext>
              </a:extLst>
            </p:cNvPr>
            <p:cNvCxnSpPr>
              <a:cxnSpLocks/>
            </p:cNvCxnSpPr>
            <p:nvPr/>
          </p:nvCxnSpPr>
          <p:spPr>
            <a:xfrm flipV="1">
              <a:off x="4439816" y="3190011"/>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9" name="直線矢印コネクタ 228">
              <a:extLst>
                <a:ext uri="{FF2B5EF4-FFF2-40B4-BE49-F238E27FC236}">
                  <a16:creationId xmlns:a16="http://schemas.microsoft.com/office/drawing/2014/main" id="{509CC5FC-2733-404C-024B-33E5AF3DE5BE}"/>
                </a:ext>
              </a:extLst>
            </p:cNvPr>
            <p:cNvCxnSpPr>
              <a:cxnSpLocks/>
            </p:cNvCxnSpPr>
            <p:nvPr/>
          </p:nvCxnSpPr>
          <p:spPr>
            <a:xfrm flipV="1">
              <a:off x="6522047" y="2844840"/>
              <a:ext cx="0" cy="1311395"/>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66" name="テキスト ボックス 265">
            <a:extLst>
              <a:ext uri="{FF2B5EF4-FFF2-40B4-BE49-F238E27FC236}">
                <a16:creationId xmlns:a16="http://schemas.microsoft.com/office/drawing/2014/main" id="{17856DCE-DA95-8C94-4513-E75467BFC02E}"/>
              </a:ext>
            </a:extLst>
          </p:cNvPr>
          <p:cNvSpPr txBox="1"/>
          <p:nvPr/>
        </p:nvSpPr>
        <p:spPr>
          <a:xfrm>
            <a:off x="6243489" y="2086564"/>
            <a:ext cx="889987" cy="261610"/>
          </a:xfrm>
          <a:prstGeom prst="rect">
            <a:avLst/>
          </a:prstGeom>
          <a:noFill/>
        </p:spPr>
        <p:txBody>
          <a:bodyPr wrap="none" rtlCol="0">
            <a:spAutoFit/>
          </a:bodyPr>
          <a:lstStyle/>
          <a:p>
            <a:pPr algn="ctr"/>
            <a:r>
              <a:rPr kumimoji="1" lang="ja-JP" altLang="en-US" sz="1100" dirty="0">
                <a:highlight>
                  <a:srgbClr val="FFFF00"/>
                </a:highlight>
              </a:rPr>
              <a:t>システム①</a:t>
            </a:r>
          </a:p>
        </p:txBody>
      </p:sp>
      <p:sp>
        <p:nvSpPr>
          <p:cNvPr id="289" name="正方形/長方形 288">
            <a:extLst>
              <a:ext uri="{FF2B5EF4-FFF2-40B4-BE49-F238E27FC236}">
                <a16:creationId xmlns:a16="http://schemas.microsoft.com/office/drawing/2014/main" id="{CB73886E-2217-B1F8-8FF3-54DFCAEAF4FA}"/>
              </a:ext>
            </a:extLst>
          </p:cNvPr>
          <p:cNvSpPr/>
          <p:nvPr/>
        </p:nvSpPr>
        <p:spPr>
          <a:xfrm>
            <a:off x="9124875" y="2413359"/>
            <a:ext cx="851224" cy="973780"/>
          </a:xfrm>
          <a:prstGeom prst="rect">
            <a:avLst/>
          </a:prstGeom>
          <a:ln>
            <a:prstDash val="sysDot"/>
          </a:ln>
        </p:spPr>
        <p:style>
          <a:lnRef idx="2">
            <a:schemeClr val="dk1"/>
          </a:lnRef>
          <a:fillRef idx="1">
            <a:schemeClr val="lt1"/>
          </a:fillRef>
          <a:effectRef idx="0">
            <a:schemeClr val="dk1"/>
          </a:effectRef>
          <a:fontRef idx="minor">
            <a:schemeClr val="dk1"/>
          </a:fontRef>
        </p:style>
        <p:txBody>
          <a:bodyPr rtlCol="0" anchor="ctr"/>
          <a:lstStyle/>
          <a:p>
            <a:r>
              <a:rPr lang="ja-JP" altLang="en-US" sz="1050" dirty="0"/>
              <a:t>　　：蓄積</a:t>
            </a:r>
            <a:endParaRPr lang="en-US" altLang="ja-JP" sz="1050" dirty="0"/>
          </a:p>
          <a:p>
            <a:endParaRPr kumimoji="1" lang="en-US" altLang="ja-JP" sz="1050" dirty="0"/>
          </a:p>
          <a:p>
            <a:endParaRPr kumimoji="1" lang="en-US" altLang="ja-JP" sz="1050" dirty="0"/>
          </a:p>
          <a:p>
            <a:r>
              <a:rPr lang="ja-JP" altLang="en-US" sz="1050" dirty="0"/>
              <a:t>　　：活用</a:t>
            </a:r>
            <a:endParaRPr kumimoji="1" lang="ja-JP" altLang="en-US" sz="1050" dirty="0"/>
          </a:p>
        </p:txBody>
      </p:sp>
      <p:sp>
        <p:nvSpPr>
          <p:cNvPr id="267" name="テキスト ボックス 266">
            <a:extLst>
              <a:ext uri="{FF2B5EF4-FFF2-40B4-BE49-F238E27FC236}">
                <a16:creationId xmlns:a16="http://schemas.microsoft.com/office/drawing/2014/main" id="{84F35F5E-5D1E-0831-1D90-56A1A1CF475A}"/>
              </a:ext>
            </a:extLst>
          </p:cNvPr>
          <p:cNvSpPr txBox="1"/>
          <p:nvPr/>
        </p:nvSpPr>
        <p:spPr>
          <a:xfrm>
            <a:off x="6863451" y="2370641"/>
            <a:ext cx="889987" cy="261610"/>
          </a:xfrm>
          <a:prstGeom prst="rect">
            <a:avLst/>
          </a:prstGeom>
          <a:noFill/>
        </p:spPr>
        <p:txBody>
          <a:bodyPr wrap="none" rtlCol="0">
            <a:spAutoFit/>
          </a:bodyPr>
          <a:lstStyle/>
          <a:p>
            <a:pPr algn="ctr"/>
            <a:r>
              <a:rPr kumimoji="1" lang="ja-JP" altLang="en-US" sz="1100">
                <a:highlight>
                  <a:srgbClr val="FFFF00"/>
                </a:highlight>
              </a:rPr>
              <a:t>システム②</a:t>
            </a:r>
            <a:endParaRPr kumimoji="1" lang="ja-JP" altLang="en-US" sz="1100" dirty="0">
              <a:highlight>
                <a:srgbClr val="FFFF00"/>
              </a:highlight>
            </a:endParaRPr>
          </a:p>
        </p:txBody>
      </p:sp>
      <p:sp>
        <p:nvSpPr>
          <p:cNvPr id="268" name="テキスト ボックス 267">
            <a:extLst>
              <a:ext uri="{FF2B5EF4-FFF2-40B4-BE49-F238E27FC236}">
                <a16:creationId xmlns:a16="http://schemas.microsoft.com/office/drawing/2014/main" id="{85BB61B9-3A7A-1160-03B4-E62DA96453D3}"/>
              </a:ext>
            </a:extLst>
          </p:cNvPr>
          <p:cNvSpPr txBox="1"/>
          <p:nvPr/>
        </p:nvSpPr>
        <p:spPr>
          <a:xfrm>
            <a:off x="7633455" y="2537485"/>
            <a:ext cx="889987" cy="261610"/>
          </a:xfrm>
          <a:prstGeom prst="rect">
            <a:avLst/>
          </a:prstGeom>
          <a:noFill/>
        </p:spPr>
        <p:txBody>
          <a:bodyPr wrap="none" rtlCol="0">
            <a:spAutoFit/>
          </a:bodyPr>
          <a:lstStyle/>
          <a:p>
            <a:pPr algn="ctr"/>
            <a:r>
              <a:rPr kumimoji="1" lang="ja-JP" altLang="en-US" sz="1100" dirty="0">
                <a:highlight>
                  <a:srgbClr val="FFFF00"/>
                </a:highlight>
              </a:rPr>
              <a:t>システム③</a:t>
            </a:r>
          </a:p>
        </p:txBody>
      </p:sp>
      <p:sp>
        <p:nvSpPr>
          <p:cNvPr id="269" name="正方形/長方形 268">
            <a:extLst>
              <a:ext uri="{FF2B5EF4-FFF2-40B4-BE49-F238E27FC236}">
                <a16:creationId xmlns:a16="http://schemas.microsoft.com/office/drawing/2014/main" id="{C021B8A6-A994-816D-3A84-82C4333A2F51}"/>
              </a:ext>
            </a:extLst>
          </p:cNvPr>
          <p:cNvSpPr/>
          <p:nvPr/>
        </p:nvSpPr>
        <p:spPr>
          <a:xfrm>
            <a:off x="14065711" y="947224"/>
            <a:ext cx="936104" cy="24827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50" dirty="0"/>
              <a:t>システム④</a:t>
            </a:r>
          </a:p>
        </p:txBody>
      </p:sp>
      <p:sp>
        <p:nvSpPr>
          <p:cNvPr id="275" name="コンテンツ プレースホルダー 2">
            <a:extLst>
              <a:ext uri="{FF2B5EF4-FFF2-40B4-BE49-F238E27FC236}">
                <a16:creationId xmlns:a16="http://schemas.microsoft.com/office/drawing/2014/main" id="{04F592CE-1934-030C-7532-4E613CF864BB}"/>
              </a:ext>
            </a:extLst>
          </p:cNvPr>
          <p:cNvSpPr txBox="1">
            <a:spLocks/>
          </p:cNvSpPr>
          <p:nvPr/>
        </p:nvSpPr>
        <p:spPr>
          <a:xfrm>
            <a:off x="119336" y="791725"/>
            <a:ext cx="7056784" cy="56972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ja-JP" altLang="en-US" dirty="0"/>
              <a:t>現場知識の蓄積</a:t>
            </a:r>
            <a:r>
              <a:rPr lang="en-US" altLang="ja-JP" dirty="0"/>
              <a:t>/</a:t>
            </a:r>
            <a:r>
              <a:rPr lang="ja-JP" altLang="en-US" dirty="0"/>
              <a:t>活用</a:t>
            </a:r>
            <a:endParaRPr lang="en-US" altLang="ja-JP" dirty="0"/>
          </a:p>
          <a:p>
            <a:pPr lvl="1"/>
            <a:r>
              <a:rPr lang="ja-JP" altLang="en-US" dirty="0"/>
              <a:t>③➡①</a:t>
            </a:r>
            <a:endParaRPr lang="en-US" altLang="ja-JP" dirty="0"/>
          </a:p>
          <a:p>
            <a:endParaRPr lang="en-US" altLang="ja-JP" dirty="0"/>
          </a:p>
          <a:p>
            <a:endParaRPr lang="en-US" altLang="ja-JP" dirty="0"/>
          </a:p>
          <a:p>
            <a:endParaRPr lang="en-US" altLang="ja-JP" dirty="0"/>
          </a:p>
          <a:p>
            <a:endParaRPr lang="en-US" altLang="ja-JP" dirty="0"/>
          </a:p>
          <a:p>
            <a:r>
              <a:rPr lang="ja-JP" altLang="en-US" dirty="0"/>
              <a:t>各医療従事者にとって、過不足のない通知</a:t>
            </a:r>
          </a:p>
        </p:txBody>
      </p:sp>
      <p:sp>
        <p:nvSpPr>
          <p:cNvPr id="276" name="円弧 275">
            <a:extLst>
              <a:ext uri="{FF2B5EF4-FFF2-40B4-BE49-F238E27FC236}">
                <a16:creationId xmlns:a16="http://schemas.microsoft.com/office/drawing/2014/main" id="{39455DA6-2226-CD83-776A-2ACB7A4FE4D9}"/>
              </a:ext>
            </a:extLst>
          </p:cNvPr>
          <p:cNvSpPr/>
          <p:nvPr/>
        </p:nvSpPr>
        <p:spPr>
          <a:xfrm>
            <a:off x="11782598" y="1566936"/>
            <a:ext cx="2422848" cy="785254"/>
          </a:xfrm>
          <a:prstGeom prst="arc">
            <a:avLst>
              <a:gd name="adj1" fmla="val 11289530"/>
              <a:gd name="adj2" fmla="val 3576023"/>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77" name="円弧 276">
            <a:extLst>
              <a:ext uri="{FF2B5EF4-FFF2-40B4-BE49-F238E27FC236}">
                <a16:creationId xmlns:a16="http://schemas.microsoft.com/office/drawing/2014/main" id="{FC6B76A6-88AD-7BAD-6106-FBFC68C611D6}"/>
              </a:ext>
            </a:extLst>
          </p:cNvPr>
          <p:cNvSpPr/>
          <p:nvPr/>
        </p:nvSpPr>
        <p:spPr>
          <a:xfrm>
            <a:off x="11712609" y="1750608"/>
            <a:ext cx="2422848" cy="416911"/>
          </a:xfrm>
          <a:prstGeom prst="arc">
            <a:avLst>
              <a:gd name="adj1" fmla="val 11289530"/>
              <a:gd name="adj2" fmla="val 9405258"/>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1" name="円弧 280">
            <a:extLst>
              <a:ext uri="{FF2B5EF4-FFF2-40B4-BE49-F238E27FC236}">
                <a16:creationId xmlns:a16="http://schemas.microsoft.com/office/drawing/2014/main" id="{80ECF540-673C-F4B7-9C11-FB31570BD9C4}"/>
              </a:ext>
            </a:extLst>
          </p:cNvPr>
          <p:cNvSpPr/>
          <p:nvPr/>
        </p:nvSpPr>
        <p:spPr>
          <a:xfrm>
            <a:off x="6970851" y="1319764"/>
            <a:ext cx="1533600" cy="1533600"/>
          </a:xfrm>
          <a:prstGeom prst="arc">
            <a:avLst>
              <a:gd name="adj1" fmla="val 12534290"/>
              <a:gd name="adj2" fmla="val 0"/>
            </a:avLst>
          </a:prstGeom>
          <a:ln w="381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2" name="円弧 281">
            <a:extLst>
              <a:ext uri="{FF2B5EF4-FFF2-40B4-BE49-F238E27FC236}">
                <a16:creationId xmlns:a16="http://schemas.microsoft.com/office/drawing/2014/main" id="{D41F3F71-4BD8-4A7A-FA41-F190F02B5D75}"/>
              </a:ext>
            </a:extLst>
          </p:cNvPr>
          <p:cNvSpPr/>
          <p:nvPr/>
        </p:nvSpPr>
        <p:spPr>
          <a:xfrm>
            <a:off x="7721453" y="1862850"/>
            <a:ext cx="576064" cy="576064"/>
          </a:xfrm>
          <a:prstGeom prst="arc">
            <a:avLst>
              <a:gd name="adj1" fmla="val 12534290"/>
              <a:gd name="adj2" fmla="val 0"/>
            </a:avLst>
          </a:prstGeom>
          <a:ln w="381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3" name="円弧 282">
            <a:extLst>
              <a:ext uri="{FF2B5EF4-FFF2-40B4-BE49-F238E27FC236}">
                <a16:creationId xmlns:a16="http://schemas.microsoft.com/office/drawing/2014/main" id="{65D78D10-7818-C54D-A418-0FAA80142BDA}"/>
              </a:ext>
            </a:extLst>
          </p:cNvPr>
          <p:cNvSpPr/>
          <p:nvPr/>
        </p:nvSpPr>
        <p:spPr>
          <a:xfrm>
            <a:off x="6910914" y="1456428"/>
            <a:ext cx="1533600" cy="1533600"/>
          </a:xfrm>
          <a:prstGeom prst="arc">
            <a:avLst>
              <a:gd name="adj1" fmla="val 12534290"/>
              <a:gd name="adj2" fmla="val 0"/>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4" name="円弧 283">
            <a:extLst>
              <a:ext uri="{FF2B5EF4-FFF2-40B4-BE49-F238E27FC236}">
                <a16:creationId xmlns:a16="http://schemas.microsoft.com/office/drawing/2014/main" id="{1DB22057-46DD-1766-2FD0-9AA3ED5EA84A}"/>
              </a:ext>
            </a:extLst>
          </p:cNvPr>
          <p:cNvSpPr/>
          <p:nvPr/>
        </p:nvSpPr>
        <p:spPr>
          <a:xfrm>
            <a:off x="7661516" y="1982098"/>
            <a:ext cx="576064" cy="576064"/>
          </a:xfrm>
          <a:prstGeom prst="arc">
            <a:avLst>
              <a:gd name="adj1" fmla="val 12534290"/>
              <a:gd name="adj2" fmla="val 0"/>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6" name="円弧 285">
            <a:extLst>
              <a:ext uri="{FF2B5EF4-FFF2-40B4-BE49-F238E27FC236}">
                <a16:creationId xmlns:a16="http://schemas.microsoft.com/office/drawing/2014/main" id="{483651F7-E962-0F30-5D28-02196B08ABD0}"/>
              </a:ext>
            </a:extLst>
          </p:cNvPr>
          <p:cNvSpPr/>
          <p:nvPr/>
        </p:nvSpPr>
        <p:spPr>
          <a:xfrm>
            <a:off x="8989608" y="2612934"/>
            <a:ext cx="480860" cy="480860"/>
          </a:xfrm>
          <a:prstGeom prst="arc">
            <a:avLst>
              <a:gd name="adj1" fmla="val 16159868"/>
              <a:gd name="adj2" fmla="val 0"/>
            </a:avLst>
          </a:prstGeom>
          <a:ln w="381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87" name="円弧 286">
            <a:extLst>
              <a:ext uri="{FF2B5EF4-FFF2-40B4-BE49-F238E27FC236}">
                <a16:creationId xmlns:a16="http://schemas.microsoft.com/office/drawing/2014/main" id="{EE4AD5A7-9A73-C543-BBD9-D5F56C122DDC}"/>
              </a:ext>
            </a:extLst>
          </p:cNvPr>
          <p:cNvSpPr/>
          <p:nvPr/>
        </p:nvSpPr>
        <p:spPr>
          <a:xfrm>
            <a:off x="8995806" y="3003877"/>
            <a:ext cx="480860" cy="480860"/>
          </a:xfrm>
          <a:prstGeom prst="arc">
            <a:avLst>
              <a:gd name="adj1" fmla="val 16118119"/>
              <a:gd name="adj2" fmla="val 0"/>
            </a:avLst>
          </a:prstGeom>
          <a:ln w="381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602897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0C5FA2-C480-33BF-316D-0FD0807F88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C98330-FD81-B03A-FB24-D6F8323454B3}"/>
              </a:ext>
            </a:extLst>
          </p:cNvPr>
          <p:cNvSpPr>
            <a:spLocks noGrp="1"/>
          </p:cNvSpPr>
          <p:nvPr>
            <p:ph type="ctrTitle"/>
          </p:nvPr>
        </p:nvSpPr>
        <p:spPr>
          <a:effectLst/>
        </p:spPr>
        <p:txBody>
          <a:bodyPr>
            <a:normAutofit/>
          </a:bodyPr>
          <a:lstStyle/>
          <a:p>
            <a:r>
              <a:rPr lang="ja-JP" altLang="en-US" sz="3200" dirty="0"/>
              <a:t>博士課程 進学計画についてのご相談</a:t>
            </a:r>
            <a:br>
              <a:rPr lang="en-US" altLang="ja-JP" sz="3200" dirty="0"/>
            </a:br>
            <a:r>
              <a:rPr lang="ja-JP" altLang="en-US" sz="2000" dirty="0"/>
              <a:t>（</a:t>
            </a:r>
            <a:r>
              <a:rPr lang="en-US" altLang="ja-JP" sz="2000" dirty="0"/>
              <a:t>2</a:t>
            </a:r>
            <a:r>
              <a:rPr lang="ja-JP" altLang="en-US" sz="2000" dirty="0"/>
              <a:t>年研修計画 社内検討を経た進学計画）</a:t>
            </a:r>
            <a:endParaRPr lang="ja-JP" altLang="en-US" sz="3200" dirty="0"/>
          </a:p>
        </p:txBody>
      </p:sp>
      <p:sp>
        <p:nvSpPr>
          <p:cNvPr id="3" name="字幕 2">
            <a:extLst>
              <a:ext uri="{FF2B5EF4-FFF2-40B4-BE49-F238E27FC236}">
                <a16:creationId xmlns:a16="http://schemas.microsoft.com/office/drawing/2014/main" id="{2EE70D23-49F6-68DA-5A93-1F012BD378AC}"/>
              </a:ext>
            </a:extLst>
          </p:cNvPr>
          <p:cNvSpPr>
            <a:spLocks noGrp="1"/>
          </p:cNvSpPr>
          <p:nvPr>
            <p:ph type="subTitle" idx="1"/>
          </p:nvPr>
        </p:nvSpPr>
        <p:spPr>
          <a:xfrm>
            <a:off x="6096000" y="4149080"/>
            <a:ext cx="5184576" cy="1752600"/>
          </a:xfrm>
        </p:spPr>
        <p:txBody>
          <a:bodyPr>
            <a:normAutofit/>
          </a:bodyPr>
          <a:lstStyle/>
          <a:p>
            <a:pPr algn="r"/>
            <a:r>
              <a:rPr lang="ja-JP" altLang="en-US" sz="2000" dirty="0"/>
              <a:t>林出和之</a:t>
            </a:r>
            <a:endParaRPr kumimoji="1" lang="ja-JP" altLang="en-US" sz="2000" dirty="0"/>
          </a:p>
        </p:txBody>
      </p:sp>
    </p:spTree>
    <p:extLst>
      <p:ext uri="{BB962C8B-B14F-4D97-AF65-F5344CB8AC3E}">
        <p14:creationId xmlns:p14="http://schemas.microsoft.com/office/powerpoint/2010/main" val="3358364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80F9A2-E362-EB3B-37A5-BA9BE78880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E78F13-4003-81B1-0D11-C302B094A994}"/>
              </a:ext>
            </a:extLst>
          </p:cNvPr>
          <p:cNvSpPr>
            <a:spLocks noGrp="1"/>
          </p:cNvSpPr>
          <p:nvPr>
            <p:ph type="title"/>
          </p:nvPr>
        </p:nvSpPr>
        <p:spPr/>
        <p:txBody>
          <a:bodyPr/>
          <a:lstStyle/>
          <a:p>
            <a:r>
              <a:rPr kumimoji="1" lang="ja-JP" altLang="en-US" dirty="0"/>
              <a:t>研究計画（日程・要件）</a:t>
            </a:r>
            <a:r>
              <a:rPr kumimoji="1" lang="ja-JP" altLang="en-US" dirty="0">
                <a:highlight>
                  <a:srgbClr val="FFFF00"/>
                </a:highlight>
              </a:rPr>
              <a:t>当初案</a:t>
            </a:r>
            <a:endParaRPr kumimoji="1" lang="ja-JP" altLang="en-US" dirty="0"/>
          </a:p>
        </p:txBody>
      </p:sp>
      <p:sp>
        <p:nvSpPr>
          <p:cNvPr id="3" name="コンテンツ プレースホルダー 2">
            <a:extLst>
              <a:ext uri="{FF2B5EF4-FFF2-40B4-BE49-F238E27FC236}">
                <a16:creationId xmlns:a16="http://schemas.microsoft.com/office/drawing/2014/main" id="{64C0115B-6EB6-5F0B-4B55-9787235239E1}"/>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37E00825-427F-A794-F0C5-FAC7A3E6760A}"/>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CA5CD778-0F1D-083F-D21E-54F259C1C5D0}"/>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9311CE3D-5CFB-297E-C701-2A5E78ADDAA7}"/>
              </a:ext>
            </a:extLst>
          </p:cNvPr>
          <p:cNvSpPr>
            <a:spLocks noGrp="1"/>
          </p:cNvSpPr>
          <p:nvPr>
            <p:ph type="sldNum" sz="quarter" idx="12"/>
          </p:nvPr>
        </p:nvSpPr>
        <p:spPr/>
        <p:txBody>
          <a:bodyPr/>
          <a:lstStyle/>
          <a:p>
            <a:fld id="{870B1737-2A00-4EFB-9FD3-149FCC30AA13}" type="slidenum">
              <a:rPr lang="ja-JP" altLang="en-US" smtClean="0"/>
              <a:pPr/>
              <a:t>36</a:t>
            </a:fld>
            <a:endParaRPr lang="ja-JP" altLang="en-US"/>
          </a:p>
        </p:txBody>
      </p:sp>
      <p:graphicFrame>
        <p:nvGraphicFramePr>
          <p:cNvPr id="7" name="表 6">
            <a:extLst>
              <a:ext uri="{FF2B5EF4-FFF2-40B4-BE49-F238E27FC236}">
                <a16:creationId xmlns:a16="http://schemas.microsoft.com/office/drawing/2014/main" id="{8A4A970F-DA28-C99B-AAAA-451A5E6F485A}"/>
              </a:ext>
            </a:extLst>
          </p:cNvPr>
          <p:cNvGraphicFramePr>
            <a:graphicFrameLocks noGrp="1"/>
          </p:cNvGraphicFramePr>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1AE0FFB7-ABFE-0DDB-3642-7FCE4E7D715A}"/>
              </a:ext>
            </a:extLst>
          </p:cNvPr>
          <p:cNvSpPr/>
          <p:nvPr/>
        </p:nvSpPr>
        <p:spPr>
          <a:xfrm>
            <a:off x="1493758" y="3733186"/>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29" name="楕円 28">
            <a:extLst>
              <a:ext uri="{FF2B5EF4-FFF2-40B4-BE49-F238E27FC236}">
                <a16:creationId xmlns:a16="http://schemas.microsoft.com/office/drawing/2014/main" id="{90D1ECD4-4563-2B11-A130-5D1B12033A2E}"/>
              </a:ext>
            </a:extLst>
          </p:cNvPr>
          <p:cNvSpPr/>
          <p:nvPr/>
        </p:nvSpPr>
        <p:spPr>
          <a:xfrm>
            <a:off x="2697502" y="4158991"/>
            <a:ext cx="1656184" cy="2688505"/>
          </a:xfrm>
          <a:prstGeom prst="ellipse">
            <a:avLst/>
          </a:prstGeom>
          <a:pattFill prst="wdUpDiag">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6886524-F448-154D-CB20-99C13F43F28C}"/>
              </a:ext>
            </a:extLst>
          </p:cNvPr>
          <p:cNvSpPr/>
          <p:nvPr/>
        </p:nvSpPr>
        <p:spPr>
          <a:xfrm>
            <a:off x="1493758" y="4111039"/>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graphicFrame>
        <p:nvGraphicFramePr>
          <p:cNvPr id="37" name="表 36">
            <a:extLst>
              <a:ext uri="{FF2B5EF4-FFF2-40B4-BE49-F238E27FC236}">
                <a16:creationId xmlns:a16="http://schemas.microsoft.com/office/drawing/2014/main" id="{902EDDD2-B459-0764-BF34-BA5CA9DD029B}"/>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0E9F18F8-3EB7-C998-A06A-B09B8BC49D09}"/>
              </a:ext>
            </a:extLst>
          </p:cNvPr>
          <p:cNvSpPr/>
          <p:nvPr/>
        </p:nvSpPr>
        <p:spPr>
          <a:xfrm>
            <a:off x="3473990" y="4647139"/>
            <a:ext cx="66712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C5CA7CA0-34F6-52F8-5647-CDE020092361}"/>
              </a:ext>
            </a:extLst>
          </p:cNvPr>
          <p:cNvSpPr/>
          <p:nvPr/>
        </p:nvSpPr>
        <p:spPr>
          <a:xfrm>
            <a:off x="6753995" y="4647139"/>
            <a:ext cx="2025250"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IEEE T-MSC</a:t>
            </a:r>
            <a:r>
              <a:rPr kumimoji="1" lang="ja-JP" altLang="en-US" sz="1000"/>
              <a:t>）</a:t>
            </a:r>
            <a:endParaRPr kumimoji="1" lang="ja-JP" altLang="en-US" sz="1000" dirty="0"/>
          </a:p>
        </p:txBody>
      </p:sp>
      <p:sp>
        <p:nvSpPr>
          <p:cNvPr id="31" name="楕円 30">
            <a:extLst>
              <a:ext uri="{FF2B5EF4-FFF2-40B4-BE49-F238E27FC236}">
                <a16:creationId xmlns:a16="http://schemas.microsoft.com/office/drawing/2014/main" id="{D0537922-C3ED-6796-B829-947FABF83129}"/>
              </a:ext>
            </a:extLst>
          </p:cNvPr>
          <p:cNvSpPr/>
          <p:nvPr/>
        </p:nvSpPr>
        <p:spPr>
          <a:xfrm>
            <a:off x="5996195" y="4158991"/>
            <a:ext cx="897037" cy="2688505"/>
          </a:xfrm>
          <a:prstGeom prst="ellipse">
            <a:avLst/>
          </a:prstGeom>
          <a:pattFill prst="wdUpDiag">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185FDA7-8758-4B4F-65AD-FCC8A2D23C05}"/>
              </a:ext>
            </a:extLst>
          </p:cNvPr>
          <p:cNvSpPr/>
          <p:nvPr/>
        </p:nvSpPr>
        <p:spPr>
          <a:xfrm>
            <a:off x="1493758" y="4488892"/>
            <a:ext cx="667125" cy="1721957"/>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700" dirty="0"/>
              <a:t>全体構想</a:t>
            </a:r>
            <a:endParaRPr lang="en-US" altLang="ja-JP" sz="700"/>
          </a:p>
          <a:p>
            <a:pPr algn="ctr"/>
            <a:r>
              <a:rPr lang="ja-JP" altLang="en-US" sz="700"/>
              <a:t>・</a:t>
            </a:r>
            <a:endParaRPr lang="en-US" altLang="ja-JP" sz="700"/>
          </a:p>
          <a:p>
            <a:pPr algn="ctr"/>
            <a:r>
              <a:rPr lang="ja-JP" altLang="en-US" sz="700"/>
              <a:t>研究間</a:t>
            </a:r>
            <a:endParaRPr lang="en-US" altLang="ja-JP" sz="700"/>
          </a:p>
          <a:p>
            <a:pPr algn="ctr"/>
            <a:r>
              <a:rPr lang="ja-JP" altLang="en-US" sz="700"/>
              <a:t>差別化</a:t>
            </a:r>
            <a:r>
              <a:rPr lang="ja-JP" altLang="en-US" sz="700" dirty="0"/>
              <a:t>戦略</a:t>
            </a:r>
            <a:endParaRPr kumimoji="1" lang="ja-JP" altLang="en-US" sz="700" dirty="0"/>
          </a:p>
        </p:txBody>
      </p:sp>
      <p:sp>
        <p:nvSpPr>
          <p:cNvPr id="14" name="正方形/長方形 13">
            <a:extLst>
              <a:ext uri="{FF2B5EF4-FFF2-40B4-BE49-F238E27FC236}">
                <a16:creationId xmlns:a16="http://schemas.microsoft.com/office/drawing/2014/main" id="{2E41024A-CAFF-9B8C-F8DA-40C20CE39B18}"/>
              </a:ext>
            </a:extLst>
          </p:cNvPr>
          <p:cNvSpPr/>
          <p:nvPr/>
        </p:nvSpPr>
        <p:spPr>
          <a:xfrm>
            <a:off x="2160884" y="5484480"/>
            <a:ext cx="656033"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アルゴ</a:t>
            </a:r>
            <a:endParaRPr lang="en-US" altLang="ja-JP" sz="1000"/>
          </a:p>
          <a:p>
            <a:pPr algn="ctr"/>
            <a:r>
              <a:rPr lang="ja-JP" altLang="en-US" sz="1000"/>
              <a:t>リズム</a:t>
            </a:r>
            <a:endParaRPr kumimoji="1" lang="ja-JP" altLang="en-US" sz="1000" dirty="0"/>
          </a:p>
        </p:txBody>
      </p:sp>
      <p:sp>
        <p:nvSpPr>
          <p:cNvPr id="15" name="正方形/長方形 14">
            <a:extLst>
              <a:ext uri="{FF2B5EF4-FFF2-40B4-BE49-F238E27FC236}">
                <a16:creationId xmlns:a16="http://schemas.microsoft.com/office/drawing/2014/main" id="{75443EDC-00C0-29FD-0D1B-CE44E28A6CA4}"/>
              </a:ext>
            </a:extLst>
          </p:cNvPr>
          <p:cNvSpPr/>
          <p:nvPr/>
        </p:nvSpPr>
        <p:spPr>
          <a:xfrm>
            <a:off x="2807883" y="5484480"/>
            <a:ext cx="8252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網羅解析</a:t>
            </a:r>
            <a:endParaRPr kumimoji="1" lang="ja-JP" altLang="en-US" sz="1000" dirty="0"/>
          </a:p>
        </p:txBody>
      </p:sp>
      <p:sp>
        <p:nvSpPr>
          <p:cNvPr id="17" name="正方形/長方形 16">
            <a:extLst>
              <a:ext uri="{FF2B5EF4-FFF2-40B4-BE49-F238E27FC236}">
                <a16:creationId xmlns:a16="http://schemas.microsoft.com/office/drawing/2014/main" id="{737D37D2-4F17-5E0D-EA71-3DA9A5440336}"/>
              </a:ext>
            </a:extLst>
          </p:cNvPr>
          <p:cNvSpPr/>
          <p:nvPr/>
        </p:nvSpPr>
        <p:spPr>
          <a:xfrm>
            <a:off x="3629999" y="5490433"/>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2870471E-064A-4272-E8F6-9C8A9EE759DF}"/>
              </a:ext>
            </a:extLst>
          </p:cNvPr>
          <p:cNvSpPr/>
          <p:nvPr/>
        </p:nvSpPr>
        <p:spPr>
          <a:xfrm>
            <a:off x="4300327" y="5490434"/>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74B8902E-09E4-3453-8116-306389F66275}"/>
              </a:ext>
            </a:extLst>
          </p:cNvPr>
          <p:cNvSpPr/>
          <p:nvPr/>
        </p:nvSpPr>
        <p:spPr>
          <a:xfrm>
            <a:off x="4966329" y="5484480"/>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2DA25C46-84BF-BB74-CFE2-957247B16250}"/>
              </a:ext>
            </a:extLst>
          </p:cNvPr>
          <p:cNvSpPr/>
          <p:nvPr/>
        </p:nvSpPr>
        <p:spPr>
          <a:xfrm>
            <a:off x="6090507" y="5485207"/>
            <a:ext cx="5559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80880250-89B3-FBC5-2804-23E23A76F76B}"/>
              </a:ext>
            </a:extLst>
          </p:cNvPr>
          <p:cNvSpPr/>
          <p:nvPr/>
        </p:nvSpPr>
        <p:spPr>
          <a:xfrm>
            <a:off x="6648311" y="5484481"/>
            <a:ext cx="771475"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RA-L</a:t>
            </a:r>
            <a:endParaRPr kumimoji="1" lang="ja-JP" altLang="en-US" sz="1000" dirty="0"/>
          </a:p>
        </p:txBody>
      </p:sp>
      <p:sp>
        <p:nvSpPr>
          <p:cNvPr id="23" name="正方形/長方形 22">
            <a:extLst>
              <a:ext uri="{FF2B5EF4-FFF2-40B4-BE49-F238E27FC236}">
                <a16:creationId xmlns:a16="http://schemas.microsoft.com/office/drawing/2014/main" id="{921E808A-5ECA-6354-3883-C77AA03FF455}"/>
              </a:ext>
            </a:extLst>
          </p:cNvPr>
          <p:cNvSpPr/>
          <p:nvPr/>
        </p:nvSpPr>
        <p:spPr>
          <a:xfrm>
            <a:off x="7423278" y="639949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39D77861-3A0E-8AA1-CE3C-D0969582D4B5}"/>
              </a:ext>
            </a:extLst>
          </p:cNvPr>
          <p:cNvSpPr/>
          <p:nvPr/>
        </p:nvSpPr>
        <p:spPr>
          <a:xfrm>
            <a:off x="8342440" y="639949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9F7C0E5B-9A10-3C4B-E040-B5D22DADA51C}"/>
              </a:ext>
            </a:extLst>
          </p:cNvPr>
          <p:cNvSpPr/>
          <p:nvPr/>
        </p:nvSpPr>
        <p:spPr>
          <a:xfrm>
            <a:off x="7423278" y="5484480"/>
            <a:ext cx="1355967"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0CFC1A18-77BC-A5DA-DFBF-B3589764EFAC}"/>
              </a:ext>
            </a:extLst>
          </p:cNvPr>
          <p:cNvSpPr/>
          <p:nvPr/>
        </p:nvSpPr>
        <p:spPr>
          <a:xfrm>
            <a:off x="6290559" y="5844429"/>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C689190D-3D4D-FED7-1997-873B1700BFB2}"/>
              </a:ext>
            </a:extLst>
          </p:cNvPr>
          <p:cNvSpPr/>
          <p:nvPr/>
        </p:nvSpPr>
        <p:spPr>
          <a:xfrm>
            <a:off x="6910732" y="5845247"/>
            <a:ext cx="2487767"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p>
        </p:txBody>
      </p:sp>
      <p:cxnSp>
        <p:nvCxnSpPr>
          <p:cNvPr id="42" name="直線矢印コネクタ 41">
            <a:extLst>
              <a:ext uri="{FF2B5EF4-FFF2-40B4-BE49-F238E27FC236}">
                <a16:creationId xmlns:a16="http://schemas.microsoft.com/office/drawing/2014/main" id="{6524B506-8236-3203-49AE-0A546E663695}"/>
              </a:ext>
            </a:extLst>
          </p:cNvPr>
          <p:cNvCxnSpPr>
            <a:cxnSpLocks/>
          </p:cNvCxnSpPr>
          <p:nvPr/>
        </p:nvCxnSpPr>
        <p:spPr>
          <a:xfrm>
            <a:off x="7419786" y="5844521"/>
            <a:ext cx="0" cy="576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E20CDBB4-ACFE-4D5C-1976-0235D41EAB64}"/>
              </a:ext>
            </a:extLst>
          </p:cNvPr>
          <p:cNvSpPr txBox="1"/>
          <p:nvPr/>
        </p:nvSpPr>
        <p:spPr>
          <a:xfrm>
            <a:off x="7409817" y="6214012"/>
            <a:ext cx="492443" cy="184666"/>
          </a:xfrm>
          <a:prstGeom prst="rect">
            <a:avLst/>
          </a:prstGeom>
          <a:noFill/>
        </p:spPr>
        <p:txBody>
          <a:bodyPr wrap="none" rtlCol="0">
            <a:spAutoFit/>
          </a:bodyPr>
          <a:lstStyle/>
          <a:p>
            <a:r>
              <a:rPr kumimoji="1" lang="ja-JP" altLang="en-US" sz="600" dirty="0"/>
              <a:t>審査請求</a:t>
            </a:r>
          </a:p>
        </p:txBody>
      </p:sp>
      <p:sp>
        <p:nvSpPr>
          <p:cNvPr id="22" name="吹き出し: 四角形 21">
            <a:extLst>
              <a:ext uri="{FF2B5EF4-FFF2-40B4-BE49-F238E27FC236}">
                <a16:creationId xmlns:a16="http://schemas.microsoft.com/office/drawing/2014/main" id="{16B01C4E-5AA9-75D5-6FE5-447DE49D4CEE}"/>
              </a:ext>
            </a:extLst>
          </p:cNvPr>
          <p:cNvSpPr/>
          <p:nvPr/>
        </p:nvSpPr>
        <p:spPr>
          <a:xfrm>
            <a:off x="4493820" y="5908280"/>
            <a:ext cx="920552"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有給休暇取得</a:t>
            </a:r>
            <a:endParaRPr lang="en-US" altLang="ja-JP" sz="800"/>
          </a:p>
          <a:p>
            <a:pPr algn="ctr"/>
            <a:r>
              <a:rPr kumimoji="1" lang="ja-JP" altLang="en-US" sz="800"/>
              <a:t>（</a:t>
            </a:r>
            <a:r>
              <a:rPr kumimoji="1" lang="ja-JP" altLang="en-US" sz="800" dirty="0"/>
              <a:t>～</a:t>
            </a:r>
            <a:r>
              <a:rPr kumimoji="1" lang="en-US" altLang="ja-JP" sz="800"/>
              <a:t>1</a:t>
            </a:r>
            <a:r>
              <a:rPr kumimoji="1" lang="ja-JP" altLang="en-US" sz="800"/>
              <a:t>週間</a:t>
            </a:r>
            <a:r>
              <a:rPr kumimoji="1" lang="ja-JP" altLang="en-US" sz="800" dirty="0"/>
              <a:t>）</a:t>
            </a:r>
          </a:p>
        </p:txBody>
      </p:sp>
      <p:sp>
        <p:nvSpPr>
          <p:cNvPr id="28" name="正方形/長方形 27">
            <a:extLst>
              <a:ext uri="{FF2B5EF4-FFF2-40B4-BE49-F238E27FC236}">
                <a16:creationId xmlns:a16="http://schemas.microsoft.com/office/drawing/2014/main" id="{4ED20965-BF59-D70F-C18B-EA03081A6EC1}"/>
              </a:ext>
            </a:extLst>
          </p:cNvPr>
          <p:cNvSpPr/>
          <p:nvPr/>
        </p:nvSpPr>
        <p:spPr>
          <a:xfrm>
            <a:off x="2822905" y="4647139"/>
            <a:ext cx="66712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追加</a:t>
            </a:r>
            <a:endParaRPr lang="en-US" altLang="ja-JP" sz="1000" dirty="0"/>
          </a:p>
          <a:p>
            <a:pPr algn="ctr"/>
            <a:r>
              <a:rPr lang="ja-JP" altLang="en-US" sz="1000" dirty="0"/>
              <a:t>解析？</a:t>
            </a:r>
            <a:endParaRPr kumimoji="1" lang="ja-JP" altLang="en-US" sz="1000" dirty="0"/>
          </a:p>
        </p:txBody>
      </p:sp>
      <p:sp>
        <p:nvSpPr>
          <p:cNvPr id="44" name="正方形/長方形 43">
            <a:extLst>
              <a:ext uri="{FF2B5EF4-FFF2-40B4-BE49-F238E27FC236}">
                <a16:creationId xmlns:a16="http://schemas.microsoft.com/office/drawing/2014/main" id="{2C0C0EBA-223E-DDEC-F85F-D003B3B38571}"/>
              </a:ext>
            </a:extLst>
          </p:cNvPr>
          <p:cNvSpPr/>
          <p:nvPr/>
        </p:nvSpPr>
        <p:spPr>
          <a:xfrm>
            <a:off x="2152225" y="4647139"/>
            <a:ext cx="66329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見せ方</a:t>
            </a:r>
            <a:endParaRPr lang="en-US" altLang="ja-JP" sz="1000" dirty="0"/>
          </a:p>
          <a:p>
            <a:pPr algn="ctr"/>
            <a:r>
              <a:rPr kumimoji="1" lang="ja-JP" altLang="en-US" sz="1000" dirty="0"/>
              <a:t>修正</a:t>
            </a:r>
          </a:p>
        </p:txBody>
      </p:sp>
      <p:sp>
        <p:nvSpPr>
          <p:cNvPr id="51" name="テキスト ボックス 50">
            <a:extLst>
              <a:ext uri="{FF2B5EF4-FFF2-40B4-BE49-F238E27FC236}">
                <a16:creationId xmlns:a16="http://schemas.microsoft.com/office/drawing/2014/main" id="{C4709357-5720-0DD1-4FBE-0DCE34AF87A1}"/>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AE15E86B-C3B2-4FA2-DD1F-1FD38339C4FC}"/>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3" name="正方形/長方形 52">
            <a:extLst>
              <a:ext uri="{FF2B5EF4-FFF2-40B4-BE49-F238E27FC236}">
                <a16:creationId xmlns:a16="http://schemas.microsoft.com/office/drawing/2014/main" id="{4F968E1B-183A-546D-AE26-66F1182C52EE}"/>
              </a:ext>
            </a:extLst>
          </p:cNvPr>
          <p:cNvSpPr/>
          <p:nvPr/>
        </p:nvSpPr>
        <p:spPr>
          <a:xfrm>
            <a:off x="6456040" y="4647139"/>
            <a:ext cx="29795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提</a:t>
            </a:r>
            <a:endParaRPr lang="en-US" altLang="ja-JP" sz="1000" dirty="0"/>
          </a:p>
          <a:p>
            <a:pPr algn="ctr"/>
            <a:r>
              <a:rPr lang="ja-JP" altLang="en-US" sz="1000" dirty="0"/>
              <a:t>出</a:t>
            </a:r>
            <a:endParaRPr kumimoji="1" lang="ja-JP" altLang="en-US" sz="1000" dirty="0"/>
          </a:p>
        </p:txBody>
      </p:sp>
      <p:cxnSp>
        <p:nvCxnSpPr>
          <p:cNvPr id="54" name="直線矢印コネクタ 53">
            <a:extLst>
              <a:ext uri="{FF2B5EF4-FFF2-40B4-BE49-F238E27FC236}">
                <a16:creationId xmlns:a16="http://schemas.microsoft.com/office/drawing/2014/main" id="{97E69699-74EA-3B96-53D9-E7DCAACFB7E2}"/>
              </a:ext>
            </a:extLst>
          </p:cNvPr>
          <p:cNvCxnSpPr>
            <a:cxnSpLocks/>
          </p:cNvCxnSpPr>
          <p:nvPr/>
        </p:nvCxnSpPr>
        <p:spPr>
          <a:xfrm>
            <a:off x="4165600" y="4119291"/>
            <a:ext cx="5232899" cy="0"/>
          </a:xfrm>
          <a:prstGeom prst="straightConnector1">
            <a:avLst/>
          </a:prstGeom>
          <a:ln w="5715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2" name="楕円 31">
            <a:extLst>
              <a:ext uri="{FF2B5EF4-FFF2-40B4-BE49-F238E27FC236}">
                <a16:creationId xmlns:a16="http://schemas.microsoft.com/office/drawing/2014/main" id="{AC69AEB9-3AC6-4B83-DAB2-28D0BBF1BF96}"/>
              </a:ext>
            </a:extLst>
          </p:cNvPr>
          <p:cNvSpPr/>
          <p:nvPr/>
        </p:nvSpPr>
        <p:spPr>
          <a:xfrm>
            <a:off x="9272117" y="1476830"/>
            <a:ext cx="252763" cy="240234"/>
          </a:xfrm>
          <a:prstGeom prst="ellipse">
            <a:avLst/>
          </a:prstGeom>
          <a:pattFill prst="wdUpDiag">
            <a:fgClr>
              <a:schemeClr val="accent1"/>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014D7E8E-ED38-80BE-4652-C78908F5CAF0}"/>
              </a:ext>
            </a:extLst>
          </p:cNvPr>
          <p:cNvSpPr txBox="1"/>
          <p:nvPr/>
        </p:nvSpPr>
        <p:spPr>
          <a:xfrm>
            <a:off x="5639090" y="1155624"/>
            <a:ext cx="6474849" cy="1477328"/>
          </a:xfrm>
          <a:prstGeom prst="rect">
            <a:avLst/>
          </a:prstGeom>
          <a:noFill/>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b="1" dirty="0"/>
              <a:t>当初案に対する，</a:t>
            </a:r>
            <a:r>
              <a:rPr lang="ja-JP" altLang="en-US" b="1" dirty="0"/>
              <a:t>会社側</a:t>
            </a:r>
            <a:r>
              <a:rPr kumimoji="1" lang="ja-JP" altLang="en-US" b="1" dirty="0"/>
              <a:t>のコメント</a:t>
            </a:r>
            <a:endParaRPr kumimoji="1" lang="en-US" altLang="ja-JP" b="1" dirty="0"/>
          </a:p>
          <a:p>
            <a:r>
              <a:rPr lang="ja-JP" altLang="en-US" dirty="0"/>
              <a:t>・繁忙期における複数研究タスク </a:t>
            </a:r>
            <a:r>
              <a:rPr lang="en-US" altLang="ja-JP" dirty="0"/>
              <a:t>(</a:t>
            </a:r>
            <a:r>
              <a:rPr lang="ja-JP" altLang="en-US" dirty="0"/>
              <a:t>　</a:t>
            </a:r>
            <a:r>
              <a:rPr lang="en-US" altLang="ja-JP" dirty="0"/>
              <a:t>) </a:t>
            </a:r>
            <a:r>
              <a:rPr lang="ja-JP" altLang="en-US" dirty="0"/>
              <a:t>は避けてほしい</a:t>
            </a:r>
            <a:endParaRPr lang="en-US" altLang="ja-JP" dirty="0"/>
          </a:p>
          <a:p>
            <a:r>
              <a:rPr kumimoji="1" lang="ja-JP" altLang="en-US" dirty="0"/>
              <a:t>・会社として在籍を公認できるのは</a:t>
            </a:r>
            <a:r>
              <a:rPr lang="en-US" altLang="ja-JP" dirty="0"/>
              <a:t>2027</a:t>
            </a:r>
            <a:r>
              <a:rPr lang="ja-JP" altLang="en-US" dirty="0"/>
              <a:t>年秋学期以降</a:t>
            </a:r>
            <a:endParaRPr lang="en-US" altLang="ja-JP" dirty="0"/>
          </a:p>
          <a:p>
            <a:r>
              <a:rPr kumimoji="1" lang="ja-JP" altLang="en-US" dirty="0"/>
              <a:t>　（それまでは勤務に専念できる形が理想）</a:t>
            </a:r>
            <a:endParaRPr kumimoji="1" lang="en-US" altLang="ja-JP" dirty="0"/>
          </a:p>
          <a:p>
            <a:r>
              <a:rPr lang="ja-JP" altLang="en-US" dirty="0"/>
              <a:t>　➡ </a:t>
            </a:r>
            <a:r>
              <a:rPr lang="ja-JP" altLang="en-US" b="1" dirty="0">
                <a:solidFill>
                  <a:srgbClr val="FF0000"/>
                </a:solidFill>
              </a:rPr>
              <a:t>繁忙期に業務専念可能な旨が明確な計画を立ててほしい</a:t>
            </a:r>
            <a:endParaRPr kumimoji="1" lang="ja-JP" altLang="en-US" b="1" dirty="0">
              <a:solidFill>
                <a:srgbClr val="FF0000"/>
              </a:solidFill>
            </a:endParaRPr>
          </a:p>
        </p:txBody>
      </p:sp>
    </p:spTree>
    <p:extLst>
      <p:ext uri="{BB962C8B-B14F-4D97-AF65-F5344CB8AC3E}">
        <p14:creationId xmlns:p14="http://schemas.microsoft.com/office/powerpoint/2010/main" val="24620436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5779F5-3A2D-EC9E-75D8-9A411AF886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A287BF-D8D3-4847-FF18-61958095836B}"/>
              </a:ext>
            </a:extLst>
          </p:cNvPr>
          <p:cNvSpPr>
            <a:spLocks noGrp="1"/>
          </p:cNvSpPr>
          <p:nvPr>
            <p:ph type="ctrTitle"/>
          </p:nvPr>
        </p:nvSpPr>
        <p:spPr>
          <a:effectLst/>
        </p:spPr>
        <p:txBody>
          <a:bodyPr>
            <a:normAutofit/>
          </a:bodyPr>
          <a:lstStyle/>
          <a:p>
            <a:r>
              <a:rPr lang="ja-JP" altLang="en-US" sz="3200"/>
              <a:t>博士</a:t>
            </a:r>
            <a:r>
              <a:rPr lang="ja-JP" altLang="en-US" sz="3200" dirty="0"/>
              <a:t>課程 研究骨子 検討進捗</a:t>
            </a:r>
          </a:p>
        </p:txBody>
      </p:sp>
      <p:sp>
        <p:nvSpPr>
          <p:cNvPr id="3" name="字幕 2">
            <a:extLst>
              <a:ext uri="{FF2B5EF4-FFF2-40B4-BE49-F238E27FC236}">
                <a16:creationId xmlns:a16="http://schemas.microsoft.com/office/drawing/2014/main" id="{267993D5-EA6F-E2C1-4F49-9EA9B007E62B}"/>
              </a:ext>
            </a:extLst>
          </p:cNvPr>
          <p:cNvSpPr>
            <a:spLocks noGrp="1"/>
          </p:cNvSpPr>
          <p:nvPr>
            <p:ph type="subTitle" idx="1"/>
          </p:nvPr>
        </p:nvSpPr>
        <p:spPr>
          <a:xfrm>
            <a:off x="6096000" y="4149080"/>
            <a:ext cx="5184576" cy="1752600"/>
          </a:xfrm>
        </p:spPr>
        <p:txBody>
          <a:bodyPr>
            <a:normAutofit/>
          </a:bodyPr>
          <a:lstStyle/>
          <a:p>
            <a:pPr algn="r"/>
            <a:r>
              <a:rPr lang="ja-JP" altLang="en-US" sz="2000" dirty="0"/>
              <a:t>林出和之</a:t>
            </a:r>
            <a:endParaRPr kumimoji="1" lang="ja-JP" altLang="en-US" sz="2000" dirty="0"/>
          </a:p>
        </p:txBody>
      </p:sp>
    </p:spTree>
    <p:extLst>
      <p:ext uri="{BB962C8B-B14F-4D97-AF65-F5344CB8AC3E}">
        <p14:creationId xmlns:p14="http://schemas.microsoft.com/office/powerpoint/2010/main" val="31610594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3436ED-5718-8604-E06E-E3C4CDD3B96B}"/>
              </a:ext>
            </a:extLst>
          </p:cNvPr>
          <p:cNvSpPr>
            <a:spLocks noGrp="1"/>
          </p:cNvSpPr>
          <p:nvPr>
            <p:ph type="title"/>
          </p:nvPr>
        </p:nvSpPr>
        <p:spPr/>
        <p:txBody>
          <a:bodyPr/>
          <a:lstStyle/>
          <a:p>
            <a:r>
              <a:rPr kumimoji="1" lang="ja-JP" altLang="en-US" dirty="0"/>
              <a:t>博士課程研究 </a:t>
            </a:r>
            <a:r>
              <a:rPr lang="ja-JP" altLang="en-US" dirty="0"/>
              <a:t>骨子 検討進捗</a:t>
            </a:r>
            <a:endParaRPr kumimoji="1" lang="ja-JP" altLang="en-US" dirty="0"/>
          </a:p>
        </p:txBody>
      </p:sp>
      <p:sp>
        <p:nvSpPr>
          <p:cNvPr id="3" name="コンテンツ プレースホルダー 2">
            <a:extLst>
              <a:ext uri="{FF2B5EF4-FFF2-40B4-BE49-F238E27FC236}">
                <a16:creationId xmlns:a16="http://schemas.microsoft.com/office/drawing/2014/main" id="{FAE0A3FD-06E1-DEFB-ED40-93A041B753D0}"/>
              </a:ext>
            </a:extLst>
          </p:cNvPr>
          <p:cNvSpPr>
            <a:spLocks noGrp="1"/>
          </p:cNvSpPr>
          <p:nvPr>
            <p:ph idx="1"/>
          </p:nvPr>
        </p:nvSpPr>
        <p:spPr/>
        <p:txBody>
          <a:bodyPr/>
          <a:lstStyle/>
          <a:p>
            <a:r>
              <a:rPr kumimoji="1" lang="ja-JP" altLang="en-US" dirty="0"/>
              <a:t>全体概要</a:t>
            </a:r>
            <a:endParaRPr kumimoji="1" lang="en-US" altLang="ja-JP" dirty="0"/>
          </a:p>
          <a:p>
            <a:pPr lvl="1"/>
            <a:r>
              <a:rPr lang="ja-JP" altLang="en-US" dirty="0"/>
              <a:t>課題</a:t>
            </a:r>
            <a:endParaRPr lang="en-US" altLang="ja-JP" dirty="0"/>
          </a:p>
          <a:p>
            <a:pPr lvl="2"/>
            <a:r>
              <a:rPr lang="ja-JP" altLang="en-US" dirty="0"/>
              <a:t>患者の自発性</a:t>
            </a:r>
            <a:r>
              <a:rPr lang="ja-JP" altLang="en-US" sz="1200" dirty="0"/>
              <a:t>（</a:t>
            </a:r>
            <a:r>
              <a:rPr lang="en-US" altLang="ja-JP" sz="1200" dirty="0"/>
              <a:t>NS</a:t>
            </a:r>
            <a:r>
              <a:rPr lang="ja-JP" altLang="en-US" sz="1200" dirty="0"/>
              <a:t>コール）</a:t>
            </a:r>
            <a:r>
              <a:rPr lang="ja-JP" altLang="en-US" dirty="0"/>
              <a:t>・従事者の勘や気配り</a:t>
            </a:r>
            <a:r>
              <a:rPr lang="ja-JP" altLang="en-US" sz="1200" dirty="0"/>
              <a:t>（「ついで」の巡回）</a:t>
            </a:r>
            <a:r>
              <a:rPr lang="ja-JP" altLang="en-US" dirty="0"/>
              <a:t>に依存した見守り・事故予防</a:t>
            </a:r>
            <a:endParaRPr lang="en-US" altLang="ja-JP" dirty="0"/>
          </a:p>
          <a:p>
            <a:pPr lvl="1"/>
            <a:r>
              <a:rPr kumimoji="1" lang="ja-JP" altLang="en-US" dirty="0"/>
              <a:t>既存研究</a:t>
            </a:r>
            <a:endParaRPr lang="en-US" altLang="ja-JP" dirty="0"/>
          </a:p>
          <a:p>
            <a:pPr lvl="2"/>
            <a:r>
              <a:rPr kumimoji="1" lang="ja-JP" altLang="en-US" dirty="0"/>
              <a:t>バイタル・環境センサによる逸脱事象検知</a:t>
            </a:r>
            <a:endParaRPr kumimoji="1" lang="en-US" altLang="ja-JP" dirty="0"/>
          </a:p>
          <a:p>
            <a:pPr lvl="1"/>
            <a:r>
              <a:rPr lang="ja-JP" altLang="en-US" dirty="0"/>
              <a:t>提案</a:t>
            </a:r>
            <a:endParaRPr lang="en-US" altLang="ja-JP" dirty="0"/>
          </a:p>
          <a:p>
            <a:pPr lvl="2"/>
            <a:r>
              <a:rPr lang="ja-JP" altLang="en-US" dirty="0"/>
              <a:t>現場知識と経験を蓄積した，複数解像度の計測・評価を通じた自律成長型の見守りシステム</a:t>
            </a:r>
            <a:endParaRPr lang="en-US" altLang="ja-JP" dirty="0"/>
          </a:p>
          <a:p>
            <a:pPr lvl="1"/>
            <a:r>
              <a:rPr kumimoji="1" lang="ja-JP" altLang="en-US" dirty="0"/>
              <a:t>システム構成</a:t>
            </a:r>
          </a:p>
        </p:txBody>
      </p:sp>
      <p:sp>
        <p:nvSpPr>
          <p:cNvPr id="6" name="スライド番号プレースホルダー 5">
            <a:extLst>
              <a:ext uri="{FF2B5EF4-FFF2-40B4-BE49-F238E27FC236}">
                <a16:creationId xmlns:a16="http://schemas.microsoft.com/office/drawing/2014/main" id="{2C9B1266-ECAB-1267-F1A5-97A2AADE330F}"/>
              </a:ext>
            </a:extLst>
          </p:cNvPr>
          <p:cNvSpPr>
            <a:spLocks noGrp="1"/>
          </p:cNvSpPr>
          <p:nvPr>
            <p:ph type="sldNum" sz="quarter" idx="12"/>
          </p:nvPr>
        </p:nvSpPr>
        <p:spPr/>
        <p:txBody>
          <a:bodyPr/>
          <a:lstStyle/>
          <a:p>
            <a:fld id="{870B1737-2A00-4EFB-9FD3-149FCC30AA13}" type="slidenum">
              <a:rPr lang="ja-JP" altLang="en-US" smtClean="0"/>
              <a:pPr/>
              <a:t>38</a:t>
            </a:fld>
            <a:endParaRPr lang="ja-JP" altLang="en-US"/>
          </a:p>
        </p:txBody>
      </p:sp>
      <p:grpSp>
        <p:nvGrpSpPr>
          <p:cNvPr id="14" name="グループ化 13">
            <a:extLst>
              <a:ext uri="{FF2B5EF4-FFF2-40B4-BE49-F238E27FC236}">
                <a16:creationId xmlns:a16="http://schemas.microsoft.com/office/drawing/2014/main" id="{C081FF58-88FC-B7A1-0598-311BF9324D8C}"/>
              </a:ext>
            </a:extLst>
          </p:cNvPr>
          <p:cNvGrpSpPr/>
          <p:nvPr/>
        </p:nvGrpSpPr>
        <p:grpSpPr>
          <a:xfrm>
            <a:off x="119336" y="3985236"/>
            <a:ext cx="10009112" cy="2802010"/>
            <a:chOff x="119336" y="3985236"/>
            <a:chExt cx="11978184" cy="2802010"/>
          </a:xfrm>
        </p:grpSpPr>
        <p:sp>
          <p:nvSpPr>
            <p:cNvPr id="7" name="正方形/長方形 6">
              <a:extLst>
                <a:ext uri="{FF2B5EF4-FFF2-40B4-BE49-F238E27FC236}">
                  <a16:creationId xmlns:a16="http://schemas.microsoft.com/office/drawing/2014/main" id="{54D4D7EF-27A8-CF49-08EE-A78C804A2F5E}"/>
                </a:ext>
              </a:extLst>
            </p:cNvPr>
            <p:cNvSpPr/>
            <p:nvPr/>
          </p:nvSpPr>
          <p:spPr>
            <a:xfrm>
              <a:off x="3150386" y="4169902"/>
              <a:ext cx="3744416" cy="655432"/>
            </a:xfrm>
            <a:prstGeom prst="rect">
              <a:avLst/>
            </a:prstGeom>
            <a:solidFill>
              <a:schemeClr val="accent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t>時空間内の人物の配置</a:t>
              </a:r>
              <a:endParaRPr lang="en-US" altLang="ja-JP" dirty="0"/>
            </a:p>
            <a:p>
              <a:pPr algn="ctr"/>
              <a:r>
                <a:rPr lang="ja-JP" altLang="en-US" dirty="0"/>
                <a:t>に着目した見守り</a:t>
              </a:r>
              <a:endParaRPr kumimoji="1" lang="ja-JP" altLang="en-US" dirty="0"/>
            </a:p>
          </p:txBody>
        </p:sp>
        <p:sp>
          <p:nvSpPr>
            <p:cNvPr id="8" name="正方形/長方形 7">
              <a:extLst>
                <a:ext uri="{FF2B5EF4-FFF2-40B4-BE49-F238E27FC236}">
                  <a16:creationId xmlns:a16="http://schemas.microsoft.com/office/drawing/2014/main" id="{34D0A023-1B55-952D-D684-8C4524EA2220}"/>
                </a:ext>
              </a:extLst>
            </p:cNvPr>
            <p:cNvSpPr/>
            <p:nvPr/>
          </p:nvSpPr>
          <p:spPr>
            <a:xfrm>
              <a:off x="126050" y="5208911"/>
              <a:ext cx="3744416" cy="655432"/>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複数人物周辺の空間的文脈</a:t>
              </a:r>
              <a:endParaRPr kumimoji="1" lang="en-US" altLang="ja-JP" dirty="0"/>
            </a:p>
            <a:p>
              <a:pPr algn="ctr"/>
              <a:r>
                <a:rPr kumimoji="1" lang="ja-JP" altLang="en-US" dirty="0"/>
                <a:t>に着目した見守り</a:t>
              </a:r>
            </a:p>
          </p:txBody>
        </p:sp>
        <p:sp>
          <p:nvSpPr>
            <p:cNvPr id="9" name="正方形/長方形 8">
              <a:extLst>
                <a:ext uri="{FF2B5EF4-FFF2-40B4-BE49-F238E27FC236}">
                  <a16:creationId xmlns:a16="http://schemas.microsoft.com/office/drawing/2014/main" id="{67BF64C9-0588-EFE3-0446-F3E2267A129D}"/>
                </a:ext>
              </a:extLst>
            </p:cNvPr>
            <p:cNvSpPr/>
            <p:nvPr/>
          </p:nvSpPr>
          <p:spPr>
            <a:xfrm>
              <a:off x="6174722" y="5208911"/>
              <a:ext cx="3744416" cy="655432"/>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人物の身体的動作</a:t>
              </a:r>
              <a:endParaRPr kumimoji="1" lang="en-US" altLang="ja-JP" dirty="0"/>
            </a:p>
            <a:p>
              <a:pPr algn="ctr"/>
              <a:r>
                <a:rPr kumimoji="1" lang="ja-JP" altLang="en-US" dirty="0"/>
                <a:t>に着目した見守り</a:t>
              </a:r>
            </a:p>
          </p:txBody>
        </p:sp>
        <p:sp>
          <p:nvSpPr>
            <p:cNvPr id="10" name="正方形/長方形 9">
              <a:extLst>
                <a:ext uri="{FF2B5EF4-FFF2-40B4-BE49-F238E27FC236}">
                  <a16:creationId xmlns:a16="http://schemas.microsoft.com/office/drawing/2014/main" id="{BD6F0653-66CC-0D35-C4A8-B23BEB0DA482}"/>
                </a:ext>
              </a:extLst>
            </p:cNvPr>
            <p:cNvSpPr/>
            <p:nvPr/>
          </p:nvSpPr>
          <p:spPr>
            <a:xfrm>
              <a:off x="119336" y="6355198"/>
              <a:ext cx="11953328"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医療スタッフ</a:t>
              </a:r>
            </a:p>
          </p:txBody>
        </p:sp>
        <p:sp>
          <p:nvSpPr>
            <p:cNvPr id="11" name="正方形/長方形 10">
              <a:extLst>
                <a:ext uri="{FF2B5EF4-FFF2-40B4-BE49-F238E27FC236}">
                  <a16:creationId xmlns:a16="http://schemas.microsoft.com/office/drawing/2014/main" id="{1E1B3F7B-7B6E-B9FF-2C79-FF866E15B1D4}"/>
                </a:ext>
              </a:extLst>
            </p:cNvPr>
            <p:cNvSpPr/>
            <p:nvPr/>
          </p:nvSpPr>
          <p:spPr>
            <a:xfrm>
              <a:off x="10121406" y="4169902"/>
              <a:ext cx="716556" cy="1694441"/>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algn="ctr"/>
              <a:endParaRPr lang="en-US" altLang="ja-JP" sz="1200" dirty="0"/>
            </a:p>
            <a:p>
              <a:pPr algn="ctr"/>
              <a:r>
                <a:rPr lang="ja-JP" altLang="en-US" sz="1200" dirty="0"/>
                <a:t>自己申告</a:t>
              </a:r>
              <a:endParaRPr kumimoji="1" lang="ja-JP" altLang="en-US" sz="1200" dirty="0"/>
            </a:p>
          </p:txBody>
        </p:sp>
        <p:pic>
          <p:nvPicPr>
            <p:cNvPr id="12" name="Picture 2" descr="ナースコールのイラスト">
              <a:extLst>
                <a:ext uri="{FF2B5EF4-FFF2-40B4-BE49-F238E27FC236}">
                  <a16:creationId xmlns:a16="http://schemas.microsoft.com/office/drawing/2014/main" id="{37838B9E-3379-FDB3-FE99-807F94AC4C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29668" y="4878223"/>
              <a:ext cx="697268" cy="768339"/>
            </a:xfrm>
            <a:prstGeom prst="rect">
              <a:avLst/>
            </a:prstGeom>
            <a:noFill/>
            <a:extLst>
              <a:ext uri="{909E8E84-426E-40DD-AFC4-6F175D3DCCD1}">
                <a14:hiddenFill xmlns:a14="http://schemas.microsoft.com/office/drawing/2010/main">
                  <a:solidFill>
                    <a:srgbClr val="FFFFFF"/>
                  </a:solidFill>
                </a14:hiddenFill>
              </a:ext>
            </a:extLst>
          </p:spPr>
        </p:pic>
        <p:sp>
          <p:nvSpPr>
            <p:cNvPr id="13" name="正方形/長方形 12">
              <a:extLst>
                <a:ext uri="{FF2B5EF4-FFF2-40B4-BE49-F238E27FC236}">
                  <a16:creationId xmlns:a16="http://schemas.microsoft.com/office/drawing/2014/main" id="{8A0B89D9-BE77-9BC8-82C7-1789BCE89CC8}"/>
                </a:ext>
              </a:extLst>
            </p:cNvPr>
            <p:cNvSpPr/>
            <p:nvPr/>
          </p:nvSpPr>
          <p:spPr>
            <a:xfrm>
              <a:off x="10957986" y="4169902"/>
              <a:ext cx="1086611" cy="1694441"/>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algn="ctr"/>
              <a:endParaRPr kumimoji="1" lang="en-US" altLang="ja-JP" sz="1200" dirty="0"/>
            </a:p>
            <a:p>
              <a:pPr algn="ctr"/>
              <a:r>
                <a:rPr kumimoji="1" lang="ja-JP" altLang="en-US" sz="1200" dirty="0"/>
                <a:t>バイタル</a:t>
              </a:r>
              <a:endParaRPr kumimoji="1" lang="en-US" altLang="ja-JP" sz="1200" dirty="0"/>
            </a:p>
            <a:p>
              <a:pPr algn="ctr"/>
              <a:r>
                <a:rPr kumimoji="1" lang="ja-JP" altLang="en-US" sz="1200" dirty="0"/>
                <a:t>センサ</a:t>
              </a:r>
            </a:p>
          </p:txBody>
        </p:sp>
        <p:pic>
          <p:nvPicPr>
            <p:cNvPr id="17" name="図 16">
              <a:extLst>
                <a:ext uri="{FF2B5EF4-FFF2-40B4-BE49-F238E27FC236}">
                  <a16:creationId xmlns:a16="http://schemas.microsoft.com/office/drawing/2014/main" id="{8B03F264-FBE7-268A-8F53-236FE68AFFF4}"/>
                </a:ext>
              </a:extLst>
            </p:cNvPr>
            <p:cNvPicPr>
              <a:picLocks noChangeAspect="1"/>
            </p:cNvPicPr>
            <p:nvPr/>
          </p:nvPicPr>
          <p:blipFill>
            <a:blip r:embed="rId3"/>
            <a:stretch>
              <a:fillRect/>
            </a:stretch>
          </p:blipFill>
          <p:spPr>
            <a:xfrm>
              <a:off x="11013312" y="4923047"/>
              <a:ext cx="975958" cy="674625"/>
            </a:xfrm>
            <a:prstGeom prst="rect">
              <a:avLst/>
            </a:prstGeom>
          </p:spPr>
        </p:pic>
        <p:sp>
          <p:nvSpPr>
            <p:cNvPr id="18" name="テキスト ボックス 17">
              <a:extLst>
                <a:ext uri="{FF2B5EF4-FFF2-40B4-BE49-F238E27FC236}">
                  <a16:creationId xmlns:a16="http://schemas.microsoft.com/office/drawing/2014/main" id="{8EA000D6-8684-6C8C-5F6E-20B72778FBF8}"/>
                </a:ext>
              </a:extLst>
            </p:cNvPr>
            <p:cNvSpPr txBox="1"/>
            <p:nvPr/>
          </p:nvSpPr>
          <p:spPr>
            <a:xfrm>
              <a:off x="3181118" y="3985236"/>
              <a:ext cx="420505"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ja-JP" dirty="0"/>
                <a:t>D</a:t>
              </a:r>
              <a:endParaRPr kumimoji="1" lang="ja-JP" altLang="en-US" dirty="0"/>
            </a:p>
          </p:txBody>
        </p:sp>
        <p:sp>
          <p:nvSpPr>
            <p:cNvPr id="19" name="テキスト ボックス 18">
              <a:extLst>
                <a:ext uri="{FF2B5EF4-FFF2-40B4-BE49-F238E27FC236}">
                  <a16:creationId xmlns:a16="http://schemas.microsoft.com/office/drawing/2014/main" id="{DAB61880-04FD-33B6-3188-83D537438D9B}"/>
                </a:ext>
              </a:extLst>
            </p:cNvPr>
            <p:cNvSpPr txBox="1"/>
            <p:nvPr/>
          </p:nvSpPr>
          <p:spPr>
            <a:xfrm>
              <a:off x="131442" y="4842387"/>
              <a:ext cx="466546"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ja-JP" dirty="0"/>
                <a:t>M</a:t>
              </a:r>
              <a:endParaRPr kumimoji="1" lang="ja-JP" altLang="en-US" dirty="0"/>
            </a:p>
          </p:txBody>
        </p:sp>
        <p:sp>
          <p:nvSpPr>
            <p:cNvPr id="20" name="テキスト ボックス 19">
              <a:extLst>
                <a:ext uri="{FF2B5EF4-FFF2-40B4-BE49-F238E27FC236}">
                  <a16:creationId xmlns:a16="http://schemas.microsoft.com/office/drawing/2014/main" id="{903E3EF1-2DDE-CDC8-73E1-F6E530FA979C}"/>
                </a:ext>
              </a:extLst>
            </p:cNvPr>
            <p:cNvSpPr txBox="1"/>
            <p:nvPr/>
          </p:nvSpPr>
          <p:spPr>
            <a:xfrm>
              <a:off x="6206714" y="5024245"/>
              <a:ext cx="405157"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pPr algn="ctr"/>
              <a:r>
                <a:rPr kumimoji="1" lang="en-US" altLang="ja-JP" dirty="0"/>
                <a:t>B</a:t>
              </a:r>
              <a:endParaRPr kumimoji="1" lang="ja-JP" altLang="en-US" dirty="0"/>
            </a:p>
          </p:txBody>
        </p:sp>
        <p:sp>
          <p:nvSpPr>
            <p:cNvPr id="21" name="テキスト ボックス 20">
              <a:extLst>
                <a:ext uri="{FF2B5EF4-FFF2-40B4-BE49-F238E27FC236}">
                  <a16:creationId xmlns:a16="http://schemas.microsoft.com/office/drawing/2014/main" id="{3EC0E7B9-1D2B-1280-5209-1990D15CDA20}"/>
                </a:ext>
              </a:extLst>
            </p:cNvPr>
            <p:cNvSpPr txBox="1"/>
            <p:nvPr/>
          </p:nvSpPr>
          <p:spPr>
            <a:xfrm>
              <a:off x="6112899" y="4555457"/>
              <a:ext cx="699230" cy="307777"/>
            </a:xfrm>
            <a:prstGeom prst="rect">
              <a:avLst/>
            </a:prstGeom>
            <a:noFill/>
          </p:spPr>
          <p:txBody>
            <a:bodyPr wrap="none" rtlCol="0">
              <a:spAutoFit/>
            </a:bodyPr>
            <a:lstStyle/>
            <a:p>
              <a:r>
                <a:rPr kumimoji="1" lang="ja-JP" altLang="en-US" sz="1400" dirty="0"/>
                <a:t>⇒次頁</a:t>
              </a:r>
            </a:p>
          </p:txBody>
        </p:sp>
        <p:grpSp>
          <p:nvGrpSpPr>
            <p:cNvPr id="50" name="グループ化 49">
              <a:extLst>
                <a:ext uri="{FF2B5EF4-FFF2-40B4-BE49-F238E27FC236}">
                  <a16:creationId xmlns:a16="http://schemas.microsoft.com/office/drawing/2014/main" id="{BBB0C1DE-AFB8-3188-D077-470EE32875D8}"/>
                </a:ext>
              </a:extLst>
            </p:cNvPr>
            <p:cNvGrpSpPr/>
            <p:nvPr/>
          </p:nvGrpSpPr>
          <p:grpSpPr>
            <a:xfrm>
              <a:off x="800256" y="4315754"/>
              <a:ext cx="4691450" cy="1803888"/>
              <a:chOff x="1420098" y="4073384"/>
              <a:chExt cx="3451766" cy="1803888"/>
            </a:xfrm>
          </p:grpSpPr>
          <p:sp>
            <p:nvSpPr>
              <p:cNvPr id="22" name="円弧 21">
                <a:extLst>
                  <a:ext uri="{FF2B5EF4-FFF2-40B4-BE49-F238E27FC236}">
                    <a16:creationId xmlns:a16="http://schemas.microsoft.com/office/drawing/2014/main" id="{3AE64D48-3DD1-F9D9-A9F5-8B61C5B0AD5B}"/>
                  </a:ext>
                </a:extLst>
              </p:cNvPr>
              <p:cNvSpPr/>
              <p:nvPr/>
            </p:nvSpPr>
            <p:spPr>
              <a:xfrm rot="16200000">
                <a:off x="2244037" y="3249445"/>
                <a:ext cx="1803888" cy="3451766"/>
              </a:xfrm>
              <a:prstGeom prst="arc">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a:extLst>
                  <a:ext uri="{FF2B5EF4-FFF2-40B4-BE49-F238E27FC236}">
                    <a16:creationId xmlns:a16="http://schemas.microsoft.com/office/drawing/2014/main" id="{35418B02-CB5D-4575-4CD9-EECC2A97679C}"/>
                  </a:ext>
                </a:extLst>
              </p:cNvPr>
              <p:cNvSpPr/>
              <p:nvPr/>
            </p:nvSpPr>
            <p:spPr>
              <a:xfrm rot="16200000">
                <a:off x="2497438" y="3607587"/>
                <a:ext cx="1293294" cy="2735481"/>
              </a:xfrm>
              <a:prstGeom prst="arc">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24" name="円弧 23">
              <a:extLst>
                <a:ext uri="{FF2B5EF4-FFF2-40B4-BE49-F238E27FC236}">
                  <a16:creationId xmlns:a16="http://schemas.microsoft.com/office/drawing/2014/main" id="{D85B3D16-E28C-775B-9373-301CE15733AC}"/>
                </a:ext>
              </a:extLst>
            </p:cNvPr>
            <p:cNvSpPr/>
            <p:nvPr/>
          </p:nvSpPr>
          <p:spPr>
            <a:xfrm rot="5400000" flipH="1">
              <a:off x="5980029" y="2793914"/>
              <a:ext cx="1803888" cy="4847568"/>
            </a:xfrm>
            <a:prstGeom prst="arc">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28" name="直線矢印コネクタ 27">
              <a:extLst>
                <a:ext uri="{FF2B5EF4-FFF2-40B4-BE49-F238E27FC236}">
                  <a16:creationId xmlns:a16="http://schemas.microsoft.com/office/drawing/2014/main" id="{8B2DE4EA-A741-9EA8-1634-72F9BF772109}"/>
                </a:ext>
              </a:extLst>
            </p:cNvPr>
            <p:cNvCxnSpPr>
              <a:cxnSpLocks/>
            </p:cNvCxnSpPr>
            <p:nvPr/>
          </p:nvCxnSpPr>
          <p:spPr>
            <a:xfrm>
              <a:off x="3391369" y="4825334"/>
              <a:ext cx="0" cy="383577"/>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6A347A77-B70F-51B2-120E-7D984F051E84}"/>
                </a:ext>
              </a:extLst>
            </p:cNvPr>
            <p:cNvCxnSpPr>
              <a:cxnSpLocks/>
              <a:stCxn id="8" idx="2"/>
            </p:cNvCxnSpPr>
            <p:nvPr/>
          </p:nvCxnSpPr>
          <p:spPr>
            <a:xfrm>
              <a:off x="1998258" y="5864343"/>
              <a:ext cx="0" cy="490855"/>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9DE5D9F1-1B3E-880A-2DEC-E4905F89CB5B}"/>
                </a:ext>
              </a:extLst>
            </p:cNvPr>
            <p:cNvCxnSpPr>
              <a:cxnSpLocks/>
              <a:stCxn id="9" idx="2"/>
            </p:cNvCxnSpPr>
            <p:nvPr/>
          </p:nvCxnSpPr>
          <p:spPr>
            <a:xfrm>
              <a:off x="8046930" y="5864343"/>
              <a:ext cx="0" cy="490855"/>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563EAE90-F1D7-AACF-0150-E5C029F64670}"/>
                </a:ext>
              </a:extLst>
            </p:cNvPr>
            <p:cNvCxnSpPr>
              <a:cxnSpLocks/>
              <a:stCxn id="7" idx="2"/>
            </p:cNvCxnSpPr>
            <p:nvPr/>
          </p:nvCxnSpPr>
          <p:spPr>
            <a:xfrm>
              <a:off x="5022594" y="4825334"/>
              <a:ext cx="0" cy="1529864"/>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08A7785D-ABDD-44C6-492C-47B72B33DFBD}"/>
                </a:ext>
              </a:extLst>
            </p:cNvPr>
            <p:cNvCxnSpPr>
              <a:cxnSpLocks/>
            </p:cNvCxnSpPr>
            <p:nvPr/>
          </p:nvCxnSpPr>
          <p:spPr>
            <a:xfrm>
              <a:off x="6672064" y="4825334"/>
              <a:ext cx="0" cy="383577"/>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5251D2A8-11FF-9396-E5FB-B4A3D19409B4}"/>
                </a:ext>
              </a:extLst>
            </p:cNvPr>
            <p:cNvSpPr txBox="1"/>
            <p:nvPr/>
          </p:nvSpPr>
          <p:spPr>
            <a:xfrm>
              <a:off x="7316666" y="4135623"/>
              <a:ext cx="2300630" cy="261610"/>
            </a:xfrm>
            <a:prstGeom prst="rect">
              <a:avLst/>
            </a:prstGeom>
            <a:noFill/>
          </p:spPr>
          <p:txBody>
            <a:bodyPr wrap="none" rtlCol="0">
              <a:spAutoFit/>
            </a:bodyPr>
            <a:lstStyle/>
            <a:p>
              <a:r>
                <a:rPr kumimoji="1" lang="ja-JP" altLang="en-US" sz="1100" dirty="0"/>
                <a:t>人物危険性のラベリング（蓄積）</a:t>
              </a:r>
            </a:p>
          </p:txBody>
        </p:sp>
        <p:sp>
          <p:nvSpPr>
            <p:cNvPr id="48" name="テキスト ボックス 47">
              <a:extLst>
                <a:ext uri="{FF2B5EF4-FFF2-40B4-BE49-F238E27FC236}">
                  <a16:creationId xmlns:a16="http://schemas.microsoft.com/office/drawing/2014/main" id="{3EAACF48-82C5-CABA-8BEA-C5A07410BF8F}"/>
                </a:ext>
              </a:extLst>
            </p:cNvPr>
            <p:cNvSpPr txBox="1"/>
            <p:nvPr/>
          </p:nvSpPr>
          <p:spPr>
            <a:xfrm>
              <a:off x="364651" y="4100517"/>
              <a:ext cx="2300630" cy="261610"/>
            </a:xfrm>
            <a:prstGeom prst="rect">
              <a:avLst/>
            </a:prstGeom>
            <a:noFill/>
          </p:spPr>
          <p:txBody>
            <a:bodyPr wrap="none" rtlCol="0">
              <a:spAutoFit/>
            </a:bodyPr>
            <a:lstStyle/>
            <a:p>
              <a:r>
                <a:rPr kumimoji="1" lang="ja-JP" altLang="en-US" sz="1100" dirty="0"/>
                <a:t>場面危険性のラベリング（蓄積）</a:t>
              </a:r>
            </a:p>
          </p:txBody>
        </p:sp>
        <p:sp>
          <p:nvSpPr>
            <p:cNvPr id="49" name="テキスト ボックス 48">
              <a:extLst>
                <a:ext uri="{FF2B5EF4-FFF2-40B4-BE49-F238E27FC236}">
                  <a16:creationId xmlns:a16="http://schemas.microsoft.com/office/drawing/2014/main" id="{FBCAB8FD-127E-4608-F54B-CBAF45807848}"/>
                </a:ext>
              </a:extLst>
            </p:cNvPr>
            <p:cNvSpPr txBox="1"/>
            <p:nvPr/>
          </p:nvSpPr>
          <p:spPr>
            <a:xfrm>
              <a:off x="1534972" y="4829328"/>
              <a:ext cx="1736373" cy="369332"/>
            </a:xfrm>
            <a:prstGeom prst="rect">
              <a:avLst/>
            </a:prstGeom>
            <a:noFill/>
          </p:spPr>
          <p:txBody>
            <a:bodyPr wrap="none" rtlCol="0">
              <a:spAutoFit/>
            </a:bodyPr>
            <a:lstStyle/>
            <a:p>
              <a:r>
                <a:rPr kumimoji="1" lang="ja-JP" altLang="en-US" sz="1100" dirty="0"/>
                <a:t>見守り規則（現場知識）</a:t>
              </a:r>
              <a:endParaRPr kumimoji="1" lang="en-US" altLang="ja-JP" sz="1100" dirty="0"/>
            </a:p>
            <a:p>
              <a:r>
                <a:rPr lang="ja-JP" altLang="en-US" sz="700" dirty="0"/>
                <a:t>不在と危険の関係性など</a:t>
              </a:r>
              <a:endParaRPr kumimoji="1" lang="ja-JP" altLang="en-US" sz="700" dirty="0"/>
            </a:p>
          </p:txBody>
        </p:sp>
        <p:sp>
          <p:nvSpPr>
            <p:cNvPr id="51" name="テキスト ボックス 50">
              <a:extLst>
                <a:ext uri="{FF2B5EF4-FFF2-40B4-BE49-F238E27FC236}">
                  <a16:creationId xmlns:a16="http://schemas.microsoft.com/office/drawing/2014/main" id="{947150F0-E901-CEB9-A5AD-C69CEA9C5E8C}"/>
                </a:ext>
              </a:extLst>
            </p:cNvPr>
            <p:cNvSpPr txBox="1"/>
            <p:nvPr/>
          </p:nvSpPr>
          <p:spPr>
            <a:xfrm>
              <a:off x="3378093" y="4831506"/>
              <a:ext cx="1172116" cy="430887"/>
            </a:xfrm>
            <a:prstGeom prst="rect">
              <a:avLst/>
            </a:prstGeom>
            <a:noFill/>
          </p:spPr>
          <p:txBody>
            <a:bodyPr wrap="none" rtlCol="0">
              <a:spAutoFit/>
            </a:bodyPr>
            <a:lstStyle/>
            <a:p>
              <a:r>
                <a:rPr kumimoji="1" lang="ja-JP" altLang="en-US" sz="1100" dirty="0"/>
                <a:t>定常的な見守り</a:t>
              </a:r>
              <a:endParaRPr kumimoji="1" lang="en-US" altLang="ja-JP" sz="1100" dirty="0"/>
            </a:p>
            <a:p>
              <a:r>
                <a:rPr kumimoji="1" lang="ja-JP" altLang="en-US" sz="1100" dirty="0"/>
                <a:t>不足場所</a:t>
              </a:r>
            </a:p>
          </p:txBody>
        </p:sp>
        <p:sp>
          <p:nvSpPr>
            <p:cNvPr id="52" name="テキスト ボックス 51">
              <a:extLst>
                <a:ext uri="{FF2B5EF4-FFF2-40B4-BE49-F238E27FC236}">
                  <a16:creationId xmlns:a16="http://schemas.microsoft.com/office/drawing/2014/main" id="{9AECFE58-4142-469F-8486-FA0A2F0B60FD}"/>
                </a:ext>
              </a:extLst>
            </p:cNvPr>
            <p:cNvSpPr txBox="1"/>
            <p:nvPr/>
          </p:nvSpPr>
          <p:spPr>
            <a:xfrm>
              <a:off x="6676850" y="4831506"/>
              <a:ext cx="2159566" cy="261610"/>
            </a:xfrm>
            <a:prstGeom prst="rect">
              <a:avLst/>
            </a:prstGeom>
            <a:noFill/>
          </p:spPr>
          <p:txBody>
            <a:bodyPr wrap="none" rtlCol="0">
              <a:spAutoFit/>
            </a:bodyPr>
            <a:lstStyle/>
            <a:p>
              <a:r>
                <a:rPr kumimoji="1" lang="ja-JP" altLang="en-US" sz="1100" dirty="0"/>
                <a:t>動的な見守り不足場所（人物）</a:t>
              </a:r>
            </a:p>
          </p:txBody>
        </p:sp>
        <p:sp>
          <p:nvSpPr>
            <p:cNvPr id="53" name="テキスト ボックス 52">
              <a:extLst>
                <a:ext uri="{FF2B5EF4-FFF2-40B4-BE49-F238E27FC236}">
                  <a16:creationId xmlns:a16="http://schemas.microsoft.com/office/drawing/2014/main" id="{448F1862-F068-0301-FA61-B71A11D5BD6C}"/>
                </a:ext>
              </a:extLst>
            </p:cNvPr>
            <p:cNvSpPr txBox="1"/>
            <p:nvPr/>
          </p:nvSpPr>
          <p:spPr>
            <a:xfrm>
              <a:off x="1981961" y="5928457"/>
              <a:ext cx="2664296" cy="400110"/>
            </a:xfrm>
            <a:prstGeom prst="rect">
              <a:avLst/>
            </a:prstGeom>
            <a:noFill/>
          </p:spPr>
          <p:txBody>
            <a:bodyPr wrap="square" rtlCol="0">
              <a:spAutoFit/>
            </a:bodyPr>
            <a:lstStyle/>
            <a:p>
              <a:r>
                <a:rPr lang="ja-JP" altLang="en-US" sz="1000" dirty="0"/>
                <a:t>通知：</a:t>
              </a:r>
              <a:r>
                <a:rPr lang="en-US" altLang="ja-JP" sz="1000" dirty="0"/>
                <a:t>『【</a:t>
              </a:r>
              <a:r>
                <a:rPr lang="ja-JP" altLang="en-US" sz="1000" dirty="0"/>
                <a:t>属性</a:t>
              </a:r>
              <a:r>
                <a:rPr lang="en-US" altLang="ja-JP" sz="1000" dirty="0"/>
                <a:t>】</a:t>
              </a:r>
              <a:r>
                <a:rPr lang="ja-JP" altLang="en-US" sz="1000" dirty="0"/>
                <a:t>な</a:t>
              </a:r>
              <a:r>
                <a:rPr lang="en-US" altLang="ja-JP" sz="1000" dirty="0"/>
                <a:t>【</a:t>
              </a:r>
              <a:r>
                <a:rPr lang="ja-JP" altLang="en-US" sz="1000" dirty="0"/>
                <a:t>名</a:t>
              </a:r>
              <a:r>
                <a:rPr lang="en-US" altLang="ja-JP" sz="1000" dirty="0"/>
                <a:t>】</a:t>
              </a:r>
              <a:r>
                <a:rPr lang="ja-JP" altLang="en-US" sz="1000" dirty="0"/>
                <a:t>さんが，</a:t>
              </a:r>
              <a:endParaRPr lang="en-US" altLang="ja-JP" sz="1000" dirty="0"/>
            </a:p>
            <a:p>
              <a:r>
                <a:rPr lang="en-US" altLang="ja-JP" sz="1000" dirty="0"/>
                <a:t>【</a:t>
              </a:r>
              <a:r>
                <a:rPr lang="ja-JP" altLang="en-US" sz="1000" dirty="0"/>
                <a:t>空間</a:t>
              </a:r>
              <a:r>
                <a:rPr lang="en-US" altLang="ja-JP" sz="1000" dirty="0"/>
                <a:t>】</a:t>
              </a:r>
              <a:r>
                <a:rPr lang="ja-JP" altLang="en-US" sz="1000" dirty="0"/>
                <a:t>で</a:t>
              </a:r>
              <a:r>
                <a:rPr lang="en-US" altLang="ja-JP" sz="1000" dirty="0"/>
                <a:t>【</a:t>
              </a:r>
              <a:r>
                <a:rPr lang="ja-JP" altLang="en-US" sz="1000" dirty="0"/>
                <a:t>動作</a:t>
              </a:r>
              <a:r>
                <a:rPr lang="en-US" altLang="ja-JP" sz="1000" dirty="0"/>
                <a:t>】</a:t>
              </a:r>
              <a:r>
                <a:rPr lang="ja-JP" altLang="en-US" sz="1000" dirty="0"/>
                <a:t>していて，危険です</a:t>
              </a:r>
              <a:r>
                <a:rPr lang="en-US" altLang="ja-JP" sz="1000" dirty="0"/>
                <a:t>』</a:t>
              </a:r>
              <a:endParaRPr kumimoji="1" lang="ja-JP" altLang="en-US" sz="1000" dirty="0"/>
            </a:p>
          </p:txBody>
        </p:sp>
        <p:sp>
          <p:nvSpPr>
            <p:cNvPr id="54" name="テキスト ボックス 53">
              <a:extLst>
                <a:ext uri="{FF2B5EF4-FFF2-40B4-BE49-F238E27FC236}">
                  <a16:creationId xmlns:a16="http://schemas.microsoft.com/office/drawing/2014/main" id="{B31ECB81-F13E-D2C8-F6BD-C70192A94B02}"/>
                </a:ext>
              </a:extLst>
            </p:cNvPr>
            <p:cNvSpPr txBox="1"/>
            <p:nvPr/>
          </p:nvSpPr>
          <p:spPr>
            <a:xfrm>
              <a:off x="5028045" y="5928457"/>
              <a:ext cx="2907303" cy="400110"/>
            </a:xfrm>
            <a:prstGeom prst="rect">
              <a:avLst/>
            </a:prstGeom>
            <a:noFill/>
          </p:spPr>
          <p:txBody>
            <a:bodyPr wrap="square" rtlCol="0">
              <a:spAutoFit/>
            </a:bodyPr>
            <a:lstStyle/>
            <a:p>
              <a:r>
                <a:rPr lang="ja-JP" altLang="en-US" sz="1000" dirty="0"/>
                <a:t>通知：</a:t>
              </a:r>
              <a:r>
                <a:rPr lang="en-US" altLang="ja-JP" sz="1000" dirty="0"/>
                <a:t>『【</a:t>
              </a:r>
              <a:r>
                <a:rPr lang="ja-JP" altLang="en-US" sz="1000" dirty="0"/>
                <a:t>時間</a:t>
              </a:r>
              <a:r>
                <a:rPr lang="en-US" altLang="ja-JP" sz="1000" dirty="0"/>
                <a:t>】</a:t>
              </a:r>
              <a:r>
                <a:rPr lang="ja-JP" altLang="en-US" sz="1000" dirty="0"/>
                <a:t>は</a:t>
              </a:r>
              <a:r>
                <a:rPr lang="en-US" altLang="ja-JP" sz="1000" dirty="0"/>
                <a:t>【</a:t>
              </a:r>
              <a:r>
                <a:rPr lang="ja-JP" altLang="en-US" sz="1000" dirty="0"/>
                <a:t>場所</a:t>
              </a:r>
              <a:r>
                <a:rPr lang="en-US" altLang="ja-JP" sz="1000" dirty="0"/>
                <a:t>】</a:t>
              </a:r>
              <a:r>
                <a:rPr lang="ja-JP" altLang="en-US" sz="1000" dirty="0"/>
                <a:t>が手薄で，</a:t>
              </a:r>
              <a:endParaRPr lang="en-US" altLang="ja-JP" sz="1000" dirty="0"/>
            </a:p>
            <a:p>
              <a:r>
                <a:rPr lang="en-US" altLang="ja-JP" sz="1000" dirty="0"/>
                <a:t>【</a:t>
              </a:r>
              <a:r>
                <a:rPr lang="ja-JP" altLang="en-US" sz="1000" dirty="0"/>
                <a:t>事故種別</a:t>
              </a:r>
              <a:r>
                <a:rPr lang="en-US" altLang="ja-JP" sz="1000" dirty="0"/>
                <a:t>】</a:t>
              </a:r>
              <a:r>
                <a:rPr lang="ja-JP" altLang="en-US" sz="1000" dirty="0"/>
                <a:t>のリスクが高いです</a:t>
              </a:r>
              <a:r>
                <a:rPr lang="en-US" altLang="ja-JP" sz="1000" dirty="0"/>
                <a:t>』</a:t>
              </a:r>
              <a:endParaRPr kumimoji="1" lang="ja-JP" altLang="en-US" sz="1000" dirty="0"/>
            </a:p>
          </p:txBody>
        </p:sp>
        <p:sp>
          <p:nvSpPr>
            <p:cNvPr id="55" name="テキスト ボックス 54">
              <a:extLst>
                <a:ext uri="{FF2B5EF4-FFF2-40B4-BE49-F238E27FC236}">
                  <a16:creationId xmlns:a16="http://schemas.microsoft.com/office/drawing/2014/main" id="{5DA8C08F-F7BB-4C28-82B4-8B2F57712DC7}"/>
                </a:ext>
              </a:extLst>
            </p:cNvPr>
            <p:cNvSpPr txBox="1"/>
            <p:nvPr/>
          </p:nvSpPr>
          <p:spPr>
            <a:xfrm>
              <a:off x="8043600" y="5928457"/>
              <a:ext cx="2660905" cy="400110"/>
            </a:xfrm>
            <a:prstGeom prst="rect">
              <a:avLst/>
            </a:prstGeom>
            <a:noFill/>
          </p:spPr>
          <p:txBody>
            <a:bodyPr wrap="square" rtlCol="0">
              <a:spAutoFit/>
            </a:bodyPr>
            <a:lstStyle/>
            <a:p>
              <a:r>
                <a:rPr lang="ja-JP" altLang="en-US" sz="1000" dirty="0"/>
                <a:t>通知：</a:t>
              </a:r>
              <a:r>
                <a:rPr lang="en-US" altLang="ja-JP" sz="1000" dirty="0"/>
                <a:t>『【</a:t>
              </a:r>
              <a:r>
                <a:rPr lang="ja-JP" altLang="en-US" sz="1000" dirty="0"/>
                <a:t>名</a:t>
              </a:r>
              <a:r>
                <a:rPr lang="en-US" altLang="ja-JP" sz="1000" dirty="0"/>
                <a:t>】</a:t>
              </a:r>
              <a:r>
                <a:rPr lang="ja-JP" altLang="en-US" sz="1000" dirty="0"/>
                <a:t>さんが，</a:t>
              </a:r>
              <a:r>
                <a:rPr lang="en-US" altLang="ja-JP" sz="1000" dirty="0"/>
                <a:t>【</a:t>
              </a:r>
              <a:r>
                <a:rPr lang="ja-JP" altLang="en-US" sz="1000" dirty="0"/>
                <a:t>歩容</a:t>
              </a:r>
              <a:r>
                <a:rPr lang="en-US" altLang="ja-JP" sz="1000" dirty="0"/>
                <a:t>】</a:t>
              </a:r>
              <a:r>
                <a:rPr lang="ja-JP" altLang="en-US" sz="1000" dirty="0"/>
                <a:t>な動きをしていて，転倒リスクが高いです</a:t>
              </a:r>
              <a:r>
                <a:rPr lang="en-US" altLang="ja-JP" sz="1000" dirty="0"/>
                <a:t>』</a:t>
              </a:r>
              <a:endParaRPr kumimoji="1" lang="ja-JP" altLang="en-US" sz="1000" dirty="0"/>
            </a:p>
          </p:txBody>
        </p:sp>
        <p:cxnSp>
          <p:nvCxnSpPr>
            <p:cNvPr id="56" name="直線矢印コネクタ 55">
              <a:extLst>
                <a:ext uri="{FF2B5EF4-FFF2-40B4-BE49-F238E27FC236}">
                  <a16:creationId xmlns:a16="http://schemas.microsoft.com/office/drawing/2014/main" id="{39E0D8C6-C4FE-2008-0925-88363AC98943}"/>
                </a:ext>
              </a:extLst>
            </p:cNvPr>
            <p:cNvCxnSpPr>
              <a:cxnSpLocks/>
            </p:cNvCxnSpPr>
            <p:nvPr/>
          </p:nvCxnSpPr>
          <p:spPr>
            <a:xfrm>
              <a:off x="10779186" y="5864343"/>
              <a:ext cx="0" cy="490855"/>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7" name="直線矢印コネクタ 56">
              <a:extLst>
                <a:ext uri="{FF2B5EF4-FFF2-40B4-BE49-F238E27FC236}">
                  <a16:creationId xmlns:a16="http://schemas.microsoft.com/office/drawing/2014/main" id="{DE123E7A-2857-AB53-1A46-A1BADCDD1E15}"/>
                </a:ext>
              </a:extLst>
            </p:cNvPr>
            <p:cNvCxnSpPr>
              <a:cxnSpLocks/>
            </p:cNvCxnSpPr>
            <p:nvPr/>
          </p:nvCxnSpPr>
          <p:spPr>
            <a:xfrm>
              <a:off x="11989270" y="5864343"/>
              <a:ext cx="0" cy="490855"/>
            </a:xfrm>
            <a:prstGeom prst="straightConnector1">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2F4D385-0964-8283-C7CB-A57AEB47A6C9}"/>
                </a:ext>
              </a:extLst>
            </p:cNvPr>
            <p:cNvSpPr txBox="1"/>
            <p:nvPr/>
          </p:nvSpPr>
          <p:spPr>
            <a:xfrm>
              <a:off x="10702841" y="5986660"/>
              <a:ext cx="470780" cy="246221"/>
            </a:xfrm>
            <a:prstGeom prst="rect">
              <a:avLst/>
            </a:prstGeom>
            <a:noFill/>
          </p:spPr>
          <p:txBody>
            <a:bodyPr wrap="square" rtlCol="0">
              <a:spAutoFit/>
            </a:bodyPr>
            <a:lstStyle/>
            <a:p>
              <a:r>
                <a:rPr lang="ja-JP" altLang="en-US" sz="1000" dirty="0"/>
                <a:t>通知</a:t>
              </a:r>
              <a:endParaRPr kumimoji="1" lang="ja-JP" altLang="en-US" sz="1000" dirty="0"/>
            </a:p>
          </p:txBody>
        </p:sp>
        <p:sp>
          <p:nvSpPr>
            <p:cNvPr id="60" name="テキスト ボックス 59">
              <a:extLst>
                <a:ext uri="{FF2B5EF4-FFF2-40B4-BE49-F238E27FC236}">
                  <a16:creationId xmlns:a16="http://schemas.microsoft.com/office/drawing/2014/main" id="{97A10ACF-BD14-4193-C7BD-10FE760FADF9}"/>
                </a:ext>
              </a:extLst>
            </p:cNvPr>
            <p:cNvSpPr txBox="1"/>
            <p:nvPr/>
          </p:nvSpPr>
          <p:spPr>
            <a:xfrm>
              <a:off x="11626740" y="5986660"/>
              <a:ext cx="470780" cy="246221"/>
            </a:xfrm>
            <a:prstGeom prst="rect">
              <a:avLst/>
            </a:prstGeom>
            <a:noFill/>
          </p:spPr>
          <p:txBody>
            <a:bodyPr wrap="square" rtlCol="0">
              <a:spAutoFit/>
            </a:bodyPr>
            <a:lstStyle/>
            <a:p>
              <a:r>
                <a:rPr lang="ja-JP" altLang="en-US" sz="1000" dirty="0"/>
                <a:t>通知</a:t>
              </a:r>
              <a:endParaRPr kumimoji="1" lang="ja-JP" altLang="en-US" sz="1000" dirty="0"/>
            </a:p>
          </p:txBody>
        </p:sp>
      </p:grpSp>
      <p:grpSp>
        <p:nvGrpSpPr>
          <p:cNvPr id="15" name="グループ化 14">
            <a:extLst>
              <a:ext uri="{FF2B5EF4-FFF2-40B4-BE49-F238E27FC236}">
                <a16:creationId xmlns:a16="http://schemas.microsoft.com/office/drawing/2014/main" id="{1B497605-4911-B324-D2C6-602B4FA729A4}"/>
              </a:ext>
            </a:extLst>
          </p:cNvPr>
          <p:cNvGrpSpPr/>
          <p:nvPr/>
        </p:nvGrpSpPr>
        <p:grpSpPr>
          <a:xfrm>
            <a:off x="10267099" y="4344316"/>
            <a:ext cx="1663969" cy="1383987"/>
            <a:chOff x="4007768" y="1029924"/>
            <a:chExt cx="4529343" cy="3767228"/>
          </a:xfrm>
        </p:grpSpPr>
        <p:cxnSp>
          <p:nvCxnSpPr>
            <p:cNvPr id="16" name="直線矢印コネクタ 15">
              <a:extLst>
                <a:ext uri="{FF2B5EF4-FFF2-40B4-BE49-F238E27FC236}">
                  <a16:creationId xmlns:a16="http://schemas.microsoft.com/office/drawing/2014/main" id="{51B78F01-C86C-7544-80A7-78429699D644}"/>
                </a:ext>
              </a:extLst>
            </p:cNvPr>
            <p:cNvCxnSpPr>
              <a:cxnSpLocks/>
            </p:cNvCxnSpPr>
            <p:nvPr/>
          </p:nvCxnSpPr>
          <p:spPr>
            <a:xfrm>
              <a:off x="4007768" y="4509120"/>
              <a:ext cx="30963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34136901-E45D-82B5-B4F2-1159344AD8DC}"/>
                </a:ext>
              </a:extLst>
            </p:cNvPr>
            <p:cNvCxnSpPr>
              <a:cxnSpLocks/>
            </p:cNvCxnSpPr>
            <p:nvPr/>
          </p:nvCxnSpPr>
          <p:spPr>
            <a:xfrm flipV="1">
              <a:off x="4295800" y="2457692"/>
              <a:ext cx="3272016" cy="2150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360489D6-9F4B-FCCC-F0F8-763FCA2551DB}"/>
                </a:ext>
              </a:extLst>
            </p:cNvPr>
            <p:cNvCxnSpPr>
              <a:cxnSpLocks/>
            </p:cNvCxnSpPr>
            <p:nvPr/>
          </p:nvCxnSpPr>
          <p:spPr>
            <a:xfrm flipV="1">
              <a:off x="4439816" y="2127727"/>
              <a:ext cx="0" cy="2669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E0C529B8-356B-35F1-59F7-44B914E31824}"/>
                </a:ext>
              </a:extLst>
            </p:cNvPr>
            <p:cNvCxnSpPr>
              <a:cxnSpLocks/>
            </p:cNvCxnSpPr>
            <p:nvPr/>
          </p:nvCxnSpPr>
          <p:spPr>
            <a:xfrm>
              <a:off x="5015880" y="4149080"/>
              <a:ext cx="224124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BE0AA963-88D2-6052-12BA-7D7AFAFD4DA8}"/>
                </a:ext>
              </a:extLst>
            </p:cNvPr>
            <p:cNvCxnSpPr>
              <a:cxnSpLocks/>
            </p:cNvCxnSpPr>
            <p:nvPr/>
          </p:nvCxnSpPr>
          <p:spPr>
            <a:xfrm>
              <a:off x="5519936" y="3789040"/>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CBA47F16-3F76-F539-866B-EB6A4BB56C52}"/>
                </a:ext>
              </a:extLst>
            </p:cNvPr>
            <p:cNvCxnSpPr>
              <a:cxnSpLocks/>
            </p:cNvCxnSpPr>
            <p:nvPr/>
          </p:nvCxnSpPr>
          <p:spPr>
            <a:xfrm>
              <a:off x="6096000" y="3429000"/>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296AB4DD-7D3F-24D9-0F6B-DAC9FC977371}"/>
                </a:ext>
              </a:extLst>
            </p:cNvPr>
            <p:cNvCxnSpPr>
              <a:cxnSpLocks/>
            </p:cNvCxnSpPr>
            <p:nvPr/>
          </p:nvCxnSpPr>
          <p:spPr>
            <a:xfrm flipV="1">
              <a:off x="5216038" y="3140968"/>
              <a:ext cx="2074095"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E13AB10C-8CE2-C793-6112-17FB78D04A3E}"/>
                </a:ext>
              </a:extLst>
            </p:cNvPr>
            <p:cNvCxnSpPr>
              <a:cxnSpLocks/>
            </p:cNvCxnSpPr>
            <p:nvPr/>
          </p:nvCxnSpPr>
          <p:spPr>
            <a:xfrm flipV="1">
              <a:off x="5978122" y="3140968"/>
              <a:ext cx="2074096"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73359A40-D7AF-0D5F-5AD0-BBCD2C44004C}"/>
                </a:ext>
              </a:extLst>
            </p:cNvPr>
            <p:cNvCxnSpPr>
              <a:cxnSpLocks/>
            </p:cNvCxnSpPr>
            <p:nvPr/>
          </p:nvCxnSpPr>
          <p:spPr>
            <a:xfrm flipV="1">
              <a:off x="6744072" y="3459347"/>
              <a:ext cx="1585740" cy="1042058"/>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3B24180A-514A-F4A9-8398-ECDB60C3CEB2}"/>
                </a:ext>
              </a:extLst>
            </p:cNvPr>
            <p:cNvCxnSpPr>
              <a:cxnSpLocks/>
              <a:endCxn id="69" idx="0"/>
            </p:cNvCxnSpPr>
            <p:nvPr/>
          </p:nvCxnSpPr>
          <p:spPr>
            <a:xfrm flipV="1">
              <a:off x="5014715" y="2198355"/>
              <a:ext cx="0" cy="194711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0D2F6CF7-3548-54A5-7F55-F2E242BF37A4}"/>
                </a:ext>
              </a:extLst>
            </p:cNvPr>
            <p:cNvCxnSpPr>
              <a:cxnSpLocks/>
            </p:cNvCxnSpPr>
            <p:nvPr/>
          </p:nvCxnSpPr>
          <p:spPr>
            <a:xfrm flipV="1">
              <a:off x="5532810" y="1836263"/>
              <a:ext cx="0" cy="196897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A246FBAE-DFE2-4C3B-C150-89097B7EB0A7}"/>
                </a:ext>
              </a:extLst>
            </p:cNvPr>
            <p:cNvCxnSpPr>
              <a:cxnSpLocks/>
            </p:cNvCxnSpPr>
            <p:nvPr/>
          </p:nvCxnSpPr>
          <p:spPr>
            <a:xfrm flipV="1">
              <a:off x="6096000" y="1484784"/>
              <a:ext cx="0" cy="206562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B90F0A8A-5ADF-FF52-5F7A-8AD02E5ECF72}"/>
                </a:ext>
              </a:extLst>
            </p:cNvPr>
            <p:cNvCxnSpPr>
              <a:cxnSpLocks/>
            </p:cNvCxnSpPr>
            <p:nvPr/>
          </p:nvCxnSpPr>
          <p:spPr>
            <a:xfrm flipV="1">
              <a:off x="4448453" y="2488616"/>
              <a:ext cx="2079595" cy="13665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43A1ECED-0E6D-BD87-27FA-DD813B378A25}"/>
                </a:ext>
              </a:extLst>
            </p:cNvPr>
            <p:cNvCxnSpPr>
              <a:cxnSpLocks/>
            </p:cNvCxnSpPr>
            <p:nvPr/>
          </p:nvCxnSpPr>
          <p:spPr>
            <a:xfrm flipV="1">
              <a:off x="4448453" y="2127727"/>
              <a:ext cx="1636063" cy="107512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72135500-5950-80B4-2D0D-2DA2B31ED7E9}"/>
                </a:ext>
              </a:extLst>
            </p:cNvPr>
            <p:cNvCxnSpPr>
              <a:cxnSpLocks/>
            </p:cNvCxnSpPr>
            <p:nvPr/>
          </p:nvCxnSpPr>
          <p:spPr>
            <a:xfrm flipV="1">
              <a:off x="4443160" y="1491588"/>
              <a:ext cx="1616682" cy="10623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C8FA150D-A935-4A6D-F76E-0CDD99BBC625}"/>
                </a:ext>
              </a:extLst>
            </p:cNvPr>
            <p:cNvCxnSpPr>
              <a:cxnSpLocks/>
            </p:cNvCxnSpPr>
            <p:nvPr/>
          </p:nvCxnSpPr>
          <p:spPr>
            <a:xfrm>
              <a:off x="6096000" y="2780928"/>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0882B8B8-BA76-5075-E58A-A90CEF0608D1}"/>
                </a:ext>
              </a:extLst>
            </p:cNvPr>
            <p:cNvCxnSpPr>
              <a:cxnSpLocks/>
            </p:cNvCxnSpPr>
            <p:nvPr/>
          </p:nvCxnSpPr>
          <p:spPr>
            <a:xfrm>
              <a:off x="6096000" y="2132856"/>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7828673E-7B58-6A1A-F1AB-30436F6D5AC6}"/>
                </a:ext>
              </a:extLst>
            </p:cNvPr>
            <p:cNvCxnSpPr>
              <a:cxnSpLocks/>
            </p:cNvCxnSpPr>
            <p:nvPr/>
          </p:nvCxnSpPr>
          <p:spPr>
            <a:xfrm>
              <a:off x="6096000" y="1484784"/>
              <a:ext cx="232225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8C10DBB4-5513-12D4-453F-3FAECA058E14}"/>
                </a:ext>
              </a:extLst>
            </p:cNvPr>
            <p:cNvCxnSpPr>
              <a:cxnSpLocks/>
            </p:cNvCxnSpPr>
            <p:nvPr/>
          </p:nvCxnSpPr>
          <p:spPr>
            <a:xfrm flipV="1">
              <a:off x="688808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8B9688B5-9F5A-197A-8E26-C0B327038A55}"/>
                </a:ext>
              </a:extLst>
            </p:cNvPr>
            <p:cNvCxnSpPr>
              <a:cxnSpLocks/>
            </p:cNvCxnSpPr>
            <p:nvPr/>
          </p:nvCxnSpPr>
          <p:spPr>
            <a:xfrm flipV="1">
              <a:off x="760816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線矢印コネクタ 61">
              <a:extLst>
                <a:ext uri="{FF2B5EF4-FFF2-40B4-BE49-F238E27FC236}">
                  <a16:creationId xmlns:a16="http://schemas.microsoft.com/office/drawing/2014/main" id="{E5F5707B-B1EF-5904-E1F2-F9D1F30EE077}"/>
                </a:ext>
              </a:extLst>
            </p:cNvPr>
            <p:cNvCxnSpPr>
              <a:cxnSpLocks/>
            </p:cNvCxnSpPr>
            <p:nvPr/>
          </p:nvCxnSpPr>
          <p:spPr>
            <a:xfrm flipV="1">
              <a:off x="8400256" y="1484784"/>
              <a:ext cx="0" cy="197456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線矢印コネクタ 62">
              <a:extLst>
                <a:ext uri="{FF2B5EF4-FFF2-40B4-BE49-F238E27FC236}">
                  <a16:creationId xmlns:a16="http://schemas.microsoft.com/office/drawing/2014/main" id="{7254C119-193A-3388-5DCF-EFC7C24E1064}"/>
                </a:ext>
              </a:extLst>
            </p:cNvPr>
            <p:cNvCxnSpPr>
              <a:cxnSpLocks/>
            </p:cNvCxnSpPr>
            <p:nvPr/>
          </p:nvCxnSpPr>
          <p:spPr>
            <a:xfrm flipV="1">
              <a:off x="6348027" y="1483939"/>
              <a:ext cx="2063714" cy="135615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97B69E84-2A1F-8C59-4F5E-A16796454332}"/>
                </a:ext>
              </a:extLst>
            </p:cNvPr>
            <p:cNvCxnSpPr>
              <a:cxnSpLocks/>
            </p:cNvCxnSpPr>
            <p:nvPr/>
          </p:nvCxnSpPr>
          <p:spPr>
            <a:xfrm>
              <a:off x="5519936" y="3140968"/>
              <a:ext cx="2448272"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フリーフォーム: 図形 64">
              <a:extLst>
                <a:ext uri="{FF2B5EF4-FFF2-40B4-BE49-F238E27FC236}">
                  <a16:creationId xmlns:a16="http://schemas.microsoft.com/office/drawing/2014/main" id="{DFB7BE45-6B86-40AF-6A18-0EF31FC846C3}"/>
                </a:ext>
              </a:extLst>
            </p:cNvPr>
            <p:cNvSpPr/>
            <p:nvPr/>
          </p:nvSpPr>
          <p:spPr>
            <a:xfrm>
              <a:off x="6296025" y="2774156"/>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6" name="グループ化 65">
              <a:extLst>
                <a:ext uri="{FF2B5EF4-FFF2-40B4-BE49-F238E27FC236}">
                  <a16:creationId xmlns:a16="http://schemas.microsoft.com/office/drawing/2014/main" id="{F10CF1E3-2EBA-F877-EF9C-57F357A67B51}"/>
                </a:ext>
              </a:extLst>
            </p:cNvPr>
            <p:cNvGrpSpPr/>
            <p:nvPr/>
          </p:nvGrpSpPr>
          <p:grpSpPr>
            <a:xfrm>
              <a:off x="6294021" y="2767211"/>
              <a:ext cx="2124238" cy="1032913"/>
              <a:chOff x="6294021" y="2767211"/>
              <a:chExt cx="2124238" cy="1032913"/>
            </a:xfrm>
          </p:grpSpPr>
          <p:cxnSp>
            <p:nvCxnSpPr>
              <p:cNvPr id="103" name="直線矢印コネクタ 102">
                <a:extLst>
                  <a:ext uri="{FF2B5EF4-FFF2-40B4-BE49-F238E27FC236}">
                    <a16:creationId xmlns:a16="http://schemas.microsoft.com/office/drawing/2014/main" id="{C88D25DB-7D66-CA4D-F581-976F67D13A93}"/>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4" name="直線矢印コネクタ 103">
                <a:extLst>
                  <a:ext uri="{FF2B5EF4-FFF2-40B4-BE49-F238E27FC236}">
                    <a16:creationId xmlns:a16="http://schemas.microsoft.com/office/drawing/2014/main" id="{D3247456-EBA0-C6C6-743F-09DD0CCD77D3}"/>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5" name="直線矢印コネクタ 104">
                <a:extLst>
                  <a:ext uri="{FF2B5EF4-FFF2-40B4-BE49-F238E27FC236}">
                    <a16:creationId xmlns:a16="http://schemas.microsoft.com/office/drawing/2014/main" id="{7F4AF114-10E9-A80C-D028-95ED30A4BB3E}"/>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6" name="直線矢印コネクタ 105">
                <a:extLst>
                  <a:ext uri="{FF2B5EF4-FFF2-40B4-BE49-F238E27FC236}">
                    <a16:creationId xmlns:a16="http://schemas.microsoft.com/office/drawing/2014/main" id="{2CB5A58D-9A3A-B402-BBC5-D1ABF489904C}"/>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7" name="直線矢印コネクタ 106">
                <a:extLst>
                  <a:ext uri="{FF2B5EF4-FFF2-40B4-BE49-F238E27FC236}">
                    <a16:creationId xmlns:a16="http://schemas.microsoft.com/office/drawing/2014/main" id="{EAAD7D39-CCB8-1BFA-997E-0714856F112D}"/>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8" name="直線矢印コネクタ 107">
                <a:extLst>
                  <a:ext uri="{FF2B5EF4-FFF2-40B4-BE49-F238E27FC236}">
                    <a16:creationId xmlns:a16="http://schemas.microsoft.com/office/drawing/2014/main" id="{D23BD3DA-057E-FD41-4F11-FAE2E5C9B3C3}"/>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9" name="直線矢印コネクタ 108">
                <a:extLst>
                  <a:ext uri="{FF2B5EF4-FFF2-40B4-BE49-F238E27FC236}">
                    <a16:creationId xmlns:a16="http://schemas.microsoft.com/office/drawing/2014/main" id="{B8D76205-3964-37E8-DD6C-B10832469218}"/>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0" name="直線矢印コネクタ 109">
                <a:extLst>
                  <a:ext uri="{FF2B5EF4-FFF2-40B4-BE49-F238E27FC236}">
                    <a16:creationId xmlns:a16="http://schemas.microsoft.com/office/drawing/2014/main" id="{34369940-4A69-D9CD-5D44-FA680DF96429}"/>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1" name="直線矢印コネクタ 110">
                <a:extLst>
                  <a:ext uri="{FF2B5EF4-FFF2-40B4-BE49-F238E27FC236}">
                    <a16:creationId xmlns:a16="http://schemas.microsoft.com/office/drawing/2014/main" id="{33027EF7-8C37-04A1-52A4-CF9DCB7CB19A}"/>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2" name="直線矢印コネクタ 111">
                <a:extLst>
                  <a:ext uri="{FF2B5EF4-FFF2-40B4-BE49-F238E27FC236}">
                    <a16:creationId xmlns:a16="http://schemas.microsoft.com/office/drawing/2014/main" id="{9BA59180-8E91-3664-2F68-1723FFBD6E64}"/>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3" name="直線矢印コネクタ 112">
                <a:extLst>
                  <a:ext uri="{FF2B5EF4-FFF2-40B4-BE49-F238E27FC236}">
                    <a16:creationId xmlns:a16="http://schemas.microsoft.com/office/drawing/2014/main" id="{4983AF41-2B34-DC21-19F9-16616FC35910}"/>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4" name="直線矢印コネクタ 113">
                <a:extLst>
                  <a:ext uri="{FF2B5EF4-FFF2-40B4-BE49-F238E27FC236}">
                    <a16:creationId xmlns:a16="http://schemas.microsoft.com/office/drawing/2014/main" id="{1C74FD42-71AA-08CF-1D89-46181EA02673}"/>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67" name="フリーフォーム: 図形 66">
              <a:extLst>
                <a:ext uri="{FF2B5EF4-FFF2-40B4-BE49-F238E27FC236}">
                  <a16:creationId xmlns:a16="http://schemas.microsoft.com/office/drawing/2014/main" id="{2A108845-70C4-C4C7-323C-7AA8C92F16D0}"/>
                </a:ext>
              </a:extLst>
            </p:cNvPr>
            <p:cNvSpPr/>
            <p:nvPr/>
          </p:nvSpPr>
          <p:spPr>
            <a:xfrm>
              <a:off x="5273489" y="2540674"/>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8" name="グループ化 67">
              <a:extLst>
                <a:ext uri="{FF2B5EF4-FFF2-40B4-BE49-F238E27FC236}">
                  <a16:creationId xmlns:a16="http://schemas.microsoft.com/office/drawing/2014/main" id="{53954C6B-39CE-4E7C-371B-8D497ABDA02A}"/>
                </a:ext>
              </a:extLst>
            </p:cNvPr>
            <p:cNvGrpSpPr/>
            <p:nvPr/>
          </p:nvGrpSpPr>
          <p:grpSpPr>
            <a:xfrm>
              <a:off x="5273543" y="2539661"/>
              <a:ext cx="2124238" cy="1032913"/>
              <a:chOff x="6294021" y="2767211"/>
              <a:chExt cx="2124238" cy="1032913"/>
            </a:xfrm>
          </p:grpSpPr>
          <p:cxnSp>
            <p:nvCxnSpPr>
              <p:cNvPr id="91" name="直線矢印コネクタ 90">
                <a:extLst>
                  <a:ext uri="{FF2B5EF4-FFF2-40B4-BE49-F238E27FC236}">
                    <a16:creationId xmlns:a16="http://schemas.microsoft.com/office/drawing/2014/main" id="{6E4DFBA2-3650-FD1B-874F-E2A501D8E946}"/>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2" name="直線矢印コネクタ 91">
                <a:extLst>
                  <a:ext uri="{FF2B5EF4-FFF2-40B4-BE49-F238E27FC236}">
                    <a16:creationId xmlns:a16="http://schemas.microsoft.com/office/drawing/2014/main" id="{5C0E0B81-5D74-41DC-221B-57DD88319426}"/>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3" name="直線矢印コネクタ 92">
                <a:extLst>
                  <a:ext uri="{FF2B5EF4-FFF2-40B4-BE49-F238E27FC236}">
                    <a16:creationId xmlns:a16="http://schemas.microsoft.com/office/drawing/2014/main" id="{080C98B2-884B-D567-D58D-FEE7E0494210}"/>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4" name="直線矢印コネクタ 93">
                <a:extLst>
                  <a:ext uri="{FF2B5EF4-FFF2-40B4-BE49-F238E27FC236}">
                    <a16:creationId xmlns:a16="http://schemas.microsoft.com/office/drawing/2014/main" id="{E30C3E02-CEE3-1E1C-1649-24AE85E42A77}"/>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5" name="直線矢印コネクタ 94">
                <a:extLst>
                  <a:ext uri="{FF2B5EF4-FFF2-40B4-BE49-F238E27FC236}">
                    <a16:creationId xmlns:a16="http://schemas.microsoft.com/office/drawing/2014/main" id="{507004B4-69B9-1580-2A8E-384A4465034F}"/>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6" name="直線矢印コネクタ 95">
                <a:extLst>
                  <a:ext uri="{FF2B5EF4-FFF2-40B4-BE49-F238E27FC236}">
                    <a16:creationId xmlns:a16="http://schemas.microsoft.com/office/drawing/2014/main" id="{9243ADF2-AD4A-D128-30FF-E22EC0D9ACC9}"/>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7" name="直線矢印コネクタ 96">
                <a:extLst>
                  <a:ext uri="{FF2B5EF4-FFF2-40B4-BE49-F238E27FC236}">
                    <a16:creationId xmlns:a16="http://schemas.microsoft.com/office/drawing/2014/main" id="{3005088D-E4EF-6A94-91F4-DF0C9F252CF5}"/>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8" name="直線矢印コネクタ 97">
                <a:extLst>
                  <a:ext uri="{FF2B5EF4-FFF2-40B4-BE49-F238E27FC236}">
                    <a16:creationId xmlns:a16="http://schemas.microsoft.com/office/drawing/2014/main" id="{8CF3AFD5-FF35-3455-2E03-CDC58A2BA5AF}"/>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99" name="直線矢印コネクタ 98">
                <a:extLst>
                  <a:ext uri="{FF2B5EF4-FFF2-40B4-BE49-F238E27FC236}">
                    <a16:creationId xmlns:a16="http://schemas.microsoft.com/office/drawing/2014/main" id="{37ACE2EA-DB4F-CC67-0E63-2790C3D51A13}"/>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100" name="直線矢印コネクタ 99">
                <a:extLst>
                  <a:ext uri="{FF2B5EF4-FFF2-40B4-BE49-F238E27FC236}">
                    <a16:creationId xmlns:a16="http://schemas.microsoft.com/office/drawing/2014/main" id="{71CB76C6-28F3-C349-55DF-E4A14FEAAF72}"/>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101" name="直線矢印コネクタ 100">
                <a:extLst>
                  <a:ext uri="{FF2B5EF4-FFF2-40B4-BE49-F238E27FC236}">
                    <a16:creationId xmlns:a16="http://schemas.microsoft.com/office/drawing/2014/main" id="{51893665-DF6A-4345-A656-DFB097EFB279}"/>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102" name="直線矢印コネクタ 101">
                <a:extLst>
                  <a:ext uri="{FF2B5EF4-FFF2-40B4-BE49-F238E27FC236}">
                    <a16:creationId xmlns:a16="http://schemas.microsoft.com/office/drawing/2014/main" id="{3DC57327-B378-0A5C-2E80-8B3BAAEED841}"/>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69" name="フリーフォーム: 図形 68">
              <a:extLst>
                <a:ext uri="{FF2B5EF4-FFF2-40B4-BE49-F238E27FC236}">
                  <a16:creationId xmlns:a16="http://schemas.microsoft.com/office/drawing/2014/main" id="{D4D2491C-08BE-968A-2928-BB90DC7E74C9}"/>
                </a:ext>
              </a:extLst>
            </p:cNvPr>
            <p:cNvSpPr/>
            <p:nvPr/>
          </p:nvSpPr>
          <p:spPr>
            <a:xfrm>
              <a:off x="4417021" y="2198355"/>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70" name="グループ化 69">
              <a:extLst>
                <a:ext uri="{FF2B5EF4-FFF2-40B4-BE49-F238E27FC236}">
                  <a16:creationId xmlns:a16="http://schemas.microsoft.com/office/drawing/2014/main" id="{FAD91CA7-3CF1-3FD4-ABA0-11593DE52470}"/>
                </a:ext>
              </a:extLst>
            </p:cNvPr>
            <p:cNvGrpSpPr/>
            <p:nvPr/>
          </p:nvGrpSpPr>
          <p:grpSpPr>
            <a:xfrm>
              <a:off x="4425156" y="2182728"/>
              <a:ext cx="2124238" cy="1032913"/>
              <a:chOff x="6294021" y="2767211"/>
              <a:chExt cx="2124238" cy="1032913"/>
            </a:xfrm>
          </p:grpSpPr>
          <p:cxnSp>
            <p:nvCxnSpPr>
              <p:cNvPr id="79" name="直線矢印コネクタ 78">
                <a:extLst>
                  <a:ext uri="{FF2B5EF4-FFF2-40B4-BE49-F238E27FC236}">
                    <a16:creationId xmlns:a16="http://schemas.microsoft.com/office/drawing/2014/main" id="{CC0D1A06-3BF1-7782-655C-461F112FDEFF}"/>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5F97A112-BEBD-28F1-954F-BFA19C187BE2}"/>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53583C74-E932-C56D-55C9-EBB1E8A1C671}"/>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63C7C9FF-3C97-0369-153A-1EFFECC91BF6}"/>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BB9EE8B2-371D-7513-29FD-C9F3C8CB265B}"/>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DC5BBDA7-9461-30D8-8AC1-1DB599B9B568}"/>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23368617-D6DC-5F3A-60AD-276BDF988D60}"/>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28A2F441-E036-C78F-B5D1-D3AC05882317}"/>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矢印コネクタ 86">
                <a:extLst>
                  <a:ext uri="{FF2B5EF4-FFF2-40B4-BE49-F238E27FC236}">
                    <a16:creationId xmlns:a16="http://schemas.microsoft.com/office/drawing/2014/main" id="{C2BBA5C5-2429-D9D2-BEB7-E16A9E4E7517}"/>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矢印コネクタ 87">
                <a:extLst>
                  <a:ext uri="{FF2B5EF4-FFF2-40B4-BE49-F238E27FC236}">
                    <a16:creationId xmlns:a16="http://schemas.microsoft.com/office/drawing/2014/main" id="{EB767C41-3006-46F4-AC00-517E497F59FC}"/>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1325202F-9D3F-823F-2C16-8D5BBD5C352B}"/>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直線矢印コネクタ 89">
                <a:extLst>
                  <a:ext uri="{FF2B5EF4-FFF2-40B4-BE49-F238E27FC236}">
                    <a16:creationId xmlns:a16="http://schemas.microsoft.com/office/drawing/2014/main" id="{1EFE65F5-4772-A9E8-A4C2-EAED081BE5FD}"/>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71" name="直線矢印コネクタ 70">
              <a:extLst>
                <a:ext uri="{FF2B5EF4-FFF2-40B4-BE49-F238E27FC236}">
                  <a16:creationId xmlns:a16="http://schemas.microsoft.com/office/drawing/2014/main" id="{027D596E-6C21-FE6E-2918-D151C3EA90E9}"/>
                </a:ext>
              </a:extLst>
            </p:cNvPr>
            <p:cNvCxnSpPr>
              <a:cxnSpLocks/>
            </p:cNvCxnSpPr>
            <p:nvPr/>
          </p:nvCxnSpPr>
          <p:spPr>
            <a:xfrm flipV="1">
              <a:off x="6744072" y="2573990"/>
              <a:ext cx="0" cy="193513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BBD0D649-1368-71FE-B1EA-3DC2384E430D}"/>
                </a:ext>
              </a:extLst>
            </p:cNvPr>
            <p:cNvCxnSpPr>
              <a:cxnSpLocks/>
            </p:cNvCxnSpPr>
            <p:nvPr/>
          </p:nvCxnSpPr>
          <p:spPr>
            <a:xfrm>
              <a:off x="4439816" y="2564904"/>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1A897FC5-9A20-61E1-DDB7-707CA35D9AC4}"/>
                </a:ext>
              </a:extLst>
            </p:cNvPr>
            <p:cNvCxnSpPr>
              <a:cxnSpLocks/>
            </p:cNvCxnSpPr>
            <p:nvPr/>
          </p:nvCxnSpPr>
          <p:spPr>
            <a:xfrm flipV="1">
              <a:off x="6803714"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F00AE25E-D7AA-9B0F-EED0-2DF0C15F34F1}"/>
                </a:ext>
              </a:extLst>
            </p:cNvPr>
            <p:cNvCxnSpPr>
              <a:cxnSpLocks/>
            </p:cNvCxnSpPr>
            <p:nvPr/>
          </p:nvCxnSpPr>
          <p:spPr>
            <a:xfrm flipV="1">
              <a:off x="5273489"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E92B913C-3298-9D65-85C6-E386A81831DE}"/>
                </a:ext>
              </a:extLst>
            </p:cNvPr>
            <p:cNvCxnSpPr>
              <a:cxnSpLocks/>
            </p:cNvCxnSpPr>
            <p:nvPr/>
          </p:nvCxnSpPr>
          <p:spPr>
            <a:xfrm flipV="1">
              <a:off x="5879976" y="3570051"/>
              <a:ext cx="0" cy="218989"/>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3520F5DC-8FC1-2DA9-DA81-1367E2122A19}"/>
                </a:ext>
              </a:extLst>
            </p:cNvPr>
            <p:cNvSpPr txBox="1"/>
            <p:nvPr/>
          </p:nvSpPr>
          <p:spPr>
            <a:xfrm>
              <a:off x="4061059" y="1029924"/>
              <a:ext cx="646331" cy="461664"/>
            </a:xfrm>
            <a:prstGeom prst="rect">
              <a:avLst/>
            </a:prstGeom>
            <a:noFill/>
          </p:spPr>
          <p:txBody>
            <a:bodyPr wrap="none" rtlCol="0">
              <a:spAutoFit/>
            </a:bodyPr>
            <a:lstStyle/>
            <a:p>
              <a:pPr algn="ctr"/>
              <a:r>
                <a:rPr lang="ja-JP" altLang="en-US" sz="1200" dirty="0"/>
                <a:t>出力</a:t>
              </a:r>
              <a:endParaRPr lang="en-US" altLang="ja-JP" sz="1200" dirty="0"/>
            </a:p>
            <a:p>
              <a:pPr algn="ctr"/>
              <a:r>
                <a:rPr lang="ja-JP" altLang="en-US" sz="1200" dirty="0"/>
                <a:t>詳細度</a:t>
              </a:r>
              <a:endParaRPr kumimoji="1" lang="ja-JP" altLang="en-US" sz="1200" dirty="0"/>
            </a:p>
          </p:txBody>
        </p:sp>
        <p:sp>
          <p:nvSpPr>
            <p:cNvPr id="77" name="テキスト ボックス 76">
              <a:extLst>
                <a:ext uri="{FF2B5EF4-FFF2-40B4-BE49-F238E27FC236}">
                  <a16:creationId xmlns:a16="http://schemas.microsoft.com/office/drawing/2014/main" id="{1CE57FAD-CD5D-BF89-2AB5-28E1A77E8711}"/>
                </a:ext>
              </a:extLst>
            </p:cNvPr>
            <p:cNvSpPr txBox="1"/>
            <p:nvPr/>
          </p:nvSpPr>
          <p:spPr>
            <a:xfrm>
              <a:off x="7681931" y="4195879"/>
              <a:ext cx="800220" cy="277000"/>
            </a:xfrm>
            <a:prstGeom prst="rect">
              <a:avLst/>
            </a:prstGeom>
            <a:noFill/>
          </p:spPr>
          <p:txBody>
            <a:bodyPr wrap="none" rtlCol="0">
              <a:spAutoFit/>
            </a:bodyPr>
            <a:lstStyle/>
            <a:p>
              <a:pPr algn="ctr"/>
              <a:r>
                <a:rPr kumimoji="1" lang="ja-JP" altLang="en-US" sz="1200" dirty="0"/>
                <a:t>計測領域</a:t>
              </a:r>
            </a:p>
          </p:txBody>
        </p:sp>
        <p:sp>
          <p:nvSpPr>
            <p:cNvPr id="78" name="テキスト ボックス 77">
              <a:extLst>
                <a:ext uri="{FF2B5EF4-FFF2-40B4-BE49-F238E27FC236}">
                  <a16:creationId xmlns:a16="http://schemas.microsoft.com/office/drawing/2014/main" id="{040273E0-2C26-ACF7-8998-F00D2B07B2B4}"/>
                </a:ext>
              </a:extLst>
            </p:cNvPr>
            <p:cNvSpPr txBox="1"/>
            <p:nvPr/>
          </p:nvSpPr>
          <p:spPr>
            <a:xfrm>
              <a:off x="7736891" y="1879366"/>
              <a:ext cx="800220" cy="277000"/>
            </a:xfrm>
            <a:prstGeom prst="rect">
              <a:avLst/>
            </a:prstGeom>
            <a:noFill/>
          </p:spPr>
          <p:txBody>
            <a:bodyPr wrap="none" rtlCol="0">
              <a:spAutoFit/>
            </a:bodyPr>
            <a:lstStyle/>
            <a:p>
              <a:pPr algn="ctr"/>
              <a:r>
                <a:rPr kumimoji="1" lang="ja-JP" altLang="en-US" sz="1200" dirty="0"/>
                <a:t>計測時間</a:t>
              </a:r>
            </a:p>
          </p:txBody>
        </p:sp>
      </p:grpSp>
    </p:spTree>
    <p:extLst>
      <p:ext uri="{BB962C8B-B14F-4D97-AF65-F5344CB8AC3E}">
        <p14:creationId xmlns:p14="http://schemas.microsoft.com/office/powerpoint/2010/main" val="3507847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0210F1-2511-02AE-A00E-05A1F9C6A3E8}"/>
              </a:ext>
            </a:extLst>
          </p:cNvPr>
          <p:cNvSpPr>
            <a:spLocks noGrp="1"/>
          </p:cNvSpPr>
          <p:nvPr>
            <p:ph type="title"/>
          </p:nvPr>
        </p:nvSpPr>
        <p:spPr/>
        <p:txBody>
          <a:bodyPr/>
          <a:lstStyle/>
          <a:p>
            <a:r>
              <a:rPr kumimoji="1" lang="ja-JP" altLang="en-US" dirty="0"/>
              <a:t>新規研究 骨子 検討進捗</a:t>
            </a:r>
          </a:p>
        </p:txBody>
      </p:sp>
      <p:sp>
        <p:nvSpPr>
          <p:cNvPr id="3" name="コンテンツ プレースホルダー 2">
            <a:extLst>
              <a:ext uri="{FF2B5EF4-FFF2-40B4-BE49-F238E27FC236}">
                <a16:creationId xmlns:a16="http://schemas.microsoft.com/office/drawing/2014/main" id="{9BB3DA00-7EDA-5C63-9F45-7DFFAD90D88A}"/>
              </a:ext>
            </a:extLst>
          </p:cNvPr>
          <p:cNvSpPr>
            <a:spLocks noGrp="1"/>
          </p:cNvSpPr>
          <p:nvPr>
            <p:ph idx="1"/>
          </p:nvPr>
        </p:nvSpPr>
        <p:spPr>
          <a:xfrm>
            <a:off x="119336" y="791726"/>
            <a:ext cx="11953328" cy="5877634"/>
          </a:xfrm>
        </p:spPr>
        <p:txBody>
          <a:bodyPr>
            <a:normAutofit fontScale="92500" lnSpcReduction="20000"/>
          </a:bodyPr>
          <a:lstStyle/>
          <a:p>
            <a:r>
              <a:rPr kumimoji="1" lang="ja-JP" altLang="en-US" dirty="0"/>
              <a:t>リサーチクエスチョン</a:t>
            </a:r>
            <a:endParaRPr kumimoji="1" lang="en-US" altLang="ja-JP" dirty="0"/>
          </a:p>
          <a:p>
            <a:pPr lvl="1"/>
            <a:r>
              <a:rPr lang="ja-JP" altLang="en-US" dirty="0"/>
              <a:t>フロア内のスタッフ・患者の配置から，その場面における「事故の予兆」は検知可能か</a:t>
            </a:r>
            <a:endParaRPr lang="en-US" altLang="ja-JP" dirty="0"/>
          </a:p>
          <a:p>
            <a:pPr lvl="4"/>
            <a:endParaRPr lang="en-US" altLang="ja-JP" dirty="0"/>
          </a:p>
          <a:p>
            <a:r>
              <a:rPr kumimoji="1" lang="ja-JP" altLang="en-US" dirty="0"/>
              <a:t>やりたいこと</a:t>
            </a:r>
            <a:endParaRPr kumimoji="1" lang="en-US" altLang="ja-JP" dirty="0"/>
          </a:p>
          <a:p>
            <a:pPr lvl="1"/>
            <a:r>
              <a:rPr lang="ja-JP" altLang="en-US" dirty="0"/>
              <a:t>患者の見守り不足による事故の予防</a:t>
            </a:r>
            <a:endParaRPr lang="en-US" altLang="ja-JP" dirty="0"/>
          </a:p>
          <a:p>
            <a:pPr lvl="4"/>
            <a:endParaRPr lang="en-US" altLang="ja-JP" dirty="0"/>
          </a:p>
          <a:p>
            <a:r>
              <a:rPr kumimoji="1" lang="ja-JP" altLang="en-US" dirty="0"/>
              <a:t>従来アプローチ：バイタルモニタリングによる逸脱検知</a:t>
            </a:r>
            <a:endParaRPr kumimoji="1" lang="en-US" altLang="ja-JP" dirty="0"/>
          </a:p>
          <a:p>
            <a:pPr lvl="1"/>
            <a:r>
              <a:rPr lang="ja-JP" altLang="en-US" dirty="0"/>
              <a:t>医学的根拠があり正確</a:t>
            </a:r>
            <a:endParaRPr lang="en-US" altLang="ja-JP" dirty="0"/>
          </a:p>
          <a:p>
            <a:pPr lvl="1"/>
            <a:r>
              <a:rPr lang="ja-JP" altLang="en-US" dirty="0"/>
              <a:t>検知～発生の時間猶予は短い　➡ 別アプローチによる冗長性確保に期待</a:t>
            </a:r>
            <a:endParaRPr lang="en-US" altLang="ja-JP" dirty="0"/>
          </a:p>
          <a:p>
            <a:pPr lvl="4"/>
            <a:endParaRPr kumimoji="1" lang="en-US" altLang="ja-JP" dirty="0"/>
          </a:p>
          <a:p>
            <a:r>
              <a:rPr kumimoji="1" lang="ja-JP" altLang="en-US" dirty="0"/>
              <a:t>発想</a:t>
            </a:r>
            <a:endParaRPr kumimoji="1" lang="en-US" altLang="ja-JP" dirty="0"/>
          </a:p>
          <a:p>
            <a:pPr lvl="1"/>
            <a:r>
              <a:rPr lang="ja-JP" altLang="en-US" dirty="0"/>
              <a:t>右表の状況においては，患者が廊下歩行中に</a:t>
            </a:r>
            <a:br>
              <a:rPr lang="en-US" altLang="ja-JP" dirty="0"/>
            </a:br>
            <a:r>
              <a:rPr lang="ja-JP" altLang="en-US" dirty="0"/>
              <a:t>転んだ時の事態重大性がより高いだろう</a:t>
            </a:r>
            <a:endParaRPr lang="en-US" altLang="ja-JP" dirty="0"/>
          </a:p>
          <a:p>
            <a:pPr lvl="4"/>
            <a:endParaRPr kumimoji="1" lang="en-US" altLang="ja-JP" dirty="0"/>
          </a:p>
          <a:p>
            <a:r>
              <a:rPr kumimoji="1" lang="ja-JP" altLang="en-US" dirty="0"/>
              <a:t>仮説</a:t>
            </a:r>
            <a:endParaRPr kumimoji="1" lang="en-US" altLang="ja-JP" dirty="0"/>
          </a:p>
          <a:p>
            <a:pPr lvl="1"/>
            <a:r>
              <a:rPr lang="ja-JP" altLang="en-US" dirty="0"/>
              <a:t>フロア内の人物の時空間的偏在から，患者の事故リスクは予期可能である（デジャヴ）</a:t>
            </a:r>
            <a:endParaRPr lang="en-US" altLang="ja-JP" dirty="0"/>
          </a:p>
          <a:p>
            <a:pPr lvl="4"/>
            <a:endParaRPr lang="en-US" altLang="ja-JP" dirty="0"/>
          </a:p>
          <a:p>
            <a:r>
              <a:rPr lang="ja-JP" altLang="en-US" dirty="0"/>
              <a:t>良さ</a:t>
            </a:r>
            <a:endParaRPr lang="en-US" altLang="ja-JP" dirty="0"/>
          </a:p>
          <a:p>
            <a:pPr lvl="1"/>
            <a:r>
              <a:rPr kumimoji="1" lang="ja-JP" altLang="en-US" dirty="0"/>
              <a:t>「トラブルの予兆」でなく，「トラブル</a:t>
            </a:r>
            <a:r>
              <a:rPr kumimoji="1" lang="ja-JP" altLang="en-US" b="1" dirty="0"/>
              <a:t>が起きる場面の</a:t>
            </a:r>
            <a:r>
              <a:rPr kumimoji="1" lang="ja-JP" altLang="en-US" dirty="0"/>
              <a:t>予兆」の検知 ➡ 早期検知に期待</a:t>
            </a:r>
            <a:endParaRPr kumimoji="1" lang="en-US" altLang="ja-JP" dirty="0"/>
          </a:p>
          <a:p>
            <a:pPr lvl="4"/>
            <a:endParaRPr kumimoji="1" lang="en-US" altLang="ja-JP" dirty="0"/>
          </a:p>
          <a:p>
            <a:r>
              <a:rPr kumimoji="1" lang="ja-JP" altLang="en-US" dirty="0"/>
              <a:t>裏の狙い</a:t>
            </a:r>
            <a:endParaRPr kumimoji="1" lang="en-US" altLang="ja-JP" dirty="0"/>
          </a:p>
          <a:p>
            <a:pPr lvl="1"/>
            <a:r>
              <a:rPr kumimoji="1" lang="ja-JP" altLang="en-US" dirty="0"/>
              <a:t>事故に至らない事象も検知するからこそ，非スタッフ（</a:t>
            </a:r>
            <a:r>
              <a:rPr kumimoji="1" lang="en-US" altLang="ja-JP" dirty="0"/>
              <a:t>Robot/</a:t>
            </a:r>
            <a:r>
              <a:rPr kumimoji="1" lang="ja-JP" altLang="en-US" dirty="0"/>
              <a:t>センサ）を派遣する位置付けに適している</a:t>
            </a:r>
          </a:p>
        </p:txBody>
      </p:sp>
      <p:sp>
        <p:nvSpPr>
          <p:cNvPr id="4" name="日付プレースホルダー 3">
            <a:extLst>
              <a:ext uri="{FF2B5EF4-FFF2-40B4-BE49-F238E27FC236}">
                <a16:creationId xmlns:a16="http://schemas.microsoft.com/office/drawing/2014/main" id="{D54C5B1E-2BBE-7484-0BE8-B129E88D3CBB}"/>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3D5CD0B1-7F59-27C1-926E-850890DE1364}"/>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AD064EE1-D5B9-F0B7-8210-9DA89A18AE3A}"/>
              </a:ext>
            </a:extLst>
          </p:cNvPr>
          <p:cNvSpPr>
            <a:spLocks noGrp="1"/>
          </p:cNvSpPr>
          <p:nvPr>
            <p:ph type="sldNum" sz="quarter" idx="12"/>
          </p:nvPr>
        </p:nvSpPr>
        <p:spPr/>
        <p:txBody>
          <a:bodyPr/>
          <a:lstStyle/>
          <a:p>
            <a:fld id="{870B1737-2A00-4EFB-9FD3-149FCC30AA13}" type="slidenum">
              <a:rPr lang="ja-JP" altLang="en-US" smtClean="0"/>
              <a:pPr/>
              <a:t>39</a:t>
            </a:fld>
            <a:endParaRPr lang="ja-JP" altLang="en-US"/>
          </a:p>
        </p:txBody>
      </p:sp>
      <p:graphicFrame>
        <p:nvGraphicFramePr>
          <p:cNvPr id="8" name="表 7">
            <a:extLst>
              <a:ext uri="{FF2B5EF4-FFF2-40B4-BE49-F238E27FC236}">
                <a16:creationId xmlns:a16="http://schemas.microsoft.com/office/drawing/2014/main" id="{856F472E-86CD-4344-8129-8CBCB406DBE3}"/>
              </a:ext>
            </a:extLst>
          </p:cNvPr>
          <p:cNvGraphicFramePr>
            <a:graphicFrameLocks noGrp="1"/>
          </p:cNvGraphicFramePr>
          <p:nvPr>
            <p:extLst>
              <p:ext uri="{D42A27DB-BD31-4B8C-83A1-F6EECF244321}">
                <p14:modId xmlns:p14="http://schemas.microsoft.com/office/powerpoint/2010/main" val="182162687"/>
              </p:ext>
            </p:extLst>
          </p:nvPr>
        </p:nvGraphicFramePr>
        <p:xfrm>
          <a:off x="6096000" y="3501008"/>
          <a:ext cx="5354003" cy="914400"/>
        </p:xfrm>
        <a:graphic>
          <a:graphicData uri="http://schemas.openxmlformats.org/drawingml/2006/table">
            <a:tbl>
              <a:tblPr firstRow="1" firstCol="1" bandRow="1">
                <a:tableStyleId>{073A0DAA-6AF3-43AB-8588-CEC1D06C72B9}</a:tableStyleId>
              </a:tblPr>
              <a:tblGrid>
                <a:gridCol w="1116330">
                  <a:extLst>
                    <a:ext uri="{9D8B030D-6E8A-4147-A177-3AD203B41FA5}">
                      <a16:colId xmlns:a16="http://schemas.microsoft.com/office/drawing/2014/main" val="392316533"/>
                    </a:ext>
                  </a:extLst>
                </a:gridCol>
                <a:gridCol w="2183130">
                  <a:extLst>
                    <a:ext uri="{9D8B030D-6E8A-4147-A177-3AD203B41FA5}">
                      <a16:colId xmlns:a16="http://schemas.microsoft.com/office/drawing/2014/main" val="541882551"/>
                    </a:ext>
                  </a:extLst>
                </a:gridCol>
                <a:gridCol w="2054543">
                  <a:extLst>
                    <a:ext uri="{9D8B030D-6E8A-4147-A177-3AD203B41FA5}">
                      <a16:colId xmlns:a16="http://schemas.microsoft.com/office/drawing/2014/main" val="370800663"/>
                    </a:ext>
                  </a:extLst>
                </a:gridCol>
              </a:tblGrid>
              <a:tr h="240027">
                <a:tc>
                  <a:txBody>
                    <a:bodyPr/>
                    <a:lstStyle/>
                    <a:p>
                      <a:endParaRPr kumimoji="1" lang="ja-JP" altLang="en-US" sz="1400"/>
                    </a:p>
                  </a:txBody>
                  <a:tcPr/>
                </a:tc>
                <a:tc>
                  <a:txBody>
                    <a:bodyPr/>
                    <a:lstStyle/>
                    <a:p>
                      <a:r>
                        <a:rPr kumimoji="1" lang="ja-JP" altLang="en-US" sz="1400" dirty="0"/>
                        <a:t>時間的偏在</a:t>
                      </a:r>
                    </a:p>
                  </a:txBody>
                  <a:tcPr/>
                </a:tc>
                <a:tc>
                  <a:txBody>
                    <a:bodyPr/>
                    <a:lstStyle/>
                    <a:p>
                      <a:r>
                        <a:rPr kumimoji="1" lang="ja-JP" altLang="en-US" sz="1400" dirty="0"/>
                        <a:t>空間的偏在</a:t>
                      </a:r>
                    </a:p>
                  </a:txBody>
                  <a:tcPr/>
                </a:tc>
                <a:extLst>
                  <a:ext uri="{0D108BD9-81ED-4DB2-BD59-A6C34878D82A}">
                    <a16:rowId xmlns:a16="http://schemas.microsoft.com/office/drawing/2014/main" val="1636625909"/>
                  </a:ext>
                </a:extLst>
              </a:tr>
              <a:tr h="240027">
                <a:tc>
                  <a:txBody>
                    <a:bodyPr/>
                    <a:lstStyle/>
                    <a:p>
                      <a:r>
                        <a:rPr kumimoji="1" lang="ja-JP" altLang="en-US" sz="1400" dirty="0"/>
                        <a:t>物理的偏在</a:t>
                      </a:r>
                    </a:p>
                  </a:txBody>
                  <a:tcPr/>
                </a:tc>
                <a:tc>
                  <a:txBody>
                    <a:bodyPr/>
                    <a:lstStyle/>
                    <a:p>
                      <a:r>
                        <a:rPr kumimoji="1" lang="ja-JP" altLang="en-US" sz="1400" dirty="0"/>
                        <a:t>リハ送迎時間帯で離席</a:t>
                      </a:r>
                    </a:p>
                  </a:txBody>
                  <a:tcPr/>
                </a:tc>
                <a:tc>
                  <a:txBody>
                    <a:bodyPr/>
                    <a:lstStyle/>
                    <a:p>
                      <a:r>
                        <a:rPr kumimoji="1" lang="ja-JP" altLang="en-US" sz="1400" dirty="0"/>
                        <a:t>ある病室に集結中</a:t>
                      </a:r>
                    </a:p>
                  </a:txBody>
                  <a:tcPr/>
                </a:tc>
                <a:extLst>
                  <a:ext uri="{0D108BD9-81ED-4DB2-BD59-A6C34878D82A}">
                    <a16:rowId xmlns:a16="http://schemas.microsoft.com/office/drawing/2014/main" val="3484176152"/>
                  </a:ext>
                </a:extLst>
              </a:tr>
              <a:tr h="240027">
                <a:tc>
                  <a:txBody>
                    <a:bodyPr/>
                    <a:lstStyle/>
                    <a:p>
                      <a:r>
                        <a:rPr kumimoji="1" lang="ja-JP" altLang="en-US" sz="1400" dirty="0"/>
                        <a:t>意識的偏在</a:t>
                      </a:r>
                    </a:p>
                  </a:txBody>
                  <a:tcPr/>
                </a:tc>
                <a:tc>
                  <a:txBody>
                    <a:bodyPr/>
                    <a:lstStyle/>
                    <a:p>
                      <a:r>
                        <a:rPr kumimoji="1" lang="ja-JP" altLang="en-US" sz="1400" dirty="0"/>
                        <a:t>退勤前（記録作業山積）</a:t>
                      </a:r>
                    </a:p>
                  </a:txBody>
                  <a:tcPr/>
                </a:tc>
                <a:tc>
                  <a:txBody>
                    <a:bodyPr/>
                    <a:lstStyle/>
                    <a:p>
                      <a:r>
                        <a:rPr kumimoji="1" lang="ja-JP" altLang="en-US" sz="1400" dirty="0"/>
                        <a:t>高緊急種別の</a:t>
                      </a:r>
                      <a:r>
                        <a:rPr kumimoji="1" lang="en-US" altLang="ja-JP" sz="1400" dirty="0"/>
                        <a:t>NS</a:t>
                      </a:r>
                      <a:r>
                        <a:rPr kumimoji="1" lang="ja-JP" altLang="en-US" sz="1400" dirty="0"/>
                        <a:t>コール</a:t>
                      </a:r>
                    </a:p>
                  </a:txBody>
                  <a:tcPr/>
                </a:tc>
                <a:extLst>
                  <a:ext uri="{0D108BD9-81ED-4DB2-BD59-A6C34878D82A}">
                    <a16:rowId xmlns:a16="http://schemas.microsoft.com/office/drawing/2014/main" val="1800962529"/>
                  </a:ext>
                </a:extLst>
              </a:tr>
            </a:tbl>
          </a:graphicData>
        </a:graphic>
      </p:graphicFrame>
      <p:sp>
        <p:nvSpPr>
          <p:cNvPr id="9" name="テキスト ボックス 8">
            <a:extLst>
              <a:ext uri="{FF2B5EF4-FFF2-40B4-BE49-F238E27FC236}">
                <a16:creationId xmlns:a16="http://schemas.microsoft.com/office/drawing/2014/main" id="{BFD63A44-6C7C-613A-D2D9-5CE757B4EB0A}"/>
              </a:ext>
            </a:extLst>
          </p:cNvPr>
          <p:cNvSpPr txBox="1"/>
          <p:nvPr/>
        </p:nvSpPr>
        <p:spPr>
          <a:xfrm>
            <a:off x="7218729" y="3212976"/>
            <a:ext cx="3108543" cy="276999"/>
          </a:xfrm>
          <a:prstGeom prst="rect">
            <a:avLst/>
          </a:prstGeom>
          <a:noFill/>
        </p:spPr>
        <p:txBody>
          <a:bodyPr wrap="none" rtlCol="0">
            <a:spAutoFit/>
          </a:bodyPr>
          <a:lstStyle/>
          <a:p>
            <a:r>
              <a:rPr kumimoji="1" lang="ja-JP" altLang="en-US" sz="1200" dirty="0"/>
              <a:t>事故リスクが高まるスタッフの「偏在」例</a:t>
            </a:r>
          </a:p>
        </p:txBody>
      </p:sp>
    </p:spTree>
    <p:extLst>
      <p:ext uri="{BB962C8B-B14F-4D97-AF65-F5344CB8AC3E}">
        <p14:creationId xmlns:p14="http://schemas.microsoft.com/office/powerpoint/2010/main" val="1970099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31" name="グループ化 130">
            <a:extLst>
              <a:ext uri="{FF2B5EF4-FFF2-40B4-BE49-F238E27FC236}">
                <a16:creationId xmlns:a16="http://schemas.microsoft.com/office/drawing/2014/main" id="{732DE7F4-7579-EAFA-9D29-252748970ABB}"/>
              </a:ext>
            </a:extLst>
          </p:cNvPr>
          <p:cNvGrpSpPr/>
          <p:nvPr/>
        </p:nvGrpSpPr>
        <p:grpSpPr>
          <a:xfrm>
            <a:off x="3805824" y="1483939"/>
            <a:ext cx="4612435" cy="3313213"/>
            <a:chOff x="3805824" y="1483939"/>
            <a:chExt cx="4612435" cy="3313213"/>
          </a:xfrm>
        </p:grpSpPr>
        <p:cxnSp>
          <p:nvCxnSpPr>
            <p:cNvPr id="8" name="直線矢印コネクタ 7">
              <a:extLst>
                <a:ext uri="{FF2B5EF4-FFF2-40B4-BE49-F238E27FC236}">
                  <a16:creationId xmlns:a16="http://schemas.microsoft.com/office/drawing/2014/main" id="{0CEBC5D8-A5D5-971A-CB59-050CFCB40408}"/>
                </a:ext>
              </a:extLst>
            </p:cNvPr>
            <p:cNvCxnSpPr>
              <a:cxnSpLocks/>
            </p:cNvCxnSpPr>
            <p:nvPr/>
          </p:nvCxnSpPr>
          <p:spPr>
            <a:xfrm>
              <a:off x="4007768" y="4509120"/>
              <a:ext cx="30963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A34683A9-6872-2A07-292A-11D953C0A919}"/>
                </a:ext>
              </a:extLst>
            </p:cNvPr>
            <p:cNvCxnSpPr>
              <a:cxnSpLocks/>
            </p:cNvCxnSpPr>
            <p:nvPr/>
          </p:nvCxnSpPr>
          <p:spPr>
            <a:xfrm flipV="1">
              <a:off x="4295800" y="2457692"/>
              <a:ext cx="3272016" cy="21501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6599D3E8-67B0-EC27-0A22-868695A05C5C}"/>
                </a:ext>
              </a:extLst>
            </p:cNvPr>
            <p:cNvCxnSpPr>
              <a:cxnSpLocks/>
            </p:cNvCxnSpPr>
            <p:nvPr/>
          </p:nvCxnSpPr>
          <p:spPr>
            <a:xfrm flipV="1">
              <a:off x="4439816" y="2127727"/>
              <a:ext cx="0" cy="2669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07E4D3B0-4C46-9F5A-CDE2-4AA8BAEEFB33}"/>
                </a:ext>
              </a:extLst>
            </p:cNvPr>
            <p:cNvCxnSpPr>
              <a:cxnSpLocks/>
            </p:cNvCxnSpPr>
            <p:nvPr/>
          </p:nvCxnSpPr>
          <p:spPr>
            <a:xfrm>
              <a:off x="5015880" y="4149080"/>
              <a:ext cx="224124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480D17E-17CD-42A1-70FF-784DC0C0D599}"/>
                </a:ext>
              </a:extLst>
            </p:cNvPr>
            <p:cNvCxnSpPr>
              <a:cxnSpLocks/>
            </p:cNvCxnSpPr>
            <p:nvPr/>
          </p:nvCxnSpPr>
          <p:spPr>
            <a:xfrm>
              <a:off x="5519936" y="3789040"/>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2077BD4-34E3-B188-7AF9-3F136DA67C01}"/>
                </a:ext>
              </a:extLst>
            </p:cNvPr>
            <p:cNvCxnSpPr>
              <a:cxnSpLocks/>
            </p:cNvCxnSpPr>
            <p:nvPr/>
          </p:nvCxnSpPr>
          <p:spPr>
            <a:xfrm>
              <a:off x="6096000" y="3429000"/>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6757435-5D15-7345-FF4E-DF47D2D689DA}"/>
                </a:ext>
              </a:extLst>
            </p:cNvPr>
            <p:cNvCxnSpPr>
              <a:cxnSpLocks/>
            </p:cNvCxnSpPr>
            <p:nvPr/>
          </p:nvCxnSpPr>
          <p:spPr>
            <a:xfrm flipV="1">
              <a:off x="5216038" y="3140968"/>
              <a:ext cx="2074095"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52DAF1C3-8E34-4DDE-64B1-99A28452D5FC}"/>
                </a:ext>
              </a:extLst>
            </p:cNvPr>
            <p:cNvCxnSpPr>
              <a:cxnSpLocks/>
            </p:cNvCxnSpPr>
            <p:nvPr/>
          </p:nvCxnSpPr>
          <p:spPr>
            <a:xfrm flipV="1">
              <a:off x="5978122" y="3140968"/>
              <a:ext cx="2074096" cy="136297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E27A71DA-2810-9298-4C8A-DAD7673B8280}"/>
                </a:ext>
              </a:extLst>
            </p:cNvPr>
            <p:cNvCxnSpPr>
              <a:cxnSpLocks/>
            </p:cNvCxnSpPr>
            <p:nvPr/>
          </p:nvCxnSpPr>
          <p:spPr>
            <a:xfrm flipV="1">
              <a:off x="6744072" y="3459347"/>
              <a:ext cx="1585740" cy="1042058"/>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B0E751B8-02BE-E694-4142-32685764F6FC}"/>
                </a:ext>
              </a:extLst>
            </p:cNvPr>
            <p:cNvCxnSpPr>
              <a:cxnSpLocks/>
              <a:endCxn id="89" idx="0"/>
            </p:cNvCxnSpPr>
            <p:nvPr/>
          </p:nvCxnSpPr>
          <p:spPr>
            <a:xfrm flipV="1">
              <a:off x="5014715" y="2198355"/>
              <a:ext cx="0" cy="1947112"/>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1266B3B-9FF1-B75F-8D96-9861523C0ABB}"/>
                </a:ext>
              </a:extLst>
            </p:cNvPr>
            <p:cNvCxnSpPr>
              <a:cxnSpLocks/>
            </p:cNvCxnSpPr>
            <p:nvPr/>
          </p:nvCxnSpPr>
          <p:spPr>
            <a:xfrm flipV="1">
              <a:off x="5532810" y="1836263"/>
              <a:ext cx="0" cy="196897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A7898D09-1323-2859-FC6C-70FA02423463}"/>
                </a:ext>
              </a:extLst>
            </p:cNvPr>
            <p:cNvCxnSpPr>
              <a:cxnSpLocks/>
            </p:cNvCxnSpPr>
            <p:nvPr/>
          </p:nvCxnSpPr>
          <p:spPr>
            <a:xfrm flipV="1">
              <a:off x="6096000" y="1484784"/>
              <a:ext cx="0" cy="206562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893C202B-CE85-9820-A145-7E43E7DF58AD}"/>
                </a:ext>
              </a:extLst>
            </p:cNvPr>
            <p:cNvCxnSpPr>
              <a:cxnSpLocks/>
            </p:cNvCxnSpPr>
            <p:nvPr/>
          </p:nvCxnSpPr>
          <p:spPr>
            <a:xfrm flipV="1">
              <a:off x="4448453" y="2488616"/>
              <a:ext cx="2079595" cy="13665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D9FEB481-F653-BC8F-6CD6-EB359CDD3188}"/>
                </a:ext>
              </a:extLst>
            </p:cNvPr>
            <p:cNvCxnSpPr>
              <a:cxnSpLocks/>
            </p:cNvCxnSpPr>
            <p:nvPr/>
          </p:nvCxnSpPr>
          <p:spPr>
            <a:xfrm flipV="1">
              <a:off x="4448453" y="2127727"/>
              <a:ext cx="1636063" cy="1075127"/>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791C59A5-108C-0170-192D-24DF9D82CAE2}"/>
                </a:ext>
              </a:extLst>
            </p:cNvPr>
            <p:cNvCxnSpPr>
              <a:cxnSpLocks/>
            </p:cNvCxnSpPr>
            <p:nvPr/>
          </p:nvCxnSpPr>
          <p:spPr>
            <a:xfrm flipV="1">
              <a:off x="4443160" y="1491588"/>
              <a:ext cx="1616682" cy="1062391"/>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A1F59526-7D57-7604-B49C-F1D4F3428160}"/>
                </a:ext>
              </a:extLst>
            </p:cNvPr>
            <p:cNvCxnSpPr>
              <a:cxnSpLocks/>
            </p:cNvCxnSpPr>
            <p:nvPr/>
          </p:nvCxnSpPr>
          <p:spPr>
            <a:xfrm>
              <a:off x="6096000" y="2780928"/>
              <a:ext cx="2315741"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41559875-36AF-C5A5-C185-EF5B16D93B41}"/>
                </a:ext>
              </a:extLst>
            </p:cNvPr>
            <p:cNvCxnSpPr>
              <a:cxnSpLocks/>
            </p:cNvCxnSpPr>
            <p:nvPr/>
          </p:nvCxnSpPr>
          <p:spPr>
            <a:xfrm>
              <a:off x="6096000" y="2132856"/>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739B2DDF-A093-FE7B-C217-8E6BC7473156}"/>
                </a:ext>
              </a:extLst>
            </p:cNvPr>
            <p:cNvCxnSpPr>
              <a:cxnSpLocks/>
            </p:cNvCxnSpPr>
            <p:nvPr/>
          </p:nvCxnSpPr>
          <p:spPr>
            <a:xfrm>
              <a:off x="6096000" y="1484784"/>
              <a:ext cx="2322259"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矢印コネクタ 33">
              <a:extLst>
                <a:ext uri="{FF2B5EF4-FFF2-40B4-BE49-F238E27FC236}">
                  <a16:creationId xmlns:a16="http://schemas.microsoft.com/office/drawing/2014/main" id="{C3306988-7ACD-9369-7F85-E319036558C7}"/>
                </a:ext>
              </a:extLst>
            </p:cNvPr>
            <p:cNvCxnSpPr>
              <a:cxnSpLocks/>
            </p:cNvCxnSpPr>
            <p:nvPr/>
          </p:nvCxnSpPr>
          <p:spPr>
            <a:xfrm flipV="1">
              <a:off x="688808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DD3908CE-40A3-E168-2C3B-FCDB0DF205D9}"/>
                </a:ext>
              </a:extLst>
            </p:cNvPr>
            <p:cNvCxnSpPr>
              <a:cxnSpLocks/>
            </p:cNvCxnSpPr>
            <p:nvPr/>
          </p:nvCxnSpPr>
          <p:spPr>
            <a:xfrm flipV="1">
              <a:off x="7608168" y="1484784"/>
              <a:ext cx="0" cy="216024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2C5C7A46-FD00-4A37-4A84-CA01A8750440}"/>
                </a:ext>
              </a:extLst>
            </p:cNvPr>
            <p:cNvCxnSpPr>
              <a:cxnSpLocks/>
            </p:cNvCxnSpPr>
            <p:nvPr/>
          </p:nvCxnSpPr>
          <p:spPr>
            <a:xfrm flipV="1">
              <a:off x="8400256" y="1484784"/>
              <a:ext cx="0" cy="197456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759D5193-EBA8-F4D1-A8CE-E655CCED5320}"/>
                </a:ext>
              </a:extLst>
            </p:cNvPr>
            <p:cNvCxnSpPr>
              <a:cxnSpLocks/>
            </p:cNvCxnSpPr>
            <p:nvPr/>
          </p:nvCxnSpPr>
          <p:spPr>
            <a:xfrm flipV="1">
              <a:off x="6348027" y="1483939"/>
              <a:ext cx="2063714" cy="1356155"/>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9F4D921-FF55-B036-3759-D0BACEF286F9}"/>
                </a:ext>
              </a:extLst>
            </p:cNvPr>
            <p:cNvCxnSpPr>
              <a:cxnSpLocks/>
            </p:cNvCxnSpPr>
            <p:nvPr/>
          </p:nvCxnSpPr>
          <p:spPr>
            <a:xfrm>
              <a:off x="5519936" y="3140968"/>
              <a:ext cx="2448272"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フリーフォーム: 図形 86">
              <a:extLst>
                <a:ext uri="{FF2B5EF4-FFF2-40B4-BE49-F238E27FC236}">
                  <a16:creationId xmlns:a16="http://schemas.microsoft.com/office/drawing/2014/main" id="{56F91418-8C4F-6C08-3C21-6DF9F7798535}"/>
                </a:ext>
              </a:extLst>
            </p:cNvPr>
            <p:cNvSpPr/>
            <p:nvPr/>
          </p:nvSpPr>
          <p:spPr>
            <a:xfrm>
              <a:off x="6296025" y="2774156"/>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2">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0" name="グループ化 59">
              <a:extLst>
                <a:ext uri="{FF2B5EF4-FFF2-40B4-BE49-F238E27FC236}">
                  <a16:creationId xmlns:a16="http://schemas.microsoft.com/office/drawing/2014/main" id="{4BF9F811-20A1-8DB7-2DA1-EBFC95A9388B}"/>
                </a:ext>
              </a:extLst>
            </p:cNvPr>
            <p:cNvGrpSpPr/>
            <p:nvPr/>
          </p:nvGrpSpPr>
          <p:grpSpPr>
            <a:xfrm>
              <a:off x="6294021" y="2767211"/>
              <a:ext cx="2124238" cy="1032913"/>
              <a:chOff x="6294021" y="2767211"/>
              <a:chExt cx="2124238" cy="1032913"/>
            </a:xfrm>
          </p:grpSpPr>
          <p:cxnSp>
            <p:nvCxnSpPr>
              <p:cNvPr id="43" name="直線矢印コネクタ 42">
                <a:extLst>
                  <a:ext uri="{FF2B5EF4-FFF2-40B4-BE49-F238E27FC236}">
                    <a16:creationId xmlns:a16="http://schemas.microsoft.com/office/drawing/2014/main" id="{D2D9959A-A263-EDE1-0231-B07E28E3A8F9}"/>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5" name="直線矢印コネクタ 44">
                <a:extLst>
                  <a:ext uri="{FF2B5EF4-FFF2-40B4-BE49-F238E27FC236}">
                    <a16:creationId xmlns:a16="http://schemas.microsoft.com/office/drawing/2014/main" id="{6AD5F117-B27D-22D9-F8E1-D2149A2234B4}"/>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6" name="直線矢印コネクタ 45">
                <a:extLst>
                  <a:ext uri="{FF2B5EF4-FFF2-40B4-BE49-F238E27FC236}">
                    <a16:creationId xmlns:a16="http://schemas.microsoft.com/office/drawing/2014/main" id="{18FC1AC7-FF46-8E2D-373B-EAB168A8BCCE}"/>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7" name="直線矢印コネクタ 46">
                <a:extLst>
                  <a:ext uri="{FF2B5EF4-FFF2-40B4-BE49-F238E27FC236}">
                    <a16:creationId xmlns:a16="http://schemas.microsoft.com/office/drawing/2014/main" id="{9E58D8E3-301C-87A5-779D-584E4C72B510}"/>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8" name="直線矢印コネクタ 47">
                <a:extLst>
                  <a:ext uri="{FF2B5EF4-FFF2-40B4-BE49-F238E27FC236}">
                    <a16:creationId xmlns:a16="http://schemas.microsoft.com/office/drawing/2014/main" id="{89DCDDA7-1CD9-D7E6-5CCA-F444CDDA3207}"/>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1" name="直線矢印コネクタ 50">
                <a:extLst>
                  <a:ext uri="{FF2B5EF4-FFF2-40B4-BE49-F238E27FC236}">
                    <a16:creationId xmlns:a16="http://schemas.microsoft.com/office/drawing/2014/main" id="{4D3F7DCE-07AD-00ED-673C-AC4EF207FFC9}"/>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2" name="直線矢印コネクタ 51">
                <a:extLst>
                  <a:ext uri="{FF2B5EF4-FFF2-40B4-BE49-F238E27FC236}">
                    <a16:creationId xmlns:a16="http://schemas.microsoft.com/office/drawing/2014/main" id="{92E6B35B-54F7-7F9F-00F8-2D2CCDC86FC8}"/>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3" name="直線矢印コネクタ 52">
                <a:extLst>
                  <a:ext uri="{FF2B5EF4-FFF2-40B4-BE49-F238E27FC236}">
                    <a16:creationId xmlns:a16="http://schemas.microsoft.com/office/drawing/2014/main" id="{DB969936-3B90-1CE6-1AAD-D222C182F389}"/>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4" name="直線矢印コネクタ 53">
                <a:extLst>
                  <a:ext uri="{FF2B5EF4-FFF2-40B4-BE49-F238E27FC236}">
                    <a16:creationId xmlns:a16="http://schemas.microsoft.com/office/drawing/2014/main" id="{DB0D7B0F-15D7-D588-97D9-8237ED945ECA}"/>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7" name="直線矢印コネクタ 56">
                <a:extLst>
                  <a:ext uri="{FF2B5EF4-FFF2-40B4-BE49-F238E27FC236}">
                    <a16:creationId xmlns:a16="http://schemas.microsoft.com/office/drawing/2014/main" id="{0615B065-064A-E137-4A0B-B4A88E2C56FA}"/>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8" name="直線矢印コネクタ 57">
                <a:extLst>
                  <a:ext uri="{FF2B5EF4-FFF2-40B4-BE49-F238E27FC236}">
                    <a16:creationId xmlns:a16="http://schemas.microsoft.com/office/drawing/2014/main" id="{58DEF844-AA39-6D0F-0E59-12E7A3F6360F}"/>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9" name="直線矢印コネクタ 58">
                <a:extLst>
                  <a:ext uri="{FF2B5EF4-FFF2-40B4-BE49-F238E27FC236}">
                    <a16:creationId xmlns:a16="http://schemas.microsoft.com/office/drawing/2014/main" id="{4F82A8F3-062D-0D94-85A8-934DA99B2BDB}"/>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88" name="フリーフォーム: 図形 87">
              <a:extLst>
                <a:ext uri="{FF2B5EF4-FFF2-40B4-BE49-F238E27FC236}">
                  <a16:creationId xmlns:a16="http://schemas.microsoft.com/office/drawing/2014/main" id="{932DEDF4-5EA7-CBA0-DA6F-AB06CB306F68}"/>
                </a:ext>
              </a:extLst>
            </p:cNvPr>
            <p:cNvSpPr/>
            <p:nvPr/>
          </p:nvSpPr>
          <p:spPr>
            <a:xfrm>
              <a:off x="5273489" y="2540674"/>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3">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1BDE9EB1-B9AA-C6F9-A0FA-7480F15E02F6}"/>
                </a:ext>
              </a:extLst>
            </p:cNvPr>
            <p:cNvGrpSpPr/>
            <p:nvPr/>
          </p:nvGrpSpPr>
          <p:grpSpPr>
            <a:xfrm>
              <a:off x="5273543" y="2539661"/>
              <a:ext cx="2124238" cy="1032913"/>
              <a:chOff x="6294021" y="2767211"/>
              <a:chExt cx="2124238" cy="1032913"/>
            </a:xfrm>
          </p:grpSpPr>
          <p:cxnSp>
            <p:nvCxnSpPr>
              <p:cNvPr id="62" name="直線矢印コネクタ 61">
                <a:extLst>
                  <a:ext uri="{FF2B5EF4-FFF2-40B4-BE49-F238E27FC236}">
                    <a16:creationId xmlns:a16="http://schemas.microsoft.com/office/drawing/2014/main" id="{C698EC45-6567-718E-BF33-3BAEACAADE9C}"/>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3" name="直線矢印コネクタ 62">
                <a:extLst>
                  <a:ext uri="{FF2B5EF4-FFF2-40B4-BE49-F238E27FC236}">
                    <a16:creationId xmlns:a16="http://schemas.microsoft.com/office/drawing/2014/main" id="{8E819DF3-607A-E60F-C1AC-417B25C4D53C}"/>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4" name="直線矢印コネクタ 63">
                <a:extLst>
                  <a:ext uri="{FF2B5EF4-FFF2-40B4-BE49-F238E27FC236}">
                    <a16:creationId xmlns:a16="http://schemas.microsoft.com/office/drawing/2014/main" id="{5F4F4C09-9F2E-C41E-7F73-7169031257F8}"/>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5" name="直線矢印コネクタ 64">
                <a:extLst>
                  <a:ext uri="{FF2B5EF4-FFF2-40B4-BE49-F238E27FC236}">
                    <a16:creationId xmlns:a16="http://schemas.microsoft.com/office/drawing/2014/main" id="{29E71599-86F1-8B1F-2020-1C212963FD1F}"/>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6" name="直線矢印コネクタ 65">
                <a:extLst>
                  <a:ext uri="{FF2B5EF4-FFF2-40B4-BE49-F238E27FC236}">
                    <a16:creationId xmlns:a16="http://schemas.microsoft.com/office/drawing/2014/main" id="{F67FDF50-D1D3-761A-A038-43514B70F289}"/>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7" name="直線矢印コネクタ 66">
                <a:extLst>
                  <a:ext uri="{FF2B5EF4-FFF2-40B4-BE49-F238E27FC236}">
                    <a16:creationId xmlns:a16="http://schemas.microsoft.com/office/drawing/2014/main" id="{90E6BD66-F009-A4DB-8740-7D56B03DC26C}"/>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8" name="直線矢印コネクタ 67">
                <a:extLst>
                  <a:ext uri="{FF2B5EF4-FFF2-40B4-BE49-F238E27FC236}">
                    <a16:creationId xmlns:a16="http://schemas.microsoft.com/office/drawing/2014/main" id="{E8A760A7-D4AD-43E7-DC2C-9B781742F850}"/>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69" name="直線矢印コネクタ 68">
                <a:extLst>
                  <a:ext uri="{FF2B5EF4-FFF2-40B4-BE49-F238E27FC236}">
                    <a16:creationId xmlns:a16="http://schemas.microsoft.com/office/drawing/2014/main" id="{8E7239E4-E852-43F8-647C-6279E7DF330F}"/>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0" name="直線矢印コネクタ 69">
                <a:extLst>
                  <a:ext uri="{FF2B5EF4-FFF2-40B4-BE49-F238E27FC236}">
                    <a16:creationId xmlns:a16="http://schemas.microsoft.com/office/drawing/2014/main" id="{E612DA65-E907-FCD6-9A84-02D20C447AA7}"/>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1" name="直線矢印コネクタ 70">
                <a:extLst>
                  <a:ext uri="{FF2B5EF4-FFF2-40B4-BE49-F238E27FC236}">
                    <a16:creationId xmlns:a16="http://schemas.microsoft.com/office/drawing/2014/main" id="{417EAE61-54BB-730C-DBC2-35ABC71EC9D8}"/>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2" name="直線矢印コネクタ 71">
                <a:extLst>
                  <a:ext uri="{FF2B5EF4-FFF2-40B4-BE49-F238E27FC236}">
                    <a16:creationId xmlns:a16="http://schemas.microsoft.com/office/drawing/2014/main" id="{A0DCF482-A2D2-AFAD-5473-C888FF0B5A2F}"/>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73" name="直線矢印コネクタ 72">
                <a:extLst>
                  <a:ext uri="{FF2B5EF4-FFF2-40B4-BE49-F238E27FC236}">
                    <a16:creationId xmlns:a16="http://schemas.microsoft.com/office/drawing/2014/main" id="{5CA47CFD-E3E1-90CD-AE91-2CF9E5AA8EED}"/>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89" name="フリーフォーム: 図形 88">
              <a:extLst>
                <a:ext uri="{FF2B5EF4-FFF2-40B4-BE49-F238E27FC236}">
                  <a16:creationId xmlns:a16="http://schemas.microsoft.com/office/drawing/2014/main" id="{DB6255A8-5EB1-C07F-0CA0-5FC36B4D3ACD}"/>
                </a:ext>
              </a:extLst>
            </p:cNvPr>
            <p:cNvSpPr/>
            <p:nvPr/>
          </p:nvSpPr>
          <p:spPr>
            <a:xfrm>
              <a:off x="4417021" y="2198355"/>
              <a:ext cx="2105025" cy="1031082"/>
            </a:xfrm>
            <a:custGeom>
              <a:avLst/>
              <a:gdLst>
                <a:gd name="connsiteX0" fmla="*/ 597694 w 2105025"/>
                <a:gd name="connsiteY0" fmla="*/ 0 h 1031082"/>
                <a:gd name="connsiteX1" fmla="*/ 0 w 2105025"/>
                <a:gd name="connsiteY1" fmla="*/ 373857 h 1031082"/>
                <a:gd name="connsiteX2" fmla="*/ 0 w 2105025"/>
                <a:gd name="connsiteY2" fmla="*/ 1031082 h 1031082"/>
                <a:gd name="connsiteX3" fmla="*/ 1528763 w 2105025"/>
                <a:gd name="connsiteY3" fmla="*/ 1019175 h 1031082"/>
                <a:gd name="connsiteX4" fmla="*/ 2097881 w 2105025"/>
                <a:gd name="connsiteY4" fmla="*/ 640557 h 1031082"/>
                <a:gd name="connsiteX5" fmla="*/ 2105025 w 2105025"/>
                <a:gd name="connsiteY5" fmla="*/ 9525 h 1031082"/>
                <a:gd name="connsiteX6" fmla="*/ 597694 w 2105025"/>
                <a:gd name="connsiteY6" fmla="*/ 0 h 1031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05025" h="1031082">
                  <a:moveTo>
                    <a:pt x="597694" y="0"/>
                  </a:moveTo>
                  <a:lnTo>
                    <a:pt x="0" y="373857"/>
                  </a:lnTo>
                  <a:lnTo>
                    <a:pt x="0" y="1031082"/>
                  </a:lnTo>
                  <a:lnTo>
                    <a:pt x="1528763" y="1019175"/>
                  </a:lnTo>
                  <a:lnTo>
                    <a:pt x="2097881" y="640557"/>
                  </a:lnTo>
                  <a:cubicBezTo>
                    <a:pt x="2100262" y="430213"/>
                    <a:pt x="2102644" y="219869"/>
                    <a:pt x="2105025" y="9525"/>
                  </a:cubicBezTo>
                  <a:lnTo>
                    <a:pt x="597694" y="0"/>
                  </a:lnTo>
                  <a:close/>
                </a:path>
              </a:pathLst>
            </a:cu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grpSp>
          <p:nvGrpSpPr>
            <p:cNvPr id="74" name="グループ化 73">
              <a:extLst>
                <a:ext uri="{FF2B5EF4-FFF2-40B4-BE49-F238E27FC236}">
                  <a16:creationId xmlns:a16="http://schemas.microsoft.com/office/drawing/2014/main" id="{9E153D69-DACD-4111-799B-0B50EB2AF0AF}"/>
                </a:ext>
              </a:extLst>
            </p:cNvPr>
            <p:cNvGrpSpPr/>
            <p:nvPr/>
          </p:nvGrpSpPr>
          <p:grpSpPr>
            <a:xfrm>
              <a:off x="4425156" y="2182728"/>
              <a:ext cx="2124238" cy="1032913"/>
              <a:chOff x="6294021" y="2767211"/>
              <a:chExt cx="2124238" cy="1032913"/>
            </a:xfrm>
          </p:grpSpPr>
          <p:cxnSp>
            <p:nvCxnSpPr>
              <p:cNvPr id="75" name="直線矢印コネクタ 74">
                <a:extLst>
                  <a:ext uri="{FF2B5EF4-FFF2-40B4-BE49-F238E27FC236}">
                    <a16:creationId xmlns:a16="http://schemas.microsoft.com/office/drawing/2014/main" id="{9A760648-3E55-1E76-671B-AA7F2C7BC5BF}"/>
                  </a:ext>
                </a:extLst>
              </p:cNvPr>
              <p:cNvCxnSpPr>
                <a:cxnSpLocks/>
              </p:cNvCxnSpPr>
              <p:nvPr/>
            </p:nvCxnSpPr>
            <p:spPr>
              <a:xfrm flipV="1">
                <a:off x="7824192"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直線矢印コネクタ 75">
                <a:extLst>
                  <a:ext uri="{FF2B5EF4-FFF2-40B4-BE49-F238E27FC236}">
                    <a16:creationId xmlns:a16="http://schemas.microsoft.com/office/drawing/2014/main" id="{D58A2F38-3FAD-7B33-3D67-86A6D1DC12FB}"/>
                  </a:ext>
                </a:extLst>
              </p:cNvPr>
              <p:cNvCxnSpPr>
                <a:cxnSpLocks/>
              </p:cNvCxnSpPr>
              <p:nvPr/>
            </p:nvCxnSpPr>
            <p:spPr>
              <a:xfrm flipV="1">
                <a:off x="6294021" y="2768086"/>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CE83EDD7-8AB9-02B2-3933-B6AEF07EE4EC}"/>
                  </a:ext>
                </a:extLst>
              </p:cNvPr>
              <p:cNvCxnSpPr>
                <a:cxnSpLocks/>
              </p:cNvCxnSpPr>
              <p:nvPr/>
            </p:nvCxnSpPr>
            <p:spPr>
              <a:xfrm flipV="1">
                <a:off x="7824192"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B93A94A5-3BAC-1A37-74D8-376289ED0FA4}"/>
                  </a:ext>
                </a:extLst>
              </p:cNvPr>
              <p:cNvCxnSpPr>
                <a:cxnSpLocks/>
              </p:cNvCxnSpPr>
              <p:nvPr/>
            </p:nvCxnSpPr>
            <p:spPr>
              <a:xfrm flipV="1">
                <a:off x="6294021" y="3407214"/>
                <a:ext cx="594067" cy="3903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A60B2251-18D9-67C1-F320-1EC1B98A60D1}"/>
                  </a:ext>
                </a:extLst>
              </p:cNvPr>
              <p:cNvCxnSpPr>
                <a:cxnSpLocks/>
              </p:cNvCxnSpPr>
              <p:nvPr/>
            </p:nvCxnSpPr>
            <p:spPr>
              <a:xfrm>
                <a:off x="6294021" y="3158473"/>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2949FBBF-1D60-03FB-75F9-43A24D4171D5}"/>
                  </a:ext>
                </a:extLst>
              </p:cNvPr>
              <p:cNvCxnSpPr>
                <a:cxnSpLocks/>
              </p:cNvCxnSpPr>
              <p:nvPr/>
            </p:nvCxnSpPr>
            <p:spPr>
              <a:xfrm>
                <a:off x="6294021" y="3800124"/>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D902092C-1242-80B1-9348-E1CF0461216C}"/>
                  </a:ext>
                </a:extLst>
              </p:cNvPr>
              <p:cNvCxnSpPr>
                <a:cxnSpLocks/>
              </p:cNvCxnSpPr>
              <p:nvPr/>
            </p:nvCxnSpPr>
            <p:spPr>
              <a:xfrm>
                <a:off x="6888088" y="2780928"/>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8B2BA134-DEF0-36A1-CCB5-DD636AE0358B}"/>
                  </a:ext>
                </a:extLst>
              </p:cNvPr>
              <p:cNvCxnSpPr>
                <a:cxnSpLocks/>
              </p:cNvCxnSpPr>
              <p:nvPr/>
            </p:nvCxnSpPr>
            <p:spPr>
              <a:xfrm>
                <a:off x="6888088" y="3422579"/>
                <a:ext cx="1530171"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3EB4EFA8-83C4-52E7-7B6D-F48EBAA7BDA2}"/>
                  </a:ext>
                </a:extLst>
              </p:cNvPr>
              <p:cNvCxnSpPr>
                <a:cxnSpLocks/>
              </p:cNvCxnSpPr>
              <p:nvPr/>
            </p:nvCxnSpPr>
            <p:spPr>
              <a:xfrm flipV="1">
                <a:off x="6882086" y="278092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4D28659D-A669-A1D7-E8ED-00A253BDCCCC}"/>
                  </a:ext>
                </a:extLst>
              </p:cNvPr>
              <p:cNvCxnSpPr>
                <a:cxnSpLocks/>
              </p:cNvCxnSpPr>
              <p:nvPr/>
            </p:nvCxnSpPr>
            <p:spPr>
              <a:xfrm flipV="1">
                <a:off x="6295882" y="314287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973893D3-48E4-393A-403C-1065DCE4F7A8}"/>
                  </a:ext>
                </a:extLst>
              </p:cNvPr>
              <p:cNvCxnSpPr>
                <a:cxnSpLocks/>
              </p:cNvCxnSpPr>
              <p:nvPr/>
            </p:nvCxnSpPr>
            <p:spPr>
              <a:xfrm flipV="1">
                <a:off x="7824192" y="3140968"/>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D83550D-92A0-7B02-E659-BC95AADBE5E6}"/>
                  </a:ext>
                </a:extLst>
              </p:cNvPr>
              <p:cNvCxnSpPr>
                <a:cxnSpLocks/>
              </p:cNvCxnSpPr>
              <p:nvPr/>
            </p:nvCxnSpPr>
            <p:spPr>
              <a:xfrm flipV="1">
                <a:off x="8400256" y="2767211"/>
                <a:ext cx="0" cy="636989"/>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0" name="直線矢印コネクタ 39">
              <a:extLst>
                <a:ext uri="{FF2B5EF4-FFF2-40B4-BE49-F238E27FC236}">
                  <a16:creationId xmlns:a16="http://schemas.microsoft.com/office/drawing/2014/main" id="{943662AC-510F-AC00-FDFC-8FB15F7B1F19}"/>
                </a:ext>
              </a:extLst>
            </p:cNvPr>
            <p:cNvCxnSpPr>
              <a:cxnSpLocks/>
            </p:cNvCxnSpPr>
            <p:nvPr/>
          </p:nvCxnSpPr>
          <p:spPr>
            <a:xfrm flipV="1">
              <a:off x="6744072" y="2573990"/>
              <a:ext cx="0" cy="193513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87E5CD6F-6E03-C131-3CAC-7F2A27024F0F}"/>
                </a:ext>
              </a:extLst>
            </p:cNvPr>
            <p:cNvCxnSpPr>
              <a:cxnSpLocks/>
            </p:cNvCxnSpPr>
            <p:nvPr/>
          </p:nvCxnSpPr>
          <p:spPr>
            <a:xfrm>
              <a:off x="4439816" y="2564904"/>
              <a:ext cx="23042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0B815CDB-2588-839F-E037-0BCC36F8BA4E}"/>
                </a:ext>
              </a:extLst>
            </p:cNvPr>
            <p:cNvCxnSpPr>
              <a:cxnSpLocks/>
            </p:cNvCxnSpPr>
            <p:nvPr/>
          </p:nvCxnSpPr>
          <p:spPr>
            <a:xfrm flipV="1">
              <a:off x="6803714"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302B0B74-7089-CE1C-764C-EBD6D3295811}"/>
                </a:ext>
              </a:extLst>
            </p:cNvPr>
            <p:cNvCxnSpPr>
              <a:cxnSpLocks/>
            </p:cNvCxnSpPr>
            <p:nvPr/>
          </p:nvCxnSpPr>
          <p:spPr>
            <a:xfrm flipV="1">
              <a:off x="5273489" y="3528739"/>
              <a:ext cx="0" cy="620341"/>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線矢印コネクタ 121">
              <a:extLst>
                <a:ext uri="{FF2B5EF4-FFF2-40B4-BE49-F238E27FC236}">
                  <a16:creationId xmlns:a16="http://schemas.microsoft.com/office/drawing/2014/main" id="{47C119C1-3791-549F-7A9E-F2FE924E7E76}"/>
                </a:ext>
              </a:extLst>
            </p:cNvPr>
            <p:cNvCxnSpPr>
              <a:cxnSpLocks/>
            </p:cNvCxnSpPr>
            <p:nvPr/>
          </p:nvCxnSpPr>
          <p:spPr>
            <a:xfrm flipV="1">
              <a:off x="5879976" y="3570051"/>
              <a:ext cx="0" cy="218989"/>
            </a:xfrm>
            <a:prstGeom prst="straightConnector1">
              <a:avLst/>
            </a:prstGeom>
            <a:ln>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8" name="テキスト ボックス 127">
              <a:extLst>
                <a:ext uri="{FF2B5EF4-FFF2-40B4-BE49-F238E27FC236}">
                  <a16:creationId xmlns:a16="http://schemas.microsoft.com/office/drawing/2014/main" id="{D6330B72-394E-B36B-DC14-D9F89EB6AC62}"/>
                </a:ext>
              </a:extLst>
            </p:cNvPr>
            <p:cNvSpPr txBox="1"/>
            <p:nvPr/>
          </p:nvSpPr>
          <p:spPr>
            <a:xfrm>
              <a:off x="3805824" y="2017866"/>
              <a:ext cx="646331" cy="461665"/>
            </a:xfrm>
            <a:prstGeom prst="rect">
              <a:avLst/>
            </a:prstGeom>
            <a:noFill/>
          </p:spPr>
          <p:txBody>
            <a:bodyPr wrap="none" rtlCol="0">
              <a:spAutoFit/>
            </a:bodyPr>
            <a:lstStyle/>
            <a:p>
              <a:pPr algn="ctr"/>
              <a:r>
                <a:rPr lang="ja-JP" altLang="en-US" sz="1200" dirty="0"/>
                <a:t>出力</a:t>
              </a:r>
              <a:endParaRPr lang="en-US" altLang="ja-JP" sz="1200" dirty="0"/>
            </a:p>
            <a:p>
              <a:pPr algn="ctr"/>
              <a:r>
                <a:rPr lang="ja-JP" altLang="en-US" sz="1200" dirty="0"/>
                <a:t>詳細度</a:t>
              </a:r>
              <a:endParaRPr kumimoji="1" lang="ja-JP" altLang="en-US" sz="1200" dirty="0"/>
            </a:p>
          </p:txBody>
        </p:sp>
        <p:sp>
          <p:nvSpPr>
            <p:cNvPr id="129" name="テキスト ボックス 128">
              <a:extLst>
                <a:ext uri="{FF2B5EF4-FFF2-40B4-BE49-F238E27FC236}">
                  <a16:creationId xmlns:a16="http://schemas.microsoft.com/office/drawing/2014/main" id="{7DFDACE4-142E-74AC-272D-817D49A6F4BD}"/>
                </a:ext>
              </a:extLst>
            </p:cNvPr>
            <p:cNvSpPr txBox="1"/>
            <p:nvPr/>
          </p:nvSpPr>
          <p:spPr>
            <a:xfrm>
              <a:off x="6380838" y="4505836"/>
              <a:ext cx="800219" cy="276999"/>
            </a:xfrm>
            <a:prstGeom prst="rect">
              <a:avLst/>
            </a:prstGeom>
            <a:noFill/>
          </p:spPr>
          <p:txBody>
            <a:bodyPr wrap="none" rtlCol="0">
              <a:spAutoFit/>
            </a:bodyPr>
            <a:lstStyle/>
            <a:p>
              <a:pPr algn="ctr"/>
              <a:r>
                <a:rPr kumimoji="1" lang="ja-JP" altLang="en-US" sz="1200" dirty="0"/>
                <a:t>計測領域</a:t>
              </a:r>
            </a:p>
          </p:txBody>
        </p:sp>
        <p:sp>
          <p:nvSpPr>
            <p:cNvPr id="130" name="テキスト ボックス 129">
              <a:extLst>
                <a:ext uri="{FF2B5EF4-FFF2-40B4-BE49-F238E27FC236}">
                  <a16:creationId xmlns:a16="http://schemas.microsoft.com/office/drawing/2014/main" id="{6CCD81C0-A1CF-52E4-314C-1179D348E59F}"/>
                </a:ext>
              </a:extLst>
            </p:cNvPr>
            <p:cNvSpPr txBox="1"/>
            <p:nvPr/>
          </p:nvSpPr>
          <p:spPr>
            <a:xfrm>
              <a:off x="7552872" y="2293664"/>
              <a:ext cx="800219" cy="276999"/>
            </a:xfrm>
            <a:prstGeom prst="rect">
              <a:avLst/>
            </a:prstGeom>
            <a:noFill/>
          </p:spPr>
          <p:txBody>
            <a:bodyPr wrap="none" rtlCol="0">
              <a:spAutoFit/>
            </a:bodyPr>
            <a:lstStyle/>
            <a:p>
              <a:pPr algn="ctr"/>
              <a:r>
                <a:rPr kumimoji="1" lang="ja-JP" altLang="en-US" sz="1200" dirty="0"/>
                <a:t>計測時間</a:t>
              </a:r>
            </a:p>
          </p:txBody>
        </p:sp>
      </p:grpSp>
    </p:spTree>
    <p:extLst>
      <p:ext uri="{BB962C8B-B14F-4D97-AF65-F5344CB8AC3E}">
        <p14:creationId xmlns:p14="http://schemas.microsoft.com/office/powerpoint/2010/main" val="2425320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F4C312-480A-FB1F-F196-A37861CFCC01}"/>
              </a:ext>
            </a:extLst>
          </p:cNvPr>
          <p:cNvSpPr>
            <a:spLocks noGrp="1"/>
          </p:cNvSpPr>
          <p:nvPr>
            <p:ph type="ctrTitle"/>
          </p:nvPr>
        </p:nvSpPr>
        <p:spPr>
          <a:effectLst/>
        </p:spPr>
        <p:txBody>
          <a:bodyPr>
            <a:normAutofit/>
          </a:bodyPr>
          <a:lstStyle/>
          <a:p>
            <a:r>
              <a:rPr lang="ja-JP" altLang="en-US" sz="3200" dirty="0"/>
              <a:t>社会人博士課程 研究計画の報告・早期支援のお願い</a:t>
            </a:r>
          </a:p>
        </p:txBody>
      </p:sp>
      <p:sp>
        <p:nvSpPr>
          <p:cNvPr id="3" name="字幕 2">
            <a:extLst>
              <a:ext uri="{FF2B5EF4-FFF2-40B4-BE49-F238E27FC236}">
                <a16:creationId xmlns:a16="http://schemas.microsoft.com/office/drawing/2014/main" id="{AD198645-64B7-9B4D-13D8-FC9C2A6E1987}"/>
              </a:ext>
            </a:extLst>
          </p:cNvPr>
          <p:cNvSpPr>
            <a:spLocks noGrp="1"/>
          </p:cNvSpPr>
          <p:nvPr>
            <p:ph type="subTitle" idx="1"/>
          </p:nvPr>
        </p:nvSpPr>
        <p:spPr>
          <a:xfrm>
            <a:off x="6096000" y="4149080"/>
            <a:ext cx="5184576" cy="1752600"/>
          </a:xfrm>
        </p:spPr>
        <p:txBody>
          <a:bodyPr>
            <a:normAutofit/>
          </a:bodyPr>
          <a:lstStyle/>
          <a:p>
            <a:pPr algn="r"/>
            <a:r>
              <a:rPr kumimoji="1" lang="en-US" altLang="ja-JP" sz="2000" dirty="0"/>
              <a:t>2025</a:t>
            </a:r>
            <a:r>
              <a:rPr kumimoji="1" lang="ja-JP" altLang="en-US" sz="2000" dirty="0"/>
              <a:t>年</a:t>
            </a:r>
            <a:r>
              <a:rPr kumimoji="1" lang="en-US" altLang="ja-JP" sz="2000" dirty="0"/>
              <a:t>0</a:t>
            </a:r>
            <a:r>
              <a:rPr lang="en-US" altLang="ja-JP" sz="2000" dirty="0"/>
              <a:t>5</a:t>
            </a:r>
            <a:r>
              <a:rPr kumimoji="1" lang="ja-JP" altLang="en-US" sz="2000" dirty="0"/>
              <a:t>月</a:t>
            </a:r>
            <a:r>
              <a:rPr kumimoji="1" lang="en-US" altLang="ja-JP" sz="2000" dirty="0"/>
              <a:t>0</a:t>
            </a:r>
            <a:r>
              <a:rPr lang="en-US" altLang="ja-JP" sz="2000" dirty="0"/>
              <a:t>9</a:t>
            </a:r>
            <a:r>
              <a:rPr kumimoji="1" lang="ja-JP" altLang="en-US" sz="2000" dirty="0"/>
              <a:t>日（金）</a:t>
            </a:r>
            <a:endParaRPr lang="en-US" altLang="ja-JP" sz="2000" dirty="0"/>
          </a:p>
          <a:p>
            <a:pPr algn="r"/>
            <a:r>
              <a:rPr lang="en-US" altLang="ja-JP" sz="2000" dirty="0"/>
              <a:t>(DIR)(</a:t>
            </a:r>
            <a:r>
              <a:rPr lang="ja-JP" altLang="en-US" sz="2000" dirty="0"/>
              <a:t>シス研</a:t>
            </a:r>
            <a:r>
              <a:rPr lang="en-US" altLang="ja-JP" sz="2000" dirty="0"/>
              <a:t>)(</a:t>
            </a:r>
            <a:r>
              <a:rPr lang="ja-JP" altLang="en-US" sz="2000" dirty="0"/>
              <a:t>シス</a:t>
            </a:r>
            <a:r>
              <a:rPr lang="en-US" altLang="ja-JP" sz="2000" dirty="0"/>
              <a:t>I1) </a:t>
            </a:r>
            <a:r>
              <a:rPr lang="ja-JP" altLang="en-US" sz="2000" dirty="0"/>
              <a:t>林出和之</a:t>
            </a:r>
            <a:endParaRPr kumimoji="1" lang="ja-JP" altLang="en-US" sz="2000" dirty="0"/>
          </a:p>
        </p:txBody>
      </p:sp>
    </p:spTree>
    <p:extLst>
      <p:ext uri="{BB962C8B-B14F-4D97-AF65-F5344CB8AC3E}">
        <p14:creationId xmlns:p14="http://schemas.microsoft.com/office/powerpoint/2010/main" val="32149812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3A104A-78F2-F4EB-25C0-EDF888C7BA38}"/>
              </a:ext>
            </a:extLst>
          </p:cNvPr>
          <p:cNvSpPr>
            <a:spLocks noGrp="1"/>
          </p:cNvSpPr>
          <p:nvPr>
            <p:ph type="title"/>
          </p:nvPr>
        </p:nvSpPr>
        <p:spPr/>
        <p:txBody>
          <a:bodyPr/>
          <a:lstStyle/>
          <a:p>
            <a:r>
              <a:rPr lang="ja-JP" altLang="en-US" dirty="0"/>
              <a:t>博士課程 進学希望の概要</a:t>
            </a:r>
            <a:endParaRPr kumimoji="1" lang="ja-JP" altLang="en-US" dirty="0"/>
          </a:p>
        </p:txBody>
      </p:sp>
      <p:sp>
        <p:nvSpPr>
          <p:cNvPr id="3" name="コンテンツ プレースホルダー 2">
            <a:extLst>
              <a:ext uri="{FF2B5EF4-FFF2-40B4-BE49-F238E27FC236}">
                <a16:creationId xmlns:a16="http://schemas.microsoft.com/office/drawing/2014/main" id="{B743C525-BE64-629C-C615-F1BC57D4219B}"/>
              </a:ext>
            </a:extLst>
          </p:cNvPr>
          <p:cNvSpPr>
            <a:spLocks noGrp="1"/>
          </p:cNvSpPr>
          <p:nvPr>
            <p:ph idx="1"/>
          </p:nvPr>
        </p:nvSpPr>
        <p:spPr>
          <a:xfrm>
            <a:off x="-9220" y="791726"/>
            <a:ext cx="6321244" cy="5661610"/>
          </a:xfrm>
        </p:spPr>
        <p:txBody>
          <a:bodyPr>
            <a:normAutofit lnSpcReduction="10000"/>
          </a:bodyPr>
          <a:lstStyle/>
          <a:p>
            <a:r>
              <a:rPr kumimoji="1" lang="ja-JP" altLang="en-US" dirty="0"/>
              <a:t>取得目的</a:t>
            </a:r>
            <a:endParaRPr kumimoji="1" lang="en-US" altLang="ja-JP" dirty="0"/>
          </a:p>
          <a:p>
            <a:pPr lvl="1"/>
            <a:r>
              <a:rPr lang="ja-JP" altLang="en-US" dirty="0"/>
              <a:t>自立的研究遂行能力の獲得</a:t>
            </a:r>
            <a:endParaRPr lang="en-US" altLang="ja-JP" dirty="0"/>
          </a:p>
          <a:p>
            <a:pPr lvl="1"/>
            <a:r>
              <a:rPr kumimoji="1" lang="ja-JP" altLang="en-US" dirty="0"/>
              <a:t>より多くの研究経験の獲得</a:t>
            </a:r>
            <a:endParaRPr kumimoji="1" lang="en-US" altLang="ja-JP" dirty="0"/>
          </a:p>
          <a:p>
            <a:pPr lvl="1"/>
            <a:r>
              <a:rPr lang="ja-JP" altLang="en-US" dirty="0"/>
              <a:t>学位保持による国際的優位性の獲得</a:t>
            </a:r>
            <a:endParaRPr kumimoji="1" lang="en-US" altLang="ja-JP" dirty="0"/>
          </a:p>
          <a:p>
            <a:pPr lvl="4"/>
            <a:endParaRPr kumimoji="1" lang="en-US" altLang="ja-JP" dirty="0"/>
          </a:p>
          <a:p>
            <a:r>
              <a:rPr kumimoji="1" lang="ja-JP" altLang="en-US" dirty="0"/>
              <a:t>進学先の希望</a:t>
            </a:r>
            <a:endParaRPr kumimoji="1" lang="en-US" altLang="ja-JP" dirty="0"/>
          </a:p>
          <a:p>
            <a:pPr lvl="1"/>
            <a:r>
              <a:rPr lang="ja-JP" altLang="en-US" dirty="0"/>
              <a:t>慶應義塾大学理工学部 髙橋正樹研究室</a:t>
            </a:r>
            <a:endParaRPr lang="en-US" altLang="ja-JP" dirty="0"/>
          </a:p>
          <a:p>
            <a:pPr lvl="2"/>
            <a:r>
              <a:rPr lang="ja-JP" altLang="en-US" dirty="0"/>
              <a:t>所在：神奈川県横浜市港北区 </a:t>
            </a:r>
            <a:r>
              <a:rPr lang="en-US" altLang="ja-JP" dirty="0"/>
              <a:t>(</a:t>
            </a:r>
            <a:r>
              <a:rPr lang="ja-JP" altLang="en-US" dirty="0"/>
              <a:t>戸塚から</a:t>
            </a:r>
            <a:r>
              <a:rPr lang="en-US" altLang="ja-JP" dirty="0"/>
              <a:t>40</a:t>
            </a:r>
            <a:r>
              <a:rPr lang="ja-JP" altLang="en-US" dirty="0"/>
              <a:t>分</a:t>
            </a:r>
            <a:r>
              <a:rPr lang="en-US" altLang="ja-JP" dirty="0"/>
              <a:t>)</a:t>
            </a:r>
          </a:p>
          <a:p>
            <a:pPr lvl="2"/>
            <a:r>
              <a:rPr lang="ja-JP" altLang="en-US" dirty="0"/>
              <a:t>専門：制御工学・システム工学</a:t>
            </a:r>
            <a:endParaRPr lang="en-US" altLang="ja-JP" dirty="0"/>
          </a:p>
          <a:p>
            <a:pPr lvl="2"/>
            <a:r>
              <a:rPr lang="ja-JP" altLang="en-US" dirty="0"/>
              <a:t>関係：学部</a:t>
            </a:r>
            <a:r>
              <a:rPr lang="en-US" altLang="ja-JP" dirty="0"/>
              <a:t>/</a:t>
            </a:r>
            <a:r>
              <a:rPr lang="ja-JP" altLang="en-US" dirty="0"/>
              <a:t>修士課程 出身研究室</a:t>
            </a:r>
            <a:endParaRPr lang="en-US" altLang="ja-JP" dirty="0"/>
          </a:p>
          <a:p>
            <a:pPr lvl="2"/>
            <a:r>
              <a:rPr lang="ja-JP" altLang="en-US" dirty="0"/>
              <a:t>動機：社会実装と学生主体を重視した体制</a:t>
            </a:r>
            <a:endParaRPr lang="en-US" altLang="ja-JP" dirty="0"/>
          </a:p>
          <a:p>
            <a:pPr lvl="4"/>
            <a:endParaRPr kumimoji="1" lang="en-US" altLang="ja-JP" dirty="0"/>
          </a:p>
          <a:p>
            <a:r>
              <a:rPr kumimoji="1" lang="ja-JP" altLang="en-US" dirty="0"/>
              <a:t>調整状況</a:t>
            </a:r>
            <a:endParaRPr kumimoji="1" lang="en-US" altLang="ja-JP" dirty="0"/>
          </a:p>
          <a:p>
            <a:pPr lvl="1"/>
            <a:r>
              <a:rPr lang="ja-JP" altLang="en-US" dirty="0"/>
              <a:t>入学～早期修了に関する議論完了</a:t>
            </a:r>
            <a:br>
              <a:rPr lang="en-US" altLang="ja-JP" dirty="0"/>
            </a:br>
            <a:r>
              <a:rPr lang="ja-JP" altLang="en-US" dirty="0"/>
              <a:t>➡ 次頁にて詳細を報告</a:t>
            </a:r>
            <a:endParaRPr lang="en-US" altLang="ja-JP" dirty="0"/>
          </a:p>
          <a:p>
            <a:pPr lvl="1"/>
            <a:r>
              <a:rPr kumimoji="1" lang="en-US" altLang="ja-JP" b="1" dirty="0"/>
              <a:t>26</a:t>
            </a:r>
            <a:r>
              <a:rPr kumimoji="1" lang="ja-JP" altLang="en-US" b="1" dirty="0"/>
              <a:t>年春入学・</a:t>
            </a:r>
            <a:r>
              <a:rPr kumimoji="1" lang="en-US" altLang="ja-JP" b="1" dirty="0"/>
              <a:t>28</a:t>
            </a:r>
            <a:r>
              <a:rPr kumimoji="1" lang="ja-JP" altLang="en-US" b="1" dirty="0"/>
              <a:t>年春卒業を目標の旨，合意</a:t>
            </a:r>
          </a:p>
        </p:txBody>
      </p:sp>
      <p:sp>
        <p:nvSpPr>
          <p:cNvPr id="4" name="日付プレースホルダー 3">
            <a:extLst>
              <a:ext uri="{FF2B5EF4-FFF2-40B4-BE49-F238E27FC236}">
                <a16:creationId xmlns:a16="http://schemas.microsoft.com/office/drawing/2014/main" id="{70E26443-BC98-6DF4-CCD0-AAEED8401A81}"/>
              </a:ext>
            </a:extLst>
          </p:cNvPr>
          <p:cNvSpPr>
            <a:spLocks noGrp="1"/>
          </p:cNvSpPr>
          <p:nvPr>
            <p:ph type="dt" sz="half" idx="10"/>
          </p:nvPr>
        </p:nvSpPr>
        <p:spPr/>
        <p:txBody>
          <a:bodyPr/>
          <a:lstStyle/>
          <a:p>
            <a:fld id="{D90A8B39-DF7F-4854-A180-BA8A461BF12D}" type="datetime1">
              <a:rPr kumimoji="1" lang="ja-JP" altLang="en-US" smtClean="0"/>
              <a:t>2026/10/10</a:t>
            </a:fld>
            <a:endParaRPr kumimoji="1" lang="ja-JP" altLang="en-US" dirty="0"/>
          </a:p>
        </p:txBody>
      </p:sp>
      <p:sp>
        <p:nvSpPr>
          <p:cNvPr id="5" name="スライド番号プレースホルダー 4">
            <a:extLst>
              <a:ext uri="{FF2B5EF4-FFF2-40B4-BE49-F238E27FC236}">
                <a16:creationId xmlns:a16="http://schemas.microsoft.com/office/drawing/2014/main" id="{40AECBBC-AF36-31A6-23B9-7E2C46C6920A}"/>
              </a:ext>
            </a:extLst>
          </p:cNvPr>
          <p:cNvSpPr>
            <a:spLocks noGrp="1"/>
          </p:cNvSpPr>
          <p:nvPr>
            <p:ph type="sldNum" sz="quarter" idx="12"/>
          </p:nvPr>
        </p:nvSpPr>
        <p:spPr/>
        <p:txBody>
          <a:bodyPr/>
          <a:lstStyle/>
          <a:p>
            <a:fld id="{870B1737-2A00-4EFB-9FD3-149FCC30AA13}" type="slidenum">
              <a:rPr lang="ja-JP" altLang="en-US" smtClean="0"/>
              <a:pPr/>
              <a:t>42</a:t>
            </a:fld>
            <a:endParaRPr lang="ja-JP" altLang="en-US"/>
          </a:p>
        </p:txBody>
      </p:sp>
      <p:sp>
        <p:nvSpPr>
          <p:cNvPr id="6" name="フッター プレースホルダー 5">
            <a:extLst>
              <a:ext uri="{FF2B5EF4-FFF2-40B4-BE49-F238E27FC236}">
                <a16:creationId xmlns:a16="http://schemas.microsoft.com/office/drawing/2014/main" id="{0AB0A4D3-40A8-8CF8-FDBD-7D95602348E4}"/>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7" name="コンテンツ プレースホルダー 2">
            <a:extLst>
              <a:ext uri="{FF2B5EF4-FFF2-40B4-BE49-F238E27FC236}">
                <a16:creationId xmlns:a16="http://schemas.microsoft.com/office/drawing/2014/main" id="{D9089F1A-8A76-BBC5-9C49-A8E661A66E62}"/>
              </a:ext>
            </a:extLst>
          </p:cNvPr>
          <p:cNvSpPr txBox="1">
            <a:spLocks/>
          </p:cNvSpPr>
          <p:nvPr/>
        </p:nvSpPr>
        <p:spPr>
          <a:xfrm>
            <a:off x="6080077" y="791726"/>
            <a:ext cx="6105220" cy="566161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endParaRPr lang="ja-JP" altLang="en-US" dirty="0"/>
          </a:p>
        </p:txBody>
      </p:sp>
      <p:sp>
        <p:nvSpPr>
          <p:cNvPr id="9" name="正方形/長方形 8">
            <a:extLst>
              <a:ext uri="{FF2B5EF4-FFF2-40B4-BE49-F238E27FC236}">
                <a16:creationId xmlns:a16="http://schemas.microsoft.com/office/drawing/2014/main" id="{875D5473-75D6-7B03-BF05-C1E38FED942A}"/>
              </a:ext>
            </a:extLst>
          </p:cNvPr>
          <p:cNvSpPr/>
          <p:nvPr/>
        </p:nvSpPr>
        <p:spPr>
          <a:xfrm>
            <a:off x="6080077" y="980358"/>
            <a:ext cx="5992587" cy="3929937"/>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E6A3DD1-8B23-20F1-1A0A-DB37DC7449D4}"/>
              </a:ext>
            </a:extLst>
          </p:cNvPr>
          <p:cNvSpPr/>
          <p:nvPr/>
        </p:nvSpPr>
        <p:spPr>
          <a:xfrm>
            <a:off x="6240016" y="805840"/>
            <a:ext cx="2510938" cy="432048"/>
          </a:xfrm>
          <a:prstGeom prst="rect">
            <a:avLst/>
          </a:prstGeom>
          <a:solidFill>
            <a:schemeClr val="bg1">
              <a:lumMod val="9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dirty="0"/>
              <a:t>参考：研究内容</a:t>
            </a:r>
            <a:r>
              <a:rPr lang="ja-JP" altLang="en-US" dirty="0"/>
              <a:t>予定</a:t>
            </a:r>
            <a:endParaRPr kumimoji="1" lang="ja-JP" altLang="en-US" dirty="0"/>
          </a:p>
        </p:txBody>
      </p:sp>
      <p:sp>
        <p:nvSpPr>
          <p:cNvPr id="10" name="正方形/長方形 9">
            <a:extLst>
              <a:ext uri="{FF2B5EF4-FFF2-40B4-BE49-F238E27FC236}">
                <a16:creationId xmlns:a16="http://schemas.microsoft.com/office/drawing/2014/main" id="{738E088A-19FD-CDB5-9FBC-BDF934CEAE1A}"/>
              </a:ext>
            </a:extLst>
          </p:cNvPr>
          <p:cNvSpPr/>
          <p:nvPr/>
        </p:nvSpPr>
        <p:spPr>
          <a:xfrm>
            <a:off x="6107037" y="5229200"/>
            <a:ext cx="5965627" cy="1290340"/>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r>
              <a:rPr kumimoji="1" lang="ja-JP" altLang="en-US" dirty="0">
                <a:solidFill>
                  <a:sysClr val="windowText" lastClr="000000"/>
                </a:solidFill>
              </a:rPr>
              <a:t>・研究計画（日程・要件）に関する</a:t>
            </a:r>
            <a:r>
              <a:rPr lang="ja-JP" altLang="en-US" dirty="0">
                <a:solidFill>
                  <a:sysClr val="windowText" lastClr="000000"/>
                </a:solidFill>
              </a:rPr>
              <a:t>フィードバック</a:t>
            </a:r>
            <a:endParaRPr lang="en-US" altLang="ja-JP" dirty="0">
              <a:solidFill>
                <a:sysClr val="windowText" lastClr="000000"/>
              </a:solidFill>
            </a:endParaRPr>
          </a:p>
          <a:p>
            <a:r>
              <a:rPr kumimoji="1" lang="ja-JP" altLang="en-US" dirty="0">
                <a:solidFill>
                  <a:sysClr val="windowText" lastClr="000000"/>
                </a:solidFill>
              </a:rPr>
              <a:t>・学位取得支援制度 適用の早期化に関する交渉</a:t>
            </a:r>
            <a:endParaRPr kumimoji="1" lang="en-US" altLang="ja-JP" dirty="0">
              <a:solidFill>
                <a:sysClr val="windowText" lastClr="000000"/>
              </a:solidFill>
            </a:endParaRPr>
          </a:p>
          <a:p>
            <a:r>
              <a:rPr lang="ja-JP" altLang="en-US" sz="1400" dirty="0">
                <a:solidFill>
                  <a:sysClr val="windowText" lastClr="000000"/>
                </a:solidFill>
              </a:rPr>
              <a:t>　・</a:t>
            </a:r>
            <a:r>
              <a:rPr lang="ja-JP" altLang="en-US" sz="1400" b="1" dirty="0">
                <a:solidFill>
                  <a:sysClr val="windowText" lastClr="000000"/>
                </a:solidFill>
              </a:rPr>
              <a:t>入社</a:t>
            </a:r>
            <a:r>
              <a:rPr lang="en-US" altLang="ja-JP" sz="1400" b="1" dirty="0">
                <a:solidFill>
                  <a:sysClr val="windowText" lastClr="000000"/>
                </a:solidFill>
              </a:rPr>
              <a:t>2</a:t>
            </a:r>
            <a:r>
              <a:rPr lang="ja-JP" altLang="en-US" sz="1400" b="1" dirty="0">
                <a:solidFill>
                  <a:sysClr val="windowText" lastClr="000000"/>
                </a:solidFill>
              </a:rPr>
              <a:t>年目</a:t>
            </a:r>
            <a:r>
              <a:rPr lang="ja-JP" altLang="en-US" sz="1400" dirty="0">
                <a:solidFill>
                  <a:sysClr val="windowText" lastClr="000000"/>
                </a:solidFill>
              </a:rPr>
              <a:t>からの適用が可能か，交渉をお願いしたく存じます</a:t>
            </a:r>
            <a:endParaRPr kumimoji="1" lang="ja-JP" altLang="en-US" sz="1400" dirty="0">
              <a:solidFill>
                <a:sysClr val="windowText" lastClr="000000"/>
              </a:solidFill>
            </a:endParaRPr>
          </a:p>
        </p:txBody>
      </p:sp>
      <p:sp>
        <p:nvSpPr>
          <p:cNvPr id="11" name="正方形/長方形 10">
            <a:extLst>
              <a:ext uri="{FF2B5EF4-FFF2-40B4-BE49-F238E27FC236}">
                <a16:creationId xmlns:a16="http://schemas.microsoft.com/office/drawing/2014/main" id="{3F2483A9-2F85-B0F6-546B-C6D330DD520C}"/>
              </a:ext>
            </a:extLst>
          </p:cNvPr>
          <p:cNvSpPr/>
          <p:nvPr/>
        </p:nvSpPr>
        <p:spPr>
          <a:xfrm>
            <a:off x="6240016" y="5017286"/>
            <a:ext cx="1944216" cy="432048"/>
          </a:xfrm>
          <a:prstGeom prst="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b="1" dirty="0"/>
              <a:t>ご依頼事項</a:t>
            </a:r>
          </a:p>
        </p:txBody>
      </p:sp>
      <p:grpSp>
        <p:nvGrpSpPr>
          <p:cNvPr id="40" name="グループ化 39">
            <a:extLst>
              <a:ext uri="{FF2B5EF4-FFF2-40B4-BE49-F238E27FC236}">
                <a16:creationId xmlns:a16="http://schemas.microsoft.com/office/drawing/2014/main" id="{E2F7CADB-4652-AC4B-8F20-29A906BADDEB}"/>
              </a:ext>
            </a:extLst>
          </p:cNvPr>
          <p:cNvGrpSpPr/>
          <p:nvPr/>
        </p:nvGrpSpPr>
        <p:grpSpPr>
          <a:xfrm>
            <a:off x="6124407" y="2060848"/>
            <a:ext cx="5938952" cy="2736304"/>
            <a:chOff x="6124407" y="1628800"/>
            <a:chExt cx="5938952" cy="2736304"/>
          </a:xfrm>
        </p:grpSpPr>
        <p:sp>
          <p:nvSpPr>
            <p:cNvPr id="41" name="正方形/長方形 40">
              <a:extLst>
                <a:ext uri="{FF2B5EF4-FFF2-40B4-BE49-F238E27FC236}">
                  <a16:creationId xmlns:a16="http://schemas.microsoft.com/office/drawing/2014/main" id="{93FAABAC-4414-1FEE-E860-85E7510C871C}"/>
                </a:ext>
              </a:extLst>
            </p:cNvPr>
            <p:cNvSpPr/>
            <p:nvPr/>
          </p:nvSpPr>
          <p:spPr>
            <a:xfrm>
              <a:off x="6124407" y="1767427"/>
              <a:ext cx="767333" cy="259767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3C7823A4-0BD4-CC3A-90B9-3966CBF51CE8}"/>
                </a:ext>
              </a:extLst>
            </p:cNvPr>
            <p:cNvSpPr/>
            <p:nvPr/>
          </p:nvSpPr>
          <p:spPr>
            <a:xfrm>
              <a:off x="6147995" y="1967354"/>
              <a:ext cx="722755" cy="10998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
          <p:nvSpPr>
            <p:cNvPr id="43" name="正方形/長方形 42">
              <a:extLst>
                <a:ext uri="{FF2B5EF4-FFF2-40B4-BE49-F238E27FC236}">
                  <a16:creationId xmlns:a16="http://schemas.microsoft.com/office/drawing/2014/main" id="{D5EFB94C-31C3-FC0F-61C9-B3DCCB48507D}"/>
                </a:ext>
              </a:extLst>
            </p:cNvPr>
            <p:cNvSpPr/>
            <p:nvPr/>
          </p:nvSpPr>
          <p:spPr>
            <a:xfrm>
              <a:off x="6960096" y="1767427"/>
              <a:ext cx="5082180" cy="984513"/>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r>
                <a:rPr kumimoji="1" lang="ja-JP" altLang="en-US" sz="1600" dirty="0"/>
                <a:t>見守りの需要</a:t>
              </a:r>
              <a:r>
                <a:rPr kumimoji="1" lang="en-US" altLang="ja-JP" sz="1600" dirty="0"/>
                <a:t>/</a:t>
              </a:r>
              <a:r>
                <a:rPr kumimoji="1" lang="ja-JP" altLang="en-US" sz="1600" dirty="0"/>
                <a:t>供給</a:t>
              </a:r>
              <a:endParaRPr kumimoji="1" lang="en-US" altLang="ja-JP" sz="1600" dirty="0"/>
            </a:p>
            <a:p>
              <a:r>
                <a:rPr kumimoji="1" lang="ja-JP" altLang="en-US" sz="1600" dirty="0"/>
                <a:t>　  の偏在検知</a:t>
              </a:r>
              <a:endParaRPr kumimoji="1" lang="en-US" altLang="ja-JP" sz="1600" dirty="0"/>
            </a:p>
          </p:txBody>
        </p:sp>
        <p:sp>
          <p:nvSpPr>
            <p:cNvPr id="44" name="正方形/長方形 43">
              <a:extLst>
                <a:ext uri="{FF2B5EF4-FFF2-40B4-BE49-F238E27FC236}">
                  <a16:creationId xmlns:a16="http://schemas.microsoft.com/office/drawing/2014/main" id="{839BE50E-55C0-F190-2039-9255262445FB}"/>
                </a:ext>
              </a:extLst>
            </p:cNvPr>
            <p:cNvSpPr/>
            <p:nvPr/>
          </p:nvSpPr>
          <p:spPr>
            <a:xfrm>
              <a:off x="6960096" y="3062839"/>
              <a:ext cx="1064838" cy="62179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バイタル</a:t>
              </a:r>
              <a:endParaRPr kumimoji="1" lang="en-US" altLang="ja-JP" sz="1200" dirty="0"/>
            </a:p>
            <a:p>
              <a:pPr algn="ctr"/>
              <a:r>
                <a:rPr kumimoji="1" lang="ja-JP" altLang="en-US" sz="1200" dirty="0"/>
                <a:t>モニタリング（既存）</a:t>
              </a:r>
            </a:p>
          </p:txBody>
        </p:sp>
        <p:sp>
          <p:nvSpPr>
            <p:cNvPr id="45" name="正方形/長方形 44">
              <a:extLst>
                <a:ext uri="{FF2B5EF4-FFF2-40B4-BE49-F238E27FC236}">
                  <a16:creationId xmlns:a16="http://schemas.microsoft.com/office/drawing/2014/main" id="{04CA6B3C-3F77-7BB2-C1EE-39A80D60321F}"/>
                </a:ext>
              </a:extLst>
            </p:cNvPr>
            <p:cNvSpPr/>
            <p:nvPr/>
          </p:nvSpPr>
          <p:spPr>
            <a:xfrm>
              <a:off x="8121737" y="3062839"/>
              <a:ext cx="1452051" cy="621798"/>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見守り「難所」の支援システム</a:t>
              </a:r>
              <a:endParaRPr kumimoji="1" lang="en-US" altLang="ja-JP" sz="1200" dirty="0"/>
            </a:p>
          </p:txBody>
        </p:sp>
        <p:sp>
          <p:nvSpPr>
            <p:cNvPr id="46" name="正方形/長方形 45">
              <a:extLst>
                <a:ext uri="{FF2B5EF4-FFF2-40B4-BE49-F238E27FC236}">
                  <a16:creationId xmlns:a16="http://schemas.microsoft.com/office/drawing/2014/main" id="{B4EF283C-6289-C311-8A8F-EF6BC61F2BAB}"/>
                </a:ext>
              </a:extLst>
            </p:cNvPr>
            <p:cNvSpPr/>
            <p:nvPr/>
          </p:nvSpPr>
          <p:spPr>
            <a:xfrm>
              <a:off x="9718993" y="3062839"/>
              <a:ext cx="1452051" cy="621798"/>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移動ロボットでの</a:t>
              </a:r>
              <a:endParaRPr kumimoji="1" lang="en-US" altLang="ja-JP" sz="1200" dirty="0"/>
            </a:p>
            <a:p>
              <a:pPr algn="ctr"/>
              <a:r>
                <a:rPr kumimoji="1" lang="ja-JP" altLang="en-US" sz="1200" dirty="0"/>
                <a:t>見守りシステム</a:t>
              </a:r>
              <a:endParaRPr kumimoji="1" lang="en-US" altLang="ja-JP" sz="1200" dirty="0"/>
            </a:p>
          </p:txBody>
        </p:sp>
        <p:sp>
          <p:nvSpPr>
            <p:cNvPr id="47" name="正方形/長方形 46">
              <a:extLst>
                <a:ext uri="{FF2B5EF4-FFF2-40B4-BE49-F238E27FC236}">
                  <a16:creationId xmlns:a16="http://schemas.microsoft.com/office/drawing/2014/main" id="{AA75BC04-CF6A-FD56-A725-C9A5261897C3}"/>
                </a:ext>
              </a:extLst>
            </p:cNvPr>
            <p:cNvSpPr/>
            <p:nvPr/>
          </p:nvSpPr>
          <p:spPr>
            <a:xfrm>
              <a:off x="6147995" y="3995536"/>
              <a:ext cx="5894280" cy="3108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医療スタッフへの対応要請</a:t>
              </a:r>
            </a:p>
          </p:txBody>
        </p:sp>
        <p:pic>
          <p:nvPicPr>
            <p:cNvPr id="48" name="Picture 2">
              <a:extLst>
                <a:ext uri="{FF2B5EF4-FFF2-40B4-BE49-F238E27FC236}">
                  <a16:creationId xmlns:a16="http://schemas.microsoft.com/office/drawing/2014/main" id="{650E8A09-2260-BABA-A6D7-C15D9915BB4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2778"/>
            <a:stretch/>
          </p:blipFill>
          <p:spPr bwMode="auto">
            <a:xfrm>
              <a:off x="9105543" y="1768055"/>
              <a:ext cx="1628658" cy="787797"/>
            </a:xfrm>
            <a:prstGeom prst="rect">
              <a:avLst/>
            </a:prstGeom>
            <a:extLst>
              <a:ext uri="{909E8E84-426E-40DD-AFC4-6F175D3DCCD1}">
                <a14:hiddenFill xmlns:a14="http://schemas.microsoft.com/office/drawing/2010/main">
                  <a:solidFill>
                    <a:srgbClr val="FFFFFF"/>
                  </a:solidFill>
                </a14:hiddenFill>
              </a:ext>
            </a:extLst>
          </p:spPr>
        </p:pic>
        <p:sp>
          <p:nvSpPr>
            <p:cNvPr id="49" name="楕円 48">
              <a:extLst>
                <a:ext uri="{FF2B5EF4-FFF2-40B4-BE49-F238E27FC236}">
                  <a16:creationId xmlns:a16="http://schemas.microsoft.com/office/drawing/2014/main" id="{E3C5EDFD-0F11-450E-B618-2A4430206E8B}"/>
                </a:ext>
              </a:extLst>
            </p:cNvPr>
            <p:cNvSpPr/>
            <p:nvPr/>
          </p:nvSpPr>
          <p:spPr>
            <a:xfrm>
              <a:off x="10968937" y="2345057"/>
              <a:ext cx="290410" cy="305207"/>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0" name="テキスト ボックス 49">
              <a:extLst>
                <a:ext uri="{FF2B5EF4-FFF2-40B4-BE49-F238E27FC236}">
                  <a16:creationId xmlns:a16="http://schemas.microsoft.com/office/drawing/2014/main" id="{FF074D8A-BDCE-A149-04C6-E67FC34CB191}"/>
                </a:ext>
              </a:extLst>
            </p:cNvPr>
            <p:cNvSpPr txBox="1"/>
            <p:nvPr/>
          </p:nvSpPr>
          <p:spPr>
            <a:xfrm>
              <a:off x="11172129" y="2066050"/>
              <a:ext cx="891230" cy="600164"/>
            </a:xfrm>
            <a:prstGeom prst="rect">
              <a:avLst/>
            </a:prstGeom>
            <a:noFill/>
          </p:spPr>
          <p:txBody>
            <a:bodyPr wrap="none" rtlCol="0">
              <a:spAutoFit/>
            </a:bodyPr>
            <a:lstStyle/>
            <a:p>
              <a:r>
                <a:rPr kumimoji="1" lang="ja-JP" altLang="en-US" sz="1200" dirty="0"/>
                <a:t>：需要過多</a:t>
              </a:r>
              <a:endParaRPr kumimoji="1" lang="en-US" altLang="ja-JP" sz="1200" dirty="0"/>
            </a:p>
            <a:p>
              <a:endParaRPr lang="en-US" altLang="ja-JP" sz="900" dirty="0"/>
            </a:p>
            <a:p>
              <a:r>
                <a:rPr lang="ja-JP" altLang="en-US" sz="1200" dirty="0"/>
                <a:t>：供給過多</a:t>
              </a:r>
              <a:endParaRPr kumimoji="1" lang="ja-JP" altLang="en-US" sz="1200" dirty="0"/>
            </a:p>
          </p:txBody>
        </p:sp>
        <p:sp>
          <p:nvSpPr>
            <p:cNvPr id="51" name="楕円 50">
              <a:extLst>
                <a:ext uri="{FF2B5EF4-FFF2-40B4-BE49-F238E27FC236}">
                  <a16:creationId xmlns:a16="http://schemas.microsoft.com/office/drawing/2014/main" id="{50A3CABD-F6E9-466E-F6D7-8793C0C5DDA5}"/>
                </a:ext>
              </a:extLst>
            </p:cNvPr>
            <p:cNvSpPr/>
            <p:nvPr/>
          </p:nvSpPr>
          <p:spPr>
            <a:xfrm>
              <a:off x="10968937" y="2041175"/>
              <a:ext cx="290410" cy="305207"/>
            </a:xfrm>
            <a:prstGeom prst="ellips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pic>
          <p:nvPicPr>
            <p:cNvPr id="52" name="Picture 2">
              <a:extLst>
                <a:ext uri="{FF2B5EF4-FFF2-40B4-BE49-F238E27FC236}">
                  <a16:creationId xmlns:a16="http://schemas.microsoft.com/office/drawing/2014/main" id="{605DAF11-5DDB-B1BD-6FF4-2A3BC25D90F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2778"/>
            <a:stretch/>
          </p:blipFill>
          <p:spPr bwMode="auto">
            <a:xfrm>
              <a:off x="9207981" y="1817033"/>
              <a:ext cx="1628658" cy="787797"/>
            </a:xfrm>
            <a:prstGeom prst="rect">
              <a:avLst/>
            </a:prstGeom>
            <a:extLst>
              <a:ext uri="{909E8E84-426E-40DD-AFC4-6F175D3DCCD1}">
                <a14:hiddenFill xmlns:a14="http://schemas.microsoft.com/office/drawing/2010/main">
                  <a:solidFill>
                    <a:srgbClr val="FFFFFF"/>
                  </a:solidFill>
                </a14:hiddenFill>
              </a:ext>
            </a:extLst>
          </p:spPr>
        </p:pic>
        <p:pic>
          <p:nvPicPr>
            <p:cNvPr id="53" name="Picture 2">
              <a:extLst>
                <a:ext uri="{FF2B5EF4-FFF2-40B4-BE49-F238E27FC236}">
                  <a16:creationId xmlns:a16="http://schemas.microsoft.com/office/drawing/2014/main" id="{29A0D064-488D-94B2-7A53-C6435E077C0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2778"/>
            <a:stretch/>
          </p:blipFill>
          <p:spPr bwMode="auto">
            <a:xfrm>
              <a:off x="9310421" y="1890588"/>
              <a:ext cx="1628658" cy="787797"/>
            </a:xfrm>
            <a:prstGeom prst="rect">
              <a:avLst/>
            </a:prstGeom>
            <a:extLst>
              <a:ext uri="{909E8E84-426E-40DD-AFC4-6F175D3DCCD1}">
                <a14:hiddenFill xmlns:a14="http://schemas.microsoft.com/office/drawing/2010/main">
                  <a:solidFill>
                    <a:srgbClr val="FFFFFF"/>
                  </a:solidFill>
                </a14:hiddenFill>
              </a:ext>
            </a:extLst>
          </p:spPr>
        </p:pic>
        <p:sp>
          <p:nvSpPr>
            <p:cNvPr id="54" name="楕円 53">
              <a:extLst>
                <a:ext uri="{FF2B5EF4-FFF2-40B4-BE49-F238E27FC236}">
                  <a16:creationId xmlns:a16="http://schemas.microsoft.com/office/drawing/2014/main" id="{A39077DD-EC08-8BF2-E62B-CA0DB4CDD1E8}"/>
                </a:ext>
              </a:extLst>
            </p:cNvPr>
            <p:cNvSpPr/>
            <p:nvPr/>
          </p:nvSpPr>
          <p:spPr>
            <a:xfrm>
              <a:off x="10365177" y="1842940"/>
              <a:ext cx="290410" cy="367991"/>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5" name="楕円 54">
              <a:extLst>
                <a:ext uri="{FF2B5EF4-FFF2-40B4-BE49-F238E27FC236}">
                  <a16:creationId xmlns:a16="http://schemas.microsoft.com/office/drawing/2014/main" id="{3B898844-2839-85B4-D8C5-F197BC28EBE9}"/>
                </a:ext>
              </a:extLst>
            </p:cNvPr>
            <p:cNvSpPr/>
            <p:nvPr/>
          </p:nvSpPr>
          <p:spPr>
            <a:xfrm>
              <a:off x="9919872" y="2058567"/>
              <a:ext cx="290410" cy="367991"/>
            </a:xfrm>
            <a:prstGeom prst="ellipse">
              <a:avLst/>
            </a:prstGeom>
            <a:gradFill flip="none" rotWithShape="1">
              <a:gsLst>
                <a:gs pos="0">
                  <a:schemeClr val="accent3">
                    <a:tint val="66000"/>
                    <a:satMod val="160000"/>
                  </a:schemeClr>
                </a:gs>
                <a:gs pos="50000">
                  <a:schemeClr val="accent3">
                    <a:tint val="44500"/>
                    <a:satMod val="160000"/>
                  </a:schemeClr>
                </a:gs>
                <a:gs pos="100000">
                  <a:schemeClr val="accent3">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sp>
          <p:nvSpPr>
            <p:cNvPr id="56" name="楕円 55">
              <a:extLst>
                <a:ext uri="{FF2B5EF4-FFF2-40B4-BE49-F238E27FC236}">
                  <a16:creationId xmlns:a16="http://schemas.microsoft.com/office/drawing/2014/main" id="{EC94F1D4-BBAE-E1E5-ADD6-BA18B55B8DDF}"/>
                </a:ext>
              </a:extLst>
            </p:cNvPr>
            <p:cNvSpPr/>
            <p:nvPr/>
          </p:nvSpPr>
          <p:spPr>
            <a:xfrm>
              <a:off x="9280562" y="2383133"/>
              <a:ext cx="290410" cy="367991"/>
            </a:xfrm>
            <a:prstGeom prst="ellipse">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a:p>
          </p:txBody>
        </p:sp>
        <p:cxnSp>
          <p:nvCxnSpPr>
            <p:cNvPr id="57" name="直線矢印コネクタ 56">
              <a:extLst>
                <a:ext uri="{FF2B5EF4-FFF2-40B4-BE49-F238E27FC236}">
                  <a16:creationId xmlns:a16="http://schemas.microsoft.com/office/drawing/2014/main" id="{9D744D35-AAEA-8F2F-16AE-31EB38548504}"/>
                </a:ext>
              </a:extLst>
            </p:cNvPr>
            <p:cNvCxnSpPr>
              <a:cxnSpLocks/>
            </p:cNvCxnSpPr>
            <p:nvPr/>
          </p:nvCxnSpPr>
          <p:spPr>
            <a:xfrm>
              <a:off x="10734200" y="1767427"/>
              <a:ext cx="307317" cy="2001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テキスト ボックス 57">
              <a:extLst>
                <a:ext uri="{FF2B5EF4-FFF2-40B4-BE49-F238E27FC236}">
                  <a16:creationId xmlns:a16="http://schemas.microsoft.com/office/drawing/2014/main" id="{F54C1890-04BB-AE90-EEAD-035232BB445B}"/>
                </a:ext>
              </a:extLst>
            </p:cNvPr>
            <p:cNvSpPr txBox="1"/>
            <p:nvPr/>
          </p:nvSpPr>
          <p:spPr>
            <a:xfrm>
              <a:off x="10957347" y="1708937"/>
              <a:ext cx="212926" cy="276999"/>
            </a:xfrm>
            <a:prstGeom prst="rect">
              <a:avLst/>
            </a:prstGeom>
            <a:noFill/>
          </p:spPr>
          <p:txBody>
            <a:bodyPr wrap="none" rtlCol="0">
              <a:spAutoFit/>
            </a:bodyPr>
            <a:lstStyle/>
            <a:p>
              <a:r>
                <a:rPr kumimoji="1" lang="en-US" altLang="ja-JP" sz="1200" i="1" dirty="0"/>
                <a:t>t</a:t>
              </a:r>
              <a:endParaRPr kumimoji="1" lang="ja-JP" altLang="en-US" sz="1200" i="1" dirty="0"/>
            </a:p>
          </p:txBody>
        </p:sp>
        <p:cxnSp>
          <p:nvCxnSpPr>
            <p:cNvPr id="59" name="直線矢印コネクタ 58">
              <a:extLst>
                <a:ext uri="{FF2B5EF4-FFF2-40B4-BE49-F238E27FC236}">
                  <a16:creationId xmlns:a16="http://schemas.microsoft.com/office/drawing/2014/main" id="{C8879362-7480-0835-CC0A-9BB2EDE280FA}"/>
                </a:ext>
              </a:extLst>
            </p:cNvPr>
            <p:cNvCxnSpPr>
              <a:cxnSpLocks/>
              <a:endCxn id="44" idx="0"/>
            </p:cNvCxnSpPr>
            <p:nvPr/>
          </p:nvCxnSpPr>
          <p:spPr>
            <a:xfrm>
              <a:off x="7492514" y="2758429"/>
              <a:ext cx="0" cy="304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直線矢印コネクタ 59">
              <a:extLst>
                <a:ext uri="{FF2B5EF4-FFF2-40B4-BE49-F238E27FC236}">
                  <a16:creationId xmlns:a16="http://schemas.microsoft.com/office/drawing/2014/main" id="{3C27BD5D-0748-0F8F-30FC-DD54CD5825C8}"/>
                </a:ext>
              </a:extLst>
            </p:cNvPr>
            <p:cNvCxnSpPr>
              <a:cxnSpLocks/>
              <a:endCxn id="45" idx="0"/>
            </p:cNvCxnSpPr>
            <p:nvPr/>
          </p:nvCxnSpPr>
          <p:spPr>
            <a:xfrm>
              <a:off x="8847762" y="2751124"/>
              <a:ext cx="0" cy="3117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1" name="直線矢印コネクタ 60">
              <a:extLst>
                <a:ext uri="{FF2B5EF4-FFF2-40B4-BE49-F238E27FC236}">
                  <a16:creationId xmlns:a16="http://schemas.microsoft.com/office/drawing/2014/main" id="{C873868F-E523-B2BD-0BFC-69CB1AA1520B}"/>
                </a:ext>
              </a:extLst>
            </p:cNvPr>
            <p:cNvCxnSpPr>
              <a:cxnSpLocks/>
              <a:endCxn id="46" idx="0"/>
            </p:cNvCxnSpPr>
            <p:nvPr/>
          </p:nvCxnSpPr>
          <p:spPr>
            <a:xfrm>
              <a:off x="10445019" y="2758429"/>
              <a:ext cx="0" cy="3044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EB40DB2B-9226-6DEF-C8F8-060D31FDC931}"/>
                </a:ext>
              </a:extLst>
            </p:cNvPr>
            <p:cNvCxnSpPr>
              <a:cxnSpLocks/>
            </p:cNvCxnSpPr>
            <p:nvPr/>
          </p:nvCxnSpPr>
          <p:spPr>
            <a:xfrm>
              <a:off x="11622090" y="2758429"/>
              <a:ext cx="0" cy="12371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27AD2142-7808-EE79-BD5D-07D08B08C4AE}"/>
                </a:ext>
              </a:extLst>
            </p:cNvPr>
            <p:cNvCxnSpPr>
              <a:cxnSpLocks/>
              <a:stCxn id="44" idx="2"/>
            </p:cNvCxnSpPr>
            <p:nvPr/>
          </p:nvCxnSpPr>
          <p:spPr>
            <a:xfrm>
              <a:off x="7492514" y="3684637"/>
              <a:ext cx="0" cy="310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B0AEEAE9-7B13-6DE5-C908-68D40E70F611}"/>
                </a:ext>
              </a:extLst>
            </p:cNvPr>
            <p:cNvCxnSpPr>
              <a:cxnSpLocks/>
              <a:stCxn id="45" idx="2"/>
            </p:cNvCxnSpPr>
            <p:nvPr/>
          </p:nvCxnSpPr>
          <p:spPr>
            <a:xfrm>
              <a:off x="8847762" y="3684637"/>
              <a:ext cx="0" cy="310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5" name="直線矢印コネクタ 64">
              <a:extLst>
                <a:ext uri="{FF2B5EF4-FFF2-40B4-BE49-F238E27FC236}">
                  <a16:creationId xmlns:a16="http://schemas.microsoft.com/office/drawing/2014/main" id="{C76CA7E3-1347-51FE-C8BA-CA31976CDD48}"/>
                </a:ext>
              </a:extLst>
            </p:cNvPr>
            <p:cNvCxnSpPr>
              <a:cxnSpLocks/>
              <a:stCxn id="46" idx="2"/>
            </p:cNvCxnSpPr>
            <p:nvPr/>
          </p:nvCxnSpPr>
          <p:spPr>
            <a:xfrm>
              <a:off x="10445019" y="3684637"/>
              <a:ext cx="0" cy="3108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テキスト ボックス 65">
              <a:extLst>
                <a:ext uri="{FF2B5EF4-FFF2-40B4-BE49-F238E27FC236}">
                  <a16:creationId xmlns:a16="http://schemas.microsoft.com/office/drawing/2014/main" id="{45EDD5B7-2455-C8AC-6C35-6C23C76B112E}"/>
                </a:ext>
              </a:extLst>
            </p:cNvPr>
            <p:cNvSpPr txBox="1"/>
            <p:nvPr/>
          </p:nvSpPr>
          <p:spPr>
            <a:xfrm>
              <a:off x="8084063" y="2909240"/>
              <a:ext cx="666891" cy="215444"/>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ja-JP" sz="800" b="1" dirty="0"/>
                <a:t>Journal #3</a:t>
              </a:r>
              <a:endParaRPr lang="ja-JP" altLang="en-US" sz="800" b="1" dirty="0"/>
            </a:p>
          </p:txBody>
        </p:sp>
        <p:sp>
          <p:nvSpPr>
            <p:cNvPr id="67" name="テキスト ボックス 66">
              <a:extLst>
                <a:ext uri="{FF2B5EF4-FFF2-40B4-BE49-F238E27FC236}">
                  <a16:creationId xmlns:a16="http://schemas.microsoft.com/office/drawing/2014/main" id="{A947CC80-E27C-A653-2DCE-8A14DADD91CB}"/>
                </a:ext>
              </a:extLst>
            </p:cNvPr>
            <p:cNvSpPr txBox="1"/>
            <p:nvPr/>
          </p:nvSpPr>
          <p:spPr>
            <a:xfrm>
              <a:off x="9659864" y="2909240"/>
              <a:ext cx="726025" cy="215444"/>
            </a:xfrm>
            <a:prstGeom prst="rect">
              <a:avLst/>
            </a:prstGeom>
            <a:solidFill>
              <a:schemeClr val="accent3">
                <a:lumMod val="20000"/>
                <a:lumOff val="8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ja-JP" sz="800" b="1" dirty="0"/>
                <a:t>Journal #1,2</a:t>
              </a:r>
              <a:endParaRPr lang="ja-JP" altLang="en-US" sz="800" b="1" dirty="0"/>
            </a:p>
          </p:txBody>
        </p:sp>
        <p:sp>
          <p:nvSpPr>
            <p:cNvPr id="68" name="テキスト ボックス 67">
              <a:extLst>
                <a:ext uri="{FF2B5EF4-FFF2-40B4-BE49-F238E27FC236}">
                  <a16:creationId xmlns:a16="http://schemas.microsoft.com/office/drawing/2014/main" id="{44750656-2077-ECBE-F80A-82C71ED255CE}"/>
                </a:ext>
              </a:extLst>
            </p:cNvPr>
            <p:cNvSpPr txBox="1"/>
            <p:nvPr/>
          </p:nvSpPr>
          <p:spPr>
            <a:xfrm>
              <a:off x="6964517" y="1628800"/>
              <a:ext cx="1005403" cy="338554"/>
            </a:xfrm>
            <a:prstGeom prst="rect">
              <a:avLst/>
            </a:prstGeom>
            <a:solidFill>
              <a:schemeClr val="accent1">
                <a:lumMod val="20000"/>
                <a:lumOff val="80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pPr algn="ctr"/>
              <a:r>
                <a:rPr lang="ja-JP" altLang="en-US" sz="1600" b="1" dirty="0"/>
                <a:t>新規研究</a:t>
              </a:r>
            </a:p>
          </p:txBody>
        </p:sp>
        <p:pic>
          <p:nvPicPr>
            <p:cNvPr id="69" name="Picture 2" descr="ナースコールのイラスト">
              <a:extLst>
                <a:ext uri="{FF2B5EF4-FFF2-40B4-BE49-F238E27FC236}">
                  <a16:creationId xmlns:a16="http://schemas.microsoft.com/office/drawing/2014/main" id="{64EC774D-5192-B125-55ED-DF71F0E5AA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3483" y="2142035"/>
              <a:ext cx="697267" cy="768339"/>
            </a:xfrm>
            <a:prstGeom prst="rect">
              <a:avLst/>
            </a:prstGeom>
            <a:noFill/>
            <a:extLst>
              <a:ext uri="{909E8E84-426E-40DD-AFC4-6F175D3DCCD1}">
                <a14:hiddenFill xmlns:a14="http://schemas.microsoft.com/office/drawing/2010/main">
                  <a:solidFill>
                    <a:srgbClr val="FFFFFF"/>
                  </a:solidFill>
                </a14:hiddenFill>
              </a:ext>
            </a:extLst>
          </p:spPr>
        </p:pic>
        <p:cxnSp>
          <p:nvCxnSpPr>
            <p:cNvPr id="70" name="直線矢印コネクタ 69">
              <a:extLst>
                <a:ext uri="{FF2B5EF4-FFF2-40B4-BE49-F238E27FC236}">
                  <a16:creationId xmlns:a16="http://schemas.microsoft.com/office/drawing/2014/main" id="{0C180337-F569-04F4-BD61-8E171A65C9E2}"/>
                </a:ext>
              </a:extLst>
            </p:cNvPr>
            <p:cNvCxnSpPr>
              <a:cxnSpLocks/>
              <a:stCxn id="42" idx="2"/>
            </p:cNvCxnSpPr>
            <p:nvPr/>
          </p:nvCxnSpPr>
          <p:spPr>
            <a:xfrm>
              <a:off x="6509373" y="3067210"/>
              <a:ext cx="0" cy="9283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テキスト ボックス 70">
              <a:extLst>
                <a:ext uri="{FF2B5EF4-FFF2-40B4-BE49-F238E27FC236}">
                  <a16:creationId xmlns:a16="http://schemas.microsoft.com/office/drawing/2014/main" id="{A25922AD-F9F3-64C8-52E8-117AD6E36E2A}"/>
                </a:ext>
              </a:extLst>
            </p:cNvPr>
            <p:cNvSpPr txBox="1"/>
            <p:nvPr/>
          </p:nvSpPr>
          <p:spPr>
            <a:xfrm>
              <a:off x="6141915" y="1628800"/>
              <a:ext cx="595035" cy="338554"/>
            </a:xfrm>
            <a:prstGeom prst="rect">
              <a:avLst/>
            </a:prstGeom>
            <a:solidFill>
              <a:schemeClr val="bg1">
                <a:lumMod val="85000"/>
              </a:schemeClr>
            </a:solidFill>
          </p:spPr>
          <p:style>
            <a:lnRef idx="2">
              <a:schemeClr val="dk1"/>
            </a:lnRef>
            <a:fillRef idx="1">
              <a:schemeClr val="lt1"/>
            </a:fillRef>
            <a:effectRef idx="0">
              <a:schemeClr val="dk1"/>
            </a:effectRef>
            <a:fontRef idx="minor">
              <a:schemeClr val="dk1"/>
            </a:fontRef>
          </p:style>
          <p:txBody>
            <a:bodyPr wrap="none" rtlCol="0">
              <a:spAutoFit/>
            </a:bodyPr>
            <a:lstStyle/>
            <a:p>
              <a:pPr algn="ctr"/>
              <a:r>
                <a:rPr lang="ja-JP" altLang="en-US" sz="1600" b="1" dirty="0"/>
                <a:t>従来</a:t>
              </a:r>
            </a:p>
          </p:txBody>
        </p:sp>
        <p:sp>
          <p:nvSpPr>
            <p:cNvPr id="77" name="テキスト ボックス 76">
              <a:extLst>
                <a:ext uri="{FF2B5EF4-FFF2-40B4-BE49-F238E27FC236}">
                  <a16:creationId xmlns:a16="http://schemas.microsoft.com/office/drawing/2014/main" id="{C7D1D285-C8F2-F403-3772-1E36CBB5B3F8}"/>
                </a:ext>
              </a:extLst>
            </p:cNvPr>
            <p:cNvSpPr txBox="1"/>
            <p:nvPr/>
          </p:nvSpPr>
          <p:spPr>
            <a:xfrm>
              <a:off x="10847651" y="2570615"/>
              <a:ext cx="261610" cy="276999"/>
            </a:xfrm>
            <a:prstGeom prst="rect">
              <a:avLst/>
            </a:prstGeom>
            <a:noFill/>
          </p:spPr>
          <p:txBody>
            <a:bodyPr wrap="none" rtlCol="0">
              <a:spAutoFit/>
            </a:bodyPr>
            <a:lstStyle/>
            <a:p>
              <a:r>
                <a:rPr kumimoji="1" lang="en-US" altLang="ja-JP" sz="1200" i="1" dirty="0"/>
                <a:t>*</a:t>
              </a:r>
              <a:endParaRPr kumimoji="1" lang="ja-JP" altLang="en-US" sz="1200" i="1" dirty="0"/>
            </a:p>
          </p:txBody>
        </p:sp>
      </p:grpSp>
      <p:sp>
        <p:nvSpPr>
          <p:cNvPr id="75" name="テキスト ボックス 74">
            <a:extLst>
              <a:ext uri="{FF2B5EF4-FFF2-40B4-BE49-F238E27FC236}">
                <a16:creationId xmlns:a16="http://schemas.microsoft.com/office/drawing/2014/main" id="{0EF911B2-4605-5038-95C3-E51E07D3119B}"/>
              </a:ext>
            </a:extLst>
          </p:cNvPr>
          <p:cNvSpPr txBox="1"/>
          <p:nvPr/>
        </p:nvSpPr>
        <p:spPr>
          <a:xfrm>
            <a:off x="6239824" y="1430219"/>
            <a:ext cx="5724644"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pPr algn="ctr"/>
            <a:r>
              <a:rPr lang="ja-JP" altLang="en-US" dirty="0"/>
              <a:t>医療従事者負担軽減のための</a:t>
            </a:r>
            <a:r>
              <a:rPr kumimoji="1" lang="ja-JP" altLang="en-US" dirty="0"/>
              <a:t>病棟見守り支援システム</a:t>
            </a:r>
          </a:p>
        </p:txBody>
      </p:sp>
      <p:sp>
        <p:nvSpPr>
          <p:cNvPr id="76" name="テキスト ボックス 75">
            <a:extLst>
              <a:ext uri="{FF2B5EF4-FFF2-40B4-BE49-F238E27FC236}">
                <a16:creationId xmlns:a16="http://schemas.microsoft.com/office/drawing/2014/main" id="{C51B7011-B06A-98C5-3975-6176AE7A8648}"/>
              </a:ext>
            </a:extLst>
          </p:cNvPr>
          <p:cNvSpPr txBox="1"/>
          <p:nvPr/>
        </p:nvSpPr>
        <p:spPr>
          <a:xfrm>
            <a:off x="8750954" y="11201"/>
            <a:ext cx="3078856" cy="276999"/>
          </a:xfrm>
          <a:prstGeom prst="rect">
            <a:avLst/>
          </a:prstGeom>
          <a:noFill/>
        </p:spPr>
        <p:txBody>
          <a:bodyPr wrap="none" rtlCol="0">
            <a:spAutoFit/>
          </a:bodyPr>
          <a:lstStyle/>
          <a:p>
            <a:r>
              <a:rPr kumimoji="1" lang="en-US" altLang="ja-JP" sz="1200" dirty="0"/>
              <a:t>* </a:t>
            </a:r>
            <a:r>
              <a:rPr kumimoji="1" lang="en-US" altLang="ja-JP" sz="1200" dirty="0">
                <a:hlinkClick r:id="rId4"/>
              </a:rPr>
              <a:t>https://www.zeshinkai.or.jp/ng_n.html#floor</a:t>
            </a:r>
            <a:r>
              <a:rPr kumimoji="1" lang="en-US" altLang="ja-JP" sz="1200" dirty="0"/>
              <a:t> </a:t>
            </a:r>
            <a:endParaRPr kumimoji="1" lang="ja-JP" altLang="en-US" sz="1200" dirty="0"/>
          </a:p>
        </p:txBody>
      </p:sp>
    </p:spTree>
    <p:extLst>
      <p:ext uri="{BB962C8B-B14F-4D97-AF65-F5344CB8AC3E}">
        <p14:creationId xmlns:p14="http://schemas.microsoft.com/office/powerpoint/2010/main" val="19008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592E04-810F-0A91-76DB-14701CC0D19F}"/>
              </a:ext>
            </a:extLst>
          </p:cNvPr>
          <p:cNvSpPr>
            <a:spLocks noGrp="1"/>
          </p:cNvSpPr>
          <p:nvPr>
            <p:ph type="title"/>
          </p:nvPr>
        </p:nvSpPr>
        <p:spPr/>
        <p:txBody>
          <a:bodyPr/>
          <a:lstStyle/>
          <a:p>
            <a:r>
              <a:rPr kumimoji="1" lang="ja-JP" altLang="en-US" dirty="0"/>
              <a:t>研究計画（日程・要件）</a:t>
            </a:r>
          </a:p>
        </p:txBody>
      </p:sp>
      <p:sp>
        <p:nvSpPr>
          <p:cNvPr id="3" name="コンテンツ プレースホルダー 2">
            <a:extLst>
              <a:ext uri="{FF2B5EF4-FFF2-40B4-BE49-F238E27FC236}">
                <a16:creationId xmlns:a16="http://schemas.microsoft.com/office/drawing/2014/main" id="{59CBD583-E0DE-A2D3-3235-F285E8FA589F}"/>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A4083ABE-6EE5-6B7F-64F3-7265328BD757}"/>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3E187B9D-8188-3C9A-3241-9CE0564BDF1B}"/>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8AF52E70-9908-94C6-7826-AFD18A9D5BCC}"/>
              </a:ext>
            </a:extLst>
          </p:cNvPr>
          <p:cNvSpPr>
            <a:spLocks noGrp="1"/>
          </p:cNvSpPr>
          <p:nvPr>
            <p:ph type="sldNum" sz="quarter" idx="12"/>
          </p:nvPr>
        </p:nvSpPr>
        <p:spPr/>
        <p:txBody>
          <a:bodyPr/>
          <a:lstStyle/>
          <a:p>
            <a:fld id="{870B1737-2A00-4EFB-9FD3-149FCC30AA13}" type="slidenum">
              <a:rPr lang="ja-JP" altLang="en-US" smtClean="0"/>
              <a:pPr/>
              <a:t>43</a:t>
            </a:fld>
            <a:endParaRPr lang="ja-JP" altLang="en-US"/>
          </a:p>
        </p:txBody>
      </p:sp>
      <p:graphicFrame>
        <p:nvGraphicFramePr>
          <p:cNvPr id="7" name="表 6">
            <a:extLst>
              <a:ext uri="{FF2B5EF4-FFF2-40B4-BE49-F238E27FC236}">
                <a16:creationId xmlns:a16="http://schemas.microsoft.com/office/drawing/2014/main" id="{A2664B16-EED3-BA3D-A795-3CEB37B54C7E}"/>
              </a:ext>
            </a:extLst>
          </p:cNvPr>
          <p:cNvGraphicFramePr>
            <a:graphicFrameLocks noGrp="1"/>
          </p:cNvGraphicFramePr>
          <p:nvPr>
            <p:extLst>
              <p:ext uri="{D42A27DB-BD31-4B8C-83A1-F6EECF244321}">
                <p14:modId xmlns:p14="http://schemas.microsoft.com/office/powerpoint/2010/main" val="469547924"/>
              </p:ext>
            </p:extLst>
          </p:nvPr>
        </p:nvGraphicFramePr>
        <p:xfrm>
          <a:off x="137369" y="3098645"/>
          <a:ext cx="11953331" cy="3672996"/>
        </p:xfrm>
        <a:graphic>
          <a:graphicData uri="http://schemas.openxmlformats.org/drawingml/2006/table">
            <a:tbl>
              <a:tblPr firstRow="1" firstCol="1" bandRow="1">
                <a:tableStyleId>{073A0DAA-6AF3-43AB-8588-CEC1D06C72B9}</a:tableStyleId>
              </a:tblPr>
              <a:tblGrid>
                <a:gridCol w="2272985">
                  <a:extLst>
                    <a:ext uri="{9D8B030D-6E8A-4147-A177-3AD203B41FA5}">
                      <a16:colId xmlns:a16="http://schemas.microsoft.com/office/drawing/2014/main" val="4121297649"/>
                    </a:ext>
                  </a:extLst>
                </a:gridCol>
                <a:gridCol w="744642">
                  <a:extLst>
                    <a:ext uri="{9D8B030D-6E8A-4147-A177-3AD203B41FA5}">
                      <a16:colId xmlns:a16="http://schemas.microsoft.com/office/drawing/2014/main" val="1529098118"/>
                    </a:ext>
                  </a:extLst>
                </a:gridCol>
                <a:gridCol w="744642">
                  <a:extLst>
                    <a:ext uri="{9D8B030D-6E8A-4147-A177-3AD203B41FA5}">
                      <a16:colId xmlns:a16="http://schemas.microsoft.com/office/drawing/2014/main" val="2060309241"/>
                    </a:ext>
                  </a:extLst>
                </a:gridCol>
                <a:gridCol w="744642">
                  <a:extLst>
                    <a:ext uri="{9D8B030D-6E8A-4147-A177-3AD203B41FA5}">
                      <a16:colId xmlns:a16="http://schemas.microsoft.com/office/drawing/2014/main" val="1494107052"/>
                    </a:ext>
                  </a:extLst>
                </a:gridCol>
                <a:gridCol w="744642">
                  <a:extLst>
                    <a:ext uri="{9D8B030D-6E8A-4147-A177-3AD203B41FA5}">
                      <a16:colId xmlns:a16="http://schemas.microsoft.com/office/drawing/2014/main" val="1598280866"/>
                    </a:ext>
                  </a:extLst>
                </a:gridCol>
                <a:gridCol w="744642">
                  <a:extLst>
                    <a:ext uri="{9D8B030D-6E8A-4147-A177-3AD203B41FA5}">
                      <a16:colId xmlns:a16="http://schemas.microsoft.com/office/drawing/2014/main" val="3478229303"/>
                    </a:ext>
                  </a:extLst>
                </a:gridCol>
                <a:gridCol w="744642">
                  <a:extLst>
                    <a:ext uri="{9D8B030D-6E8A-4147-A177-3AD203B41FA5}">
                      <a16:colId xmlns:a16="http://schemas.microsoft.com/office/drawing/2014/main" val="693079007"/>
                    </a:ext>
                  </a:extLst>
                </a:gridCol>
                <a:gridCol w="744642">
                  <a:extLst>
                    <a:ext uri="{9D8B030D-6E8A-4147-A177-3AD203B41FA5}">
                      <a16:colId xmlns:a16="http://schemas.microsoft.com/office/drawing/2014/main" val="2556297277"/>
                    </a:ext>
                  </a:extLst>
                </a:gridCol>
                <a:gridCol w="744642">
                  <a:extLst>
                    <a:ext uri="{9D8B030D-6E8A-4147-A177-3AD203B41FA5}">
                      <a16:colId xmlns:a16="http://schemas.microsoft.com/office/drawing/2014/main" val="1314798696"/>
                    </a:ext>
                  </a:extLst>
                </a:gridCol>
                <a:gridCol w="744642">
                  <a:extLst>
                    <a:ext uri="{9D8B030D-6E8A-4147-A177-3AD203B41FA5}">
                      <a16:colId xmlns:a16="http://schemas.microsoft.com/office/drawing/2014/main" val="2606787134"/>
                    </a:ext>
                  </a:extLst>
                </a:gridCol>
                <a:gridCol w="744642">
                  <a:extLst>
                    <a:ext uri="{9D8B030D-6E8A-4147-A177-3AD203B41FA5}">
                      <a16:colId xmlns:a16="http://schemas.microsoft.com/office/drawing/2014/main" val="3868891806"/>
                    </a:ext>
                  </a:extLst>
                </a:gridCol>
                <a:gridCol w="744642">
                  <a:extLst>
                    <a:ext uri="{9D8B030D-6E8A-4147-A177-3AD203B41FA5}">
                      <a16:colId xmlns:a16="http://schemas.microsoft.com/office/drawing/2014/main" val="4106318747"/>
                    </a:ext>
                  </a:extLst>
                </a:gridCol>
                <a:gridCol w="744642">
                  <a:extLst>
                    <a:ext uri="{9D8B030D-6E8A-4147-A177-3AD203B41FA5}">
                      <a16:colId xmlns:a16="http://schemas.microsoft.com/office/drawing/2014/main" val="1077053283"/>
                    </a:ext>
                  </a:extLst>
                </a:gridCol>
                <a:gridCol w="744642">
                  <a:extLst>
                    <a:ext uri="{9D8B030D-6E8A-4147-A177-3AD203B41FA5}">
                      <a16:colId xmlns:a16="http://schemas.microsoft.com/office/drawing/2014/main" val="2852890849"/>
                    </a:ext>
                  </a:extLst>
                </a:gridCol>
              </a:tblGrid>
              <a:tr h="144016">
                <a:tc>
                  <a:txBody>
                    <a:bodyPr/>
                    <a:lstStyle/>
                    <a:p>
                      <a:endParaRPr kumimoji="1" lang="ja-JP" altLang="en-US" sz="1400" dirty="0"/>
                    </a:p>
                  </a:txBody>
                  <a:tcPr/>
                </a:tc>
                <a:tc>
                  <a:txBody>
                    <a:bodyPr/>
                    <a:lstStyle/>
                    <a:p>
                      <a:r>
                        <a:rPr kumimoji="1" lang="en-US" altLang="ja-JP" sz="1400" dirty="0"/>
                        <a:t>2025</a:t>
                      </a:r>
                      <a:endParaRPr kumimoji="1" lang="ja-JP" altLang="en-US" sz="1400" dirty="0"/>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600" dirty="0"/>
                    </a:p>
                  </a:txBody>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en-US" altLang="ja-JP" sz="600" dirty="0">
                        <a:solidFill>
                          <a:sysClr val="windowText" lastClr="000000"/>
                        </a:solidFill>
                      </a:endParaRPr>
                    </a:p>
                  </a:txBody>
                  <a:tcPr>
                    <a:solidFill>
                      <a:schemeClr val="accent1">
                        <a:lumMod val="20000"/>
                        <a:lumOff val="8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en-US" altLang="ja-JP" sz="1400"/>
                        <a:t>2028</a:t>
                      </a:r>
                      <a:endParaRPr kumimoji="1" lang="ja-JP" altLang="en-US" sz="1400" dirty="0"/>
                    </a:p>
                  </a:txBody>
                  <a:tcPr/>
                </a:tc>
                <a:extLst>
                  <a:ext uri="{0D108BD9-81ED-4DB2-BD59-A6C34878D82A}">
                    <a16:rowId xmlns:a16="http://schemas.microsoft.com/office/drawing/2014/main" val="2362661908"/>
                  </a:ext>
                </a:extLst>
              </a:tr>
              <a:tr h="0">
                <a:tc>
                  <a:txBody>
                    <a:bodyPr/>
                    <a:lstStyle/>
                    <a:p>
                      <a:endParaRPr kumimoji="1" lang="ja-JP" altLang="en-US" sz="1400" dirty="0"/>
                    </a:p>
                  </a:txBody>
                  <a:tcPr/>
                </a:tc>
                <a:tc>
                  <a:txBody>
                    <a:bodyPr/>
                    <a:lstStyle/>
                    <a:p>
                      <a:r>
                        <a:rPr kumimoji="1" lang="ja-JP" altLang="en-US" sz="1400"/>
                        <a:t>春</a:t>
                      </a:r>
                      <a:endParaRPr kumimoji="1" lang="ja-JP" altLang="en-US" sz="1400" dirty="0"/>
                    </a:p>
                  </a:txBody>
                  <a:tcPr/>
                </a:tc>
                <a:tc>
                  <a:txBody>
                    <a:bodyPr/>
                    <a:lstStyle/>
                    <a:p>
                      <a:r>
                        <a:rPr kumimoji="1" lang="ja-JP" altLang="en-US" sz="1400"/>
                        <a:t>夏</a:t>
                      </a:r>
                      <a:endParaRPr kumimoji="1" lang="ja-JP" altLang="en-US" sz="1400" dirty="0"/>
                    </a:p>
                  </a:txBody>
                  <a:tcPr/>
                </a:tc>
                <a:tc>
                  <a:txBody>
                    <a:bodyPr/>
                    <a:lstStyle/>
                    <a:p>
                      <a:r>
                        <a:rPr kumimoji="1" lang="ja-JP" altLang="en-US" sz="1400"/>
                        <a:t>秋</a:t>
                      </a:r>
                      <a:endParaRPr kumimoji="1" lang="ja-JP" altLang="en-US" sz="1400" dirty="0"/>
                    </a:p>
                  </a:txBody>
                  <a:tcPr/>
                </a:tc>
                <a:tc>
                  <a:txBody>
                    <a:bodyPr/>
                    <a:lstStyle/>
                    <a:p>
                      <a:r>
                        <a:rPr kumimoji="1" lang="ja-JP" altLang="en-US" sz="1400" dirty="0"/>
                        <a:t>冬</a:t>
                      </a:r>
                    </a:p>
                  </a:txBody>
                  <a:tcPr/>
                </a:tc>
                <a:tc>
                  <a:txBody>
                    <a:bodyPr/>
                    <a:lstStyle/>
                    <a:p>
                      <a:r>
                        <a:rPr kumimoji="1" lang="ja-JP" altLang="en-US" sz="1400" dirty="0">
                          <a:solidFill>
                            <a:sysClr val="windowText" lastClr="000000"/>
                          </a:solidFill>
                        </a:rPr>
                        <a:t>春</a:t>
                      </a:r>
                    </a:p>
                  </a:txBody>
                  <a:tcPr>
                    <a:solidFill>
                      <a:schemeClr val="accent1">
                        <a:lumMod val="20000"/>
                        <a:lumOff val="80000"/>
                      </a:schemeClr>
                    </a:solidFill>
                  </a:tcPr>
                </a:tc>
                <a:tc>
                  <a:txBody>
                    <a:bodyPr/>
                    <a:lstStyle/>
                    <a:p>
                      <a:r>
                        <a:rPr kumimoji="1" lang="ja-JP" altLang="en-US" sz="1400" dirty="0">
                          <a:solidFill>
                            <a:sysClr val="windowText" lastClr="000000"/>
                          </a:solidFill>
                        </a:rPr>
                        <a:t>夏</a:t>
                      </a:r>
                    </a:p>
                  </a:txBody>
                  <a:tcPr>
                    <a:solidFill>
                      <a:schemeClr val="accent1">
                        <a:lumMod val="20000"/>
                        <a:lumOff val="80000"/>
                      </a:schemeClr>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dirty="0">
                          <a:solidFill>
                            <a:sysClr val="windowText" lastClr="000000"/>
                          </a:solidFill>
                        </a:rPr>
                        <a:t>冬</a:t>
                      </a:r>
                    </a:p>
                  </a:txBody>
                  <a:tcPr>
                    <a:solidFill>
                      <a:schemeClr val="accent1">
                        <a:lumMod val="20000"/>
                        <a:lumOff val="80000"/>
                      </a:schemeClr>
                    </a:solidFill>
                  </a:tcPr>
                </a:tc>
                <a:tc>
                  <a:txBody>
                    <a:bodyPr/>
                    <a:lstStyle/>
                    <a:p>
                      <a:r>
                        <a:rPr kumimoji="1" lang="ja-JP" altLang="en-US" sz="1400" dirty="0">
                          <a:solidFill>
                            <a:sysClr val="windowText" lastClr="000000"/>
                          </a:solidFill>
                        </a:rPr>
                        <a:t>春</a:t>
                      </a:r>
                    </a:p>
                  </a:txBody>
                  <a:tcPr>
                    <a:solidFill>
                      <a:schemeClr val="accent1">
                        <a:lumMod val="20000"/>
                        <a:lumOff val="80000"/>
                      </a:schemeClr>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solidFill>
                            <a:sysClr val="windowText" lastClr="000000"/>
                          </a:solidFill>
                        </a:rPr>
                        <a:t>冬</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t>春</a:t>
                      </a:r>
                      <a:endParaRPr kumimoji="1" lang="ja-JP" altLang="en-US" sz="1400" dirty="0"/>
                    </a:p>
                  </a:txBody>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卒論系研究</a:t>
                      </a:r>
                    </a:p>
                    <a:p>
                      <a:r>
                        <a:rPr kumimoji="1" lang="en-US" altLang="ja-JP" sz="1400" dirty="0"/>
                        <a:t>Journal #1,2</a:t>
                      </a:r>
                    </a:p>
                  </a:txBody>
                  <a:tcPr/>
                </a:tc>
                <a:tc>
                  <a:txBody>
                    <a:bodyPr/>
                    <a:lstStyle/>
                    <a:p>
                      <a:endParaRPr kumimoji="1" lang="ja-JP" altLang="en-US" sz="1400" dirty="0"/>
                    </a:p>
                  </a:txBody>
                  <a:tcPr/>
                </a:tc>
                <a:tc>
                  <a:txBody>
                    <a:bodyPr/>
                    <a:lstStyle/>
                    <a:p>
                      <a:endParaRPr kumimoji="1" lang="ja-JP" altLang="en-US" sz="1400"/>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修論系研究</a:t>
                      </a:r>
                    </a:p>
                    <a:p>
                      <a:r>
                        <a:rPr kumimoji="1" lang="en-US" altLang="ja-JP" sz="1400" dirty="0"/>
                        <a:t>Journal #3</a:t>
                      </a:r>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新規研究</a:t>
                      </a:r>
                    </a:p>
                    <a:p>
                      <a:r>
                        <a:rPr kumimoji="1" lang="en-US" altLang="ja-JP" sz="1400" dirty="0"/>
                        <a:t>Journal #4</a:t>
                      </a:r>
                    </a:p>
                    <a:p>
                      <a:r>
                        <a:rPr kumimoji="1" lang="en-US" altLang="ja-JP" sz="1400" dirty="0"/>
                        <a:t>International Conf. #4</a:t>
                      </a:r>
                    </a:p>
                    <a:p>
                      <a:r>
                        <a:rPr kumimoji="1" lang="en-US" altLang="ja-JP" sz="1400" dirty="0"/>
                        <a:t>Journal #5</a:t>
                      </a:r>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p>
                  </a:txBody>
                  <a:tcPr/>
                </a:tc>
                <a:extLst>
                  <a:ext uri="{0D108BD9-81ED-4DB2-BD59-A6C34878D82A}">
                    <a16:rowId xmlns:a16="http://schemas.microsoft.com/office/drawing/2014/main" val="2188053489"/>
                  </a:ext>
                </a:extLst>
              </a:tr>
              <a:tr h="576064">
                <a:tc>
                  <a:txBody>
                    <a:bodyPr/>
                    <a:lstStyle/>
                    <a:p>
                      <a:r>
                        <a:rPr kumimoji="1" lang="ja-JP" altLang="en-US" sz="1400" dirty="0"/>
                        <a:t>博士論文</a:t>
                      </a:r>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1400"/>
                    </a:p>
                  </a:txBody>
                  <a:tcPr/>
                </a:tc>
                <a:tc>
                  <a:txBody>
                    <a:bodyPr/>
                    <a:lstStyle/>
                    <a:p>
                      <a:endParaRPr kumimoji="1" lang="ja-JP" altLang="en-US" sz="1400" dirty="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EF27F458-C61F-A755-8560-446DE889B2C8}"/>
              </a:ext>
            </a:extLst>
          </p:cNvPr>
          <p:cNvSpPr/>
          <p:nvPr/>
        </p:nvSpPr>
        <p:spPr>
          <a:xfrm>
            <a:off x="2382209" y="3834641"/>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C44423BC-80E1-64C0-DC4F-4E7D86E386BB}"/>
              </a:ext>
            </a:extLst>
          </p:cNvPr>
          <p:cNvSpPr/>
          <p:nvPr/>
        </p:nvSpPr>
        <p:spPr>
          <a:xfrm>
            <a:off x="2382209" y="4212494"/>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sp>
        <p:nvSpPr>
          <p:cNvPr id="10" name="正方形/長方形 9">
            <a:extLst>
              <a:ext uri="{FF2B5EF4-FFF2-40B4-BE49-F238E27FC236}">
                <a16:creationId xmlns:a16="http://schemas.microsoft.com/office/drawing/2014/main" id="{9184BAF9-2C1D-58FD-3ED2-C17249735706}"/>
              </a:ext>
            </a:extLst>
          </p:cNvPr>
          <p:cNvSpPr/>
          <p:nvPr/>
        </p:nvSpPr>
        <p:spPr>
          <a:xfrm>
            <a:off x="3165775" y="4646817"/>
            <a:ext cx="75643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修正</a:t>
            </a:r>
            <a:endParaRPr lang="en-US" altLang="ja-JP" sz="1200" dirty="0"/>
          </a:p>
          <a:p>
            <a:pPr algn="ctr"/>
            <a:r>
              <a:rPr lang="ja-JP" altLang="en-US" sz="1200" dirty="0"/>
              <a:t>計画</a:t>
            </a:r>
            <a:endParaRPr kumimoji="1" lang="ja-JP" altLang="en-US" sz="1200" dirty="0"/>
          </a:p>
        </p:txBody>
      </p:sp>
      <p:sp>
        <p:nvSpPr>
          <p:cNvPr id="11" name="正方形/長方形 10">
            <a:extLst>
              <a:ext uri="{FF2B5EF4-FFF2-40B4-BE49-F238E27FC236}">
                <a16:creationId xmlns:a16="http://schemas.microsoft.com/office/drawing/2014/main" id="{E7E1E5B2-7903-0464-B0D7-564418FD0ABE}"/>
              </a:ext>
            </a:extLst>
          </p:cNvPr>
          <p:cNvSpPr/>
          <p:nvPr/>
        </p:nvSpPr>
        <p:spPr>
          <a:xfrm>
            <a:off x="4734821" y="4646817"/>
            <a:ext cx="1021398"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12" name="正方形/長方形 11">
            <a:extLst>
              <a:ext uri="{FF2B5EF4-FFF2-40B4-BE49-F238E27FC236}">
                <a16:creationId xmlns:a16="http://schemas.microsoft.com/office/drawing/2014/main" id="{825B8635-5AC0-7DE9-F87A-9EE1AC5095F6}"/>
              </a:ext>
            </a:extLst>
          </p:cNvPr>
          <p:cNvSpPr/>
          <p:nvPr/>
        </p:nvSpPr>
        <p:spPr>
          <a:xfrm>
            <a:off x="5756219" y="4646817"/>
            <a:ext cx="453650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IEEE T-MSC</a:t>
            </a:r>
            <a:r>
              <a:rPr kumimoji="1" lang="ja-JP" altLang="en-US" sz="1200" dirty="0"/>
              <a:t>）</a:t>
            </a:r>
          </a:p>
        </p:txBody>
      </p:sp>
      <p:sp>
        <p:nvSpPr>
          <p:cNvPr id="13" name="正方形/長方形 12">
            <a:extLst>
              <a:ext uri="{FF2B5EF4-FFF2-40B4-BE49-F238E27FC236}">
                <a16:creationId xmlns:a16="http://schemas.microsoft.com/office/drawing/2014/main" id="{F5C95D05-670E-A591-C2F0-7242FF566F1A}"/>
              </a:ext>
            </a:extLst>
          </p:cNvPr>
          <p:cNvSpPr/>
          <p:nvPr/>
        </p:nvSpPr>
        <p:spPr>
          <a:xfrm>
            <a:off x="2409341" y="4638738"/>
            <a:ext cx="756434" cy="1108284"/>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900" dirty="0"/>
              <a:t>全体構想</a:t>
            </a:r>
            <a:endParaRPr lang="en-US" altLang="ja-JP" sz="900" dirty="0"/>
          </a:p>
          <a:p>
            <a:pPr algn="ctr"/>
            <a:r>
              <a:rPr lang="ja-JP" altLang="en-US" sz="900" dirty="0"/>
              <a:t>・</a:t>
            </a:r>
            <a:endParaRPr lang="en-US" altLang="ja-JP" sz="900" dirty="0"/>
          </a:p>
          <a:p>
            <a:pPr algn="ctr"/>
            <a:r>
              <a:rPr lang="ja-JP" altLang="en-US" sz="900" dirty="0"/>
              <a:t>研究間</a:t>
            </a:r>
            <a:endParaRPr lang="en-US" altLang="ja-JP" sz="900" dirty="0"/>
          </a:p>
          <a:p>
            <a:pPr algn="ctr"/>
            <a:r>
              <a:rPr lang="ja-JP" altLang="en-US" sz="900" dirty="0"/>
              <a:t>差別化戦略</a:t>
            </a:r>
            <a:endParaRPr kumimoji="1" lang="ja-JP" altLang="en-US" sz="900" dirty="0"/>
          </a:p>
        </p:txBody>
      </p:sp>
      <p:sp>
        <p:nvSpPr>
          <p:cNvPr id="14" name="正方形/長方形 13">
            <a:extLst>
              <a:ext uri="{FF2B5EF4-FFF2-40B4-BE49-F238E27FC236}">
                <a16:creationId xmlns:a16="http://schemas.microsoft.com/office/drawing/2014/main" id="{4727FB8C-E203-66D6-C350-1727550BA68A}"/>
              </a:ext>
            </a:extLst>
          </p:cNvPr>
          <p:cNvSpPr/>
          <p:nvPr/>
        </p:nvSpPr>
        <p:spPr>
          <a:xfrm>
            <a:off x="3872038" y="5387801"/>
            <a:ext cx="649296"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アルゴ</a:t>
            </a:r>
            <a:endParaRPr lang="en-US" altLang="ja-JP" sz="1200" dirty="0"/>
          </a:p>
          <a:p>
            <a:pPr algn="ctr"/>
            <a:r>
              <a:rPr lang="ja-JP" altLang="en-US" sz="1200" dirty="0"/>
              <a:t>リズム</a:t>
            </a:r>
            <a:endParaRPr kumimoji="1" lang="ja-JP" altLang="en-US" sz="1200" dirty="0"/>
          </a:p>
        </p:txBody>
      </p:sp>
      <p:sp>
        <p:nvSpPr>
          <p:cNvPr id="15" name="正方形/長方形 14">
            <a:extLst>
              <a:ext uri="{FF2B5EF4-FFF2-40B4-BE49-F238E27FC236}">
                <a16:creationId xmlns:a16="http://schemas.microsoft.com/office/drawing/2014/main" id="{D347D190-827D-1CFE-6143-1E4C1E9C7728}"/>
              </a:ext>
            </a:extLst>
          </p:cNvPr>
          <p:cNvSpPr/>
          <p:nvPr/>
        </p:nvSpPr>
        <p:spPr>
          <a:xfrm>
            <a:off x="4521096" y="5387801"/>
            <a:ext cx="863110"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基礎検証</a:t>
            </a:r>
            <a:endParaRPr kumimoji="1" lang="ja-JP" altLang="en-US" sz="1200" dirty="0"/>
          </a:p>
        </p:txBody>
      </p:sp>
      <p:sp>
        <p:nvSpPr>
          <p:cNvPr id="16" name="正方形/長方形 15">
            <a:extLst>
              <a:ext uri="{FF2B5EF4-FFF2-40B4-BE49-F238E27FC236}">
                <a16:creationId xmlns:a16="http://schemas.microsoft.com/office/drawing/2014/main" id="{A4E2036F-8FE0-21A2-A4AE-78BA5F7CA62D}"/>
              </a:ext>
            </a:extLst>
          </p:cNvPr>
          <p:cNvSpPr/>
          <p:nvPr/>
        </p:nvSpPr>
        <p:spPr>
          <a:xfrm>
            <a:off x="4639852" y="5775678"/>
            <a:ext cx="115212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t>Sim</a:t>
            </a:r>
            <a:endParaRPr kumimoji="1" lang="ja-JP" altLang="en-US" sz="1200" dirty="0"/>
          </a:p>
        </p:txBody>
      </p:sp>
      <p:sp>
        <p:nvSpPr>
          <p:cNvPr id="17" name="正方形/長方形 16">
            <a:extLst>
              <a:ext uri="{FF2B5EF4-FFF2-40B4-BE49-F238E27FC236}">
                <a16:creationId xmlns:a16="http://schemas.microsoft.com/office/drawing/2014/main" id="{99A912C7-1D31-B2A9-F493-4F0DA859DA19}"/>
              </a:ext>
            </a:extLst>
          </p:cNvPr>
          <p:cNvSpPr/>
          <p:nvPr/>
        </p:nvSpPr>
        <p:spPr>
          <a:xfrm>
            <a:off x="5393957" y="5387800"/>
            <a:ext cx="649300"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実験</a:t>
            </a:r>
            <a:endParaRPr lang="en-US" altLang="ja-JP" sz="1200" dirty="0"/>
          </a:p>
          <a:p>
            <a:pPr algn="ctr"/>
            <a:r>
              <a:rPr lang="ja-JP" altLang="en-US" sz="1200" dirty="0"/>
              <a:t>準備</a:t>
            </a:r>
            <a:endParaRPr kumimoji="1" lang="ja-JP" altLang="en-US" sz="1200" dirty="0"/>
          </a:p>
        </p:txBody>
      </p:sp>
      <p:sp>
        <p:nvSpPr>
          <p:cNvPr id="18" name="正方形/長方形 17">
            <a:extLst>
              <a:ext uri="{FF2B5EF4-FFF2-40B4-BE49-F238E27FC236}">
                <a16:creationId xmlns:a16="http://schemas.microsoft.com/office/drawing/2014/main" id="{5AF47D34-71DE-051C-0267-BE0D3FC16F37}"/>
              </a:ext>
            </a:extLst>
          </p:cNvPr>
          <p:cNvSpPr/>
          <p:nvPr/>
        </p:nvSpPr>
        <p:spPr>
          <a:xfrm>
            <a:off x="6046458" y="5387800"/>
            <a:ext cx="591917"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実験</a:t>
            </a:r>
            <a:endParaRPr kumimoji="1" lang="ja-JP" altLang="en-US" sz="1200" dirty="0"/>
          </a:p>
        </p:txBody>
      </p:sp>
      <p:sp>
        <p:nvSpPr>
          <p:cNvPr id="19" name="正方形/長方形 18">
            <a:extLst>
              <a:ext uri="{FF2B5EF4-FFF2-40B4-BE49-F238E27FC236}">
                <a16:creationId xmlns:a16="http://schemas.microsoft.com/office/drawing/2014/main" id="{0E9A9216-15BA-4292-CE37-0CFAB6126EBD}"/>
              </a:ext>
            </a:extLst>
          </p:cNvPr>
          <p:cNvSpPr/>
          <p:nvPr/>
        </p:nvSpPr>
        <p:spPr>
          <a:xfrm>
            <a:off x="6638375" y="5387800"/>
            <a:ext cx="598946"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解析</a:t>
            </a:r>
            <a:endParaRPr kumimoji="1" lang="ja-JP" altLang="en-US" sz="1200" dirty="0"/>
          </a:p>
        </p:txBody>
      </p:sp>
      <p:sp>
        <p:nvSpPr>
          <p:cNvPr id="20" name="正方形/長方形 19">
            <a:extLst>
              <a:ext uri="{FF2B5EF4-FFF2-40B4-BE49-F238E27FC236}">
                <a16:creationId xmlns:a16="http://schemas.microsoft.com/office/drawing/2014/main" id="{5EFA2800-17AB-7752-6F57-E08316FFC504}"/>
              </a:ext>
            </a:extLst>
          </p:cNvPr>
          <p:cNvSpPr/>
          <p:nvPr/>
        </p:nvSpPr>
        <p:spPr>
          <a:xfrm>
            <a:off x="7425524" y="5387800"/>
            <a:ext cx="598947"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21" name="正方形/長方形 20">
            <a:extLst>
              <a:ext uri="{FF2B5EF4-FFF2-40B4-BE49-F238E27FC236}">
                <a16:creationId xmlns:a16="http://schemas.microsoft.com/office/drawing/2014/main" id="{C01388FC-425B-FB8C-6E55-E554C1BA050A}"/>
              </a:ext>
            </a:extLst>
          </p:cNvPr>
          <p:cNvSpPr/>
          <p:nvPr/>
        </p:nvSpPr>
        <p:spPr>
          <a:xfrm>
            <a:off x="8024472" y="5386982"/>
            <a:ext cx="1062225"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RA-L</a:t>
            </a:r>
            <a:endParaRPr kumimoji="1" lang="ja-JP" altLang="en-US" sz="1200" dirty="0"/>
          </a:p>
        </p:txBody>
      </p:sp>
      <p:sp>
        <p:nvSpPr>
          <p:cNvPr id="23" name="正方形/長方形 22">
            <a:extLst>
              <a:ext uri="{FF2B5EF4-FFF2-40B4-BE49-F238E27FC236}">
                <a16:creationId xmlns:a16="http://schemas.microsoft.com/office/drawing/2014/main" id="{639B7431-CC02-E0E0-7A7B-8E856C25F0F8}"/>
              </a:ext>
            </a:extLst>
          </p:cNvPr>
          <p:cNvSpPr/>
          <p:nvPr/>
        </p:nvSpPr>
        <p:spPr>
          <a:xfrm>
            <a:off x="9072862" y="6324005"/>
            <a:ext cx="1042212"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執筆</a:t>
            </a:r>
          </a:p>
        </p:txBody>
      </p:sp>
      <p:cxnSp>
        <p:nvCxnSpPr>
          <p:cNvPr id="24" name="直線矢印コネクタ 23">
            <a:extLst>
              <a:ext uri="{FF2B5EF4-FFF2-40B4-BE49-F238E27FC236}">
                <a16:creationId xmlns:a16="http://schemas.microsoft.com/office/drawing/2014/main" id="{30365D0B-AF33-50BB-C04D-21A9CE2F945A}"/>
              </a:ext>
            </a:extLst>
          </p:cNvPr>
          <p:cNvCxnSpPr>
            <a:cxnSpLocks/>
          </p:cNvCxnSpPr>
          <p:nvPr/>
        </p:nvCxnSpPr>
        <p:spPr>
          <a:xfrm>
            <a:off x="5393957" y="4317313"/>
            <a:ext cx="5976664" cy="0"/>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25CC00FD-B272-ED9B-8D54-62B1F4885308}"/>
              </a:ext>
            </a:extLst>
          </p:cNvPr>
          <p:cNvSpPr txBox="1"/>
          <p:nvPr/>
        </p:nvSpPr>
        <p:spPr>
          <a:xfrm>
            <a:off x="7704243" y="3960808"/>
            <a:ext cx="1569660" cy="369332"/>
          </a:xfrm>
          <a:prstGeom prst="rect">
            <a:avLst/>
          </a:prstGeom>
          <a:noFill/>
        </p:spPr>
        <p:txBody>
          <a:bodyPr wrap="none" rtlCol="0">
            <a:spAutoFit/>
          </a:bodyPr>
          <a:lstStyle/>
          <a:p>
            <a:r>
              <a:rPr kumimoji="1" lang="ja-JP" altLang="en-US" b="1" dirty="0">
                <a:solidFill>
                  <a:srgbClr val="FF0000"/>
                </a:solidFill>
              </a:rPr>
              <a:t>在籍</a:t>
            </a:r>
            <a:r>
              <a:rPr lang="ja-JP" altLang="en-US" b="1" dirty="0">
                <a:solidFill>
                  <a:srgbClr val="FF0000"/>
                </a:solidFill>
              </a:rPr>
              <a:t>予定</a:t>
            </a:r>
            <a:r>
              <a:rPr kumimoji="1" lang="ja-JP" altLang="en-US" b="1" dirty="0">
                <a:solidFill>
                  <a:srgbClr val="FF0000"/>
                </a:solidFill>
              </a:rPr>
              <a:t>期間</a:t>
            </a:r>
          </a:p>
        </p:txBody>
      </p:sp>
      <p:sp>
        <p:nvSpPr>
          <p:cNvPr id="26" name="正方形/長方形 25">
            <a:extLst>
              <a:ext uri="{FF2B5EF4-FFF2-40B4-BE49-F238E27FC236}">
                <a16:creationId xmlns:a16="http://schemas.microsoft.com/office/drawing/2014/main" id="{58831652-7C45-B67C-77F7-DA5A83A9E973}"/>
              </a:ext>
            </a:extLst>
          </p:cNvPr>
          <p:cNvSpPr/>
          <p:nvPr/>
        </p:nvSpPr>
        <p:spPr>
          <a:xfrm>
            <a:off x="10115073" y="6324005"/>
            <a:ext cx="720080"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審査</a:t>
            </a:r>
          </a:p>
        </p:txBody>
      </p:sp>
      <p:sp>
        <p:nvSpPr>
          <p:cNvPr id="34" name="正方形/長方形 33">
            <a:extLst>
              <a:ext uri="{FF2B5EF4-FFF2-40B4-BE49-F238E27FC236}">
                <a16:creationId xmlns:a16="http://schemas.microsoft.com/office/drawing/2014/main" id="{D8A4142D-7286-5A1D-1B92-52551637CD39}"/>
              </a:ext>
            </a:extLst>
          </p:cNvPr>
          <p:cNvSpPr/>
          <p:nvPr/>
        </p:nvSpPr>
        <p:spPr>
          <a:xfrm>
            <a:off x="9072861" y="5386981"/>
            <a:ext cx="129963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RA-L</a:t>
            </a:r>
            <a:r>
              <a:rPr kumimoji="1" lang="ja-JP" altLang="en-US" sz="1200" dirty="0"/>
              <a:t>国際会議</a:t>
            </a:r>
          </a:p>
        </p:txBody>
      </p:sp>
      <p:sp>
        <p:nvSpPr>
          <p:cNvPr id="35" name="正方形/長方形 34">
            <a:extLst>
              <a:ext uri="{FF2B5EF4-FFF2-40B4-BE49-F238E27FC236}">
                <a16:creationId xmlns:a16="http://schemas.microsoft.com/office/drawing/2014/main" id="{A3A5EEDF-B0F3-D32D-7037-A0A392030AAC}"/>
              </a:ext>
            </a:extLst>
          </p:cNvPr>
          <p:cNvSpPr/>
          <p:nvPr/>
        </p:nvSpPr>
        <p:spPr>
          <a:xfrm>
            <a:off x="7425524" y="5747022"/>
            <a:ext cx="70626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36" name="正方形/長方形 35">
            <a:extLst>
              <a:ext uri="{FF2B5EF4-FFF2-40B4-BE49-F238E27FC236}">
                <a16:creationId xmlns:a16="http://schemas.microsoft.com/office/drawing/2014/main" id="{FCACE2D2-6EA6-A30F-C0C6-FB4BD1BBA5CF}"/>
              </a:ext>
            </a:extLst>
          </p:cNvPr>
          <p:cNvSpPr/>
          <p:nvPr/>
        </p:nvSpPr>
        <p:spPr>
          <a:xfrm>
            <a:off x="8127569" y="5747840"/>
            <a:ext cx="3243052"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200" dirty="0"/>
              <a:t>　　　</a:t>
            </a:r>
            <a:r>
              <a:rPr kumimoji="1" lang="ja-JP" altLang="en-US" sz="1200" dirty="0"/>
              <a:t>査読</a:t>
            </a:r>
          </a:p>
        </p:txBody>
      </p:sp>
      <p:graphicFrame>
        <p:nvGraphicFramePr>
          <p:cNvPr id="37" name="表 36">
            <a:extLst>
              <a:ext uri="{FF2B5EF4-FFF2-40B4-BE49-F238E27FC236}">
                <a16:creationId xmlns:a16="http://schemas.microsoft.com/office/drawing/2014/main" id="{364535BF-034A-50C5-0196-BF7A20B69CC7}"/>
              </a:ext>
            </a:extLst>
          </p:cNvPr>
          <p:cNvGraphicFramePr>
            <a:graphicFrameLocks noGrp="1"/>
          </p:cNvGraphicFramePr>
          <p:nvPr>
            <p:extLst>
              <p:ext uri="{D42A27DB-BD31-4B8C-83A1-F6EECF244321}">
                <p14:modId xmlns:p14="http://schemas.microsoft.com/office/powerpoint/2010/main" val="2359962954"/>
              </p:ext>
            </p:extLst>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38" name="正方形/長方形 37">
            <a:extLst>
              <a:ext uri="{FF2B5EF4-FFF2-40B4-BE49-F238E27FC236}">
                <a16:creationId xmlns:a16="http://schemas.microsoft.com/office/drawing/2014/main" id="{AD1ED512-7EC6-7761-E2C2-BA7C051E432E}"/>
              </a:ext>
            </a:extLst>
          </p:cNvPr>
          <p:cNvSpPr/>
          <p:nvPr/>
        </p:nvSpPr>
        <p:spPr>
          <a:xfrm>
            <a:off x="3175527" y="5387801"/>
            <a:ext cx="683318"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基礎</a:t>
            </a:r>
            <a:endParaRPr lang="en-US" altLang="ja-JP" sz="1200" dirty="0"/>
          </a:p>
          <a:p>
            <a:pPr algn="ctr"/>
            <a:r>
              <a:rPr lang="ja-JP" altLang="en-US" sz="1200" dirty="0"/>
              <a:t>検討</a:t>
            </a:r>
            <a:endParaRPr kumimoji="1" lang="ja-JP" altLang="en-US" sz="1200" dirty="0"/>
          </a:p>
        </p:txBody>
      </p:sp>
      <p:sp>
        <p:nvSpPr>
          <p:cNvPr id="39" name="正方形/長方形 38">
            <a:extLst>
              <a:ext uri="{FF2B5EF4-FFF2-40B4-BE49-F238E27FC236}">
                <a16:creationId xmlns:a16="http://schemas.microsoft.com/office/drawing/2014/main" id="{E52EEB24-1620-C1D4-A9ED-325104412102}"/>
              </a:ext>
            </a:extLst>
          </p:cNvPr>
          <p:cNvSpPr/>
          <p:nvPr/>
        </p:nvSpPr>
        <p:spPr>
          <a:xfrm>
            <a:off x="3922208" y="4646817"/>
            <a:ext cx="81261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追加研究</a:t>
            </a:r>
          </a:p>
        </p:txBody>
      </p:sp>
      <p:cxnSp>
        <p:nvCxnSpPr>
          <p:cNvPr id="42" name="直線矢印コネクタ 41">
            <a:extLst>
              <a:ext uri="{FF2B5EF4-FFF2-40B4-BE49-F238E27FC236}">
                <a16:creationId xmlns:a16="http://schemas.microsoft.com/office/drawing/2014/main" id="{73850CF5-DA33-7835-CF74-4CB28AA11274}"/>
              </a:ext>
            </a:extLst>
          </p:cNvPr>
          <p:cNvCxnSpPr>
            <a:cxnSpLocks/>
          </p:cNvCxnSpPr>
          <p:nvPr/>
        </p:nvCxnSpPr>
        <p:spPr>
          <a:xfrm>
            <a:off x="9071616" y="5747022"/>
            <a:ext cx="0" cy="576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CA43567C-0477-9A8E-8F8D-62A13DD8D335}"/>
              </a:ext>
            </a:extLst>
          </p:cNvPr>
          <p:cNvSpPr txBox="1"/>
          <p:nvPr/>
        </p:nvSpPr>
        <p:spPr>
          <a:xfrm>
            <a:off x="9060313" y="6116513"/>
            <a:ext cx="646331" cy="230832"/>
          </a:xfrm>
          <a:prstGeom prst="rect">
            <a:avLst/>
          </a:prstGeom>
          <a:noFill/>
        </p:spPr>
        <p:txBody>
          <a:bodyPr wrap="none" rtlCol="0">
            <a:spAutoFit/>
          </a:bodyPr>
          <a:lstStyle/>
          <a:p>
            <a:r>
              <a:rPr kumimoji="1" lang="ja-JP" altLang="en-US" sz="900" dirty="0"/>
              <a:t>審査請求</a:t>
            </a:r>
          </a:p>
        </p:txBody>
      </p:sp>
      <p:sp>
        <p:nvSpPr>
          <p:cNvPr id="47" name="コンテンツ プレースホルダー 2">
            <a:extLst>
              <a:ext uri="{FF2B5EF4-FFF2-40B4-BE49-F238E27FC236}">
                <a16:creationId xmlns:a16="http://schemas.microsoft.com/office/drawing/2014/main" id="{6CFE0973-588E-6C8E-1DA5-C48DC2A2E6A0}"/>
              </a:ext>
            </a:extLst>
          </p:cNvPr>
          <p:cNvSpPr txBox="1">
            <a:spLocks/>
          </p:cNvSpPr>
          <p:nvPr/>
        </p:nvSpPr>
        <p:spPr>
          <a:xfrm>
            <a:off x="6098366" y="791726"/>
            <a:ext cx="5976662" cy="209506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ja-JP" altLang="en-US" dirty="0"/>
              <a:t>投稿実績・計画</a:t>
            </a:r>
          </a:p>
        </p:txBody>
      </p:sp>
      <p:graphicFrame>
        <p:nvGraphicFramePr>
          <p:cNvPr id="48" name="表 47">
            <a:extLst>
              <a:ext uri="{FF2B5EF4-FFF2-40B4-BE49-F238E27FC236}">
                <a16:creationId xmlns:a16="http://schemas.microsoft.com/office/drawing/2014/main" id="{02675863-FE2B-37EB-F889-B80CD9284BBA}"/>
              </a:ext>
            </a:extLst>
          </p:cNvPr>
          <p:cNvGraphicFramePr>
            <a:graphicFrameLocks noGrp="1"/>
          </p:cNvGraphicFramePr>
          <p:nvPr>
            <p:extLst>
              <p:ext uri="{D42A27DB-BD31-4B8C-83A1-F6EECF244321}">
                <p14:modId xmlns:p14="http://schemas.microsoft.com/office/powerpoint/2010/main" val="387928602"/>
              </p:ext>
            </p:extLst>
          </p:nvPr>
        </p:nvGraphicFramePr>
        <p:xfrm>
          <a:off x="6316098" y="1172282"/>
          <a:ext cx="5718147" cy="1828800"/>
        </p:xfrm>
        <a:graphic>
          <a:graphicData uri="http://schemas.openxmlformats.org/drawingml/2006/table">
            <a:tbl>
              <a:tblPr firstRow="1" firstCol="1" bandRow="1">
                <a:tableStyleId>{073A0DAA-6AF3-43AB-8588-CEC1D06C72B9}</a:tableStyleId>
              </a:tblPr>
              <a:tblGrid>
                <a:gridCol w="242825">
                  <a:extLst>
                    <a:ext uri="{9D8B030D-6E8A-4147-A177-3AD203B41FA5}">
                      <a16:colId xmlns:a16="http://schemas.microsoft.com/office/drawing/2014/main" val="826042160"/>
                    </a:ext>
                  </a:extLst>
                </a:gridCol>
                <a:gridCol w="2152714">
                  <a:extLst>
                    <a:ext uri="{9D8B030D-6E8A-4147-A177-3AD203B41FA5}">
                      <a16:colId xmlns:a16="http://schemas.microsoft.com/office/drawing/2014/main" val="3352844331"/>
                    </a:ext>
                  </a:extLst>
                </a:gridCol>
                <a:gridCol w="1956118">
                  <a:extLst>
                    <a:ext uri="{9D8B030D-6E8A-4147-A177-3AD203B41FA5}">
                      <a16:colId xmlns:a16="http://schemas.microsoft.com/office/drawing/2014/main" val="648223652"/>
                    </a:ext>
                  </a:extLst>
                </a:gridCol>
                <a:gridCol w="1366490">
                  <a:extLst>
                    <a:ext uri="{9D8B030D-6E8A-4147-A177-3AD203B41FA5}">
                      <a16:colId xmlns:a16="http://schemas.microsoft.com/office/drawing/2014/main" val="2190316976"/>
                    </a:ext>
                  </a:extLst>
                </a:gridCol>
              </a:tblGrid>
              <a:tr h="256758">
                <a:tc>
                  <a:txBody>
                    <a:bodyPr/>
                    <a:lstStyle/>
                    <a:p>
                      <a:r>
                        <a:rPr kumimoji="1" lang="en-US" altLang="ja-JP" sz="1400" dirty="0"/>
                        <a:t>#</a:t>
                      </a:r>
                      <a:endParaRPr kumimoji="1" lang="ja-JP" altLang="en-US" sz="1400" dirty="0"/>
                    </a:p>
                  </a:txBody>
                  <a:tcPr/>
                </a:tc>
                <a:tc>
                  <a:txBody>
                    <a:bodyPr/>
                    <a:lstStyle/>
                    <a:p>
                      <a:r>
                        <a:rPr kumimoji="1" lang="ja-JP" altLang="en-US" sz="1400" dirty="0"/>
                        <a:t>論文誌</a:t>
                      </a:r>
                    </a:p>
                  </a:txBody>
                  <a:tcPr/>
                </a:tc>
                <a:tc>
                  <a:txBody>
                    <a:bodyPr/>
                    <a:lstStyle/>
                    <a:p>
                      <a:r>
                        <a:rPr kumimoji="1" lang="ja-JP" altLang="en-US" sz="1400" dirty="0"/>
                        <a:t>内容</a:t>
                      </a:r>
                    </a:p>
                  </a:txBody>
                  <a:tcPr/>
                </a:tc>
                <a:tc>
                  <a:txBody>
                    <a:bodyPr/>
                    <a:lstStyle/>
                    <a:p>
                      <a:r>
                        <a:rPr kumimoji="1" lang="ja-JP" altLang="en-US" sz="1400" dirty="0"/>
                        <a:t>状況</a:t>
                      </a:r>
                    </a:p>
                  </a:txBody>
                  <a:tcPr/>
                </a:tc>
                <a:extLst>
                  <a:ext uri="{0D108BD9-81ED-4DB2-BD59-A6C34878D82A}">
                    <a16:rowId xmlns:a16="http://schemas.microsoft.com/office/drawing/2014/main" val="3544548374"/>
                  </a:ext>
                </a:extLst>
              </a:tr>
              <a:tr h="256758">
                <a:tc>
                  <a:txBody>
                    <a:bodyPr/>
                    <a:lstStyle/>
                    <a:p>
                      <a:r>
                        <a:rPr kumimoji="1" lang="en-US" altLang="ja-JP" sz="1400" dirty="0"/>
                        <a:t>1</a:t>
                      </a:r>
                      <a:endParaRPr kumimoji="1" lang="ja-JP" altLang="en-US" sz="1400" dirty="0"/>
                    </a:p>
                  </a:txBody>
                  <a:tcPr/>
                </a:tc>
                <a:tc>
                  <a:txBody>
                    <a:bodyPr/>
                    <a:lstStyle/>
                    <a:p>
                      <a:r>
                        <a:rPr kumimoji="1" lang="en-US" altLang="ja-JP" sz="1400" dirty="0"/>
                        <a:t>IEEE Access</a:t>
                      </a:r>
                      <a:endParaRPr kumimoji="1" lang="ja-JP" altLang="en-US" sz="1400" dirty="0"/>
                    </a:p>
                  </a:txBody>
                  <a:tcPr/>
                </a:tc>
                <a:tc>
                  <a:txBody>
                    <a:bodyPr/>
                    <a:lstStyle/>
                    <a:p>
                      <a:r>
                        <a:rPr kumimoji="1" lang="ja-JP" altLang="en-US" sz="1400" dirty="0"/>
                        <a:t>最適化</a:t>
                      </a:r>
                      <a:r>
                        <a:rPr kumimoji="1" lang="en-US" altLang="ja-JP" sz="1400" dirty="0"/>
                        <a:t>×</a:t>
                      </a:r>
                      <a:r>
                        <a:rPr kumimoji="1" lang="ja-JP" altLang="en-US" sz="1400" dirty="0"/>
                        <a:t>ロボット</a:t>
                      </a:r>
                    </a:p>
                  </a:txBody>
                  <a:tcPr/>
                </a:tc>
                <a:tc>
                  <a:txBody>
                    <a:bodyPr/>
                    <a:lstStyle/>
                    <a:p>
                      <a:r>
                        <a:rPr kumimoji="1" lang="ja-JP" altLang="en-US" sz="1400" dirty="0"/>
                        <a:t>採択済み</a:t>
                      </a:r>
                    </a:p>
                  </a:txBody>
                  <a:tcPr/>
                </a:tc>
                <a:extLst>
                  <a:ext uri="{0D108BD9-81ED-4DB2-BD59-A6C34878D82A}">
                    <a16:rowId xmlns:a16="http://schemas.microsoft.com/office/drawing/2014/main" val="1847445089"/>
                  </a:ext>
                </a:extLst>
              </a:tr>
              <a:tr h="256758">
                <a:tc>
                  <a:txBody>
                    <a:bodyPr/>
                    <a:lstStyle/>
                    <a:p>
                      <a:r>
                        <a:rPr kumimoji="1" lang="en-US" altLang="ja-JP" sz="1400" dirty="0"/>
                        <a:t>2</a:t>
                      </a:r>
                      <a:endParaRPr kumimoji="1" lang="ja-JP" altLang="en-US" sz="1400" dirty="0"/>
                    </a:p>
                  </a:txBody>
                  <a:tcPr/>
                </a:tc>
                <a:tc>
                  <a:txBody>
                    <a:bodyPr/>
                    <a:lstStyle/>
                    <a:p>
                      <a:r>
                        <a:rPr kumimoji="1" lang="en-US" altLang="ja-JP" sz="1400" dirty="0"/>
                        <a:t>RSJ Advanced Robotics</a:t>
                      </a:r>
                      <a:endParaRPr kumimoji="1" lang="ja-JP" altLang="en-US" sz="1400" dirty="0"/>
                    </a:p>
                  </a:txBody>
                  <a:tcPr/>
                </a:tc>
                <a:tc>
                  <a:txBody>
                    <a:bodyPr/>
                    <a:lstStyle/>
                    <a:p>
                      <a:r>
                        <a:rPr kumimoji="1" lang="en-US" altLang="ja-JP" sz="1400" dirty="0"/>
                        <a:t>#1</a:t>
                      </a:r>
                      <a:r>
                        <a:rPr kumimoji="1" lang="ja-JP" altLang="en-US" sz="1400" dirty="0"/>
                        <a:t>のデータ解析法</a:t>
                      </a:r>
                    </a:p>
                  </a:txBody>
                  <a:tcPr/>
                </a:tc>
                <a:tc>
                  <a:txBody>
                    <a:bodyPr/>
                    <a:lstStyle/>
                    <a:p>
                      <a:r>
                        <a:rPr kumimoji="1" lang="ja-JP" altLang="en-US" sz="1400" dirty="0"/>
                        <a:t>査読再提出中</a:t>
                      </a:r>
                    </a:p>
                  </a:txBody>
                  <a:tcPr/>
                </a:tc>
                <a:extLst>
                  <a:ext uri="{0D108BD9-81ED-4DB2-BD59-A6C34878D82A}">
                    <a16:rowId xmlns:a16="http://schemas.microsoft.com/office/drawing/2014/main" val="2022754988"/>
                  </a:ext>
                </a:extLst>
              </a:tr>
              <a:tr h="256758">
                <a:tc>
                  <a:txBody>
                    <a:bodyPr/>
                    <a:lstStyle/>
                    <a:p>
                      <a:r>
                        <a:rPr kumimoji="1" lang="en-US" altLang="ja-JP" sz="1400" dirty="0"/>
                        <a:t>3</a:t>
                      </a:r>
                      <a:endParaRPr kumimoji="1" lang="ja-JP" altLang="en-US" sz="1400" dirty="0"/>
                    </a:p>
                  </a:txBody>
                  <a:tcPr/>
                </a:tc>
                <a:tc>
                  <a:txBody>
                    <a:bodyPr/>
                    <a:lstStyle/>
                    <a:p>
                      <a:r>
                        <a:rPr kumimoji="1" lang="en-US" altLang="ja-JP" sz="1400" dirty="0"/>
                        <a:t>IEEE T-MSC</a:t>
                      </a:r>
                      <a:endParaRPr kumimoji="1" lang="ja-JP" altLang="en-US" sz="1400" dirty="0"/>
                    </a:p>
                  </a:txBody>
                  <a:tcPr/>
                </a:tc>
                <a:tc>
                  <a:txBody>
                    <a:bodyPr/>
                    <a:lstStyle/>
                    <a:p>
                      <a:r>
                        <a:rPr kumimoji="1" lang="en-US" altLang="ja-JP" sz="1400" dirty="0"/>
                        <a:t>AHP/Fuzzy</a:t>
                      </a:r>
                      <a:r>
                        <a:rPr kumimoji="1" lang="ja-JP" altLang="en-US" sz="1400" dirty="0"/>
                        <a:t>リスク評価</a:t>
                      </a:r>
                    </a:p>
                  </a:txBody>
                  <a:tcPr/>
                </a:tc>
                <a:tc>
                  <a:txBody>
                    <a:bodyPr/>
                    <a:lstStyle/>
                    <a:p>
                      <a:r>
                        <a:rPr kumimoji="1" lang="ja-JP" altLang="en-US" sz="1400" dirty="0"/>
                        <a:t>大枠決定済み</a:t>
                      </a:r>
                    </a:p>
                  </a:txBody>
                  <a:tcPr/>
                </a:tc>
                <a:extLst>
                  <a:ext uri="{0D108BD9-81ED-4DB2-BD59-A6C34878D82A}">
                    <a16:rowId xmlns:a16="http://schemas.microsoft.com/office/drawing/2014/main" val="3531919141"/>
                  </a:ext>
                </a:extLst>
              </a:tr>
              <a:tr h="256758">
                <a:tc>
                  <a:txBody>
                    <a:bodyPr/>
                    <a:lstStyle/>
                    <a:p>
                      <a:r>
                        <a:rPr kumimoji="1" lang="en-US" altLang="ja-JP" sz="1400" dirty="0"/>
                        <a:t>4</a:t>
                      </a:r>
                      <a:endParaRPr kumimoji="1" lang="ja-JP" altLang="en-US" sz="1400" dirty="0"/>
                    </a:p>
                  </a:txBody>
                  <a:tcPr/>
                </a:tc>
                <a:tc>
                  <a:txBody>
                    <a:bodyPr/>
                    <a:lstStyle/>
                    <a:p>
                      <a:r>
                        <a:rPr kumimoji="1" lang="en-US" altLang="ja-JP" sz="1400" dirty="0"/>
                        <a:t>IEEE RA-L </a:t>
                      </a:r>
                      <a:r>
                        <a:rPr kumimoji="1" lang="ja-JP" altLang="en-US" sz="1400" dirty="0"/>
                        <a:t> </a:t>
                      </a:r>
                      <a:r>
                        <a:rPr kumimoji="1" lang="en-US" altLang="ja-JP" sz="1050" dirty="0"/>
                        <a:t>(Letter+</a:t>
                      </a:r>
                      <a:r>
                        <a:rPr kumimoji="1" lang="ja-JP" altLang="en-US" sz="1050" dirty="0"/>
                        <a:t>国際会議</a:t>
                      </a:r>
                      <a:r>
                        <a:rPr kumimoji="1" lang="en-US" altLang="ja-JP" sz="1050" dirty="0"/>
                        <a:t>)</a:t>
                      </a:r>
                      <a:endParaRPr kumimoji="1" lang="ja-JP" altLang="en-US" sz="1050" dirty="0"/>
                    </a:p>
                  </a:txBody>
                  <a:tcPr/>
                </a:tc>
                <a:tc>
                  <a:txBody>
                    <a:bodyPr/>
                    <a:lstStyle/>
                    <a:p>
                      <a:r>
                        <a:rPr kumimoji="1" lang="ja-JP" altLang="en-US" sz="1400" dirty="0"/>
                        <a:t>時系列リスク評価</a:t>
                      </a:r>
                    </a:p>
                  </a:txBody>
                  <a:tcPr/>
                </a:tc>
                <a:tc>
                  <a:txBody>
                    <a:bodyPr/>
                    <a:lstStyle/>
                    <a:p>
                      <a:r>
                        <a:rPr kumimoji="1" lang="ja-JP" altLang="en-US" sz="1400" dirty="0"/>
                        <a:t>新規</a:t>
                      </a:r>
                    </a:p>
                  </a:txBody>
                  <a:tcPr/>
                </a:tc>
                <a:extLst>
                  <a:ext uri="{0D108BD9-81ED-4DB2-BD59-A6C34878D82A}">
                    <a16:rowId xmlns:a16="http://schemas.microsoft.com/office/drawing/2014/main" val="1050182836"/>
                  </a:ext>
                </a:extLst>
              </a:tr>
              <a:tr h="256758">
                <a:tc>
                  <a:txBody>
                    <a:bodyPr/>
                    <a:lstStyle/>
                    <a:p>
                      <a:r>
                        <a:rPr kumimoji="1" lang="en-US" altLang="ja-JP" sz="1400" dirty="0"/>
                        <a:t>5</a:t>
                      </a:r>
                      <a:endParaRPr kumimoji="1" lang="ja-JP" altLang="en-US" sz="1400" dirty="0"/>
                    </a:p>
                  </a:txBody>
                  <a:tcPr/>
                </a:tc>
                <a:tc>
                  <a:txBody>
                    <a:bodyPr/>
                    <a:lstStyle/>
                    <a:p>
                      <a:r>
                        <a:rPr kumimoji="1" lang="ja-JP" altLang="en-US" sz="1400" dirty="0"/>
                        <a:t>未定</a:t>
                      </a:r>
                    </a:p>
                  </a:txBody>
                  <a:tcPr/>
                </a:tc>
                <a:tc>
                  <a:txBody>
                    <a:bodyPr/>
                    <a:lstStyle/>
                    <a:p>
                      <a:r>
                        <a:rPr kumimoji="1" lang="ja-JP" altLang="en-US" sz="1400" dirty="0"/>
                        <a:t>時系列リスク評価</a:t>
                      </a:r>
                    </a:p>
                  </a:txBody>
                  <a:tcPr/>
                </a:tc>
                <a:tc>
                  <a:txBody>
                    <a:bodyPr/>
                    <a:lstStyle/>
                    <a:p>
                      <a:r>
                        <a:rPr kumimoji="1" lang="ja-JP" altLang="en-US" sz="1400" dirty="0"/>
                        <a:t>新規</a:t>
                      </a:r>
                    </a:p>
                  </a:txBody>
                  <a:tcPr/>
                </a:tc>
                <a:extLst>
                  <a:ext uri="{0D108BD9-81ED-4DB2-BD59-A6C34878D82A}">
                    <a16:rowId xmlns:a16="http://schemas.microsoft.com/office/drawing/2014/main" val="2398901194"/>
                  </a:ext>
                </a:extLst>
              </a:tr>
            </a:tbl>
          </a:graphicData>
        </a:graphic>
      </p:graphicFrame>
      <p:sp>
        <p:nvSpPr>
          <p:cNvPr id="22" name="吹き出し: 四角形 21">
            <a:extLst>
              <a:ext uri="{FF2B5EF4-FFF2-40B4-BE49-F238E27FC236}">
                <a16:creationId xmlns:a16="http://schemas.microsoft.com/office/drawing/2014/main" id="{3A4BC665-1CD8-C73C-F973-7C12A341F1E2}"/>
              </a:ext>
            </a:extLst>
          </p:cNvPr>
          <p:cNvSpPr/>
          <p:nvPr/>
        </p:nvSpPr>
        <p:spPr>
          <a:xfrm>
            <a:off x="5878128" y="5818647"/>
            <a:ext cx="1043787"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50" dirty="0"/>
              <a:t>有給休暇取得</a:t>
            </a:r>
            <a:endParaRPr lang="en-US" altLang="ja-JP" sz="1050" dirty="0"/>
          </a:p>
          <a:p>
            <a:pPr algn="ctr"/>
            <a:r>
              <a:rPr kumimoji="1" lang="ja-JP" altLang="en-US" sz="1050" dirty="0"/>
              <a:t>（～</a:t>
            </a:r>
            <a:r>
              <a:rPr kumimoji="1" lang="en-US" altLang="ja-JP" sz="1050" dirty="0"/>
              <a:t>1</a:t>
            </a:r>
            <a:r>
              <a:rPr kumimoji="1" lang="ja-JP" altLang="en-US" sz="1050" dirty="0"/>
              <a:t>週間）</a:t>
            </a:r>
          </a:p>
        </p:txBody>
      </p:sp>
    </p:spTree>
    <p:extLst>
      <p:ext uri="{BB962C8B-B14F-4D97-AF65-F5344CB8AC3E}">
        <p14:creationId xmlns:p14="http://schemas.microsoft.com/office/powerpoint/2010/main" val="12020812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8AA12F-3E6D-7476-844B-1DD202DA18BA}"/>
              </a:ext>
            </a:extLst>
          </p:cNvPr>
          <p:cNvSpPr>
            <a:spLocks noGrp="1"/>
          </p:cNvSpPr>
          <p:nvPr>
            <p:ph type="title"/>
          </p:nvPr>
        </p:nvSpPr>
        <p:spPr/>
        <p:txBody>
          <a:bodyPr/>
          <a:lstStyle/>
          <a:p>
            <a:r>
              <a:rPr kumimoji="1" lang="ja-JP" altLang="en-US" dirty="0"/>
              <a:t>改善点</a:t>
            </a:r>
          </a:p>
        </p:txBody>
      </p:sp>
      <p:sp>
        <p:nvSpPr>
          <p:cNvPr id="3" name="コンテンツ プレースホルダー 2">
            <a:extLst>
              <a:ext uri="{FF2B5EF4-FFF2-40B4-BE49-F238E27FC236}">
                <a16:creationId xmlns:a16="http://schemas.microsoft.com/office/drawing/2014/main" id="{7FDFBE13-0134-BC09-F137-B3930AF402AB}"/>
              </a:ext>
            </a:extLst>
          </p:cNvPr>
          <p:cNvSpPr>
            <a:spLocks noGrp="1"/>
          </p:cNvSpPr>
          <p:nvPr>
            <p:ph idx="1"/>
          </p:nvPr>
        </p:nvSpPr>
        <p:spPr/>
        <p:txBody>
          <a:bodyPr/>
          <a:lstStyle/>
          <a:p>
            <a:r>
              <a:rPr kumimoji="1" lang="ja-JP" altLang="en-US" dirty="0"/>
              <a:t>繁忙期の認識を強化</a:t>
            </a:r>
            <a:endParaRPr kumimoji="1" lang="en-US" altLang="ja-JP" dirty="0"/>
          </a:p>
          <a:p>
            <a:pPr lvl="1"/>
            <a:r>
              <a:rPr lang="en-US" altLang="ja-JP" dirty="0"/>
              <a:t>25</a:t>
            </a:r>
            <a:r>
              <a:rPr lang="ja-JP" altLang="en-US" dirty="0"/>
              <a:t>年下期：初めての〆期</a:t>
            </a:r>
            <a:endParaRPr lang="en-US" altLang="ja-JP" dirty="0"/>
          </a:p>
          <a:p>
            <a:pPr lvl="1"/>
            <a:r>
              <a:rPr kumimoji="1" lang="en-US" altLang="ja-JP" dirty="0"/>
              <a:t>26</a:t>
            </a:r>
            <a:r>
              <a:rPr kumimoji="1" lang="ja-JP" altLang="en-US" dirty="0"/>
              <a:t>年下期：研論</a:t>
            </a:r>
            <a:endParaRPr kumimoji="1" lang="en-US" altLang="ja-JP" dirty="0"/>
          </a:p>
          <a:p>
            <a:pPr lvl="4"/>
            <a:endParaRPr kumimoji="1" lang="en-US" altLang="ja-JP" dirty="0"/>
          </a:p>
          <a:p>
            <a:r>
              <a:rPr kumimoji="1" lang="ja-JP" altLang="en-US" dirty="0"/>
              <a:t>学業単体において，並行作業を減らす</a:t>
            </a:r>
            <a:endParaRPr kumimoji="1" lang="en-US" altLang="ja-JP" dirty="0"/>
          </a:p>
          <a:p>
            <a:pPr lvl="1"/>
            <a:r>
              <a:rPr lang="ja-JP" altLang="en-US" dirty="0"/>
              <a:t>繁忙期：単体を必須（取り組めない時期が生じることを見越す）</a:t>
            </a:r>
            <a:endParaRPr lang="en-US" altLang="ja-JP" dirty="0"/>
          </a:p>
          <a:p>
            <a:pPr lvl="1"/>
            <a:r>
              <a:rPr kumimoji="1" lang="ja-JP" altLang="en-US" dirty="0"/>
              <a:t>その他：高負荷同士を重ねない</a:t>
            </a:r>
            <a:endParaRPr kumimoji="1" lang="en-US" altLang="ja-JP" dirty="0"/>
          </a:p>
          <a:p>
            <a:pPr lvl="4"/>
            <a:endParaRPr kumimoji="1" lang="en-US" altLang="ja-JP" dirty="0"/>
          </a:p>
          <a:p>
            <a:endParaRPr kumimoji="1" lang="ja-JP" altLang="en-US" dirty="0"/>
          </a:p>
        </p:txBody>
      </p:sp>
      <p:sp>
        <p:nvSpPr>
          <p:cNvPr id="4" name="日付プレースホルダー 3">
            <a:extLst>
              <a:ext uri="{FF2B5EF4-FFF2-40B4-BE49-F238E27FC236}">
                <a16:creationId xmlns:a16="http://schemas.microsoft.com/office/drawing/2014/main" id="{79AFD177-F0C3-8B18-D498-36FF812A4BC7}"/>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E806E40D-4988-526D-1E7B-770F4EFC08DC}"/>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D0EC24D4-C254-6346-CD82-204BBB4AEB63}"/>
              </a:ext>
            </a:extLst>
          </p:cNvPr>
          <p:cNvSpPr>
            <a:spLocks noGrp="1"/>
          </p:cNvSpPr>
          <p:nvPr>
            <p:ph type="sldNum" sz="quarter" idx="12"/>
          </p:nvPr>
        </p:nvSpPr>
        <p:spPr/>
        <p:txBody>
          <a:bodyPr/>
          <a:lstStyle/>
          <a:p>
            <a:fld id="{870B1737-2A00-4EFB-9FD3-149FCC30AA13}" type="slidenum">
              <a:rPr lang="ja-JP" altLang="en-US" smtClean="0"/>
              <a:pPr/>
              <a:t>44</a:t>
            </a:fld>
            <a:endParaRPr lang="ja-JP" altLang="en-US"/>
          </a:p>
        </p:txBody>
      </p:sp>
    </p:spTree>
    <p:extLst>
      <p:ext uri="{BB962C8B-B14F-4D97-AF65-F5344CB8AC3E}">
        <p14:creationId xmlns:p14="http://schemas.microsoft.com/office/powerpoint/2010/main" val="3709308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953820-1FD3-1F32-1340-0B2CFAF0EB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C8648D-6371-55D1-BFB3-1923A4F8048B}"/>
              </a:ext>
            </a:extLst>
          </p:cNvPr>
          <p:cNvSpPr>
            <a:spLocks noGrp="1"/>
          </p:cNvSpPr>
          <p:nvPr>
            <p:ph type="title"/>
          </p:nvPr>
        </p:nvSpPr>
        <p:spPr/>
        <p:txBody>
          <a:bodyPr/>
          <a:lstStyle/>
          <a:p>
            <a:r>
              <a:rPr kumimoji="1" lang="ja-JP" altLang="en-US" dirty="0"/>
              <a:t>研究計画（日程・要件）</a:t>
            </a:r>
          </a:p>
        </p:txBody>
      </p:sp>
      <p:sp>
        <p:nvSpPr>
          <p:cNvPr id="3" name="コンテンツ プレースホルダー 2">
            <a:extLst>
              <a:ext uri="{FF2B5EF4-FFF2-40B4-BE49-F238E27FC236}">
                <a16:creationId xmlns:a16="http://schemas.microsoft.com/office/drawing/2014/main" id="{2B8C0636-CED4-3C2B-C5EE-78C07B29F422}"/>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1CD35CB6-EA84-A3EA-594C-889C67C6DA02}"/>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A8995CE6-16B1-2C4A-5E87-D4FD45FF275A}"/>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FB8A7C4D-F947-9084-7A93-24FB4102A9F9}"/>
              </a:ext>
            </a:extLst>
          </p:cNvPr>
          <p:cNvSpPr>
            <a:spLocks noGrp="1"/>
          </p:cNvSpPr>
          <p:nvPr>
            <p:ph type="sldNum" sz="quarter" idx="12"/>
          </p:nvPr>
        </p:nvSpPr>
        <p:spPr/>
        <p:txBody>
          <a:bodyPr/>
          <a:lstStyle/>
          <a:p>
            <a:fld id="{870B1737-2A00-4EFB-9FD3-149FCC30AA13}" type="slidenum">
              <a:rPr lang="ja-JP" altLang="en-US" smtClean="0"/>
              <a:pPr/>
              <a:t>45</a:t>
            </a:fld>
            <a:endParaRPr lang="ja-JP" altLang="en-US"/>
          </a:p>
        </p:txBody>
      </p:sp>
      <p:graphicFrame>
        <p:nvGraphicFramePr>
          <p:cNvPr id="7" name="表 6">
            <a:extLst>
              <a:ext uri="{FF2B5EF4-FFF2-40B4-BE49-F238E27FC236}">
                <a16:creationId xmlns:a16="http://schemas.microsoft.com/office/drawing/2014/main" id="{5D4B14A1-C7D6-686C-C114-CBE580232A16}"/>
              </a:ext>
            </a:extLst>
          </p:cNvPr>
          <p:cNvGraphicFramePr>
            <a:graphicFrameLocks noGrp="1"/>
          </p:cNvGraphicFramePr>
          <p:nvPr>
            <p:extLst>
              <p:ext uri="{D42A27DB-BD31-4B8C-83A1-F6EECF244321}">
                <p14:modId xmlns:p14="http://schemas.microsoft.com/office/powerpoint/2010/main" val="1308959124"/>
              </p:ext>
            </p:extLst>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B261B563-A581-71A3-87A4-C63B43E1F471}"/>
              </a:ext>
            </a:extLst>
          </p:cNvPr>
          <p:cNvSpPr/>
          <p:nvPr/>
        </p:nvSpPr>
        <p:spPr>
          <a:xfrm>
            <a:off x="1493758" y="3733186"/>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43E2AEB4-3D7D-E9D3-C803-2F5582D60075}"/>
              </a:ext>
            </a:extLst>
          </p:cNvPr>
          <p:cNvSpPr/>
          <p:nvPr/>
        </p:nvSpPr>
        <p:spPr>
          <a:xfrm>
            <a:off x="1493758" y="4111039"/>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graphicFrame>
        <p:nvGraphicFramePr>
          <p:cNvPr id="37" name="表 36">
            <a:extLst>
              <a:ext uri="{FF2B5EF4-FFF2-40B4-BE49-F238E27FC236}">
                <a16:creationId xmlns:a16="http://schemas.microsoft.com/office/drawing/2014/main" id="{1B32D622-6D3A-4E84-CFB9-EB9361035A05}"/>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70B0CE23-01FD-419C-288F-EDABD410DFEB}"/>
              </a:ext>
            </a:extLst>
          </p:cNvPr>
          <p:cNvSpPr/>
          <p:nvPr/>
        </p:nvSpPr>
        <p:spPr>
          <a:xfrm>
            <a:off x="5435785" y="4647139"/>
            <a:ext cx="66712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5915E376-024D-7937-8DE6-5845B0957580}"/>
              </a:ext>
            </a:extLst>
          </p:cNvPr>
          <p:cNvSpPr/>
          <p:nvPr/>
        </p:nvSpPr>
        <p:spPr>
          <a:xfrm>
            <a:off x="6753994" y="4647139"/>
            <a:ext cx="3172915"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IEEE T-MSC</a:t>
            </a:r>
            <a:r>
              <a:rPr kumimoji="1" lang="ja-JP" altLang="en-US" sz="1000"/>
              <a:t>）</a:t>
            </a:r>
            <a:endParaRPr kumimoji="1" lang="ja-JP" altLang="en-US" sz="1000" dirty="0"/>
          </a:p>
        </p:txBody>
      </p:sp>
      <p:sp>
        <p:nvSpPr>
          <p:cNvPr id="13" name="正方形/長方形 12">
            <a:extLst>
              <a:ext uri="{FF2B5EF4-FFF2-40B4-BE49-F238E27FC236}">
                <a16:creationId xmlns:a16="http://schemas.microsoft.com/office/drawing/2014/main" id="{11898D6C-AA4C-BCF8-FF53-3F9F9D266A1C}"/>
              </a:ext>
            </a:extLst>
          </p:cNvPr>
          <p:cNvSpPr/>
          <p:nvPr/>
        </p:nvSpPr>
        <p:spPr>
          <a:xfrm>
            <a:off x="1493758" y="4488892"/>
            <a:ext cx="667125" cy="1721957"/>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700" dirty="0"/>
              <a:t>全体構想</a:t>
            </a:r>
            <a:endParaRPr lang="en-US" altLang="ja-JP" sz="700"/>
          </a:p>
          <a:p>
            <a:pPr algn="ctr"/>
            <a:r>
              <a:rPr lang="ja-JP" altLang="en-US" sz="700"/>
              <a:t>・</a:t>
            </a:r>
            <a:endParaRPr lang="en-US" altLang="ja-JP" sz="700"/>
          </a:p>
          <a:p>
            <a:pPr algn="ctr"/>
            <a:r>
              <a:rPr lang="ja-JP" altLang="en-US" sz="700"/>
              <a:t>研究間</a:t>
            </a:r>
            <a:endParaRPr lang="en-US" altLang="ja-JP" sz="700"/>
          </a:p>
          <a:p>
            <a:pPr algn="ctr"/>
            <a:r>
              <a:rPr lang="ja-JP" altLang="en-US" sz="700"/>
              <a:t>差別化</a:t>
            </a:r>
            <a:r>
              <a:rPr lang="ja-JP" altLang="en-US" sz="700" dirty="0"/>
              <a:t>戦略</a:t>
            </a:r>
            <a:endParaRPr kumimoji="1" lang="ja-JP" altLang="en-US" sz="700" dirty="0"/>
          </a:p>
        </p:txBody>
      </p:sp>
      <p:sp>
        <p:nvSpPr>
          <p:cNvPr id="14" name="正方形/長方形 13">
            <a:extLst>
              <a:ext uri="{FF2B5EF4-FFF2-40B4-BE49-F238E27FC236}">
                <a16:creationId xmlns:a16="http://schemas.microsoft.com/office/drawing/2014/main" id="{842FB9A8-0EC7-9E94-FF13-E4BD353D37AF}"/>
              </a:ext>
            </a:extLst>
          </p:cNvPr>
          <p:cNvSpPr/>
          <p:nvPr/>
        </p:nvSpPr>
        <p:spPr>
          <a:xfrm>
            <a:off x="2160884" y="5545940"/>
            <a:ext cx="656033"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アルゴ</a:t>
            </a:r>
            <a:endParaRPr lang="en-US" altLang="ja-JP" sz="1000"/>
          </a:p>
          <a:p>
            <a:pPr algn="ctr"/>
            <a:r>
              <a:rPr lang="ja-JP" altLang="en-US" sz="1000"/>
              <a:t>リズム</a:t>
            </a:r>
            <a:endParaRPr kumimoji="1" lang="ja-JP" altLang="en-US" sz="1000" dirty="0"/>
          </a:p>
        </p:txBody>
      </p:sp>
      <p:sp>
        <p:nvSpPr>
          <p:cNvPr id="15" name="正方形/長方形 14">
            <a:extLst>
              <a:ext uri="{FF2B5EF4-FFF2-40B4-BE49-F238E27FC236}">
                <a16:creationId xmlns:a16="http://schemas.microsoft.com/office/drawing/2014/main" id="{9EDF0572-59E4-338E-67BC-3718A4E7C1BF}"/>
              </a:ext>
            </a:extLst>
          </p:cNvPr>
          <p:cNvSpPr/>
          <p:nvPr/>
        </p:nvSpPr>
        <p:spPr>
          <a:xfrm>
            <a:off x="2807883" y="5545940"/>
            <a:ext cx="8252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網羅解析</a:t>
            </a:r>
            <a:endParaRPr kumimoji="1" lang="ja-JP" altLang="en-US" sz="1000" dirty="0"/>
          </a:p>
        </p:txBody>
      </p:sp>
      <p:sp>
        <p:nvSpPr>
          <p:cNvPr id="16" name="正方形/長方形 15">
            <a:extLst>
              <a:ext uri="{FF2B5EF4-FFF2-40B4-BE49-F238E27FC236}">
                <a16:creationId xmlns:a16="http://schemas.microsoft.com/office/drawing/2014/main" id="{EF2C9921-A34C-03E8-E239-48031CEE6F1A}"/>
              </a:ext>
            </a:extLst>
          </p:cNvPr>
          <p:cNvSpPr/>
          <p:nvPr/>
        </p:nvSpPr>
        <p:spPr>
          <a:xfrm>
            <a:off x="3460923" y="8060534"/>
            <a:ext cx="101610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000"/>
              <a:t>Sim</a:t>
            </a:r>
            <a:endParaRPr kumimoji="1" lang="ja-JP" altLang="en-US" sz="1000" dirty="0"/>
          </a:p>
        </p:txBody>
      </p:sp>
      <p:sp>
        <p:nvSpPr>
          <p:cNvPr id="17" name="正方形/長方形 16">
            <a:extLst>
              <a:ext uri="{FF2B5EF4-FFF2-40B4-BE49-F238E27FC236}">
                <a16:creationId xmlns:a16="http://schemas.microsoft.com/office/drawing/2014/main" id="{5D8D6BAF-C89D-0B1F-9774-2F826EEE5CAD}"/>
              </a:ext>
            </a:extLst>
          </p:cNvPr>
          <p:cNvSpPr/>
          <p:nvPr/>
        </p:nvSpPr>
        <p:spPr>
          <a:xfrm>
            <a:off x="4125463" y="5551893"/>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BF833B02-A0E9-9E73-28CD-21C1F43A2C0A}"/>
              </a:ext>
            </a:extLst>
          </p:cNvPr>
          <p:cNvSpPr/>
          <p:nvPr/>
        </p:nvSpPr>
        <p:spPr>
          <a:xfrm>
            <a:off x="4795791" y="5551894"/>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8D65A839-F79E-57FC-2145-09027EF085AE}"/>
              </a:ext>
            </a:extLst>
          </p:cNvPr>
          <p:cNvSpPr/>
          <p:nvPr/>
        </p:nvSpPr>
        <p:spPr>
          <a:xfrm>
            <a:off x="6774379" y="584213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CAE45346-5BF7-68E5-EF0C-F3CF854CBAE5}"/>
              </a:ext>
            </a:extLst>
          </p:cNvPr>
          <p:cNvSpPr/>
          <p:nvPr/>
        </p:nvSpPr>
        <p:spPr>
          <a:xfrm>
            <a:off x="6766252" y="5485207"/>
            <a:ext cx="5559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EF2B6FFE-AB6C-0FAE-EF52-2F09D39F3A8B}"/>
              </a:ext>
            </a:extLst>
          </p:cNvPr>
          <p:cNvSpPr/>
          <p:nvPr/>
        </p:nvSpPr>
        <p:spPr>
          <a:xfrm>
            <a:off x="7324056" y="5484481"/>
            <a:ext cx="936813"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RA-L</a:t>
            </a:r>
            <a:endParaRPr kumimoji="1" lang="ja-JP" altLang="en-US" sz="1000" dirty="0"/>
          </a:p>
        </p:txBody>
      </p:sp>
      <p:sp>
        <p:nvSpPr>
          <p:cNvPr id="23" name="正方形/長方形 22">
            <a:extLst>
              <a:ext uri="{FF2B5EF4-FFF2-40B4-BE49-F238E27FC236}">
                <a16:creationId xmlns:a16="http://schemas.microsoft.com/office/drawing/2014/main" id="{65ACBB6C-3CFB-F351-C8B9-4C92126E7DE6}"/>
              </a:ext>
            </a:extLst>
          </p:cNvPr>
          <p:cNvSpPr/>
          <p:nvPr/>
        </p:nvSpPr>
        <p:spPr>
          <a:xfrm>
            <a:off x="7450033" y="639949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79EC83CD-F698-06CA-3104-52662E818EA8}"/>
              </a:ext>
            </a:extLst>
          </p:cNvPr>
          <p:cNvSpPr/>
          <p:nvPr/>
        </p:nvSpPr>
        <p:spPr>
          <a:xfrm>
            <a:off x="8369195" y="639949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CE03B261-6FD7-9C2E-43C3-BB92B813D40E}"/>
              </a:ext>
            </a:extLst>
          </p:cNvPr>
          <p:cNvSpPr/>
          <p:nvPr/>
        </p:nvSpPr>
        <p:spPr>
          <a:xfrm>
            <a:off x="9398499" y="5484480"/>
            <a:ext cx="71138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497F9B8F-0E73-44E5-037F-CBBA32B95E2D}"/>
              </a:ext>
            </a:extLst>
          </p:cNvPr>
          <p:cNvSpPr/>
          <p:nvPr/>
        </p:nvSpPr>
        <p:spPr>
          <a:xfrm>
            <a:off x="7441320" y="5844429"/>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D62CB1DA-E518-E24E-90FC-D35E8021E2ED}"/>
              </a:ext>
            </a:extLst>
          </p:cNvPr>
          <p:cNvSpPr/>
          <p:nvPr/>
        </p:nvSpPr>
        <p:spPr>
          <a:xfrm>
            <a:off x="8061493" y="5845247"/>
            <a:ext cx="2860160"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000" dirty="0"/>
              <a:t>　　　</a:t>
            </a:r>
            <a:r>
              <a:rPr kumimoji="1" lang="ja-JP" altLang="en-US" sz="1000" dirty="0"/>
              <a:t>査読</a:t>
            </a:r>
          </a:p>
        </p:txBody>
      </p:sp>
      <p:sp>
        <p:nvSpPr>
          <p:cNvPr id="38" name="正方形/長方形 37">
            <a:extLst>
              <a:ext uri="{FF2B5EF4-FFF2-40B4-BE49-F238E27FC236}">
                <a16:creationId xmlns:a16="http://schemas.microsoft.com/office/drawing/2014/main" id="{F7633DCE-6FBB-11AD-E8D6-4217D8690B1C}"/>
              </a:ext>
            </a:extLst>
          </p:cNvPr>
          <p:cNvSpPr/>
          <p:nvPr/>
        </p:nvSpPr>
        <p:spPr>
          <a:xfrm>
            <a:off x="-1044519" y="5338252"/>
            <a:ext cx="602642"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基礎</a:t>
            </a:r>
            <a:endParaRPr lang="en-US" altLang="ja-JP" sz="1000" dirty="0"/>
          </a:p>
          <a:p>
            <a:pPr algn="ctr"/>
            <a:r>
              <a:rPr lang="ja-JP" altLang="en-US" sz="1000" dirty="0"/>
              <a:t>検討</a:t>
            </a:r>
            <a:endParaRPr kumimoji="1" lang="ja-JP" altLang="en-US" sz="1000" dirty="0"/>
          </a:p>
        </p:txBody>
      </p:sp>
      <p:sp>
        <p:nvSpPr>
          <p:cNvPr id="39" name="正方形/長方形 38">
            <a:extLst>
              <a:ext uri="{FF2B5EF4-FFF2-40B4-BE49-F238E27FC236}">
                <a16:creationId xmlns:a16="http://schemas.microsoft.com/office/drawing/2014/main" id="{51FE59F1-7426-F2F6-B1FF-F082C949F6D7}"/>
              </a:ext>
            </a:extLst>
          </p:cNvPr>
          <p:cNvSpPr/>
          <p:nvPr/>
        </p:nvSpPr>
        <p:spPr>
          <a:xfrm>
            <a:off x="2828008" y="6931673"/>
            <a:ext cx="71667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追加研究</a:t>
            </a:r>
          </a:p>
        </p:txBody>
      </p:sp>
      <p:cxnSp>
        <p:nvCxnSpPr>
          <p:cNvPr id="42" name="直線矢印コネクタ 41">
            <a:extLst>
              <a:ext uri="{FF2B5EF4-FFF2-40B4-BE49-F238E27FC236}">
                <a16:creationId xmlns:a16="http://schemas.microsoft.com/office/drawing/2014/main" id="{898073B7-C9E9-2220-7E45-5D038BD5E597}"/>
              </a:ext>
            </a:extLst>
          </p:cNvPr>
          <p:cNvCxnSpPr>
            <a:cxnSpLocks/>
          </p:cNvCxnSpPr>
          <p:nvPr/>
        </p:nvCxnSpPr>
        <p:spPr>
          <a:xfrm>
            <a:off x="8247569" y="5844521"/>
            <a:ext cx="0" cy="576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27B35BFF-F245-5F8F-233B-65AD695E0302}"/>
              </a:ext>
            </a:extLst>
          </p:cNvPr>
          <p:cNvSpPr txBox="1"/>
          <p:nvPr/>
        </p:nvSpPr>
        <p:spPr>
          <a:xfrm>
            <a:off x="8237600" y="6214012"/>
            <a:ext cx="492443" cy="184666"/>
          </a:xfrm>
          <a:prstGeom prst="rect">
            <a:avLst/>
          </a:prstGeom>
          <a:noFill/>
        </p:spPr>
        <p:txBody>
          <a:bodyPr wrap="none" rtlCol="0">
            <a:spAutoFit/>
          </a:bodyPr>
          <a:lstStyle/>
          <a:p>
            <a:r>
              <a:rPr kumimoji="1" lang="ja-JP" altLang="en-US" sz="600" dirty="0"/>
              <a:t>審査請求</a:t>
            </a:r>
          </a:p>
        </p:txBody>
      </p:sp>
      <p:sp>
        <p:nvSpPr>
          <p:cNvPr id="22" name="吹き出し: 四角形 21">
            <a:extLst>
              <a:ext uri="{FF2B5EF4-FFF2-40B4-BE49-F238E27FC236}">
                <a16:creationId xmlns:a16="http://schemas.microsoft.com/office/drawing/2014/main" id="{4E571E32-ADC5-A6C1-7C69-C554E7D836D2}"/>
              </a:ext>
            </a:extLst>
          </p:cNvPr>
          <p:cNvSpPr/>
          <p:nvPr/>
        </p:nvSpPr>
        <p:spPr>
          <a:xfrm>
            <a:off x="4730623" y="5969740"/>
            <a:ext cx="920552"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有給休暇取得</a:t>
            </a:r>
            <a:endParaRPr lang="en-US" altLang="ja-JP" sz="800"/>
          </a:p>
          <a:p>
            <a:pPr algn="ctr"/>
            <a:r>
              <a:rPr kumimoji="1" lang="ja-JP" altLang="en-US" sz="800"/>
              <a:t>（</a:t>
            </a:r>
            <a:r>
              <a:rPr kumimoji="1" lang="ja-JP" altLang="en-US" sz="800" dirty="0"/>
              <a:t>～</a:t>
            </a:r>
            <a:r>
              <a:rPr kumimoji="1" lang="en-US" altLang="ja-JP" sz="800"/>
              <a:t>1</a:t>
            </a:r>
            <a:r>
              <a:rPr kumimoji="1" lang="ja-JP" altLang="en-US" sz="800"/>
              <a:t>週間</a:t>
            </a:r>
            <a:r>
              <a:rPr kumimoji="1" lang="ja-JP" altLang="en-US" sz="800" dirty="0"/>
              <a:t>）</a:t>
            </a:r>
          </a:p>
        </p:txBody>
      </p:sp>
      <p:sp>
        <p:nvSpPr>
          <p:cNvPr id="28" name="正方形/長方形 27">
            <a:extLst>
              <a:ext uri="{FF2B5EF4-FFF2-40B4-BE49-F238E27FC236}">
                <a16:creationId xmlns:a16="http://schemas.microsoft.com/office/drawing/2014/main" id="{7FCBF850-7CEB-EBFB-0D27-D6548A9A637E}"/>
              </a:ext>
            </a:extLst>
          </p:cNvPr>
          <p:cNvSpPr/>
          <p:nvPr/>
        </p:nvSpPr>
        <p:spPr>
          <a:xfrm>
            <a:off x="4784700" y="4647139"/>
            <a:ext cx="66712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追加</a:t>
            </a:r>
            <a:endParaRPr lang="en-US" altLang="ja-JP" sz="1000" dirty="0"/>
          </a:p>
          <a:p>
            <a:pPr algn="ctr"/>
            <a:r>
              <a:rPr lang="ja-JP" altLang="en-US" sz="1000" dirty="0"/>
              <a:t>解析？</a:t>
            </a:r>
            <a:endParaRPr kumimoji="1" lang="ja-JP" altLang="en-US" sz="1000" dirty="0"/>
          </a:p>
        </p:txBody>
      </p:sp>
      <p:cxnSp>
        <p:nvCxnSpPr>
          <p:cNvPr id="30" name="直線矢印コネクタ 29">
            <a:extLst>
              <a:ext uri="{FF2B5EF4-FFF2-40B4-BE49-F238E27FC236}">
                <a16:creationId xmlns:a16="http://schemas.microsoft.com/office/drawing/2014/main" id="{6CF52689-E1C5-1555-CAAE-CE539F27C6BA}"/>
              </a:ext>
            </a:extLst>
          </p:cNvPr>
          <p:cNvCxnSpPr>
            <a:cxnSpLocks/>
            <a:stCxn id="18" idx="0"/>
            <a:endCxn id="28" idx="2"/>
          </p:cNvCxnSpPr>
          <p:nvPr/>
        </p:nvCxnSpPr>
        <p:spPr>
          <a:xfrm flipH="1" flipV="1">
            <a:off x="5118262" y="5007179"/>
            <a:ext cx="5546" cy="544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F4D4B000-9EB9-3B25-E2B0-96ADBCF07192}"/>
              </a:ext>
            </a:extLst>
          </p:cNvPr>
          <p:cNvSpPr txBox="1"/>
          <p:nvPr/>
        </p:nvSpPr>
        <p:spPr>
          <a:xfrm>
            <a:off x="5081788" y="5330009"/>
            <a:ext cx="569387" cy="184666"/>
          </a:xfrm>
          <a:prstGeom prst="rect">
            <a:avLst/>
          </a:prstGeom>
          <a:noFill/>
        </p:spPr>
        <p:txBody>
          <a:bodyPr wrap="none" rtlCol="0">
            <a:spAutoFit/>
          </a:bodyPr>
          <a:lstStyle/>
          <a:p>
            <a:r>
              <a:rPr kumimoji="1" lang="ja-JP" altLang="en-US" sz="600" dirty="0"/>
              <a:t>データ</a:t>
            </a:r>
            <a:r>
              <a:rPr lang="ja-JP" altLang="en-US" sz="600" dirty="0"/>
              <a:t>転用</a:t>
            </a:r>
            <a:endParaRPr kumimoji="1" lang="ja-JP" altLang="en-US" sz="600" dirty="0"/>
          </a:p>
        </p:txBody>
      </p:sp>
      <p:sp>
        <p:nvSpPr>
          <p:cNvPr id="44" name="正方形/長方形 43">
            <a:extLst>
              <a:ext uri="{FF2B5EF4-FFF2-40B4-BE49-F238E27FC236}">
                <a16:creationId xmlns:a16="http://schemas.microsoft.com/office/drawing/2014/main" id="{E3BFE3F8-372B-F666-2C53-FA5E292284D6}"/>
              </a:ext>
            </a:extLst>
          </p:cNvPr>
          <p:cNvSpPr/>
          <p:nvPr/>
        </p:nvSpPr>
        <p:spPr>
          <a:xfrm>
            <a:off x="2152225" y="4647139"/>
            <a:ext cx="66329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見せ方</a:t>
            </a:r>
            <a:endParaRPr lang="en-US" altLang="ja-JP" sz="1000" dirty="0"/>
          </a:p>
          <a:p>
            <a:pPr algn="ctr"/>
            <a:r>
              <a:rPr kumimoji="1" lang="ja-JP" altLang="en-US" sz="1000" dirty="0"/>
              <a:t>修正</a:t>
            </a:r>
          </a:p>
        </p:txBody>
      </p:sp>
      <p:sp>
        <p:nvSpPr>
          <p:cNvPr id="51" name="テキスト ボックス 50">
            <a:extLst>
              <a:ext uri="{FF2B5EF4-FFF2-40B4-BE49-F238E27FC236}">
                <a16:creationId xmlns:a16="http://schemas.microsoft.com/office/drawing/2014/main" id="{3AC74CB1-E7F4-52CE-7CF6-DEE705AC4FD4}"/>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E40CAF3A-55F1-041F-B751-4B2C2EEF4DA6}"/>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3" name="正方形/長方形 52">
            <a:extLst>
              <a:ext uri="{FF2B5EF4-FFF2-40B4-BE49-F238E27FC236}">
                <a16:creationId xmlns:a16="http://schemas.microsoft.com/office/drawing/2014/main" id="{AE116C32-26AC-4247-FC1E-6BDA7D1FD8B7}"/>
              </a:ext>
            </a:extLst>
          </p:cNvPr>
          <p:cNvSpPr/>
          <p:nvPr/>
        </p:nvSpPr>
        <p:spPr>
          <a:xfrm>
            <a:off x="6456040" y="4647139"/>
            <a:ext cx="29795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提</a:t>
            </a:r>
            <a:endParaRPr lang="en-US" altLang="ja-JP" sz="1000" dirty="0"/>
          </a:p>
          <a:p>
            <a:pPr algn="ctr"/>
            <a:r>
              <a:rPr lang="ja-JP" altLang="en-US" sz="1000" dirty="0"/>
              <a:t>出</a:t>
            </a:r>
            <a:endParaRPr kumimoji="1" lang="ja-JP" altLang="en-US" sz="1000" dirty="0"/>
          </a:p>
        </p:txBody>
      </p:sp>
      <p:cxnSp>
        <p:nvCxnSpPr>
          <p:cNvPr id="54" name="直線矢印コネクタ 53">
            <a:extLst>
              <a:ext uri="{FF2B5EF4-FFF2-40B4-BE49-F238E27FC236}">
                <a16:creationId xmlns:a16="http://schemas.microsoft.com/office/drawing/2014/main" id="{B30143BB-20BB-C682-4AAB-E1520F7DAF5A}"/>
              </a:ext>
            </a:extLst>
          </p:cNvPr>
          <p:cNvCxnSpPr>
            <a:cxnSpLocks/>
          </p:cNvCxnSpPr>
          <p:nvPr/>
        </p:nvCxnSpPr>
        <p:spPr>
          <a:xfrm>
            <a:off x="4165600" y="4119291"/>
            <a:ext cx="5232899" cy="0"/>
          </a:xfrm>
          <a:prstGeom prst="straightConnector1">
            <a:avLst/>
          </a:prstGeom>
          <a:ln w="5715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3483FD53-1127-0C1E-64C8-AA2CFEE56D16}"/>
              </a:ext>
            </a:extLst>
          </p:cNvPr>
          <p:cNvSpPr txBox="1"/>
          <p:nvPr/>
        </p:nvSpPr>
        <p:spPr>
          <a:xfrm>
            <a:off x="6435513" y="1245778"/>
            <a:ext cx="5219506" cy="830997"/>
          </a:xfrm>
          <a:prstGeom prst="rect">
            <a:avLst/>
          </a:prstGeom>
          <a:noFill/>
        </p:spPr>
        <p:txBody>
          <a:bodyPr wrap="none" rtlCol="0">
            <a:spAutoFit/>
          </a:bodyPr>
          <a:lstStyle/>
          <a:p>
            <a:r>
              <a:rPr lang="en-US" altLang="ja-JP" sz="2400" dirty="0">
                <a:highlight>
                  <a:srgbClr val="FFFF00"/>
                </a:highlight>
              </a:rPr>
              <a:t>2</a:t>
            </a:r>
            <a:r>
              <a:rPr lang="ja-JP" altLang="en-US" sz="2400" dirty="0">
                <a:highlight>
                  <a:srgbClr val="FFFF00"/>
                </a:highlight>
              </a:rPr>
              <a:t>年</a:t>
            </a:r>
            <a:endParaRPr lang="en-US" altLang="ja-JP" sz="2400" dirty="0">
              <a:highlight>
                <a:srgbClr val="FFFF00"/>
              </a:highlight>
            </a:endParaRPr>
          </a:p>
          <a:p>
            <a:r>
              <a:rPr kumimoji="1" lang="ja-JP" altLang="en-US" sz="2400" dirty="0">
                <a:highlight>
                  <a:srgbClr val="FFFF00"/>
                </a:highlight>
              </a:rPr>
              <a:t>△</a:t>
            </a:r>
            <a:r>
              <a:rPr kumimoji="1" lang="en-US" altLang="ja-JP" sz="2400" dirty="0">
                <a:highlight>
                  <a:srgbClr val="FFFF00"/>
                </a:highlight>
              </a:rPr>
              <a:t>IEEE T-MSC</a:t>
            </a:r>
            <a:r>
              <a:rPr kumimoji="1" lang="ja-JP" altLang="en-US" sz="2400" dirty="0">
                <a:highlight>
                  <a:srgbClr val="FFFF00"/>
                </a:highlight>
              </a:rPr>
              <a:t>が間に合わない可能性</a:t>
            </a:r>
          </a:p>
        </p:txBody>
      </p:sp>
    </p:spTree>
    <p:extLst>
      <p:ext uri="{BB962C8B-B14F-4D97-AF65-F5344CB8AC3E}">
        <p14:creationId xmlns:p14="http://schemas.microsoft.com/office/powerpoint/2010/main" val="32823950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7208933-9EDF-E735-C4C8-844AAFFE69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3B024D9-58FC-4114-C949-B2B6B27EE827}"/>
              </a:ext>
            </a:extLst>
          </p:cNvPr>
          <p:cNvSpPr>
            <a:spLocks noGrp="1"/>
          </p:cNvSpPr>
          <p:nvPr>
            <p:ph type="title"/>
          </p:nvPr>
        </p:nvSpPr>
        <p:spPr/>
        <p:txBody>
          <a:bodyPr/>
          <a:lstStyle/>
          <a:p>
            <a:r>
              <a:rPr kumimoji="1" lang="ja-JP" altLang="en-US" dirty="0"/>
              <a:t>研究計画（日程・要件）</a:t>
            </a:r>
          </a:p>
        </p:txBody>
      </p:sp>
      <p:sp>
        <p:nvSpPr>
          <p:cNvPr id="3" name="コンテンツ プレースホルダー 2">
            <a:extLst>
              <a:ext uri="{FF2B5EF4-FFF2-40B4-BE49-F238E27FC236}">
                <a16:creationId xmlns:a16="http://schemas.microsoft.com/office/drawing/2014/main" id="{CA23D831-B324-5463-0DDF-11BF67106462}"/>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21097B7B-275F-5C52-C653-A93AF07C8F22}"/>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13326760-4EE8-07FB-D2C3-67D27EB613BF}"/>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044B8A67-45B8-3894-6A11-00950DFEDAA0}"/>
              </a:ext>
            </a:extLst>
          </p:cNvPr>
          <p:cNvSpPr>
            <a:spLocks noGrp="1"/>
          </p:cNvSpPr>
          <p:nvPr>
            <p:ph type="sldNum" sz="quarter" idx="12"/>
          </p:nvPr>
        </p:nvSpPr>
        <p:spPr/>
        <p:txBody>
          <a:bodyPr/>
          <a:lstStyle/>
          <a:p>
            <a:fld id="{870B1737-2A00-4EFB-9FD3-149FCC30AA13}" type="slidenum">
              <a:rPr lang="ja-JP" altLang="en-US" smtClean="0"/>
              <a:pPr/>
              <a:t>46</a:t>
            </a:fld>
            <a:endParaRPr lang="ja-JP" altLang="en-US"/>
          </a:p>
        </p:txBody>
      </p:sp>
      <p:graphicFrame>
        <p:nvGraphicFramePr>
          <p:cNvPr id="7" name="表 6">
            <a:extLst>
              <a:ext uri="{FF2B5EF4-FFF2-40B4-BE49-F238E27FC236}">
                <a16:creationId xmlns:a16="http://schemas.microsoft.com/office/drawing/2014/main" id="{12A34AF4-132C-F815-52B8-72F2734E504E}"/>
              </a:ext>
            </a:extLst>
          </p:cNvPr>
          <p:cNvGraphicFramePr>
            <a:graphicFrameLocks noGrp="1"/>
          </p:cNvGraphicFramePr>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40A6E947-44E3-7620-F43D-292E2445011A}"/>
              </a:ext>
            </a:extLst>
          </p:cNvPr>
          <p:cNvSpPr/>
          <p:nvPr/>
        </p:nvSpPr>
        <p:spPr>
          <a:xfrm>
            <a:off x="1493758" y="3733186"/>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C6E719A2-A9FD-955E-BEE4-A8EECD197750}"/>
              </a:ext>
            </a:extLst>
          </p:cNvPr>
          <p:cNvSpPr/>
          <p:nvPr/>
        </p:nvSpPr>
        <p:spPr>
          <a:xfrm>
            <a:off x="1493758" y="4111039"/>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graphicFrame>
        <p:nvGraphicFramePr>
          <p:cNvPr id="37" name="表 36">
            <a:extLst>
              <a:ext uri="{FF2B5EF4-FFF2-40B4-BE49-F238E27FC236}">
                <a16:creationId xmlns:a16="http://schemas.microsoft.com/office/drawing/2014/main" id="{BAC672D8-A8DD-407D-12D1-A24A3F144C68}"/>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C37DA205-9ECD-7474-BB35-184BC3F4CDEB}"/>
              </a:ext>
            </a:extLst>
          </p:cNvPr>
          <p:cNvSpPr/>
          <p:nvPr/>
        </p:nvSpPr>
        <p:spPr>
          <a:xfrm>
            <a:off x="5435785" y="4647139"/>
            <a:ext cx="66712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EB8A65C4-B612-E434-5470-8188C9D6EDFA}"/>
              </a:ext>
            </a:extLst>
          </p:cNvPr>
          <p:cNvSpPr/>
          <p:nvPr/>
        </p:nvSpPr>
        <p:spPr>
          <a:xfrm>
            <a:off x="6753994" y="4647139"/>
            <a:ext cx="3172915"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IEEE T-MSC</a:t>
            </a:r>
            <a:r>
              <a:rPr kumimoji="1" lang="ja-JP" altLang="en-US" sz="1000"/>
              <a:t>）</a:t>
            </a:r>
            <a:endParaRPr kumimoji="1" lang="ja-JP" altLang="en-US" sz="1000" dirty="0"/>
          </a:p>
        </p:txBody>
      </p:sp>
      <p:sp>
        <p:nvSpPr>
          <p:cNvPr id="13" name="正方形/長方形 12">
            <a:extLst>
              <a:ext uri="{FF2B5EF4-FFF2-40B4-BE49-F238E27FC236}">
                <a16:creationId xmlns:a16="http://schemas.microsoft.com/office/drawing/2014/main" id="{61165A53-8579-3E57-3174-B3F75641F6DB}"/>
              </a:ext>
            </a:extLst>
          </p:cNvPr>
          <p:cNvSpPr/>
          <p:nvPr/>
        </p:nvSpPr>
        <p:spPr>
          <a:xfrm>
            <a:off x="1493758" y="4488892"/>
            <a:ext cx="667125" cy="1721957"/>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700" dirty="0"/>
              <a:t>全体構想</a:t>
            </a:r>
            <a:endParaRPr lang="en-US" altLang="ja-JP" sz="700"/>
          </a:p>
          <a:p>
            <a:pPr algn="ctr"/>
            <a:r>
              <a:rPr lang="ja-JP" altLang="en-US" sz="700"/>
              <a:t>・</a:t>
            </a:r>
            <a:endParaRPr lang="en-US" altLang="ja-JP" sz="700"/>
          </a:p>
          <a:p>
            <a:pPr algn="ctr"/>
            <a:r>
              <a:rPr lang="ja-JP" altLang="en-US" sz="700"/>
              <a:t>研究間</a:t>
            </a:r>
            <a:endParaRPr lang="en-US" altLang="ja-JP" sz="700"/>
          </a:p>
          <a:p>
            <a:pPr algn="ctr"/>
            <a:r>
              <a:rPr lang="ja-JP" altLang="en-US" sz="700"/>
              <a:t>差別化</a:t>
            </a:r>
            <a:r>
              <a:rPr lang="ja-JP" altLang="en-US" sz="700" dirty="0"/>
              <a:t>戦略</a:t>
            </a:r>
            <a:endParaRPr kumimoji="1" lang="ja-JP" altLang="en-US" sz="700" dirty="0"/>
          </a:p>
        </p:txBody>
      </p:sp>
      <p:sp>
        <p:nvSpPr>
          <p:cNvPr id="14" name="正方形/長方形 13">
            <a:extLst>
              <a:ext uri="{FF2B5EF4-FFF2-40B4-BE49-F238E27FC236}">
                <a16:creationId xmlns:a16="http://schemas.microsoft.com/office/drawing/2014/main" id="{2948E780-A390-5DEE-D324-FFC4003C41E8}"/>
              </a:ext>
            </a:extLst>
          </p:cNvPr>
          <p:cNvSpPr/>
          <p:nvPr/>
        </p:nvSpPr>
        <p:spPr>
          <a:xfrm>
            <a:off x="2160884" y="5545940"/>
            <a:ext cx="656033"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アルゴ</a:t>
            </a:r>
            <a:endParaRPr lang="en-US" altLang="ja-JP" sz="1000"/>
          </a:p>
          <a:p>
            <a:pPr algn="ctr"/>
            <a:r>
              <a:rPr lang="ja-JP" altLang="en-US" sz="1000"/>
              <a:t>リズム</a:t>
            </a:r>
            <a:endParaRPr kumimoji="1" lang="ja-JP" altLang="en-US" sz="1000" dirty="0"/>
          </a:p>
        </p:txBody>
      </p:sp>
      <p:sp>
        <p:nvSpPr>
          <p:cNvPr id="15" name="正方形/長方形 14">
            <a:extLst>
              <a:ext uri="{FF2B5EF4-FFF2-40B4-BE49-F238E27FC236}">
                <a16:creationId xmlns:a16="http://schemas.microsoft.com/office/drawing/2014/main" id="{7E92D19A-BD99-CDAC-5192-25022F512FBB}"/>
              </a:ext>
            </a:extLst>
          </p:cNvPr>
          <p:cNvSpPr/>
          <p:nvPr/>
        </p:nvSpPr>
        <p:spPr>
          <a:xfrm>
            <a:off x="2807883" y="5545940"/>
            <a:ext cx="8252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網羅解析</a:t>
            </a:r>
            <a:endParaRPr kumimoji="1" lang="ja-JP" altLang="en-US" sz="1000" dirty="0"/>
          </a:p>
        </p:txBody>
      </p:sp>
      <p:sp>
        <p:nvSpPr>
          <p:cNvPr id="16" name="正方形/長方形 15">
            <a:extLst>
              <a:ext uri="{FF2B5EF4-FFF2-40B4-BE49-F238E27FC236}">
                <a16:creationId xmlns:a16="http://schemas.microsoft.com/office/drawing/2014/main" id="{083EEF0C-92C2-5FAD-30F0-38C1AF814582}"/>
              </a:ext>
            </a:extLst>
          </p:cNvPr>
          <p:cNvSpPr/>
          <p:nvPr/>
        </p:nvSpPr>
        <p:spPr>
          <a:xfrm>
            <a:off x="3460923" y="8060534"/>
            <a:ext cx="101610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000"/>
              <a:t>Sim</a:t>
            </a:r>
            <a:endParaRPr kumimoji="1" lang="ja-JP" altLang="en-US" sz="1000" dirty="0"/>
          </a:p>
        </p:txBody>
      </p:sp>
      <p:sp>
        <p:nvSpPr>
          <p:cNvPr id="17" name="正方形/長方形 16">
            <a:extLst>
              <a:ext uri="{FF2B5EF4-FFF2-40B4-BE49-F238E27FC236}">
                <a16:creationId xmlns:a16="http://schemas.microsoft.com/office/drawing/2014/main" id="{C5C5BE13-8CD3-CC66-B51B-F9AE1124FF47}"/>
              </a:ext>
            </a:extLst>
          </p:cNvPr>
          <p:cNvSpPr/>
          <p:nvPr/>
        </p:nvSpPr>
        <p:spPr>
          <a:xfrm>
            <a:off x="4125463" y="5551893"/>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7B78CD4A-4348-87BC-BF52-2603F1AA4664}"/>
              </a:ext>
            </a:extLst>
          </p:cNvPr>
          <p:cNvSpPr/>
          <p:nvPr/>
        </p:nvSpPr>
        <p:spPr>
          <a:xfrm>
            <a:off x="4795791" y="5551894"/>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EEFFC7EE-039D-5788-1333-27BA7D9525A6}"/>
              </a:ext>
            </a:extLst>
          </p:cNvPr>
          <p:cNvSpPr/>
          <p:nvPr/>
        </p:nvSpPr>
        <p:spPr>
          <a:xfrm>
            <a:off x="6774379" y="584213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2F8A0B16-5DA4-447A-D1B6-067831D452E9}"/>
              </a:ext>
            </a:extLst>
          </p:cNvPr>
          <p:cNvSpPr/>
          <p:nvPr/>
        </p:nvSpPr>
        <p:spPr>
          <a:xfrm>
            <a:off x="6766252" y="5485207"/>
            <a:ext cx="5559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990C05D2-4381-2850-5A4C-2E1057B281F4}"/>
              </a:ext>
            </a:extLst>
          </p:cNvPr>
          <p:cNvSpPr/>
          <p:nvPr/>
        </p:nvSpPr>
        <p:spPr>
          <a:xfrm>
            <a:off x="7324056" y="5484481"/>
            <a:ext cx="936813"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RA-L</a:t>
            </a:r>
            <a:endParaRPr kumimoji="1" lang="ja-JP" altLang="en-US" sz="1000" dirty="0"/>
          </a:p>
        </p:txBody>
      </p:sp>
      <p:sp>
        <p:nvSpPr>
          <p:cNvPr id="23" name="正方形/長方形 22">
            <a:extLst>
              <a:ext uri="{FF2B5EF4-FFF2-40B4-BE49-F238E27FC236}">
                <a16:creationId xmlns:a16="http://schemas.microsoft.com/office/drawing/2014/main" id="{CB0BE44D-BDFC-AF88-43F3-72156460BA81}"/>
              </a:ext>
            </a:extLst>
          </p:cNvPr>
          <p:cNvSpPr/>
          <p:nvPr/>
        </p:nvSpPr>
        <p:spPr>
          <a:xfrm>
            <a:off x="8593087" y="639949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D54B6EA9-0ED5-4BB8-2BBB-02981F9DEC83}"/>
              </a:ext>
            </a:extLst>
          </p:cNvPr>
          <p:cNvSpPr/>
          <p:nvPr/>
        </p:nvSpPr>
        <p:spPr>
          <a:xfrm>
            <a:off x="9512249" y="639949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E0444240-B86E-9FDE-A1E2-0AC8ACA4BD67}"/>
              </a:ext>
            </a:extLst>
          </p:cNvPr>
          <p:cNvSpPr/>
          <p:nvPr/>
        </p:nvSpPr>
        <p:spPr>
          <a:xfrm>
            <a:off x="9398499" y="5484480"/>
            <a:ext cx="71138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8DDE4A19-7A7B-04DF-4C14-A2F718F19934}"/>
              </a:ext>
            </a:extLst>
          </p:cNvPr>
          <p:cNvSpPr/>
          <p:nvPr/>
        </p:nvSpPr>
        <p:spPr>
          <a:xfrm>
            <a:off x="7438614" y="5844429"/>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AAE6DCCE-2258-EF1A-4DBE-6E1D5E8E0AEA}"/>
              </a:ext>
            </a:extLst>
          </p:cNvPr>
          <p:cNvSpPr/>
          <p:nvPr/>
        </p:nvSpPr>
        <p:spPr>
          <a:xfrm>
            <a:off x="8061493" y="5845247"/>
            <a:ext cx="2860160"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000" dirty="0"/>
              <a:t>　　　</a:t>
            </a:r>
            <a:r>
              <a:rPr kumimoji="1" lang="ja-JP" altLang="en-US" sz="1000" dirty="0"/>
              <a:t>査読</a:t>
            </a:r>
          </a:p>
        </p:txBody>
      </p:sp>
      <p:sp>
        <p:nvSpPr>
          <p:cNvPr id="38" name="正方形/長方形 37">
            <a:extLst>
              <a:ext uri="{FF2B5EF4-FFF2-40B4-BE49-F238E27FC236}">
                <a16:creationId xmlns:a16="http://schemas.microsoft.com/office/drawing/2014/main" id="{AB433D84-F70D-2E23-B74F-7B82A3A55ABD}"/>
              </a:ext>
            </a:extLst>
          </p:cNvPr>
          <p:cNvSpPr/>
          <p:nvPr/>
        </p:nvSpPr>
        <p:spPr>
          <a:xfrm>
            <a:off x="-1044519" y="5338252"/>
            <a:ext cx="602642"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基礎</a:t>
            </a:r>
            <a:endParaRPr lang="en-US" altLang="ja-JP" sz="1000" dirty="0"/>
          </a:p>
          <a:p>
            <a:pPr algn="ctr"/>
            <a:r>
              <a:rPr lang="ja-JP" altLang="en-US" sz="1000" dirty="0"/>
              <a:t>検討</a:t>
            </a:r>
            <a:endParaRPr kumimoji="1" lang="ja-JP" altLang="en-US" sz="1000" dirty="0"/>
          </a:p>
        </p:txBody>
      </p:sp>
      <p:sp>
        <p:nvSpPr>
          <p:cNvPr id="39" name="正方形/長方形 38">
            <a:extLst>
              <a:ext uri="{FF2B5EF4-FFF2-40B4-BE49-F238E27FC236}">
                <a16:creationId xmlns:a16="http://schemas.microsoft.com/office/drawing/2014/main" id="{7C096E42-E96C-BCE4-30D5-B832DBC6F92A}"/>
              </a:ext>
            </a:extLst>
          </p:cNvPr>
          <p:cNvSpPr/>
          <p:nvPr/>
        </p:nvSpPr>
        <p:spPr>
          <a:xfrm>
            <a:off x="2828008" y="6931673"/>
            <a:ext cx="71667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追加研究</a:t>
            </a:r>
          </a:p>
        </p:txBody>
      </p:sp>
      <p:sp>
        <p:nvSpPr>
          <p:cNvPr id="46" name="テキスト ボックス 45">
            <a:extLst>
              <a:ext uri="{FF2B5EF4-FFF2-40B4-BE49-F238E27FC236}">
                <a16:creationId xmlns:a16="http://schemas.microsoft.com/office/drawing/2014/main" id="{655A81D3-A90D-8342-5807-5E24817565B7}"/>
              </a:ext>
            </a:extLst>
          </p:cNvPr>
          <p:cNvSpPr txBox="1"/>
          <p:nvPr/>
        </p:nvSpPr>
        <p:spPr>
          <a:xfrm>
            <a:off x="9380654" y="6214012"/>
            <a:ext cx="492443" cy="184666"/>
          </a:xfrm>
          <a:prstGeom prst="rect">
            <a:avLst/>
          </a:prstGeom>
          <a:noFill/>
        </p:spPr>
        <p:txBody>
          <a:bodyPr wrap="none" rtlCol="0">
            <a:spAutoFit/>
          </a:bodyPr>
          <a:lstStyle/>
          <a:p>
            <a:r>
              <a:rPr kumimoji="1" lang="ja-JP" altLang="en-US" sz="600" dirty="0"/>
              <a:t>審査請求</a:t>
            </a:r>
          </a:p>
        </p:txBody>
      </p:sp>
      <p:sp>
        <p:nvSpPr>
          <p:cNvPr id="22" name="吹き出し: 四角形 21">
            <a:extLst>
              <a:ext uri="{FF2B5EF4-FFF2-40B4-BE49-F238E27FC236}">
                <a16:creationId xmlns:a16="http://schemas.microsoft.com/office/drawing/2014/main" id="{04512193-9C3C-DD91-F4ED-6C7F2D88C880}"/>
              </a:ext>
            </a:extLst>
          </p:cNvPr>
          <p:cNvSpPr/>
          <p:nvPr/>
        </p:nvSpPr>
        <p:spPr>
          <a:xfrm>
            <a:off x="4730623" y="5969740"/>
            <a:ext cx="920552"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有給休暇取得</a:t>
            </a:r>
            <a:endParaRPr lang="en-US" altLang="ja-JP" sz="800"/>
          </a:p>
          <a:p>
            <a:pPr algn="ctr"/>
            <a:r>
              <a:rPr kumimoji="1" lang="ja-JP" altLang="en-US" sz="800"/>
              <a:t>（</a:t>
            </a:r>
            <a:r>
              <a:rPr kumimoji="1" lang="ja-JP" altLang="en-US" sz="800" dirty="0"/>
              <a:t>～</a:t>
            </a:r>
            <a:r>
              <a:rPr kumimoji="1" lang="en-US" altLang="ja-JP" sz="800"/>
              <a:t>1</a:t>
            </a:r>
            <a:r>
              <a:rPr kumimoji="1" lang="ja-JP" altLang="en-US" sz="800"/>
              <a:t>週間</a:t>
            </a:r>
            <a:r>
              <a:rPr kumimoji="1" lang="ja-JP" altLang="en-US" sz="800" dirty="0"/>
              <a:t>）</a:t>
            </a:r>
          </a:p>
        </p:txBody>
      </p:sp>
      <p:sp>
        <p:nvSpPr>
          <p:cNvPr id="28" name="正方形/長方形 27">
            <a:extLst>
              <a:ext uri="{FF2B5EF4-FFF2-40B4-BE49-F238E27FC236}">
                <a16:creationId xmlns:a16="http://schemas.microsoft.com/office/drawing/2014/main" id="{745D17A2-A9A7-988B-3128-26EA30C5D90B}"/>
              </a:ext>
            </a:extLst>
          </p:cNvPr>
          <p:cNvSpPr/>
          <p:nvPr/>
        </p:nvSpPr>
        <p:spPr>
          <a:xfrm>
            <a:off x="4784700" y="4647139"/>
            <a:ext cx="66712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追加</a:t>
            </a:r>
            <a:endParaRPr lang="en-US" altLang="ja-JP" sz="1000" dirty="0"/>
          </a:p>
          <a:p>
            <a:pPr algn="ctr"/>
            <a:r>
              <a:rPr lang="ja-JP" altLang="en-US" sz="1000" dirty="0"/>
              <a:t>解析？</a:t>
            </a:r>
            <a:endParaRPr kumimoji="1" lang="ja-JP" altLang="en-US" sz="1000" dirty="0"/>
          </a:p>
        </p:txBody>
      </p:sp>
      <p:cxnSp>
        <p:nvCxnSpPr>
          <p:cNvPr id="30" name="直線矢印コネクタ 29">
            <a:extLst>
              <a:ext uri="{FF2B5EF4-FFF2-40B4-BE49-F238E27FC236}">
                <a16:creationId xmlns:a16="http://schemas.microsoft.com/office/drawing/2014/main" id="{72C4B0E3-4BF1-CE1A-4CEA-29208C3F8362}"/>
              </a:ext>
            </a:extLst>
          </p:cNvPr>
          <p:cNvCxnSpPr>
            <a:cxnSpLocks/>
            <a:stCxn id="18" idx="0"/>
            <a:endCxn id="28" idx="2"/>
          </p:cNvCxnSpPr>
          <p:nvPr/>
        </p:nvCxnSpPr>
        <p:spPr>
          <a:xfrm flipH="1" flipV="1">
            <a:off x="5118262" y="5007179"/>
            <a:ext cx="5546" cy="544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1975E75F-8030-879C-808E-9FBA180EB3D5}"/>
              </a:ext>
            </a:extLst>
          </p:cNvPr>
          <p:cNvSpPr txBox="1"/>
          <p:nvPr/>
        </p:nvSpPr>
        <p:spPr>
          <a:xfrm>
            <a:off x="5081788" y="5330009"/>
            <a:ext cx="569387" cy="184666"/>
          </a:xfrm>
          <a:prstGeom prst="rect">
            <a:avLst/>
          </a:prstGeom>
          <a:noFill/>
        </p:spPr>
        <p:txBody>
          <a:bodyPr wrap="none" rtlCol="0">
            <a:spAutoFit/>
          </a:bodyPr>
          <a:lstStyle/>
          <a:p>
            <a:r>
              <a:rPr kumimoji="1" lang="ja-JP" altLang="en-US" sz="600" dirty="0"/>
              <a:t>データ</a:t>
            </a:r>
            <a:r>
              <a:rPr lang="ja-JP" altLang="en-US" sz="600" dirty="0"/>
              <a:t>転用</a:t>
            </a:r>
            <a:endParaRPr kumimoji="1" lang="ja-JP" altLang="en-US" sz="600" dirty="0"/>
          </a:p>
        </p:txBody>
      </p:sp>
      <p:sp>
        <p:nvSpPr>
          <p:cNvPr id="44" name="正方形/長方形 43">
            <a:extLst>
              <a:ext uri="{FF2B5EF4-FFF2-40B4-BE49-F238E27FC236}">
                <a16:creationId xmlns:a16="http://schemas.microsoft.com/office/drawing/2014/main" id="{6AE964B4-3F2C-D61E-0655-6B387996AEE1}"/>
              </a:ext>
            </a:extLst>
          </p:cNvPr>
          <p:cNvSpPr/>
          <p:nvPr/>
        </p:nvSpPr>
        <p:spPr>
          <a:xfrm>
            <a:off x="2152225" y="4647139"/>
            <a:ext cx="66329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見せ方</a:t>
            </a:r>
            <a:endParaRPr lang="en-US" altLang="ja-JP" sz="1000" dirty="0"/>
          </a:p>
          <a:p>
            <a:pPr algn="ctr"/>
            <a:r>
              <a:rPr kumimoji="1" lang="ja-JP" altLang="en-US" sz="1000" dirty="0"/>
              <a:t>修正</a:t>
            </a:r>
          </a:p>
        </p:txBody>
      </p:sp>
      <p:sp>
        <p:nvSpPr>
          <p:cNvPr id="51" name="テキスト ボックス 50">
            <a:extLst>
              <a:ext uri="{FF2B5EF4-FFF2-40B4-BE49-F238E27FC236}">
                <a16:creationId xmlns:a16="http://schemas.microsoft.com/office/drawing/2014/main" id="{EB44A810-FF73-BF6A-8AB3-635A57AE0687}"/>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25229991-803F-73F5-EEFB-B5C5EFA29D72}"/>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3" name="正方形/長方形 52">
            <a:extLst>
              <a:ext uri="{FF2B5EF4-FFF2-40B4-BE49-F238E27FC236}">
                <a16:creationId xmlns:a16="http://schemas.microsoft.com/office/drawing/2014/main" id="{620B0F3E-928B-7984-A524-3E31212644D3}"/>
              </a:ext>
            </a:extLst>
          </p:cNvPr>
          <p:cNvSpPr/>
          <p:nvPr/>
        </p:nvSpPr>
        <p:spPr>
          <a:xfrm>
            <a:off x="6456040" y="4647139"/>
            <a:ext cx="29795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提</a:t>
            </a:r>
            <a:endParaRPr lang="en-US" altLang="ja-JP" sz="1000" dirty="0"/>
          </a:p>
          <a:p>
            <a:pPr algn="ctr"/>
            <a:r>
              <a:rPr lang="ja-JP" altLang="en-US" sz="1000" dirty="0"/>
              <a:t>出</a:t>
            </a:r>
            <a:endParaRPr kumimoji="1" lang="ja-JP" altLang="en-US" sz="1000" dirty="0"/>
          </a:p>
        </p:txBody>
      </p:sp>
      <p:cxnSp>
        <p:nvCxnSpPr>
          <p:cNvPr id="24" name="直線矢印コネクタ 23">
            <a:extLst>
              <a:ext uri="{FF2B5EF4-FFF2-40B4-BE49-F238E27FC236}">
                <a16:creationId xmlns:a16="http://schemas.microsoft.com/office/drawing/2014/main" id="{655C0F89-2022-41FA-F522-870EA0E709E4}"/>
              </a:ext>
            </a:extLst>
          </p:cNvPr>
          <p:cNvCxnSpPr>
            <a:cxnSpLocks/>
          </p:cNvCxnSpPr>
          <p:nvPr/>
        </p:nvCxnSpPr>
        <p:spPr>
          <a:xfrm>
            <a:off x="4165600" y="4119291"/>
            <a:ext cx="6538912" cy="0"/>
          </a:xfrm>
          <a:prstGeom prst="straightConnector1">
            <a:avLst/>
          </a:prstGeom>
          <a:ln w="5715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38B06004-12E7-E60C-9C01-BD6E090F44D6}"/>
              </a:ext>
            </a:extLst>
          </p:cNvPr>
          <p:cNvSpPr txBox="1"/>
          <p:nvPr/>
        </p:nvSpPr>
        <p:spPr>
          <a:xfrm>
            <a:off x="6435513" y="1245778"/>
            <a:ext cx="5219506" cy="1200329"/>
          </a:xfrm>
          <a:prstGeom prst="rect">
            <a:avLst/>
          </a:prstGeom>
          <a:noFill/>
        </p:spPr>
        <p:txBody>
          <a:bodyPr wrap="none" rtlCol="0">
            <a:spAutoFit/>
          </a:bodyPr>
          <a:lstStyle/>
          <a:p>
            <a:r>
              <a:rPr lang="en-US" altLang="ja-JP" sz="2400" dirty="0">
                <a:highlight>
                  <a:srgbClr val="FFFF00"/>
                </a:highlight>
              </a:rPr>
              <a:t>2.5</a:t>
            </a:r>
            <a:r>
              <a:rPr lang="ja-JP" altLang="en-US" sz="2400" dirty="0">
                <a:highlight>
                  <a:srgbClr val="FFFF00"/>
                </a:highlight>
              </a:rPr>
              <a:t>年</a:t>
            </a:r>
            <a:endParaRPr lang="en-US" altLang="ja-JP" sz="2400" dirty="0">
              <a:highlight>
                <a:srgbClr val="FFFF00"/>
              </a:highlight>
            </a:endParaRPr>
          </a:p>
          <a:p>
            <a:r>
              <a:rPr lang="ja-JP" altLang="en-US" sz="2400" dirty="0">
                <a:highlight>
                  <a:srgbClr val="FFFF00"/>
                </a:highlight>
              </a:rPr>
              <a:t>？</a:t>
            </a:r>
            <a:r>
              <a:rPr kumimoji="1" lang="en-US" altLang="ja-JP" sz="2400" dirty="0">
                <a:highlight>
                  <a:srgbClr val="FFFF00"/>
                </a:highlight>
              </a:rPr>
              <a:t>Access</a:t>
            </a:r>
            <a:r>
              <a:rPr kumimoji="1" lang="ja-JP" altLang="en-US" sz="2400" dirty="0">
                <a:highlight>
                  <a:srgbClr val="FFFF00"/>
                </a:highlight>
              </a:rPr>
              <a:t>が有効の可能性</a:t>
            </a:r>
            <a:endParaRPr kumimoji="1" lang="en-US" altLang="ja-JP" sz="2400" dirty="0">
              <a:highlight>
                <a:srgbClr val="FFFF00"/>
              </a:highlight>
            </a:endParaRPr>
          </a:p>
          <a:p>
            <a:r>
              <a:rPr kumimoji="1" lang="ja-JP" altLang="en-US" sz="2400" dirty="0">
                <a:highlight>
                  <a:srgbClr val="FFFF00"/>
                </a:highlight>
              </a:rPr>
              <a:t>△</a:t>
            </a:r>
            <a:r>
              <a:rPr kumimoji="1" lang="en-US" altLang="ja-JP" sz="2400" dirty="0">
                <a:highlight>
                  <a:srgbClr val="FFFF00"/>
                </a:highlight>
              </a:rPr>
              <a:t>IEEE T-MSC</a:t>
            </a:r>
            <a:r>
              <a:rPr kumimoji="1" lang="ja-JP" altLang="en-US" sz="2400" dirty="0">
                <a:highlight>
                  <a:srgbClr val="FFFF00"/>
                </a:highlight>
              </a:rPr>
              <a:t>が間に合わない可能性</a:t>
            </a:r>
          </a:p>
        </p:txBody>
      </p:sp>
    </p:spTree>
    <p:extLst>
      <p:ext uri="{BB962C8B-B14F-4D97-AF65-F5344CB8AC3E}">
        <p14:creationId xmlns:p14="http://schemas.microsoft.com/office/powerpoint/2010/main" val="1468823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068A726-A7CB-5CA2-5D6A-ECC2914612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F0EF58-02C0-A33F-7525-9C35648C0306}"/>
              </a:ext>
            </a:extLst>
          </p:cNvPr>
          <p:cNvSpPr>
            <a:spLocks noGrp="1"/>
          </p:cNvSpPr>
          <p:nvPr>
            <p:ph type="title"/>
          </p:nvPr>
        </p:nvSpPr>
        <p:spPr/>
        <p:txBody>
          <a:bodyPr/>
          <a:lstStyle/>
          <a:p>
            <a:r>
              <a:rPr kumimoji="1" lang="ja-JP" altLang="en-US" dirty="0"/>
              <a:t>研究計画（日程・要件）</a:t>
            </a:r>
          </a:p>
        </p:txBody>
      </p:sp>
      <p:sp>
        <p:nvSpPr>
          <p:cNvPr id="3" name="コンテンツ プレースホルダー 2">
            <a:extLst>
              <a:ext uri="{FF2B5EF4-FFF2-40B4-BE49-F238E27FC236}">
                <a16:creationId xmlns:a16="http://schemas.microsoft.com/office/drawing/2014/main" id="{8FF92318-C786-A7C3-F221-C31EE9304A17}"/>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58E9984E-B3AA-D592-551B-1528BB3D5B1C}"/>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B3790CD5-BAF0-B2FB-1C1C-C3F3587D0322}"/>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8070CBFE-BB88-E671-0475-75FEBFF03CFC}"/>
              </a:ext>
            </a:extLst>
          </p:cNvPr>
          <p:cNvSpPr>
            <a:spLocks noGrp="1"/>
          </p:cNvSpPr>
          <p:nvPr>
            <p:ph type="sldNum" sz="quarter" idx="12"/>
          </p:nvPr>
        </p:nvSpPr>
        <p:spPr/>
        <p:txBody>
          <a:bodyPr/>
          <a:lstStyle/>
          <a:p>
            <a:fld id="{870B1737-2A00-4EFB-9FD3-149FCC30AA13}" type="slidenum">
              <a:rPr lang="ja-JP" altLang="en-US" smtClean="0"/>
              <a:pPr/>
              <a:t>47</a:t>
            </a:fld>
            <a:endParaRPr lang="ja-JP" altLang="en-US"/>
          </a:p>
        </p:txBody>
      </p:sp>
      <p:graphicFrame>
        <p:nvGraphicFramePr>
          <p:cNvPr id="7" name="表 6">
            <a:extLst>
              <a:ext uri="{FF2B5EF4-FFF2-40B4-BE49-F238E27FC236}">
                <a16:creationId xmlns:a16="http://schemas.microsoft.com/office/drawing/2014/main" id="{6AEB2673-949A-EC97-4850-A0DABF4D6B6A}"/>
              </a:ext>
            </a:extLst>
          </p:cNvPr>
          <p:cNvGraphicFramePr>
            <a:graphicFrameLocks noGrp="1"/>
          </p:cNvGraphicFramePr>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562AAB32-7755-2319-F051-5EAA4AFB5C96}"/>
              </a:ext>
            </a:extLst>
          </p:cNvPr>
          <p:cNvSpPr/>
          <p:nvPr/>
        </p:nvSpPr>
        <p:spPr>
          <a:xfrm>
            <a:off x="1493758" y="3733186"/>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D107A1DD-FE5E-D592-ADD6-9E007C110B70}"/>
              </a:ext>
            </a:extLst>
          </p:cNvPr>
          <p:cNvSpPr/>
          <p:nvPr/>
        </p:nvSpPr>
        <p:spPr>
          <a:xfrm>
            <a:off x="1493758" y="4111039"/>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graphicFrame>
        <p:nvGraphicFramePr>
          <p:cNvPr id="37" name="表 36">
            <a:extLst>
              <a:ext uri="{FF2B5EF4-FFF2-40B4-BE49-F238E27FC236}">
                <a16:creationId xmlns:a16="http://schemas.microsoft.com/office/drawing/2014/main" id="{EC7E869D-61FD-3FD5-826E-F25A17D0034F}"/>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39E542B8-4F24-0167-FD13-315BFDE584C8}"/>
              </a:ext>
            </a:extLst>
          </p:cNvPr>
          <p:cNvSpPr/>
          <p:nvPr/>
        </p:nvSpPr>
        <p:spPr>
          <a:xfrm>
            <a:off x="5435785" y="4647139"/>
            <a:ext cx="66712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25B01985-0817-D245-09F5-24C46BDB73ED}"/>
              </a:ext>
            </a:extLst>
          </p:cNvPr>
          <p:cNvSpPr/>
          <p:nvPr/>
        </p:nvSpPr>
        <p:spPr>
          <a:xfrm>
            <a:off x="6753994" y="4647139"/>
            <a:ext cx="3172915"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IEEE T-MSC</a:t>
            </a:r>
            <a:r>
              <a:rPr kumimoji="1" lang="ja-JP" altLang="en-US" sz="1000"/>
              <a:t>）</a:t>
            </a:r>
            <a:endParaRPr kumimoji="1" lang="ja-JP" altLang="en-US" sz="1000" dirty="0"/>
          </a:p>
        </p:txBody>
      </p:sp>
      <p:sp>
        <p:nvSpPr>
          <p:cNvPr id="13" name="正方形/長方形 12">
            <a:extLst>
              <a:ext uri="{FF2B5EF4-FFF2-40B4-BE49-F238E27FC236}">
                <a16:creationId xmlns:a16="http://schemas.microsoft.com/office/drawing/2014/main" id="{87B45B76-C4D5-47A6-28EF-74F41F1F7DDC}"/>
              </a:ext>
            </a:extLst>
          </p:cNvPr>
          <p:cNvSpPr/>
          <p:nvPr/>
        </p:nvSpPr>
        <p:spPr>
          <a:xfrm>
            <a:off x="1493758" y="4488892"/>
            <a:ext cx="667125" cy="1721957"/>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700" dirty="0"/>
              <a:t>全体構想</a:t>
            </a:r>
            <a:endParaRPr lang="en-US" altLang="ja-JP" sz="700"/>
          </a:p>
          <a:p>
            <a:pPr algn="ctr"/>
            <a:r>
              <a:rPr lang="ja-JP" altLang="en-US" sz="700"/>
              <a:t>・</a:t>
            </a:r>
            <a:endParaRPr lang="en-US" altLang="ja-JP" sz="700"/>
          </a:p>
          <a:p>
            <a:pPr algn="ctr"/>
            <a:r>
              <a:rPr lang="ja-JP" altLang="en-US" sz="700"/>
              <a:t>研究間</a:t>
            </a:r>
            <a:endParaRPr lang="en-US" altLang="ja-JP" sz="700"/>
          </a:p>
          <a:p>
            <a:pPr algn="ctr"/>
            <a:r>
              <a:rPr lang="ja-JP" altLang="en-US" sz="700"/>
              <a:t>差別化</a:t>
            </a:r>
            <a:r>
              <a:rPr lang="ja-JP" altLang="en-US" sz="700" dirty="0"/>
              <a:t>戦略</a:t>
            </a:r>
            <a:endParaRPr kumimoji="1" lang="ja-JP" altLang="en-US" sz="700" dirty="0"/>
          </a:p>
        </p:txBody>
      </p:sp>
      <p:sp>
        <p:nvSpPr>
          <p:cNvPr id="14" name="正方形/長方形 13">
            <a:extLst>
              <a:ext uri="{FF2B5EF4-FFF2-40B4-BE49-F238E27FC236}">
                <a16:creationId xmlns:a16="http://schemas.microsoft.com/office/drawing/2014/main" id="{8210F1AE-66B2-3658-6ABB-7D67D1858985}"/>
              </a:ext>
            </a:extLst>
          </p:cNvPr>
          <p:cNvSpPr/>
          <p:nvPr/>
        </p:nvSpPr>
        <p:spPr>
          <a:xfrm>
            <a:off x="2160884" y="5545940"/>
            <a:ext cx="656033"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アルゴ</a:t>
            </a:r>
            <a:endParaRPr lang="en-US" altLang="ja-JP" sz="1000"/>
          </a:p>
          <a:p>
            <a:pPr algn="ctr"/>
            <a:r>
              <a:rPr lang="ja-JP" altLang="en-US" sz="1000"/>
              <a:t>リズム</a:t>
            </a:r>
            <a:endParaRPr kumimoji="1" lang="ja-JP" altLang="en-US" sz="1000" dirty="0"/>
          </a:p>
        </p:txBody>
      </p:sp>
      <p:sp>
        <p:nvSpPr>
          <p:cNvPr id="15" name="正方形/長方形 14">
            <a:extLst>
              <a:ext uri="{FF2B5EF4-FFF2-40B4-BE49-F238E27FC236}">
                <a16:creationId xmlns:a16="http://schemas.microsoft.com/office/drawing/2014/main" id="{7EF6A2F9-94CA-B875-08C6-F42390D59228}"/>
              </a:ext>
            </a:extLst>
          </p:cNvPr>
          <p:cNvSpPr/>
          <p:nvPr/>
        </p:nvSpPr>
        <p:spPr>
          <a:xfrm>
            <a:off x="2807883" y="5545940"/>
            <a:ext cx="8252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網羅解析</a:t>
            </a:r>
            <a:endParaRPr kumimoji="1" lang="ja-JP" altLang="en-US" sz="1000" dirty="0"/>
          </a:p>
        </p:txBody>
      </p:sp>
      <p:sp>
        <p:nvSpPr>
          <p:cNvPr id="16" name="正方形/長方形 15">
            <a:extLst>
              <a:ext uri="{FF2B5EF4-FFF2-40B4-BE49-F238E27FC236}">
                <a16:creationId xmlns:a16="http://schemas.microsoft.com/office/drawing/2014/main" id="{12FAEC0F-37EF-4B0A-E13B-F381CDBA9B4F}"/>
              </a:ext>
            </a:extLst>
          </p:cNvPr>
          <p:cNvSpPr/>
          <p:nvPr/>
        </p:nvSpPr>
        <p:spPr>
          <a:xfrm>
            <a:off x="3460923" y="8060534"/>
            <a:ext cx="101610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000"/>
              <a:t>Sim</a:t>
            </a:r>
            <a:endParaRPr kumimoji="1" lang="ja-JP" altLang="en-US" sz="1000" dirty="0"/>
          </a:p>
        </p:txBody>
      </p:sp>
      <p:sp>
        <p:nvSpPr>
          <p:cNvPr id="17" name="正方形/長方形 16">
            <a:extLst>
              <a:ext uri="{FF2B5EF4-FFF2-40B4-BE49-F238E27FC236}">
                <a16:creationId xmlns:a16="http://schemas.microsoft.com/office/drawing/2014/main" id="{6162A402-7BEE-F19A-B307-7C113DB1CB7A}"/>
              </a:ext>
            </a:extLst>
          </p:cNvPr>
          <p:cNvSpPr/>
          <p:nvPr/>
        </p:nvSpPr>
        <p:spPr>
          <a:xfrm>
            <a:off x="4125463" y="5551893"/>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977ED32A-E1FF-BDFB-C480-730E4C6DAC40}"/>
              </a:ext>
            </a:extLst>
          </p:cNvPr>
          <p:cNvSpPr/>
          <p:nvPr/>
        </p:nvSpPr>
        <p:spPr>
          <a:xfrm>
            <a:off x="4795791" y="5551894"/>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38839912-AA91-F847-A95D-AF17E23D71A2}"/>
              </a:ext>
            </a:extLst>
          </p:cNvPr>
          <p:cNvSpPr/>
          <p:nvPr/>
        </p:nvSpPr>
        <p:spPr>
          <a:xfrm>
            <a:off x="6774379" y="584213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C6FF1441-9014-23DA-0DAD-7AF5B384118D}"/>
              </a:ext>
            </a:extLst>
          </p:cNvPr>
          <p:cNvSpPr/>
          <p:nvPr/>
        </p:nvSpPr>
        <p:spPr>
          <a:xfrm>
            <a:off x="6766252" y="5485207"/>
            <a:ext cx="5559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4B0CDF7A-BBC7-CA76-6966-292A9FD02E61}"/>
              </a:ext>
            </a:extLst>
          </p:cNvPr>
          <p:cNvSpPr/>
          <p:nvPr/>
        </p:nvSpPr>
        <p:spPr>
          <a:xfrm>
            <a:off x="7324056" y="5484481"/>
            <a:ext cx="936813"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RA-L</a:t>
            </a:r>
            <a:endParaRPr kumimoji="1" lang="ja-JP" altLang="en-US" sz="1000" dirty="0"/>
          </a:p>
        </p:txBody>
      </p:sp>
      <p:sp>
        <p:nvSpPr>
          <p:cNvPr id="23" name="正方形/長方形 22">
            <a:extLst>
              <a:ext uri="{FF2B5EF4-FFF2-40B4-BE49-F238E27FC236}">
                <a16:creationId xmlns:a16="http://schemas.microsoft.com/office/drawing/2014/main" id="{1F932DBD-D622-7B41-2A98-22B13C2EADE8}"/>
              </a:ext>
            </a:extLst>
          </p:cNvPr>
          <p:cNvSpPr/>
          <p:nvPr/>
        </p:nvSpPr>
        <p:spPr>
          <a:xfrm>
            <a:off x="10182615" y="639949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322E4D78-9469-DC4C-D996-8EDF295F5B3E}"/>
              </a:ext>
            </a:extLst>
          </p:cNvPr>
          <p:cNvSpPr/>
          <p:nvPr/>
        </p:nvSpPr>
        <p:spPr>
          <a:xfrm>
            <a:off x="11101777" y="639949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9E7E0356-9B64-AE74-4C8E-FB6736D3C2DB}"/>
              </a:ext>
            </a:extLst>
          </p:cNvPr>
          <p:cNvSpPr/>
          <p:nvPr/>
        </p:nvSpPr>
        <p:spPr>
          <a:xfrm>
            <a:off x="9398499" y="5484480"/>
            <a:ext cx="71138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2E75A661-90A3-0377-4FC9-3EC95FF5310F}"/>
              </a:ext>
            </a:extLst>
          </p:cNvPr>
          <p:cNvSpPr/>
          <p:nvPr/>
        </p:nvSpPr>
        <p:spPr>
          <a:xfrm>
            <a:off x="7441320" y="5844429"/>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C0679776-A8D7-2434-63C6-4279DBF7FAA0}"/>
              </a:ext>
            </a:extLst>
          </p:cNvPr>
          <p:cNvSpPr/>
          <p:nvPr/>
        </p:nvSpPr>
        <p:spPr>
          <a:xfrm>
            <a:off x="8061493" y="5845247"/>
            <a:ext cx="2860160"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000" dirty="0"/>
              <a:t>　　　</a:t>
            </a:r>
            <a:r>
              <a:rPr kumimoji="1" lang="ja-JP" altLang="en-US" sz="1000" dirty="0"/>
              <a:t>査読</a:t>
            </a:r>
          </a:p>
        </p:txBody>
      </p:sp>
      <p:sp>
        <p:nvSpPr>
          <p:cNvPr id="38" name="正方形/長方形 37">
            <a:extLst>
              <a:ext uri="{FF2B5EF4-FFF2-40B4-BE49-F238E27FC236}">
                <a16:creationId xmlns:a16="http://schemas.microsoft.com/office/drawing/2014/main" id="{C0E6B12E-F479-8ADD-55FC-25789D1A75B5}"/>
              </a:ext>
            </a:extLst>
          </p:cNvPr>
          <p:cNvSpPr/>
          <p:nvPr/>
        </p:nvSpPr>
        <p:spPr>
          <a:xfrm>
            <a:off x="-1044519" y="5338252"/>
            <a:ext cx="602642"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基礎</a:t>
            </a:r>
            <a:endParaRPr lang="en-US" altLang="ja-JP" sz="1000" dirty="0"/>
          </a:p>
          <a:p>
            <a:pPr algn="ctr"/>
            <a:r>
              <a:rPr lang="ja-JP" altLang="en-US" sz="1000" dirty="0"/>
              <a:t>検討</a:t>
            </a:r>
            <a:endParaRPr kumimoji="1" lang="ja-JP" altLang="en-US" sz="1000" dirty="0"/>
          </a:p>
        </p:txBody>
      </p:sp>
      <p:sp>
        <p:nvSpPr>
          <p:cNvPr id="39" name="正方形/長方形 38">
            <a:extLst>
              <a:ext uri="{FF2B5EF4-FFF2-40B4-BE49-F238E27FC236}">
                <a16:creationId xmlns:a16="http://schemas.microsoft.com/office/drawing/2014/main" id="{97DE99BA-D691-B1F8-ED62-858E9D46AFD7}"/>
              </a:ext>
            </a:extLst>
          </p:cNvPr>
          <p:cNvSpPr/>
          <p:nvPr/>
        </p:nvSpPr>
        <p:spPr>
          <a:xfrm>
            <a:off x="2828008" y="6931673"/>
            <a:ext cx="71667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追加研究</a:t>
            </a:r>
          </a:p>
        </p:txBody>
      </p:sp>
      <p:sp>
        <p:nvSpPr>
          <p:cNvPr id="22" name="吹き出し: 四角形 21">
            <a:extLst>
              <a:ext uri="{FF2B5EF4-FFF2-40B4-BE49-F238E27FC236}">
                <a16:creationId xmlns:a16="http://schemas.microsoft.com/office/drawing/2014/main" id="{7E69D6E5-EBB3-2341-2DDF-9E91AFDDA8B8}"/>
              </a:ext>
            </a:extLst>
          </p:cNvPr>
          <p:cNvSpPr/>
          <p:nvPr/>
        </p:nvSpPr>
        <p:spPr>
          <a:xfrm>
            <a:off x="4730623" y="5969740"/>
            <a:ext cx="920552"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有給休暇取得</a:t>
            </a:r>
            <a:endParaRPr lang="en-US" altLang="ja-JP" sz="800"/>
          </a:p>
          <a:p>
            <a:pPr algn="ctr"/>
            <a:r>
              <a:rPr kumimoji="1" lang="ja-JP" altLang="en-US" sz="800"/>
              <a:t>（</a:t>
            </a:r>
            <a:r>
              <a:rPr kumimoji="1" lang="ja-JP" altLang="en-US" sz="800" dirty="0"/>
              <a:t>～</a:t>
            </a:r>
            <a:r>
              <a:rPr kumimoji="1" lang="en-US" altLang="ja-JP" sz="800"/>
              <a:t>1</a:t>
            </a:r>
            <a:r>
              <a:rPr kumimoji="1" lang="ja-JP" altLang="en-US" sz="800"/>
              <a:t>週間</a:t>
            </a:r>
            <a:r>
              <a:rPr kumimoji="1" lang="ja-JP" altLang="en-US" sz="800" dirty="0"/>
              <a:t>）</a:t>
            </a:r>
          </a:p>
        </p:txBody>
      </p:sp>
      <p:sp>
        <p:nvSpPr>
          <p:cNvPr id="28" name="正方形/長方形 27">
            <a:extLst>
              <a:ext uri="{FF2B5EF4-FFF2-40B4-BE49-F238E27FC236}">
                <a16:creationId xmlns:a16="http://schemas.microsoft.com/office/drawing/2014/main" id="{A7436C11-E7E8-892E-8786-8E39971D3403}"/>
              </a:ext>
            </a:extLst>
          </p:cNvPr>
          <p:cNvSpPr/>
          <p:nvPr/>
        </p:nvSpPr>
        <p:spPr>
          <a:xfrm>
            <a:off x="4784700" y="4647139"/>
            <a:ext cx="66712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追加</a:t>
            </a:r>
            <a:endParaRPr lang="en-US" altLang="ja-JP" sz="1000" dirty="0"/>
          </a:p>
          <a:p>
            <a:pPr algn="ctr"/>
            <a:r>
              <a:rPr lang="ja-JP" altLang="en-US" sz="1000" dirty="0"/>
              <a:t>解析？</a:t>
            </a:r>
            <a:endParaRPr kumimoji="1" lang="ja-JP" altLang="en-US" sz="1000" dirty="0"/>
          </a:p>
        </p:txBody>
      </p:sp>
      <p:cxnSp>
        <p:nvCxnSpPr>
          <p:cNvPr id="30" name="直線矢印コネクタ 29">
            <a:extLst>
              <a:ext uri="{FF2B5EF4-FFF2-40B4-BE49-F238E27FC236}">
                <a16:creationId xmlns:a16="http://schemas.microsoft.com/office/drawing/2014/main" id="{FB5776DA-E1B0-AD4C-6BC6-9D2C4DDD10AA}"/>
              </a:ext>
            </a:extLst>
          </p:cNvPr>
          <p:cNvCxnSpPr>
            <a:cxnSpLocks/>
            <a:stCxn id="18" idx="0"/>
            <a:endCxn id="28" idx="2"/>
          </p:cNvCxnSpPr>
          <p:nvPr/>
        </p:nvCxnSpPr>
        <p:spPr>
          <a:xfrm flipH="1" flipV="1">
            <a:off x="5118262" y="5007179"/>
            <a:ext cx="5546" cy="544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D4A54F08-D2DB-77F2-E7AE-869947B5C811}"/>
              </a:ext>
            </a:extLst>
          </p:cNvPr>
          <p:cNvSpPr txBox="1"/>
          <p:nvPr/>
        </p:nvSpPr>
        <p:spPr>
          <a:xfrm>
            <a:off x="5081788" y="5330009"/>
            <a:ext cx="569387" cy="184666"/>
          </a:xfrm>
          <a:prstGeom prst="rect">
            <a:avLst/>
          </a:prstGeom>
          <a:noFill/>
        </p:spPr>
        <p:txBody>
          <a:bodyPr wrap="none" rtlCol="0">
            <a:spAutoFit/>
          </a:bodyPr>
          <a:lstStyle/>
          <a:p>
            <a:r>
              <a:rPr kumimoji="1" lang="ja-JP" altLang="en-US" sz="600" dirty="0"/>
              <a:t>データ</a:t>
            </a:r>
            <a:r>
              <a:rPr lang="ja-JP" altLang="en-US" sz="600" dirty="0"/>
              <a:t>転用</a:t>
            </a:r>
            <a:endParaRPr kumimoji="1" lang="ja-JP" altLang="en-US" sz="600" dirty="0"/>
          </a:p>
        </p:txBody>
      </p:sp>
      <p:sp>
        <p:nvSpPr>
          <p:cNvPr id="44" name="正方形/長方形 43">
            <a:extLst>
              <a:ext uri="{FF2B5EF4-FFF2-40B4-BE49-F238E27FC236}">
                <a16:creationId xmlns:a16="http://schemas.microsoft.com/office/drawing/2014/main" id="{4DEA4BAB-36D9-C70F-BC56-1EC343EC6D51}"/>
              </a:ext>
            </a:extLst>
          </p:cNvPr>
          <p:cNvSpPr/>
          <p:nvPr/>
        </p:nvSpPr>
        <p:spPr>
          <a:xfrm>
            <a:off x="2152225" y="4647139"/>
            <a:ext cx="66329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見せ方</a:t>
            </a:r>
            <a:endParaRPr lang="en-US" altLang="ja-JP" sz="1000" dirty="0"/>
          </a:p>
          <a:p>
            <a:pPr algn="ctr"/>
            <a:r>
              <a:rPr kumimoji="1" lang="ja-JP" altLang="en-US" sz="1000" dirty="0"/>
              <a:t>修正</a:t>
            </a:r>
          </a:p>
        </p:txBody>
      </p:sp>
      <p:sp>
        <p:nvSpPr>
          <p:cNvPr id="51" name="テキスト ボックス 50">
            <a:extLst>
              <a:ext uri="{FF2B5EF4-FFF2-40B4-BE49-F238E27FC236}">
                <a16:creationId xmlns:a16="http://schemas.microsoft.com/office/drawing/2014/main" id="{5C78732D-F877-B2BB-E156-06C5EB32D97C}"/>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D26A7E98-5741-38E6-BDF5-9CB1674652EB}"/>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3" name="正方形/長方形 52">
            <a:extLst>
              <a:ext uri="{FF2B5EF4-FFF2-40B4-BE49-F238E27FC236}">
                <a16:creationId xmlns:a16="http://schemas.microsoft.com/office/drawing/2014/main" id="{80C3D0FA-CE73-90F8-A7A1-B62A600A6B0A}"/>
              </a:ext>
            </a:extLst>
          </p:cNvPr>
          <p:cNvSpPr/>
          <p:nvPr/>
        </p:nvSpPr>
        <p:spPr>
          <a:xfrm>
            <a:off x="6456040" y="4647139"/>
            <a:ext cx="29795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提</a:t>
            </a:r>
            <a:endParaRPr lang="en-US" altLang="ja-JP" sz="1000" dirty="0"/>
          </a:p>
          <a:p>
            <a:pPr algn="ctr"/>
            <a:r>
              <a:rPr lang="ja-JP" altLang="en-US" sz="1000" dirty="0"/>
              <a:t>出</a:t>
            </a:r>
            <a:endParaRPr kumimoji="1" lang="ja-JP" altLang="en-US" sz="1000" dirty="0"/>
          </a:p>
        </p:txBody>
      </p:sp>
      <p:cxnSp>
        <p:nvCxnSpPr>
          <p:cNvPr id="24" name="直線矢印コネクタ 23">
            <a:extLst>
              <a:ext uri="{FF2B5EF4-FFF2-40B4-BE49-F238E27FC236}">
                <a16:creationId xmlns:a16="http://schemas.microsoft.com/office/drawing/2014/main" id="{11FE948E-7AA5-8CA9-59CE-3B80993FBB58}"/>
              </a:ext>
            </a:extLst>
          </p:cNvPr>
          <p:cNvCxnSpPr>
            <a:cxnSpLocks/>
          </p:cNvCxnSpPr>
          <p:nvPr/>
        </p:nvCxnSpPr>
        <p:spPr>
          <a:xfrm>
            <a:off x="4165600" y="4119291"/>
            <a:ext cx="7868645" cy="0"/>
          </a:xfrm>
          <a:prstGeom prst="straightConnector1">
            <a:avLst/>
          </a:prstGeom>
          <a:ln w="57150">
            <a:headEnd type="arrow"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8314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016A95-77E2-9D5D-A0F3-8DB0969352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4292D6-5564-E702-BBB6-5CE4541EF1FC}"/>
              </a:ext>
            </a:extLst>
          </p:cNvPr>
          <p:cNvSpPr>
            <a:spLocks noGrp="1"/>
          </p:cNvSpPr>
          <p:nvPr>
            <p:ph type="title"/>
          </p:nvPr>
        </p:nvSpPr>
        <p:spPr/>
        <p:txBody>
          <a:bodyPr/>
          <a:lstStyle/>
          <a:p>
            <a:r>
              <a:rPr kumimoji="1" lang="ja-JP" altLang="en-US" dirty="0"/>
              <a:t>研究計画（日程・要件）</a:t>
            </a:r>
            <a:r>
              <a:rPr kumimoji="1" lang="ja-JP" altLang="en-US" dirty="0">
                <a:highlight>
                  <a:srgbClr val="FFFF00"/>
                </a:highlight>
              </a:rPr>
              <a:t>当初案</a:t>
            </a:r>
          </a:p>
        </p:txBody>
      </p:sp>
      <p:sp>
        <p:nvSpPr>
          <p:cNvPr id="3" name="コンテンツ プレースホルダー 2">
            <a:extLst>
              <a:ext uri="{FF2B5EF4-FFF2-40B4-BE49-F238E27FC236}">
                <a16:creationId xmlns:a16="http://schemas.microsoft.com/office/drawing/2014/main" id="{318C0AE7-0197-43B2-64E1-61EC65F9B61D}"/>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DD1E233A-0CF9-978F-AA2E-CFFF21D9AC3F}"/>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94AC91A9-056A-8CC5-901E-2622F56A9EFE}"/>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3B8141D3-DC67-411E-787B-F6675720B6AE}"/>
              </a:ext>
            </a:extLst>
          </p:cNvPr>
          <p:cNvSpPr>
            <a:spLocks noGrp="1"/>
          </p:cNvSpPr>
          <p:nvPr>
            <p:ph type="sldNum" sz="quarter" idx="12"/>
          </p:nvPr>
        </p:nvSpPr>
        <p:spPr/>
        <p:txBody>
          <a:bodyPr/>
          <a:lstStyle/>
          <a:p>
            <a:fld id="{870B1737-2A00-4EFB-9FD3-149FCC30AA13}" type="slidenum">
              <a:rPr lang="ja-JP" altLang="en-US" smtClean="0"/>
              <a:pPr/>
              <a:t>48</a:t>
            </a:fld>
            <a:endParaRPr lang="ja-JP" altLang="en-US" dirty="0"/>
          </a:p>
        </p:txBody>
      </p:sp>
      <p:graphicFrame>
        <p:nvGraphicFramePr>
          <p:cNvPr id="7" name="表 6">
            <a:extLst>
              <a:ext uri="{FF2B5EF4-FFF2-40B4-BE49-F238E27FC236}">
                <a16:creationId xmlns:a16="http://schemas.microsoft.com/office/drawing/2014/main" id="{189FA076-0456-0E58-2A6D-FF5E405FC929}"/>
              </a:ext>
            </a:extLst>
          </p:cNvPr>
          <p:cNvGraphicFramePr>
            <a:graphicFrameLocks noGrp="1"/>
          </p:cNvGraphicFramePr>
          <p:nvPr/>
        </p:nvGraphicFramePr>
        <p:xfrm>
          <a:off x="137369" y="3098645"/>
          <a:ext cx="11953331" cy="3672996"/>
        </p:xfrm>
        <a:graphic>
          <a:graphicData uri="http://schemas.openxmlformats.org/drawingml/2006/table">
            <a:tbl>
              <a:tblPr firstRow="1" firstCol="1" bandRow="1">
                <a:tableStyleId>{073A0DAA-6AF3-43AB-8588-CEC1D06C72B9}</a:tableStyleId>
              </a:tblPr>
              <a:tblGrid>
                <a:gridCol w="2272985">
                  <a:extLst>
                    <a:ext uri="{9D8B030D-6E8A-4147-A177-3AD203B41FA5}">
                      <a16:colId xmlns:a16="http://schemas.microsoft.com/office/drawing/2014/main" val="4121297649"/>
                    </a:ext>
                  </a:extLst>
                </a:gridCol>
                <a:gridCol w="744642">
                  <a:extLst>
                    <a:ext uri="{9D8B030D-6E8A-4147-A177-3AD203B41FA5}">
                      <a16:colId xmlns:a16="http://schemas.microsoft.com/office/drawing/2014/main" val="1529098118"/>
                    </a:ext>
                  </a:extLst>
                </a:gridCol>
                <a:gridCol w="744642">
                  <a:extLst>
                    <a:ext uri="{9D8B030D-6E8A-4147-A177-3AD203B41FA5}">
                      <a16:colId xmlns:a16="http://schemas.microsoft.com/office/drawing/2014/main" val="2060309241"/>
                    </a:ext>
                  </a:extLst>
                </a:gridCol>
                <a:gridCol w="744642">
                  <a:extLst>
                    <a:ext uri="{9D8B030D-6E8A-4147-A177-3AD203B41FA5}">
                      <a16:colId xmlns:a16="http://schemas.microsoft.com/office/drawing/2014/main" val="1494107052"/>
                    </a:ext>
                  </a:extLst>
                </a:gridCol>
                <a:gridCol w="744642">
                  <a:extLst>
                    <a:ext uri="{9D8B030D-6E8A-4147-A177-3AD203B41FA5}">
                      <a16:colId xmlns:a16="http://schemas.microsoft.com/office/drawing/2014/main" val="1598280866"/>
                    </a:ext>
                  </a:extLst>
                </a:gridCol>
                <a:gridCol w="744642">
                  <a:extLst>
                    <a:ext uri="{9D8B030D-6E8A-4147-A177-3AD203B41FA5}">
                      <a16:colId xmlns:a16="http://schemas.microsoft.com/office/drawing/2014/main" val="3478229303"/>
                    </a:ext>
                  </a:extLst>
                </a:gridCol>
                <a:gridCol w="744642">
                  <a:extLst>
                    <a:ext uri="{9D8B030D-6E8A-4147-A177-3AD203B41FA5}">
                      <a16:colId xmlns:a16="http://schemas.microsoft.com/office/drawing/2014/main" val="693079007"/>
                    </a:ext>
                  </a:extLst>
                </a:gridCol>
                <a:gridCol w="744642">
                  <a:extLst>
                    <a:ext uri="{9D8B030D-6E8A-4147-A177-3AD203B41FA5}">
                      <a16:colId xmlns:a16="http://schemas.microsoft.com/office/drawing/2014/main" val="2556297277"/>
                    </a:ext>
                  </a:extLst>
                </a:gridCol>
                <a:gridCol w="744642">
                  <a:extLst>
                    <a:ext uri="{9D8B030D-6E8A-4147-A177-3AD203B41FA5}">
                      <a16:colId xmlns:a16="http://schemas.microsoft.com/office/drawing/2014/main" val="1314798696"/>
                    </a:ext>
                  </a:extLst>
                </a:gridCol>
                <a:gridCol w="744642">
                  <a:extLst>
                    <a:ext uri="{9D8B030D-6E8A-4147-A177-3AD203B41FA5}">
                      <a16:colId xmlns:a16="http://schemas.microsoft.com/office/drawing/2014/main" val="2606787134"/>
                    </a:ext>
                  </a:extLst>
                </a:gridCol>
                <a:gridCol w="744642">
                  <a:extLst>
                    <a:ext uri="{9D8B030D-6E8A-4147-A177-3AD203B41FA5}">
                      <a16:colId xmlns:a16="http://schemas.microsoft.com/office/drawing/2014/main" val="3868891806"/>
                    </a:ext>
                  </a:extLst>
                </a:gridCol>
                <a:gridCol w="744642">
                  <a:extLst>
                    <a:ext uri="{9D8B030D-6E8A-4147-A177-3AD203B41FA5}">
                      <a16:colId xmlns:a16="http://schemas.microsoft.com/office/drawing/2014/main" val="4106318747"/>
                    </a:ext>
                  </a:extLst>
                </a:gridCol>
                <a:gridCol w="744642">
                  <a:extLst>
                    <a:ext uri="{9D8B030D-6E8A-4147-A177-3AD203B41FA5}">
                      <a16:colId xmlns:a16="http://schemas.microsoft.com/office/drawing/2014/main" val="1077053283"/>
                    </a:ext>
                  </a:extLst>
                </a:gridCol>
                <a:gridCol w="744642">
                  <a:extLst>
                    <a:ext uri="{9D8B030D-6E8A-4147-A177-3AD203B41FA5}">
                      <a16:colId xmlns:a16="http://schemas.microsoft.com/office/drawing/2014/main" val="2852890849"/>
                    </a:ext>
                  </a:extLst>
                </a:gridCol>
              </a:tblGrid>
              <a:tr h="144016">
                <a:tc>
                  <a:txBody>
                    <a:bodyPr/>
                    <a:lstStyle/>
                    <a:p>
                      <a:endParaRPr kumimoji="1" lang="ja-JP" altLang="en-US" sz="1400" dirty="0"/>
                    </a:p>
                  </a:txBody>
                  <a:tcPr/>
                </a:tc>
                <a:tc>
                  <a:txBody>
                    <a:bodyPr/>
                    <a:lstStyle/>
                    <a:p>
                      <a:r>
                        <a:rPr kumimoji="1" lang="en-US" altLang="ja-JP" sz="1400" dirty="0"/>
                        <a:t>2025</a:t>
                      </a:r>
                      <a:endParaRPr kumimoji="1" lang="ja-JP" altLang="en-US" sz="1400" dirty="0"/>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600" dirty="0"/>
                    </a:p>
                  </a:txBody>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en-US" altLang="ja-JP" sz="600" dirty="0">
                        <a:solidFill>
                          <a:sysClr val="windowText" lastClr="000000"/>
                        </a:solidFill>
                      </a:endParaRPr>
                    </a:p>
                  </a:txBody>
                  <a:tcPr>
                    <a:solidFill>
                      <a:schemeClr val="accent1">
                        <a:lumMod val="20000"/>
                        <a:lumOff val="8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en-US" altLang="ja-JP" sz="1400"/>
                        <a:t>2028</a:t>
                      </a:r>
                      <a:endParaRPr kumimoji="1" lang="ja-JP" altLang="en-US" sz="1400" dirty="0"/>
                    </a:p>
                  </a:txBody>
                  <a:tcPr/>
                </a:tc>
                <a:extLst>
                  <a:ext uri="{0D108BD9-81ED-4DB2-BD59-A6C34878D82A}">
                    <a16:rowId xmlns:a16="http://schemas.microsoft.com/office/drawing/2014/main" val="2362661908"/>
                  </a:ext>
                </a:extLst>
              </a:tr>
              <a:tr h="0">
                <a:tc>
                  <a:txBody>
                    <a:bodyPr/>
                    <a:lstStyle/>
                    <a:p>
                      <a:endParaRPr kumimoji="1" lang="ja-JP" altLang="en-US" sz="1400" dirty="0"/>
                    </a:p>
                  </a:txBody>
                  <a:tcPr/>
                </a:tc>
                <a:tc>
                  <a:txBody>
                    <a:bodyPr/>
                    <a:lstStyle/>
                    <a:p>
                      <a:r>
                        <a:rPr kumimoji="1" lang="ja-JP" altLang="en-US" sz="1400"/>
                        <a:t>春</a:t>
                      </a:r>
                      <a:endParaRPr kumimoji="1" lang="ja-JP" altLang="en-US" sz="1400" dirty="0"/>
                    </a:p>
                  </a:txBody>
                  <a:tcPr/>
                </a:tc>
                <a:tc>
                  <a:txBody>
                    <a:bodyPr/>
                    <a:lstStyle/>
                    <a:p>
                      <a:r>
                        <a:rPr kumimoji="1" lang="ja-JP" altLang="en-US" sz="1400"/>
                        <a:t>夏</a:t>
                      </a:r>
                      <a:endParaRPr kumimoji="1" lang="ja-JP" altLang="en-US" sz="1400" dirty="0"/>
                    </a:p>
                  </a:txBody>
                  <a:tcPr/>
                </a:tc>
                <a:tc>
                  <a:txBody>
                    <a:bodyPr/>
                    <a:lstStyle/>
                    <a:p>
                      <a:r>
                        <a:rPr kumimoji="1" lang="ja-JP" altLang="en-US" sz="1400"/>
                        <a:t>秋</a:t>
                      </a:r>
                      <a:endParaRPr kumimoji="1" lang="ja-JP" altLang="en-US" sz="1400" dirty="0"/>
                    </a:p>
                  </a:txBody>
                  <a:tcPr/>
                </a:tc>
                <a:tc>
                  <a:txBody>
                    <a:bodyPr/>
                    <a:lstStyle/>
                    <a:p>
                      <a:r>
                        <a:rPr kumimoji="1" lang="ja-JP" altLang="en-US" sz="1400" dirty="0"/>
                        <a:t>冬</a:t>
                      </a:r>
                    </a:p>
                  </a:txBody>
                  <a:tcPr/>
                </a:tc>
                <a:tc>
                  <a:txBody>
                    <a:bodyPr/>
                    <a:lstStyle/>
                    <a:p>
                      <a:r>
                        <a:rPr kumimoji="1" lang="ja-JP" altLang="en-US" sz="1400" dirty="0">
                          <a:solidFill>
                            <a:sysClr val="windowText" lastClr="000000"/>
                          </a:solidFill>
                        </a:rPr>
                        <a:t>春</a:t>
                      </a:r>
                    </a:p>
                  </a:txBody>
                  <a:tcPr>
                    <a:solidFill>
                      <a:schemeClr val="accent1">
                        <a:lumMod val="20000"/>
                        <a:lumOff val="80000"/>
                      </a:schemeClr>
                    </a:solidFill>
                  </a:tcPr>
                </a:tc>
                <a:tc>
                  <a:txBody>
                    <a:bodyPr/>
                    <a:lstStyle/>
                    <a:p>
                      <a:r>
                        <a:rPr kumimoji="1" lang="ja-JP" altLang="en-US" sz="1400" dirty="0">
                          <a:solidFill>
                            <a:sysClr val="windowText" lastClr="000000"/>
                          </a:solidFill>
                        </a:rPr>
                        <a:t>夏</a:t>
                      </a:r>
                    </a:p>
                  </a:txBody>
                  <a:tcPr>
                    <a:solidFill>
                      <a:schemeClr val="accent1">
                        <a:lumMod val="20000"/>
                        <a:lumOff val="80000"/>
                      </a:schemeClr>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dirty="0">
                          <a:solidFill>
                            <a:sysClr val="windowText" lastClr="000000"/>
                          </a:solidFill>
                        </a:rPr>
                        <a:t>冬</a:t>
                      </a:r>
                    </a:p>
                  </a:txBody>
                  <a:tcPr>
                    <a:solidFill>
                      <a:schemeClr val="accent1">
                        <a:lumMod val="20000"/>
                        <a:lumOff val="80000"/>
                      </a:schemeClr>
                    </a:solidFill>
                  </a:tcPr>
                </a:tc>
                <a:tc>
                  <a:txBody>
                    <a:bodyPr/>
                    <a:lstStyle/>
                    <a:p>
                      <a:r>
                        <a:rPr kumimoji="1" lang="ja-JP" altLang="en-US" sz="1400" dirty="0">
                          <a:solidFill>
                            <a:sysClr val="windowText" lastClr="000000"/>
                          </a:solidFill>
                        </a:rPr>
                        <a:t>春</a:t>
                      </a:r>
                    </a:p>
                  </a:txBody>
                  <a:tcPr>
                    <a:solidFill>
                      <a:schemeClr val="accent1">
                        <a:lumMod val="20000"/>
                        <a:lumOff val="80000"/>
                      </a:schemeClr>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solidFill>
                            <a:sysClr val="windowText" lastClr="000000"/>
                          </a:solidFill>
                        </a:rPr>
                        <a:t>冬</a:t>
                      </a:r>
                      <a:endParaRPr kumimoji="1" lang="ja-JP" altLang="en-US" sz="1400" dirty="0">
                        <a:solidFill>
                          <a:sysClr val="windowText" lastClr="000000"/>
                        </a:solidFill>
                      </a:endParaRPr>
                    </a:p>
                  </a:txBody>
                  <a:tcPr>
                    <a:solidFill>
                      <a:schemeClr val="accent1">
                        <a:lumMod val="20000"/>
                        <a:lumOff val="80000"/>
                      </a:schemeClr>
                    </a:solidFill>
                  </a:tcPr>
                </a:tc>
                <a:tc>
                  <a:txBody>
                    <a:bodyPr/>
                    <a:lstStyle/>
                    <a:p>
                      <a:r>
                        <a:rPr kumimoji="1" lang="ja-JP" altLang="en-US" sz="1400"/>
                        <a:t>春</a:t>
                      </a:r>
                      <a:endParaRPr kumimoji="1" lang="ja-JP" altLang="en-US" sz="1400" dirty="0"/>
                    </a:p>
                  </a:txBody>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卒論系研究</a:t>
                      </a:r>
                    </a:p>
                    <a:p>
                      <a:r>
                        <a:rPr kumimoji="1" lang="en-US" altLang="ja-JP" sz="1400" dirty="0"/>
                        <a:t>Journal #1,2</a:t>
                      </a:r>
                    </a:p>
                  </a:txBody>
                  <a:tcPr/>
                </a:tc>
                <a:tc>
                  <a:txBody>
                    <a:bodyPr/>
                    <a:lstStyle/>
                    <a:p>
                      <a:endParaRPr kumimoji="1" lang="ja-JP" altLang="en-US" sz="1400" dirty="0"/>
                    </a:p>
                  </a:txBody>
                  <a:tcPr/>
                </a:tc>
                <a:tc>
                  <a:txBody>
                    <a:bodyPr/>
                    <a:lstStyle/>
                    <a:p>
                      <a:endParaRPr kumimoji="1" lang="ja-JP" altLang="en-US" sz="1400"/>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修論系研究</a:t>
                      </a:r>
                    </a:p>
                    <a:p>
                      <a:r>
                        <a:rPr kumimoji="1" lang="en-US" altLang="ja-JP" sz="1400" dirty="0"/>
                        <a:t>Journal #3</a:t>
                      </a:r>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新規研究</a:t>
                      </a:r>
                    </a:p>
                    <a:p>
                      <a:r>
                        <a:rPr kumimoji="1" lang="en-US" altLang="ja-JP" sz="1400" dirty="0"/>
                        <a:t>Journal #4</a:t>
                      </a:r>
                    </a:p>
                    <a:p>
                      <a:r>
                        <a:rPr kumimoji="1" lang="en-US" altLang="ja-JP" sz="1400" dirty="0"/>
                        <a:t>International Conf. #4</a:t>
                      </a:r>
                    </a:p>
                    <a:p>
                      <a:r>
                        <a:rPr kumimoji="1" lang="en-US" altLang="ja-JP" sz="1400" dirty="0"/>
                        <a:t>Journal #5</a:t>
                      </a:r>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a:p>
                  </a:txBody>
                  <a:tcPr/>
                </a:tc>
                <a:extLst>
                  <a:ext uri="{0D108BD9-81ED-4DB2-BD59-A6C34878D82A}">
                    <a16:rowId xmlns:a16="http://schemas.microsoft.com/office/drawing/2014/main" val="2188053489"/>
                  </a:ext>
                </a:extLst>
              </a:tr>
              <a:tr h="576064">
                <a:tc>
                  <a:txBody>
                    <a:bodyPr/>
                    <a:lstStyle/>
                    <a:p>
                      <a:r>
                        <a:rPr kumimoji="1" lang="ja-JP" altLang="en-US" sz="1400" dirty="0"/>
                        <a:t>博士論文</a:t>
                      </a:r>
                    </a:p>
                  </a:txBody>
                  <a:tcPr/>
                </a:tc>
                <a:tc>
                  <a:txBody>
                    <a:bodyPr/>
                    <a:lstStyle/>
                    <a:p>
                      <a:endParaRPr kumimoji="1" lang="ja-JP" altLang="en-US" sz="1400" dirty="0"/>
                    </a:p>
                  </a:txBody>
                  <a:tcPr/>
                </a:tc>
                <a:tc>
                  <a:txBody>
                    <a:bodyPr/>
                    <a:lstStyle/>
                    <a:p>
                      <a:endParaRPr kumimoji="1" lang="ja-JP" altLang="en-US" sz="1400" dirty="0"/>
                    </a:p>
                  </a:txBody>
                  <a:tcPr/>
                </a:tc>
                <a:tc>
                  <a:txBody>
                    <a:bodyPr/>
                    <a:lstStyle/>
                    <a:p>
                      <a:endParaRPr kumimoji="1" lang="ja-JP" altLang="en-US" sz="1400"/>
                    </a:p>
                  </a:txBody>
                  <a:tcPr/>
                </a:tc>
                <a:tc>
                  <a:txBody>
                    <a:bodyPr/>
                    <a:lstStyle/>
                    <a:p>
                      <a:endParaRPr kumimoji="1" lang="ja-JP" altLang="en-US" sz="1400" dirty="0"/>
                    </a:p>
                  </a:txBody>
                  <a:tcPr/>
                </a:tc>
                <a:tc>
                  <a:txBody>
                    <a:bodyPr/>
                    <a:lstStyle/>
                    <a:p>
                      <a:endParaRPr kumimoji="1" lang="ja-JP" altLang="en-US" sz="140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solidFill>
                          <a:sysClr val="windowText" lastClr="000000"/>
                        </a:solidFill>
                      </a:endParaRPr>
                    </a:p>
                  </a:txBody>
                  <a:tcPr>
                    <a:solidFill>
                      <a:schemeClr val="accent1">
                        <a:lumMod val="20000"/>
                        <a:lumOff val="80000"/>
                      </a:schemeClr>
                    </a:solidFill>
                  </a:tcPr>
                </a:tc>
                <a:tc>
                  <a:txBody>
                    <a:bodyPr/>
                    <a:lstStyle/>
                    <a:p>
                      <a:endParaRPr kumimoji="1" lang="ja-JP" altLang="en-US" sz="1400" dirty="0"/>
                    </a:p>
                  </a:txBody>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49D37AEA-EB6C-20EF-B614-4E9D5EB5B9A2}"/>
              </a:ext>
            </a:extLst>
          </p:cNvPr>
          <p:cNvSpPr/>
          <p:nvPr/>
        </p:nvSpPr>
        <p:spPr>
          <a:xfrm>
            <a:off x="2382209" y="3834641"/>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B81D66C1-05FC-9B5B-59A9-CC6CF3A27ECF}"/>
              </a:ext>
            </a:extLst>
          </p:cNvPr>
          <p:cNvSpPr/>
          <p:nvPr/>
        </p:nvSpPr>
        <p:spPr>
          <a:xfrm>
            <a:off x="2382209" y="4212494"/>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sp>
        <p:nvSpPr>
          <p:cNvPr id="10" name="正方形/長方形 9">
            <a:extLst>
              <a:ext uri="{FF2B5EF4-FFF2-40B4-BE49-F238E27FC236}">
                <a16:creationId xmlns:a16="http://schemas.microsoft.com/office/drawing/2014/main" id="{41EB84C8-82D9-AC1A-EDC7-D801ADBA356D}"/>
              </a:ext>
            </a:extLst>
          </p:cNvPr>
          <p:cNvSpPr/>
          <p:nvPr/>
        </p:nvSpPr>
        <p:spPr>
          <a:xfrm>
            <a:off x="3165775" y="4646817"/>
            <a:ext cx="75643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修正</a:t>
            </a:r>
            <a:endParaRPr lang="en-US" altLang="ja-JP" sz="1200" dirty="0"/>
          </a:p>
          <a:p>
            <a:pPr algn="ctr"/>
            <a:r>
              <a:rPr lang="ja-JP" altLang="en-US" sz="1200" dirty="0"/>
              <a:t>計画</a:t>
            </a:r>
            <a:endParaRPr kumimoji="1" lang="ja-JP" altLang="en-US" sz="1200" dirty="0"/>
          </a:p>
        </p:txBody>
      </p:sp>
      <p:sp>
        <p:nvSpPr>
          <p:cNvPr id="11" name="正方形/長方形 10">
            <a:extLst>
              <a:ext uri="{FF2B5EF4-FFF2-40B4-BE49-F238E27FC236}">
                <a16:creationId xmlns:a16="http://schemas.microsoft.com/office/drawing/2014/main" id="{7870935C-A773-D55E-593B-3FB900B3CAA7}"/>
              </a:ext>
            </a:extLst>
          </p:cNvPr>
          <p:cNvSpPr/>
          <p:nvPr/>
        </p:nvSpPr>
        <p:spPr>
          <a:xfrm>
            <a:off x="4734821" y="4646817"/>
            <a:ext cx="1021398"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12" name="正方形/長方形 11">
            <a:extLst>
              <a:ext uri="{FF2B5EF4-FFF2-40B4-BE49-F238E27FC236}">
                <a16:creationId xmlns:a16="http://schemas.microsoft.com/office/drawing/2014/main" id="{0D5C696A-2F01-6474-4068-49E12156390B}"/>
              </a:ext>
            </a:extLst>
          </p:cNvPr>
          <p:cNvSpPr/>
          <p:nvPr/>
        </p:nvSpPr>
        <p:spPr>
          <a:xfrm>
            <a:off x="5756219" y="4646817"/>
            <a:ext cx="453650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IEEE T-MSC</a:t>
            </a:r>
            <a:r>
              <a:rPr kumimoji="1" lang="ja-JP" altLang="en-US" sz="1200" dirty="0"/>
              <a:t>）</a:t>
            </a:r>
          </a:p>
        </p:txBody>
      </p:sp>
      <p:sp>
        <p:nvSpPr>
          <p:cNvPr id="13" name="正方形/長方形 12">
            <a:extLst>
              <a:ext uri="{FF2B5EF4-FFF2-40B4-BE49-F238E27FC236}">
                <a16:creationId xmlns:a16="http://schemas.microsoft.com/office/drawing/2014/main" id="{1D0E1950-49ED-DF15-4437-097009E9857D}"/>
              </a:ext>
            </a:extLst>
          </p:cNvPr>
          <p:cNvSpPr/>
          <p:nvPr/>
        </p:nvSpPr>
        <p:spPr>
          <a:xfrm>
            <a:off x="2409341" y="4638738"/>
            <a:ext cx="756434" cy="1108284"/>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900" dirty="0"/>
              <a:t>全体構想</a:t>
            </a:r>
            <a:endParaRPr lang="en-US" altLang="ja-JP" sz="900" dirty="0"/>
          </a:p>
          <a:p>
            <a:pPr algn="ctr"/>
            <a:r>
              <a:rPr lang="ja-JP" altLang="en-US" sz="900" dirty="0"/>
              <a:t>・</a:t>
            </a:r>
            <a:endParaRPr lang="en-US" altLang="ja-JP" sz="900" dirty="0"/>
          </a:p>
          <a:p>
            <a:pPr algn="ctr"/>
            <a:r>
              <a:rPr lang="ja-JP" altLang="en-US" sz="900" dirty="0"/>
              <a:t>研究間</a:t>
            </a:r>
            <a:endParaRPr lang="en-US" altLang="ja-JP" sz="900" dirty="0"/>
          </a:p>
          <a:p>
            <a:pPr algn="ctr"/>
            <a:r>
              <a:rPr lang="ja-JP" altLang="en-US" sz="900" dirty="0"/>
              <a:t>差別化戦略</a:t>
            </a:r>
            <a:endParaRPr kumimoji="1" lang="ja-JP" altLang="en-US" sz="900" dirty="0"/>
          </a:p>
        </p:txBody>
      </p:sp>
      <p:sp>
        <p:nvSpPr>
          <p:cNvPr id="14" name="正方形/長方形 13">
            <a:extLst>
              <a:ext uri="{FF2B5EF4-FFF2-40B4-BE49-F238E27FC236}">
                <a16:creationId xmlns:a16="http://schemas.microsoft.com/office/drawing/2014/main" id="{D7172A88-31D2-A5EB-28E9-C2221C8E2590}"/>
              </a:ext>
            </a:extLst>
          </p:cNvPr>
          <p:cNvSpPr/>
          <p:nvPr/>
        </p:nvSpPr>
        <p:spPr>
          <a:xfrm>
            <a:off x="3872038" y="5387801"/>
            <a:ext cx="649296"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アルゴ</a:t>
            </a:r>
            <a:endParaRPr lang="en-US" altLang="ja-JP" sz="1200" dirty="0"/>
          </a:p>
          <a:p>
            <a:pPr algn="ctr"/>
            <a:r>
              <a:rPr lang="ja-JP" altLang="en-US" sz="1200" dirty="0"/>
              <a:t>リズム</a:t>
            </a:r>
            <a:endParaRPr kumimoji="1" lang="ja-JP" altLang="en-US" sz="1200" dirty="0"/>
          </a:p>
        </p:txBody>
      </p:sp>
      <p:sp>
        <p:nvSpPr>
          <p:cNvPr id="15" name="正方形/長方形 14">
            <a:extLst>
              <a:ext uri="{FF2B5EF4-FFF2-40B4-BE49-F238E27FC236}">
                <a16:creationId xmlns:a16="http://schemas.microsoft.com/office/drawing/2014/main" id="{3DBDED6D-7994-3290-298A-1C175115C5EC}"/>
              </a:ext>
            </a:extLst>
          </p:cNvPr>
          <p:cNvSpPr/>
          <p:nvPr/>
        </p:nvSpPr>
        <p:spPr>
          <a:xfrm>
            <a:off x="4521096" y="5387801"/>
            <a:ext cx="863110"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基礎検証</a:t>
            </a:r>
            <a:endParaRPr kumimoji="1" lang="ja-JP" altLang="en-US" sz="1200" dirty="0"/>
          </a:p>
        </p:txBody>
      </p:sp>
      <p:sp>
        <p:nvSpPr>
          <p:cNvPr id="16" name="正方形/長方形 15">
            <a:extLst>
              <a:ext uri="{FF2B5EF4-FFF2-40B4-BE49-F238E27FC236}">
                <a16:creationId xmlns:a16="http://schemas.microsoft.com/office/drawing/2014/main" id="{EE8FA4FF-C384-6BB0-4AB1-93A169F62E10}"/>
              </a:ext>
            </a:extLst>
          </p:cNvPr>
          <p:cNvSpPr/>
          <p:nvPr/>
        </p:nvSpPr>
        <p:spPr>
          <a:xfrm>
            <a:off x="4639852" y="5775678"/>
            <a:ext cx="115212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200" dirty="0"/>
              <a:t>Sim</a:t>
            </a:r>
            <a:endParaRPr kumimoji="1" lang="ja-JP" altLang="en-US" sz="1200" dirty="0"/>
          </a:p>
        </p:txBody>
      </p:sp>
      <p:sp>
        <p:nvSpPr>
          <p:cNvPr id="17" name="正方形/長方形 16">
            <a:extLst>
              <a:ext uri="{FF2B5EF4-FFF2-40B4-BE49-F238E27FC236}">
                <a16:creationId xmlns:a16="http://schemas.microsoft.com/office/drawing/2014/main" id="{AD7F0D2C-A90B-4023-C89C-6191C6CB5348}"/>
              </a:ext>
            </a:extLst>
          </p:cNvPr>
          <p:cNvSpPr/>
          <p:nvPr/>
        </p:nvSpPr>
        <p:spPr>
          <a:xfrm>
            <a:off x="5393957" y="5387800"/>
            <a:ext cx="649300"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実験</a:t>
            </a:r>
            <a:endParaRPr lang="en-US" altLang="ja-JP" sz="1200" dirty="0"/>
          </a:p>
          <a:p>
            <a:pPr algn="ctr"/>
            <a:r>
              <a:rPr lang="ja-JP" altLang="en-US" sz="1200" dirty="0"/>
              <a:t>準備</a:t>
            </a:r>
            <a:endParaRPr kumimoji="1" lang="ja-JP" altLang="en-US" sz="1200" dirty="0"/>
          </a:p>
        </p:txBody>
      </p:sp>
      <p:sp>
        <p:nvSpPr>
          <p:cNvPr id="18" name="正方形/長方形 17">
            <a:extLst>
              <a:ext uri="{FF2B5EF4-FFF2-40B4-BE49-F238E27FC236}">
                <a16:creationId xmlns:a16="http://schemas.microsoft.com/office/drawing/2014/main" id="{A9689945-DA11-7BF4-E9DB-E5A31F8F357B}"/>
              </a:ext>
            </a:extLst>
          </p:cNvPr>
          <p:cNvSpPr/>
          <p:nvPr/>
        </p:nvSpPr>
        <p:spPr>
          <a:xfrm>
            <a:off x="6046458" y="5387800"/>
            <a:ext cx="591917"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実験</a:t>
            </a:r>
            <a:endParaRPr kumimoji="1" lang="ja-JP" altLang="en-US" sz="1200" dirty="0"/>
          </a:p>
        </p:txBody>
      </p:sp>
      <p:sp>
        <p:nvSpPr>
          <p:cNvPr id="19" name="正方形/長方形 18">
            <a:extLst>
              <a:ext uri="{FF2B5EF4-FFF2-40B4-BE49-F238E27FC236}">
                <a16:creationId xmlns:a16="http://schemas.microsoft.com/office/drawing/2014/main" id="{CD70704D-4AAB-CCC3-04ED-7D06E8CF013F}"/>
              </a:ext>
            </a:extLst>
          </p:cNvPr>
          <p:cNvSpPr/>
          <p:nvPr/>
        </p:nvSpPr>
        <p:spPr>
          <a:xfrm>
            <a:off x="6638375" y="5387800"/>
            <a:ext cx="598946"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解析</a:t>
            </a:r>
            <a:endParaRPr kumimoji="1" lang="ja-JP" altLang="en-US" sz="1200" dirty="0"/>
          </a:p>
        </p:txBody>
      </p:sp>
      <p:sp>
        <p:nvSpPr>
          <p:cNvPr id="20" name="正方形/長方形 19">
            <a:extLst>
              <a:ext uri="{FF2B5EF4-FFF2-40B4-BE49-F238E27FC236}">
                <a16:creationId xmlns:a16="http://schemas.microsoft.com/office/drawing/2014/main" id="{8ABA62D1-534B-EB2D-FBC0-04FD3A51D945}"/>
              </a:ext>
            </a:extLst>
          </p:cNvPr>
          <p:cNvSpPr/>
          <p:nvPr/>
        </p:nvSpPr>
        <p:spPr>
          <a:xfrm>
            <a:off x="7425524" y="5387800"/>
            <a:ext cx="598947"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21" name="正方形/長方形 20">
            <a:extLst>
              <a:ext uri="{FF2B5EF4-FFF2-40B4-BE49-F238E27FC236}">
                <a16:creationId xmlns:a16="http://schemas.microsoft.com/office/drawing/2014/main" id="{988A3054-8CCF-DB14-DD6A-80160DFC4E6D}"/>
              </a:ext>
            </a:extLst>
          </p:cNvPr>
          <p:cNvSpPr/>
          <p:nvPr/>
        </p:nvSpPr>
        <p:spPr>
          <a:xfrm>
            <a:off x="8024472" y="5386982"/>
            <a:ext cx="1062225"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査読</a:t>
            </a:r>
            <a:r>
              <a:rPr kumimoji="1" lang="en-US" altLang="ja-JP" sz="1200" dirty="0"/>
              <a:t>RA-L</a:t>
            </a:r>
            <a:endParaRPr kumimoji="1" lang="ja-JP" altLang="en-US" sz="1200" dirty="0"/>
          </a:p>
        </p:txBody>
      </p:sp>
      <p:sp>
        <p:nvSpPr>
          <p:cNvPr id="23" name="正方形/長方形 22">
            <a:extLst>
              <a:ext uri="{FF2B5EF4-FFF2-40B4-BE49-F238E27FC236}">
                <a16:creationId xmlns:a16="http://schemas.microsoft.com/office/drawing/2014/main" id="{A6F484BA-9966-2727-FD1A-1740EE41C102}"/>
              </a:ext>
            </a:extLst>
          </p:cNvPr>
          <p:cNvSpPr/>
          <p:nvPr/>
        </p:nvSpPr>
        <p:spPr>
          <a:xfrm>
            <a:off x="9072862" y="6324005"/>
            <a:ext cx="1042212"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執筆</a:t>
            </a:r>
          </a:p>
        </p:txBody>
      </p:sp>
      <p:cxnSp>
        <p:nvCxnSpPr>
          <p:cNvPr id="24" name="直線矢印コネクタ 23">
            <a:extLst>
              <a:ext uri="{FF2B5EF4-FFF2-40B4-BE49-F238E27FC236}">
                <a16:creationId xmlns:a16="http://schemas.microsoft.com/office/drawing/2014/main" id="{DAACFC48-A8ED-0F42-EB80-B4A69A45D399}"/>
              </a:ext>
            </a:extLst>
          </p:cNvPr>
          <p:cNvCxnSpPr>
            <a:cxnSpLocks/>
          </p:cNvCxnSpPr>
          <p:nvPr/>
        </p:nvCxnSpPr>
        <p:spPr>
          <a:xfrm>
            <a:off x="5393957" y="4317313"/>
            <a:ext cx="5976664" cy="0"/>
          </a:xfrm>
          <a:prstGeom prst="straightConnector1">
            <a:avLst/>
          </a:prstGeom>
          <a:ln>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B1A58D03-D1B7-2849-0D10-EF771622C3FE}"/>
              </a:ext>
            </a:extLst>
          </p:cNvPr>
          <p:cNvSpPr txBox="1"/>
          <p:nvPr/>
        </p:nvSpPr>
        <p:spPr>
          <a:xfrm>
            <a:off x="7704243" y="3960808"/>
            <a:ext cx="1569660" cy="369332"/>
          </a:xfrm>
          <a:prstGeom prst="rect">
            <a:avLst/>
          </a:prstGeom>
          <a:noFill/>
        </p:spPr>
        <p:txBody>
          <a:bodyPr wrap="none" rtlCol="0">
            <a:spAutoFit/>
          </a:bodyPr>
          <a:lstStyle/>
          <a:p>
            <a:r>
              <a:rPr kumimoji="1" lang="ja-JP" altLang="en-US" b="1" dirty="0">
                <a:solidFill>
                  <a:srgbClr val="FF0000"/>
                </a:solidFill>
              </a:rPr>
              <a:t>在籍</a:t>
            </a:r>
            <a:r>
              <a:rPr lang="ja-JP" altLang="en-US" b="1" dirty="0">
                <a:solidFill>
                  <a:srgbClr val="FF0000"/>
                </a:solidFill>
              </a:rPr>
              <a:t>予定</a:t>
            </a:r>
            <a:r>
              <a:rPr kumimoji="1" lang="ja-JP" altLang="en-US" b="1" dirty="0">
                <a:solidFill>
                  <a:srgbClr val="FF0000"/>
                </a:solidFill>
              </a:rPr>
              <a:t>期間</a:t>
            </a:r>
          </a:p>
        </p:txBody>
      </p:sp>
      <p:sp>
        <p:nvSpPr>
          <p:cNvPr id="26" name="正方形/長方形 25">
            <a:extLst>
              <a:ext uri="{FF2B5EF4-FFF2-40B4-BE49-F238E27FC236}">
                <a16:creationId xmlns:a16="http://schemas.microsoft.com/office/drawing/2014/main" id="{751C3F10-528B-14D7-BB8A-EC510491051E}"/>
              </a:ext>
            </a:extLst>
          </p:cNvPr>
          <p:cNvSpPr/>
          <p:nvPr/>
        </p:nvSpPr>
        <p:spPr>
          <a:xfrm>
            <a:off x="10115073" y="6324005"/>
            <a:ext cx="720080"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審査</a:t>
            </a:r>
          </a:p>
        </p:txBody>
      </p:sp>
      <p:sp>
        <p:nvSpPr>
          <p:cNvPr id="34" name="正方形/長方形 33">
            <a:extLst>
              <a:ext uri="{FF2B5EF4-FFF2-40B4-BE49-F238E27FC236}">
                <a16:creationId xmlns:a16="http://schemas.microsoft.com/office/drawing/2014/main" id="{A4BD5107-0D91-4D24-D692-2854B8110DD4}"/>
              </a:ext>
            </a:extLst>
          </p:cNvPr>
          <p:cNvSpPr/>
          <p:nvPr/>
        </p:nvSpPr>
        <p:spPr>
          <a:xfrm>
            <a:off x="9072861" y="5386981"/>
            <a:ext cx="129963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RA-L</a:t>
            </a:r>
            <a:r>
              <a:rPr kumimoji="1" lang="ja-JP" altLang="en-US" sz="1200" dirty="0"/>
              <a:t>国際会議</a:t>
            </a:r>
          </a:p>
        </p:txBody>
      </p:sp>
      <p:sp>
        <p:nvSpPr>
          <p:cNvPr id="35" name="正方形/長方形 34">
            <a:extLst>
              <a:ext uri="{FF2B5EF4-FFF2-40B4-BE49-F238E27FC236}">
                <a16:creationId xmlns:a16="http://schemas.microsoft.com/office/drawing/2014/main" id="{8C0D2357-63E4-C5F7-DA7D-310DA61C650E}"/>
              </a:ext>
            </a:extLst>
          </p:cNvPr>
          <p:cNvSpPr/>
          <p:nvPr/>
        </p:nvSpPr>
        <p:spPr>
          <a:xfrm>
            <a:off x="7425524" y="5747022"/>
            <a:ext cx="70626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執筆</a:t>
            </a:r>
            <a:endParaRPr kumimoji="1" lang="ja-JP" altLang="en-US" sz="1200" dirty="0"/>
          </a:p>
        </p:txBody>
      </p:sp>
      <p:sp>
        <p:nvSpPr>
          <p:cNvPr id="36" name="正方形/長方形 35">
            <a:extLst>
              <a:ext uri="{FF2B5EF4-FFF2-40B4-BE49-F238E27FC236}">
                <a16:creationId xmlns:a16="http://schemas.microsoft.com/office/drawing/2014/main" id="{7F9F5C46-8C9A-73D8-F1AB-70A6516AD9A7}"/>
              </a:ext>
            </a:extLst>
          </p:cNvPr>
          <p:cNvSpPr/>
          <p:nvPr/>
        </p:nvSpPr>
        <p:spPr>
          <a:xfrm>
            <a:off x="8127569" y="5747840"/>
            <a:ext cx="3243052"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200" dirty="0"/>
              <a:t>　　　</a:t>
            </a:r>
            <a:r>
              <a:rPr kumimoji="1" lang="ja-JP" altLang="en-US" sz="1200" dirty="0"/>
              <a:t>査読</a:t>
            </a:r>
          </a:p>
        </p:txBody>
      </p:sp>
      <p:graphicFrame>
        <p:nvGraphicFramePr>
          <p:cNvPr id="37" name="表 36">
            <a:extLst>
              <a:ext uri="{FF2B5EF4-FFF2-40B4-BE49-F238E27FC236}">
                <a16:creationId xmlns:a16="http://schemas.microsoft.com/office/drawing/2014/main" id="{2A552DE2-9311-C01F-AA9A-AF42802F1DB4}"/>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38" name="正方形/長方形 37">
            <a:extLst>
              <a:ext uri="{FF2B5EF4-FFF2-40B4-BE49-F238E27FC236}">
                <a16:creationId xmlns:a16="http://schemas.microsoft.com/office/drawing/2014/main" id="{A2DF1D58-8EA5-8681-FAE5-8039CE542ADD}"/>
              </a:ext>
            </a:extLst>
          </p:cNvPr>
          <p:cNvSpPr/>
          <p:nvPr/>
        </p:nvSpPr>
        <p:spPr>
          <a:xfrm>
            <a:off x="3175527" y="5387801"/>
            <a:ext cx="683318"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200" dirty="0"/>
              <a:t>基礎</a:t>
            </a:r>
            <a:endParaRPr lang="en-US" altLang="ja-JP" sz="1200" dirty="0"/>
          </a:p>
          <a:p>
            <a:pPr algn="ctr"/>
            <a:r>
              <a:rPr lang="ja-JP" altLang="en-US" sz="1200" dirty="0"/>
              <a:t>検討</a:t>
            </a:r>
            <a:endParaRPr kumimoji="1" lang="ja-JP" altLang="en-US" sz="1200" dirty="0"/>
          </a:p>
        </p:txBody>
      </p:sp>
      <p:sp>
        <p:nvSpPr>
          <p:cNvPr id="39" name="正方形/長方形 38">
            <a:extLst>
              <a:ext uri="{FF2B5EF4-FFF2-40B4-BE49-F238E27FC236}">
                <a16:creationId xmlns:a16="http://schemas.microsoft.com/office/drawing/2014/main" id="{3CBCCC43-7A18-D2DC-F752-4139CFEDB078}"/>
              </a:ext>
            </a:extLst>
          </p:cNvPr>
          <p:cNvSpPr/>
          <p:nvPr/>
        </p:nvSpPr>
        <p:spPr>
          <a:xfrm>
            <a:off x="3922208" y="4646817"/>
            <a:ext cx="81261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dirty="0"/>
              <a:t>追加研究</a:t>
            </a:r>
          </a:p>
        </p:txBody>
      </p:sp>
      <p:cxnSp>
        <p:nvCxnSpPr>
          <p:cNvPr id="42" name="直線矢印コネクタ 41">
            <a:extLst>
              <a:ext uri="{FF2B5EF4-FFF2-40B4-BE49-F238E27FC236}">
                <a16:creationId xmlns:a16="http://schemas.microsoft.com/office/drawing/2014/main" id="{8920CB7F-CCD3-E7F5-148E-B7AE0A1753E2}"/>
              </a:ext>
            </a:extLst>
          </p:cNvPr>
          <p:cNvCxnSpPr>
            <a:cxnSpLocks/>
          </p:cNvCxnSpPr>
          <p:nvPr/>
        </p:nvCxnSpPr>
        <p:spPr>
          <a:xfrm>
            <a:off x="9071616" y="5747022"/>
            <a:ext cx="0" cy="576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A4CECD3F-E470-8D1E-0307-904FB852A6A3}"/>
              </a:ext>
            </a:extLst>
          </p:cNvPr>
          <p:cNvSpPr txBox="1"/>
          <p:nvPr/>
        </p:nvSpPr>
        <p:spPr>
          <a:xfrm>
            <a:off x="9060313" y="6116513"/>
            <a:ext cx="646331" cy="230832"/>
          </a:xfrm>
          <a:prstGeom prst="rect">
            <a:avLst/>
          </a:prstGeom>
          <a:noFill/>
        </p:spPr>
        <p:txBody>
          <a:bodyPr wrap="none" rtlCol="0">
            <a:spAutoFit/>
          </a:bodyPr>
          <a:lstStyle/>
          <a:p>
            <a:r>
              <a:rPr kumimoji="1" lang="ja-JP" altLang="en-US" sz="900" dirty="0"/>
              <a:t>審査請求</a:t>
            </a:r>
          </a:p>
        </p:txBody>
      </p:sp>
      <p:sp>
        <p:nvSpPr>
          <p:cNvPr id="47" name="コンテンツ プレースホルダー 2">
            <a:extLst>
              <a:ext uri="{FF2B5EF4-FFF2-40B4-BE49-F238E27FC236}">
                <a16:creationId xmlns:a16="http://schemas.microsoft.com/office/drawing/2014/main" id="{D7F01979-D0DC-441C-8356-EE96CA0D2B4A}"/>
              </a:ext>
            </a:extLst>
          </p:cNvPr>
          <p:cNvSpPr txBox="1">
            <a:spLocks/>
          </p:cNvSpPr>
          <p:nvPr/>
        </p:nvSpPr>
        <p:spPr>
          <a:xfrm>
            <a:off x="6098366" y="791726"/>
            <a:ext cx="5976662" cy="209506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rgbClr val="000099"/>
              </a:buClr>
              <a:buSzPct val="90000"/>
              <a:buFont typeface="Wingdings" panose="05000000000000000000" pitchFamily="2" charset="2"/>
              <a:buChar char="n"/>
              <a:defRPr kumimoji="1" sz="2400" kern="1200">
                <a:solidFill>
                  <a:srgbClr val="002060"/>
                </a:solidFill>
                <a:latin typeface="+mj-lt"/>
                <a:ea typeface="メイリオ" panose="020B0604030504040204" pitchFamily="50" charset="-128"/>
                <a:cs typeface="+mn-cs"/>
              </a:defRPr>
            </a:lvl1pPr>
            <a:lvl2pPr marL="628650" indent="-269875" algn="l" defTabSz="914400" rtl="0" eaLnBrk="1" latinLnBrk="0" hangingPunct="1">
              <a:spcBef>
                <a:spcPct val="20000"/>
              </a:spcBef>
              <a:buClr>
                <a:srgbClr val="A20000"/>
              </a:buClr>
              <a:buSzPct val="95000"/>
              <a:buFont typeface="Wingdings" panose="05000000000000000000" pitchFamily="2" charset="2"/>
              <a:buChar char="Ø"/>
              <a:defRPr kumimoji="1" sz="2200" kern="1200">
                <a:solidFill>
                  <a:schemeClr val="tx1"/>
                </a:solidFill>
                <a:latin typeface="+mj-lt"/>
                <a:ea typeface="メイリオ" panose="020B0604030504040204" pitchFamily="50" charset="-128"/>
                <a:cs typeface="+mn-cs"/>
              </a:defRPr>
            </a:lvl2pPr>
            <a:lvl3pPr marL="804863" indent="-176213" algn="l" defTabSz="914400" rtl="0" eaLnBrk="1" latinLnBrk="0" hangingPunct="1">
              <a:spcBef>
                <a:spcPct val="20000"/>
              </a:spcBef>
              <a:buFont typeface="Arial" panose="020B0604020202020204" pitchFamily="34" charset="0"/>
              <a:buChar char="•"/>
              <a:tabLst>
                <a:tab pos="804863" algn="l"/>
              </a:tabLst>
              <a:defRPr kumimoji="1" sz="2000" kern="1200">
                <a:solidFill>
                  <a:schemeClr val="tx1"/>
                </a:solidFill>
                <a:latin typeface="+mj-lt"/>
                <a:ea typeface="メイリオ" panose="020B0604030504040204" pitchFamily="50" charset="-128"/>
                <a:cs typeface="+mn-cs"/>
              </a:defRPr>
            </a:lvl3pPr>
            <a:lvl4pPr marL="987425" indent="-182563" algn="l" defTabSz="914400" rtl="0" eaLnBrk="1" latinLnBrk="0" hangingPunct="1">
              <a:spcBef>
                <a:spcPct val="20000"/>
              </a:spcBef>
              <a:buFont typeface="Arial" panose="020B0604020202020204" pitchFamily="34" charset="0"/>
              <a:buChar char="–"/>
              <a:defRPr kumimoji="1" sz="1800" kern="1200">
                <a:solidFill>
                  <a:schemeClr val="tx1"/>
                </a:solidFill>
                <a:latin typeface="+mj-lt"/>
                <a:ea typeface="メイリオ" panose="020B0604030504040204" pitchFamily="50" charset="-128"/>
                <a:cs typeface="+mn-cs"/>
              </a:defRPr>
            </a:lvl4pPr>
            <a:lvl5pPr marL="2057400" indent="-228600" algn="l" defTabSz="914400" rtl="0" eaLnBrk="1" latinLnBrk="0" hangingPunct="1">
              <a:spcBef>
                <a:spcPct val="20000"/>
              </a:spcBef>
              <a:buFont typeface="Arial" panose="020B0604020202020204" pitchFamily="34" charset="0"/>
              <a:buChar char="»"/>
              <a:defRPr kumimoji="1" sz="500" kern="1200">
                <a:solidFill>
                  <a:schemeClr val="tx1"/>
                </a:solidFill>
                <a:latin typeface="+mj-lt"/>
                <a:ea typeface="メイリオ" panose="020B0604030504040204" pitchFamily="50" charset="-128"/>
                <a:cs typeface="+mn-cs"/>
              </a:defRPr>
            </a:lvl5pPr>
            <a:lvl6pPr marL="25146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mn-lt"/>
                <a:ea typeface="+mn-ea"/>
                <a:cs typeface="+mn-cs"/>
              </a:defRPr>
            </a:lvl9pPr>
          </a:lstStyle>
          <a:p>
            <a:r>
              <a:rPr lang="ja-JP" altLang="en-US" dirty="0"/>
              <a:t>投稿実績・計画</a:t>
            </a:r>
          </a:p>
        </p:txBody>
      </p:sp>
      <p:graphicFrame>
        <p:nvGraphicFramePr>
          <p:cNvPr id="48" name="表 47">
            <a:extLst>
              <a:ext uri="{FF2B5EF4-FFF2-40B4-BE49-F238E27FC236}">
                <a16:creationId xmlns:a16="http://schemas.microsoft.com/office/drawing/2014/main" id="{725347B4-9E0E-1DE8-39DA-1620A40C671D}"/>
              </a:ext>
            </a:extLst>
          </p:cNvPr>
          <p:cNvGraphicFramePr>
            <a:graphicFrameLocks noGrp="1"/>
          </p:cNvGraphicFramePr>
          <p:nvPr/>
        </p:nvGraphicFramePr>
        <p:xfrm>
          <a:off x="6316098" y="1172282"/>
          <a:ext cx="5718147" cy="1828800"/>
        </p:xfrm>
        <a:graphic>
          <a:graphicData uri="http://schemas.openxmlformats.org/drawingml/2006/table">
            <a:tbl>
              <a:tblPr firstRow="1" firstCol="1" bandRow="1">
                <a:tableStyleId>{073A0DAA-6AF3-43AB-8588-CEC1D06C72B9}</a:tableStyleId>
              </a:tblPr>
              <a:tblGrid>
                <a:gridCol w="242825">
                  <a:extLst>
                    <a:ext uri="{9D8B030D-6E8A-4147-A177-3AD203B41FA5}">
                      <a16:colId xmlns:a16="http://schemas.microsoft.com/office/drawing/2014/main" val="826042160"/>
                    </a:ext>
                  </a:extLst>
                </a:gridCol>
                <a:gridCol w="2152714">
                  <a:extLst>
                    <a:ext uri="{9D8B030D-6E8A-4147-A177-3AD203B41FA5}">
                      <a16:colId xmlns:a16="http://schemas.microsoft.com/office/drawing/2014/main" val="3352844331"/>
                    </a:ext>
                  </a:extLst>
                </a:gridCol>
                <a:gridCol w="1956118">
                  <a:extLst>
                    <a:ext uri="{9D8B030D-6E8A-4147-A177-3AD203B41FA5}">
                      <a16:colId xmlns:a16="http://schemas.microsoft.com/office/drawing/2014/main" val="648223652"/>
                    </a:ext>
                  </a:extLst>
                </a:gridCol>
                <a:gridCol w="1366490">
                  <a:extLst>
                    <a:ext uri="{9D8B030D-6E8A-4147-A177-3AD203B41FA5}">
                      <a16:colId xmlns:a16="http://schemas.microsoft.com/office/drawing/2014/main" val="2190316976"/>
                    </a:ext>
                  </a:extLst>
                </a:gridCol>
              </a:tblGrid>
              <a:tr h="256758">
                <a:tc>
                  <a:txBody>
                    <a:bodyPr/>
                    <a:lstStyle/>
                    <a:p>
                      <a:r>
                        <a:rPr kumimoji="1" lang="en-US" altLang="ja-JP" sz="1400" dirty="0"/>
                        <a:t>#</a:t>
                      </a:r>
                      <a:endParaRPr kumimoji="1" lang="ja-JP" altLang="en-US" sz="1400" dirty="0"/>
                    </a:p>
                  </a:txBody>
                  <a:tcPr/>
                </a:tc>
                <a:tc>
                  <a:txBody>
                    <a:bodyPr/>
                    <a:lstStyle/>
                    <a:p>
                      <a:r>
                        <a:rPr kumimoji="1" lang="ja-JP" altLang="en-US" sz="1400" dirty="0"/>
                        <a:t>論文誌</a:t>
                      </a:r>
                    </a:p>
                  </a:txBody>
                  <a:tcPr/>
                </a:tc>
                <a:tc>
                  <a:txBody>
                    <a:bodyPr/>
                    <a:lstStyle/>
                    <a:p>
                      <a:r>
                        <a:rPr kumimoji="1" lang="ja-JP" altLang="en-US" sz="1400" dirty="0"/>
                        <a:t>内容</a:t>
                      </a:r>
                    </a:p>
                  </a:txBody>
                  <a:tcPr/>
                </a:tc>
                <a:tc>
                  <a:txBody>
                    <a:bodyPr/>
                    <a:lstStyle/>
                    <a:p>
                      <a:r>
                        <a:rPr kumimoji="1" lang="ja-JP" altLang="en-US" sz="1400" dirty="0"/>
                        <a:t>状況</a:t>
                      </a:r>
                    </a:p>
                  </a:txBody>
                  <a:tcPr/>
                </a:tc>
                <a:extLst>
                  <a:ext uri="{0D108BD9-81ED-4DB2-BD59-A6C34878D82A}">
                    <a16:rowId xmlns:a16="http://schemas.microsoft.com/office/drawing/2014/main" val="3544548374"/>
                  </a:ext>
                </a:extLst>
              </a:tr>
              <a:tr h="256758">
                <a:tc>
                  <a:txBody>
                    <a:bodyPr/>
                    <a:lstStyle/>
                    <a:p>
                      <a:r>
                        <a:rPr kumimoji="1" lang="en-US" altLang="ja-JP" sz="1400" dirty="0"/>
                        <a:t>1</a:t>
                      </a:r>
                      <a:endParaRPr kumimoji="1" lang="ja-JP" altLang="en-US" sz="1400" dirty="0"/>
                    </a:p>
                  </a:txBody>
                  <a:tcPr/>
                </a:tc>
                <a:tc>
                  <a:txBody>
                    <a:bodyPr/>
                    <a:lstStyle/>
                    <a:p>
                      <a:r>
                        <a:rPr kumimoji="1" lang="en-US" altLang="ja-JP" sz="1400" dirty="0"/>
                        <a:t>IEEE Access</a:t>
                      </a:r>
                      <a:endParaRPr kumimoji="1" lang="ja-JP" altLang="en-US" sz="1400" dirty="0"/>
                    </a:p>
                  </a:txBody>
                  <a:tcPr/>
                </a:tc>
                <a:tc>
                  <a:txBody>
                    <a:bodyPr/>
                    <a:lstStyle/>
                    <a:p>
                      <a:r>
                        <a:rPr kumimoji="1" lang="ja-JP" altLang="en-US" sz="1400" dirty="0"/>
                        <a:t>最適化</a:t>
                      </a:r>
                      <a:r>
                        <a:rPr kumimoji="1" lang="en-US" altLang="ja-JP" sz="1400" dirty="0"/>
                        <a:t>×</a:t>
                      </a:r>
                      <a:r>
                        <a:rPr kumimoji="1" lang="ja-JP" altLang="en-US" sz="1400" dirty="0"/>
                        <a:t>ロボット</a:t>
                      </a:r>
                    </a:p>
                  </a:txBody>
                  <a:tcPr/>
                </a:tc>
                <a:tc>
                  <a:txBody>
                    <a:bodyPr/>
                    <a:lstStyle/>
                    <a:p>
                      <a:r>
                        <a:rPr kumimoji="1" lang="ja-JP" altLang="en-US" sz="1400" dirty="0"/>
                        <a:t>採択済み</a:t>
                      </a:r>
                    </a:p>
                  </a:txBody>
                  <a:tcPr/>
                </a:tc>
                <a:extLst>
                  <a:ext uri="{0D108BD9-81ED-4DB2-BD59-A6C34878D82A}">
                    <a16:rowId xmlns:a16="http://schemas.microsoft.com/office/drawing/2014/main" val="1847445089"/>
                  </a:ext>
                </a:extLst>
              </a:tr>
              <a:tr h="256758">
                <a:tc>
                  <a:txBody>
                    <a:bodyPr/>
                    <a:lstStyle/>
                    <a:p>
                      <a:r>
                        <a:rPr kumimoji="1" lang="en-US" altLang="ja-JP" sz="1400" dirty="0"/>
                        <a:t>2</a:t>
                      </a:r>
                      <a:endParaRPr kumimoji="1" lang="ja-JP" altLang="en-US" sz="1400" dirty="0"/>
                    </a:p>
                  </a:txBody>
                  <a:tcPr/>
                </a:tc>
                <a:tc>
                  <a:txBody>
                    <a:bodyPr/>
                    <a:lstStyle/>
                    <a:p>
                      <a:r>
                        <a:rPr kumimoji="1" lang="en-US" altLang="ja-JP" sz="1400" dirty="0"/>
                        <a:t>RSJ Advanced Robotics</a:t>
                      </a:r>
                      <a:endParaRPr kumimoji="1" lang="ja-JP" altLang="en-US" sz="1400" dirty="0"/>
                    </a:p>
                  </a:txBody>
                  <a:tcPr/>
                </a:tc>
                <a:tc>
                  <a:txBody>
                    <a:bodyPr/>
                    <a:lstStyle/>
                    <a:p>
                      <a:r>
                        <a:rPr kumimoji="1" lang="en-US" altLang="ja-JP" sz="1400" dirty="0"/>
                        <a:t>#1</a:t>
                      </a:r>
                      <a:r>
                        <a:rPr kumimoji="1" lang="ja-JP" altLang="en-US" sz="1400" dirty="0"/>
                        <a:t>のデータ解析法</a:t>
                      </a:r>
                    </a:p>
                  </a:txBody>
                  <a:tcPr/>
                </a:tc>
                <a:tc>
                  <a:txBody>
                    <a:bodyPr/>
                    <a:lstStyle/>
                    <a:p>
                      <a:r>
                        <a:rPr kumimoji="1" lang="ja-JP" altLang="en-US" sz="1400" dirty="0"/>
                        <a:t>査読再提出中</a:t>
                      </a:r>
                    </a:p>
                  </a:txBody>
                  <a:tcPr/>
                </a:tc>
                <a:extLst>
                  <a:ext uri="{0D108BD9-81ED-4DB2-BD59-A6C34878D82A}">
                    <a16:rowId xmlns:a16="http://schemas.microsoft.com/office/drawing/2014/main" val="2022754988"/>
                  </a:ext>
                </a:extLst>
              </a:tr>
              <a:tr h="256758">
                <a:tc>
                  <a:txBody>
                    <a:bodyPr/>
                    <a:lstStyle/>
                    <a:p>
                      <a:r>
                        <a:rPr kumimoji="1" lang="en-US" altLang="ja-JP" sz="1400" dirty="0"/>
                        <a:t>3</a:t>
                      </a:r>
                      <a:endParaRPr kumimoji="1" lang="ja-JP" altLang="en-US" sz="1400" dirty="0"/>
                    </a:p>
                  </a:txBody>
                  <a:tcPr/>
                </a:tc>
                <a:tc>
                  <a:txBody>
                    <a:bodyPr/>
                    <a:lstStyle/>
                    <a:p>
                      <a:r>
                        <a:rPr kumimoji="1" lang="en-US" altLang="ja-JP" sz="1400" dirty="0"/>
                        <a:t>IEEE T-MSC</a:t>
                      </a:r>
                      <a:endParaRPr kumimoji="1" lang="ja-JP" altLang="en-US" sz="1400" dirty="0"/>
                    </a:p>
                  </a:txBody>
                  <a:tcPr/>
                </a:tc>
                <a:tc>
                  <a:txBody>
                    <a:bodyPr/>
                    <a:lstStyle/>
                    <a:p>
                      <a:r>
                        <a:rPr kumimoji="1" lang="en-US" altLang="ja-JP" sz="1400" dirty="0"/>
                        <a:t>AHP/Fuzzy</a:t>
                      </a:r>
                      <a:r>
                        <a:rPr kumimoji="1" lang="ja-JP" altLang="en-US" sz="1400" dirty="0"/>
                        <a:t>リスク評価</a:t>
                      </a:r>
                    </a:p>
                  </a:txBody>
                  <a:tcPr/>
                </a:tc>
                <a:tc>
                  <a:txBody>
                    <a:bodyPr/>
                    <a:lstStyle/>
                    <a:p>
                      <a:r>
                        <a:rPr kumimoji="1" lang="ja-JP" altLang="en-US" sz="1400" dirty="0"/>
                        <a:t>大枠決定済み</a:t>
                      </a:r>
                    </a:p>
                  </a:txBody>
                  <a:tcPr/>
                </a:tc>
                <a:extLst>
                  <a:ext uri="{0D108BD9-81ED-4DB2-BD59-A6C34878D82A}">
                    <a16:rowId xmlns:a16="http://schemas.microsoft.com/office/drawing/2014/main" val="3531919141"/>
                  </a:ext>
                </a:extLst>
              </a:tr>
              <a:tr h="256758">
                <a:tc>
                  <a:txBody>
                    <a:bodyPr/>
                    <a:lstStyle/>
                    <a:p>
                      <a:r>
                        <a:rPr kumimoji="1" lang="en-US" altLang="ja-JP" sz="1400" dirty="0"/>
                        <a:t>4</a:t>
                      </a:r>
                      <a:endParaRPr kumimoji="1" lang="ja-JP" altLang="en-US" sz="1400" dirty="0"/>
                    </a:p>
                  </a:txBody>
                  <a:tcPr/>
                </a:tc>
                <a:tc>
                  <a:txBody>
                    <a:bodyPr/>
                    <a:lstStyle/>
                    <a:p>
                      <a:r>
                        <a:rPr kumimoji="1" lang="en-US" altLang="ja-JP" sz="1400" dirty="0"/>
                        <a:t>IEEE RA-L </a:t>
                      </a:r>
                      <a:r>
                        <a:rPr kumimoji="1" lang="ja-JP" altLang="en-US" sz="1400" dirty="0"/>
                        <a:t> </a:t>
                      </a:r>
                      <a:r>
                        <a:rPr kumimoji="1" lang="en-US" altLang="ja-JP" sz="1050" dirty="0"/>
                        <a:t>(Letter+</a:t>
                      </a:r>
                      <a:r>
                        <a:rPr kumimoji="1" lang="ja-JP" altLang="en-US" sz="1050" dirty="0"/>
                        <a:t>国際会議</a:t>
                      </a:r>
                      <a:r>
                        <a:rPr kumimoji="1" lang="en-US" altLang="ja-JP" sz="1050" dirty="0"/>
                        <a:t>)</a:t>
                      </a:r>
                      <a:endParaRPr kumimoji="1" lang="ja-JP" altLang="en-US" sz="1050" dirty="0"/>
                    </a:p>
                  </a:txBody>
                  <a:tcPr/>
                </a:tc>
                <a:tc>
                  <a:txBody>
                    <a:bodyPr/>
                    <a:lstStyle/>
                    <a:p>
                      <a:r>
                        <a:rPr kumimoji="1" lang="ja-JP" altLang="en-US" sz="1400" dirty="0"/>
                        <a:t>時系列リスク評価</a:t>
                      </a:r>
                    </a:p>
                  </a:txBody>
                  <a:tcPr/>
                </a:tc>
                <a:tc>
                  <a:txBody>
                    <a:bodyPr/>
                    <a:lstStyle/>
                    <a:p>
                      <a:r>
                        <a:rPr kumimoji="1" lang="ja-JP" altLang="en-US" sz="1400" dirty="0"/>
                        <a:t>新規</a:t>
                      </a:r>
                    </a:p>
                  </a:txBody>
                  <a:tcPr/>
                </a:tc>
                <a:extLst>
                  <a:ext uri="{0D108BD9-81ED-4DB2-BD59-A6C34878D82A}">
                    <a16:rowId xmlns:a16="http://schemas.microsoft.com/office/drawing/2014/main" val="1050182836"/>
                  </a:ext>
                </a:extLst>
              </a:tr>
              <a:tr h="256758">
                <a:tc>
                  <a:txBody>
                    <a:bodyPr/>
                    <a:lstStyle/>
                    <a:p>
                      <a:r>
                        <a:rPr kumimoji="1" lang="en-US" altLang="ja-JP" sz="1400" dirty="0"/>
                        <a:t>5</a:t>
                      </a:r>
                      <a:endParaRPr kumimoji="1" lang="ja-JP" altLang="en-US" sz="1400" dirty="0"/>
                    </a:p>
                  </a:txBody>
                  <a:tcPr/>
                </a:tc>
                <a:tc>
                  <a:txBody>
                    <a:bodyPr/>
                    <a:lstStyle/>
                    <a:p>
                      <a:r>
                        <a:rPr kumimoji="1" lang="ja-JP" altLang="en-US" sz="1400" dirty="0"/>
                        <a:t>未定</a:t>
                      </a:r>
                    </a:p>
                  </a:txBody>
                  <a:tcPr/>
                </a:tc>
                <a:tc>
                  <a:txBody>
                    <a:bodyPr/>
                    <a:lstStyle/>
                    <a:p>
                      <a:r>
                        <a:rPr kumimoji="1" lang="ja-JP" altLang="en-US" sz="1400" dirty="0"/>
                        <a:t>時系列リスク評価</a:t>
                      </a:r>
                    </a:p>
                  </a:txBody>
                  <a:tcPr/>
                </a:tc>
                <a:tc>
                  <a:txBody>
                    <a:bodyPr/>
                    <a:lstStyle/>
                    <a:p>
                      <a:r>
                        <a:rPr kumimoji="1" lang="ja-JP" altLang="en-US" sz="1400" dirty="0"/>
                        <a:t>新規</a:t>
                      </a:r>
                    </a:p>
                  </a:txBody>
                  <a:tcPr/>
                </a:tc>
                <a:extLst>
                  <a:ext uri="{0D108BD9-81ED-4DB2-BD59-A6C34878D82A}">
                    <a16:rowId xmlns:a16="http://schemas.microsoft.com/office/drawing/2014/main" val="2398901194"/>
                  </a:ext>
                </a:extLst>
              </a:tr>
            </a:tbl>
          </a:graphicData>
        </a:graphic>
      </p:graphicFrame>
      <p:sp>
        <p:nvSpPr>
          <p:cNvPr id="22" name="吹き出し: 四角形 21">
            <a:extLst>
              <a:ext uri="{FF2B5EF4-FFF2-40B4-BE49-F238E27FC236}">
                <a16:creationId xmlns:a16="http://schemas.microsoft.com/office/drawing/2014/main" id="{5683E029-105E-F18F-F1EE-1F261828BDCC}"/>
              </a:ext>
            </a:extLst>
          </p:cNvPr>
          <p:cNvSpPr/>
          <p:nvPr/>
        </p:nvSpPr>
        <p:spPr>
          <a:xfrm>
            <a:off x="5878128" y="5818647"/>
            <a:ext cx="1043787"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50" dirty="0"/>
              <a:t>有給休暇取得</a:t>
            </a:r>
            <a:endParaRPr lang="en-US" altLang="ja-JP" sz="1050" dirty="0"/>
          </a:p>
          <a:p>
            <a:pPr algn="ctr"/>
            <a:r>
              <a:rPr kumimoji="1" lang="ja-JP" altLang="en-US" sz="1050" dirty="0"/>
              <a:t>（～</a:t>
            </a:r>
            <a:r>
              <a:rPr kumimoji="1" lang="en-US" altLang="ja-JP" sz="1050" dirty="0"/>
              <a:t>1</a:t>
            </a:r>
            <a:r>
              <a:rPr kumimoji="1" lang="ja-JP" altLang="en-US" sz="1050" dirty="0"/>
              <a:t>週間）</a:t>
            </a:r>
          </a:p>
        </p:txBody>
      </p:sp>
    </p:spTree>
    <p:extLst>
      <p:ext uri="{BB962C8B-B14F-4D97-AF65-F5344CB8AC3E}">
        <p14:creationId xmlns:p14="http://schemas.microsoft.com/office/powerpoint/2010/main" val="1165081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1955246-97CA-5851-739C-91AD3B2BAC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1C7A15-A6A3-CCDC-8EC6-7645347CB3FB}"/>
              </a:ext>
            </a:extLst>
          </p:cNvPr>
          <p:cNvSpPr>
            <a:spLocks noGrp="1"/>
          </p:cNvSpPr>
          <p:nvPr>
            <p:ph type="title"/>
          </p:nvPr>
        </p:nvSpPr>
        <p:spPr/>
        <p:txBody>
          <a:bodyPr/>
          <a:lstStyle/>
          <a:p>
            <a:r>
              <a:rPr kumimoji="1" lang="ja-JP" altLang="en-US" dirty="0"/>
              <a:t>研究計画（日程・要件）</a:t>
            </a:r>
          </a:p>
        </p:txBody>
      </p:sp>
      <p:sp>
        <p:nvSpPr>
          <p:cNvPr id="3" name="コンテンツ プレースホルダー 2">
            <a:extLst>
              <a:ext uri="{FF2B5EF4-FFF2-40B4-BE49-F238E27FC236}">
                <a16:creationId xmlns:a16="http://schemas.microsoft.com/office/drawing/2014/main" id="{EC75B6BF-CA8A-AC3A-0A4A-35927BBF809B}"/>
              </a:ext>
            </a:extLst>
          </p:cNvPr>
          <p:cNvSpPr>
            <a:spLocks noGrp="1"/>
          </p:cNvSpPr>
          <p:nvPr>
            <p:ph idx="1"/>
          </p:nvPr>
        </p:nvSpPr>
        <p:spPr>
          <a:xfrm>
            <a:off x="119336" y="791726"/>
            <a:ext cx="5976662" cy="2780552"/>
          </a:xfrm>
        </p:spPr>
        <p:txBody>
          <a:bodyPr/>
          <a:lstStyle/>
          <a:p>
            <a:r>
              <a:rPr kumimoji="1" lang="ja-JP" altLang="en-US" dirty="0"/>
              <a:t>修了要件</a:t>
            </a:r>
            <a:endParaRPr kumimoji="1" lang="en-US" altLang="ja-JP" dirty="0"/>
          </a:p>
          <a:p>
            <a:endParaRPr kumimoji="1" lang="en-US" altLang="ja-JP" dirty="0"/>
          </a:p>
          <a:p>
            <a:endParaRPr lang="en-US" altLang="ja-JP" dirty="0"/>
          </a:p>
          <a:p>
            <a:endParaRPr kumimoji="1" lang="en-US" altLang="ja-JP" dirty="0"/>
          </a:p>
          <a:p>
            <a:pPr lvl="4"/>
            <a:endParaRPr kumimoji="1" lang="en-US" altLang="ja-JP" dirty="0"/>
          </a:p>
          <a:p>
            <a:r>
              <a:rPr lang="ja-JP" altLang="en-US" dirty="0"/>
              <a:t>研究計画</a:t>
            </a:r>
            <a:endParaRPr kumimoji="1" lang="ja-JP" altLang="en-US" dirty="0"/>
          </a:p>
        </p:txBody>
      </p:sp>
      <p:sp>
        <p:nvSpPr>
          <p:cNvPr id="4" name="日付プレースホルダー 3">
            <a:extLst>
              <a:ext uri="{FF2B5EF4-FFF2-40B4-BE49-F238E27FC236}">
                <a16:creationId xmlns:a16="http://schemas.microsoft.com/office/drawing/2014/main" id="{B62A082A-FB8F-8D8F-DEDC-F0B50DC8D813}"/>
              </a:ext>
            </a:extLst>
          </p:cNvPr>
          <p:cNvSpPr>
            <a:spLocks noGrp="1"/>
          </p:cNvSpPr>
          <p:nvPr>
            <p:ph type="dt" sz="half" idx="10"/>
          </p:nvPr>
        </p:nvSpPr>
        <p:spPr/>
        <p:txBody>
          <a:bodyPr/>
          <a:lstStyle/>
          <a:p>
            <a:fld id="{33BE97AD-F859-438F-ACA9-322E4AF3CE87}" type="datetime1">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D83E790-06F4-F974-29C2-A1277F65CBE8}"/>
              </a:ext>
            </a:extLst>
          </p:cNvPr>
          <p:cNvSpPr>
            <a:spLocks noGrp="1"/>
          </p:cNvSpPr>
          <p:nvPr>
            <p:ph type="ftr" sz="quarter" idx="11"/>
          </p:nvPr>
        </p:nvSpPr>
        <p:spPr/>
        <p:txBody>
          <a:bodyPr/>
          <a:lstStyle/>
          <a:p>
            <a:r>
              <a:rPr kumimoji="1" lang="ja-JP" altLang="en-US"/>
              <a:t>髙橋研究室　林出和之</a:t>
            </a:r>
            <a:endParaRPr kumimoji="1" lang="ja-JP" altLang="en-US" dirty="0"/>
          </a:p>
        </p:txBody>
      </p:sp>
      <p:sp>
        <p:nvSpPr>
          <p:cNvPr id="6" name="スライド番号プレースホルダー 5">
            <a:extLst>
              <a:ext uri="{FF2B5EF4-FFF2-40B4-BE49-F238E27FC236}">
                <a16:creationId xmlns:a16="http://schemas.microsoft.com/office/drawing/2014/main" id="{C94077D8-302C-3A88-3BDC-81C0BF5373F9}"/>
              </a:ext>
            </a:extLst>
          </p:cNvPr>
          <p:cNvSpPr>
            <a:spLocks noGrp="1"/>
          </p:cNvSpPr>
          <p:nvPr>
            <p:ph type="sldNum" sz="quarter" idx="12"/>
          </p:nvPr>
        </p:nvSpPr>
        <p:spPr/>
        <p:txBody>
          <a:bodyPr/>
          <a:lstStyle/>
          <a:p>
            <a:fld id="{870B1737-2A00-4EFB-9FD3-149FCC30AA13}" type="slidenum">
              <a:rPr lang="ja-JP" altLang="en-US" smtClean="0"/>
              <a:pPr/>
              <a:t>49</a:t>
            </a:fld>
            <a:endParaRPr lang="ja-JP" altLang="en-US"/>
          </a:p>
        </p:txBody>
      </p:sp>
      <p:graphicFrame>
        <p:nvGraphicFramePr>
          <p:cNvPr id="7" name="表 6">
            <a:extLst>
              <a:ext uri="{FF2B5EF4-FFF2-40B4-BE49-F238E27FC236}">
                <a16:creationId xmlns:a16="http://schemas.microsoft.com/office/drawing/2014/main" id="{2332360B-9103-44F3-6FE5-B6C6D0BB8D08}"/>
              </a:ext>
            </a:extLst>
          </p:cNvPr>
          <p:cNvGraphicFramePr>
            <a:graphicFrameLocks noGrp="1"/>
          </p:cNvGraphicFramePr>
          <p:nvPr/>
        </p:nvGraphicFramePr>
        <p:xfrm>
          <a:off x="137369" y="3098645"/>
          <a:ext cx="11896876" cy="3703476"/>
        </p:xfrm>
        <a:graphic>
          <a:graphicData uri="http://schemas.openxmlformats.org/drawingml/2006/table">
            <a:tbl>
              <a:tblPr firstRow="1" firstCol="1" bandRow="1">
                <a:tableStyleId>{073A0DAA-6AF3-43AB-8588-CEC1D06C72B9}</a:tableStyleId>
              </a:tblPr>
              <a:tblGrid>
                <a:gridCol w="1366860">
                  <a:extLst>
                    <a:ext uri="{9D8B030D-6E8A-4147-A177-3AD203B41FA5}">
                      <a16:colId xmlns:a16="http://schemas.microsoft.com/office/drawing/2014/main" val="4121297649"/>
                    </a:ext>
                  </a:extLst>
                </a:gridCol>
                <a:gridCol w="658126">
                  <a:extLst>
                    <a:ext uri="{9D8B030D-6E8A-4147-A177-3AD203B41FA5}">
                      <a16:colId xmlns:a16="http://schemas.microsoft.com/office/drawing/2014/main" val="1529098118"/>
                    </a:ext>
                  </a:extLst>
                </a:gridCol>
                <a:gridCol w="658126">
                  <a:extLst>
                    <a:ext uri="{9D8B030D-6E8A-4147-A177-3AD203B41FA5}">
                      <a16:colId xmlns:a16="http://schemas.microsoft.com/office/drawing/2014/main" val="2060309241"/>
                    </a:ext>
                  </a:extLst>
                </a:gridCol>
                <a:gridCol w="658126">
                  <a:extLst>
                    <a:ext uri="{9D8B030D-6E8A-4147-A177-3AD203B41FA5}">
                      <a16:colId xmlns:a16="http://schemas.microsoft.com/office/drawing/2014/main" val="1494107052"/>
                    </a:ext>
                  </a:extLst>
                </a:gridCol>
                <a:gridCol w="658126">
                  <a:extLst>
                    <a:ext uri="{9D8B030D-6E8A-4147-A177-3AD203B41FA5}">
                      <a16:colId xmlns:a16="http://schemas.microsoft.com/office/drawing/2014/main" val="1598280866"/>
                    </a:ext>
                  </a:extLst>
                </a:gridCol>
                <a:gridCol w="658126">
                  <a:extLst>
                    <a:ext uri="{9D8B030D-6E8A-4147-A177-3AD203B41FA5}">
                      <a16:colId xmlns:a16="http://schemas.microsoft.com/office/drawing/2014/main" val="3478229303"/>
                    </a:ext>
                  </a:extLst>
                </a:gridCol>
                <a:gridCol w="658126">
                  <a:extLst>
                    <a:ext uri="{9D8B030D-6E8A-4147-A177-3AD203B41FA5}">
                      <a16:colId xmlns:a16="http://schemas.microsoft.com/office/drawing/2014/main" val="693079007"/>
                    </a:ext>
                  </a:extLst>
                </a:gridCol>
                <a:gridCol w="658126">
                  <a:extLst>
                    <a:ext uri="{9D8B030D-6E8A-4147-A177-3AD203B41FA5}">
                      <a16:colId xmlns:a16="http://schemas.microsoft.com/office/drawing/2014/main" val="2556297277"/>
                    </a:ext>
                  </a:extLst>
                </a:gridCol>
                <a:gridCol w="658126">
                  <a:extLst>
                    <a:ext uri="{9D8B030D-6E8A-4147-A177-3AD203B41FA5}">
                      <a16:colId xmlns:a16="http://schemas.microsoft.com/office/drawing/2014/main" val="1314798696"/>
                    </a:ext>
                  </a:extLst>
                </a:gridCol>
                <a:gridCol w="658126">
                  <a:extLst>
                    <a:ext uri="{9D8B030D-6E8A-4147-A177-3AD203B41FA5}">
                      <a16:colId xmlns:a16="http://schemas.microsoft.com/office/drawing/2014/main" val="2606787134"/>
                    </a:ext>
                  </a:extLst>
                </a:gridCol>
                <a:gridCol w="658126">
                  <a:extLst>
                    <a:ext uri="{9D8B030D-6E8A-4147-A177-3AD203B41FA5}">
                      <a16:colId xmlns:a16="http://schemas.microsoft.com/office/drawing/2014/main" val="3868891806"/>
                    </a:ext>
                  </a:extLst>
                </a:gridCol>
                <a:gridCol w="658126">
                  <a:extLst>
                    <a:ext uri="{9D8B030D-6E8A-4147-A177-3AD203B41FA5}">
                      <a16:colId xmlns:a16="http://schemas.microsoft.com/office/drawing/2014/main" val="4106318747"/>
                    </a:ext>
                  </a:extLst>
                </a:gridCol>
                <a:gridCol w="658126">
                  <a:extLst>
                    <a:ext uri="{9D8B030D-6E8A-4147-A177-3AD203B41FA5}">
                      <a16:colId xmlns:a16="http://schemas.microsoft.com/office/drawing/2014/main" val="1077053283"/>
                    </a:ext>
                  </a:extLst>
                </a:gridCol>
                <a:gridCol w="658126">
                  <a:extLst>
                    <a:ext uri="{9D8B030D-6E8A-4147-A177-3AD203B41FA5}">
                      <a16:colId xmlns:a16="http://schemas.microsoft.com/office/drawing/2014/main" val="2852890849"/>
                    </a:ext>
                  </a:extLst>
                </a:gridCol>
                <a:gridCol w="658126">
                  <a:extLst>
                    <a:ext uri="{9D8B030D-6E8A-4147-A177-3AD203B41FA5}">
                      <a16:colId xmlns:a16="http://schemas.microsoft.com/office/drawing/2014/main" val="3065410194"/>
                    </a:ext>
                  </a:extLst>
                </a:gridCol>
                <a:gridCol w="658126">
                  <a:extLst>
                    <a:ext uri="{9D8B030D-6E8A-4147-A177-3AD203B41FA5}">
                      <a16:colId xmlns:a16="http://schemas.microsoft.com/office/drawing/2014/main" val="3539023390"/>
                    </a:ext>
                  </a:extLst>
                </a:gridCol>
                <a:gridCol w="658126">
                  <a:extLst>
                    <a:ext uri="{9D8B030D-6E8A-4147-A177-3AD203B41FA5}">
                      <a16:colId xmlns:a16="http://schemas.microsoft.com/office/drawing/2014/main" val="668484290"/>
                    </a:ext>
                  </a:extLst>
                </a:gridCol>
              </a:tblGrid>
              <a:tr h="144016">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2025</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2026</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6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en-US" altLang="ja-JP" sz="1400" dirty="0">
                          <a:solidFill>
                            <a:sysClr val="windowText" lastClr="000000"/>
                          </a:solidFill>
                        </a:rPr>
                        <a:t>2027</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en-US" altLang="ja-JP" sz="1400" dirty="0">
                          <a:solidFill>
                            <a:sysClr val="windowText" lastClr="000000"/>
                          </a:solidFill>
                        </a:rPr>
                        <a:t>2028</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2661908"/>
                  </a:ext>
                </a:extLst>
              </a:tr>
              <a:tr h="0">
                <a:tc>
                  <a:txBody>
                    <a:bodyPr/>
                    <a:lstStyle/>
                    <a:p>
                      <a:endParaRPr kumimoji="1" lang="ja-JP" altLang="en-US" sz="14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夏</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秋</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春</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a:solidFill>
                            <a:sysClr val="windowText" lastClr="000000"/>
                          </a:solidFill>
                        </a:rPr>
                        <a:t>夏</a:t>
                      </a:r>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秋</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1" lang="ja-JP" altLang="en-US" sz="1400" dirty="0">
                          <a:solidFill>
                            <a:sysClr val="windowText" lastClr="000000"/>
                          </a:solidFill>
                        </a:rPr>
                        <a:t>冬</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9818004"/>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卒論系研究</a:t>
                      </a:r>
                    </a:p>
                    <a:p>
                      <a:r>
                        <a:rPr kumimoji="1" lang="en-US" altLang="ja-JP" sz="1100" dirty="0">
                          <a:solidFill>
                            <a:sysClr val="windowText" lastClr="000000"/>
                          </a:solidFill>
                        </a:rPr>
                        <a:t>Journal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80765040"/>
                  </a:ext>
                </a:extLst>
              </a:tr>
              <a:tr h="77122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修論系研究</a:t>
                      </a:r>
                    </a:p>
                    <a:p>
                      <a:r>
                        <a:rPr kumimoji="1" lang="en-US" altLang="ja-JP" sz="1100" dirty="0">
                          <a:solidFill>
                            <a:sysClr val="windowText" lastClr="000000"/>
                          </a:solidFill>
                        </a:rPr>
                        <a:t>Journal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02157962"/>
                  </a:ext>
                </a:extLst>
              </a:tr>
              <a:tr h="83947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ysClr val="windowText" lastClr="000000"/>
                          </a:solidFill>
                        </a:rPr>
                        <a:t>新規研究</a:t>
                      </a:r>
                    </a:p>
                    <a:p>
                      <a:r>
                        <a:rPr kumimoji="1" lang="en-US" altLang="ja-JP" sz="1100" dirty="0">
                          <a:solidFill>
                            <a:sysClr val="windowText" lastClr="000000"/>
                          </a:solidFill>
                        </a:rPr>
                        <a:t>Journal #4</a:t>
                      </a:r>
                    </a:p>
                    <a:p>
                      <a:r>
                        <a:rPr kumimoji="1" lang="en-US" altLang="ja-JP" sz="1100" dirty="0">
                          <a:solidFill>
                            <a:sysClr val="windowText" lastClr="000000"/>
                          </a:solidFill>
                        </a:rPr>
                        <a:t>International Conf. #4</a:t>
                      </a:r>
                    </a:p>
                    <a:p>
                      <a:r>
                        <a:rPr kumimoji="1" lang="en-US" altLang="ja-JP" sz="1100" dirty="0">
                          <a:solidFill>
                            <a:sysClr val="windowText" lastClr="000000"/>
                          </a:solidFill>
                        </a:rPr>
                        <a:t>Journal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8053489"/>
                  </a:ext>
                </a:extLst>
              </a:tr>
              <a:tr h="576064">
                <a:tc>
                  <a:txBody>
                    <a:bodyPr/>
                    <a:lstStyle/>
                    <a:p>
                      <a:r>
                        <a:rPr kumimoji="1" lang="ja-JP" altLang="en-US" sz="1400" dirty="0">
                          <a:solidFill>
                            <a:sysClr val="windowText" lastClr="000000"/>
                          </a:solidFill>
                        </a:rPr>
                        <a:t>博士論文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kumimoji="1" lang="ja-JP" altLang="en-US" sz="1400" dirty="0">
                        <a:solidFill>
                          <a:sysClr val="windowText" lastClr="000000"/>
                        </a:solidFill>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8428289"/>
                  </a:ext>
                </a:extLst>
              </a:tr>
            </a:tbl>
          </a:graphicData>
        </a:graphic>
      </p:graphicFrame>
      <p:sp>
        <p:nvSpPr>
          <p:cNvPr id="8" name="正方形/長方形 7">
            <a:extLst>
              <a:ext uri="{FF2B5EF4-FFF2-40B4-BE49-F238E27FC236}">
                <a16:creationId xmlns:a16="http://schemas.microsoft.com/office/drawing/2014/main" id="{1E2DBD13-1B7B-B05C-76CD-44B240F93A08}"/>
              </a:ext>
            </a:extLst>
          </p:cNvPr>
          <p:cNvSpPr/>
          <p:nvPr/>
        </p:nvSpPr>
        <p:spPr>
          <a:xfrm>
            <a:off x="1493758" y="3733186"/>
            <a:ext cx="582522"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050" dirty="0"/>
              <a:t>IEEE Access</a:t>
            </a:r>
            <a:endParaRPr kumimoji="1" lang="ja-JP" altLang="en-US" sz="1050" dirty="0"/>
          </a:p>
        </p:txBody>
      </p:sp>
      <p:sp>
        <p:nvSpPr>
          <p:cNvPr id="9" name="正方形/長方形 8">
            <a:extLst>
              <a:ext uri="{FF2B5EF4-FFF2-40B4-BE49-F238E27FC236}">
                <a16:creationId xmlns:a16="http://schemas.microsoft.com/office/drawing/2014/main" id="{DB8D0120-CC81-8C2D-5609-7CE1469E7CF1}"/>
              </a:ext>
            </a:extLst>
          </p:cNvPr>
          <p:cNvSpPr/>
          <p:nvPr/>
        </p:nvSpPr>
        <p:spPr>
          <a:xfrm>
            <a:off x="1493758" y="4111039"/>
            <a:ext cx="1944216"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200" dirty="0"/>
              <a:t>RSJ Advanced Robotics</a:t>
            </a:r>
            <a:endParaRPr kumimoji="1" lang="ja-JP" altLang="en-US" sz="1200" dirty="0"/>
          </a:p>
        </p:txBody>
      </p:sp>
      <p:graphicFrame>
        <p:nvGraphicFramePr>
          <p:cNvPr id="37" name="表 36">
            <a:extLst>
              <a:ext uri="{FF2B5EF4-FFF2-40B4-BE49-F238E27FC236}">
                <a16:creationId xmlns:a16="http://schemas.microsoft.com/office/drawing/2014/main" id="{A30A037E-2CC3-6912-17D2-E6376FE8DD37}"/>
              </a:ext>
            </a:extLst>
          </p:cNvPr>
          <p:cNvGraphicFramePr>
            <a:graphicFrameLocks noGrp="1"/>
          </p:cNvGraphicFramePr>
          <p:nvPr/>
        </p:nvGraphicFramePr>
        <p:xfrm>
          <a:off x="288780" y="1180664"/>
          <a:ext cx="5084262" cy="1379220"/>
        </p:xfrm>
        <a:graphic>
          <a:graphicData uri="http://schemas.openxmlformats.org/drawingml/2006/table">
            <a:tbl>
              <a:tblPr firstRow="1" firstCol="1" bandRow="1">
                <a:tableStyleId>{073A0DAA-6AF3-43AB-8588-CEC1D06C72B9}</a:tableStyleId>
              </a:tblPr>
              <a:tblGrid>
                <a:gridCol w="1993983">
                  <a:extLst>
                    <a:ext uri="{9D8B030D-6E8A-4147-A177-3AD203B41FA5}">
                      <a16:colId xmlns:a16="http://schemas.microsoft.com/office/drawing/2014/main" val="826042160"/>
                    </a:ext>
                  </a:extLst>
                </a:gridCol>
                <a:gridCol w="1578111">
                  <a:extLst>
                    <a:ext uri="{9D8B030D-6E8A-4147-A177-3AD203B41FA5}">
                      <a16:colId xmlns:a16="http://schemas.microsoft.com/office/drawing/2014/main" val="3352844331"/>
                    </a:ext>
                  </a:extLst>
                </a:gridCol>
                <a:gridCol w="1512168">
                  <a:extLst>
                    <a:ext uri="{9D8B030D-6E8A-4147-A177-3AD203B41FA5}">
                      <a16:colId xmlns:a16="http://schemas.microsoft.com/office/drawing/2014/main" val="648223652"/>
                    </a:ext>
                  </a:extLst>
                </a:gridCol>
              </a:tblGrid>
              <a:tr h="258294">
                <a:tc>
                  <a:txBody>
                    <a:bodyPr/>
                    <a:lstStyle/>
                    <a:p>
                      <a:endParaRPr kumimoji="1" lang="ja-JP" altLang="en-US" sz="1400"/>
                    </a:p>
                  </a:txBody>
                  <a:tcPr/>
                </a:tc>
                <a:tc>
                  <a:txBody>
                    <a:bodyPr/>
                    <a:lstStyle/>
                    <a:p>
                      <a:r>
                        <a:rPr kumimoji="1" lang="en-US" altLang="ja-JP" sz="1400" dirty="0"/>
                        <a:t>3</a:t>
                      </a:r>
                      <a:r>
                        <a:rPr kumimoji="1" lang="ja-JP" altLang="en-US" sz="1400" dirty="0"/>
                        <a:t>年修了</a:t>
                      </a:r>
                    </a:p>
                  </a:txBody>
                  <a:tcPr/>
                </a:tc>
                <a:tc>
                  <a:txBody>
                    <a:bodyPr/>
                    <a:lstStyle/>
                    <a:p>
                      <a:r>
                        <a:rPr kumimoji="1" lang="ja-JP" altLang="en-US" sz="1400" dirty="0"/>
                        <a:t>早期 </a:t>
                      </a:r>
                      <a:r>
                        <a:rPr kumimoji="1" lang="en-US" altLang="ja-JP" sz="1400" dirty="0"/>
                        <a:t>(2</a:t>
                      </a:r>
                      <a:r>
                        <a:rPr kumimoji="1" lang="ja-JP" altLang="en-US" sz="1400" dirty="0"/>
                        <a:t>年</a:t>
                      </a:r>
                      <a:r>
                        <a:rPr kumimoji="1" lang="en-US" altLang="ja-JP" sz="1400" dirty="0"/>
                        <a:t>) </a:t>
                      </a:r>
                      <a:r>
                        <a:rPr kumimoji="1" lang="ja-JP" altLang="en-US" sz="1400" dirty="0"/>
                        <a:t>修了</a:t>
                      </a:r>
                    </a:p>
                  </a:txBody>
                  <a:tcPr/>
                </a:tc>
                <a:extLst>
                  <a:ext uri="{0D108BD9-81ED-4DB2-BD59-A6C34878D82A}">
                    <a16:rowId xmlns:a16="http://schemas.microsoft.com/office/drawing/2014/main" val="3544548374"/>
                  </a:ext>
                </a:extLst>
              </a:tr>
              <a:tr h="323753">
                <a:tc>
                  <a:txBody>
                    <a:bodyPr/>
                    <a:lstStyle/>
                    <a:p>
                      <a:r>
                        <a:rPr kumimoji="1" lang="ja-JP" altLang="en-US" sz="1400" dirty="0"/>
                        <a:t>論文数 </a:t>
                      </a:r>
                      <a:r>
                        <a:rPr kumimoji="1" lang="en-US" altLang="ja-JP" sz="1400" dirty="0"/>
                        <a:t>(D</a:t>
                      </a:r>
                      <a:r>
                        <a:rPr kumimoji="1" lang="ja-JP" altLang="en-US" sz="1400" dirty="0"/>
                        <a:t>在籍中</a:t>
                      </a:r>
                      <a:r>
                        <a:rPr kumimoji="1" lang="en-US" altLang="ja-JP" sz="1400" dirty="0"/>
                        <a:t>)</a:t>
                      </a:r>
                    </a:p>
                    <a:p>
                      <a:r>
                        <a:rPr kumimoji="1" lang="en-US" altLang="ja-JP" sz="1050" dirty="0"/>
                        <a:t>※ Letter</a:t>
                      </a:r>
                      <a:r>
                        <a:rPr kumimoji="1" lang="ja-JP" altLang="en-US" sz="1050" dirty="0"/>
                        <a:t>を一部含んでも良い</a:t>
                      </a:r>
                    </a:p>
                  </a:txBody>
                  <a:tcPr/>
                </a:tc>
                <a:tc>
                  <a:txBody>
                    <a:bodyPr/>
                    <a:lstStyle/>
                    <a:p>
                      <a:r>
                        <a:rPr kumimoji="1" lang="en-US" altLang="ja-JP" sz="1400" dirty="0"/>
                        <a:t>2</a:t>
                      </a:r>
                      <a:r>
                        <a:rPr kumimoji="1" lang="ja-JP" altLang="en-US" sz="1400" dirty="0"/>
                        <a:t> </a:t>
                      </a:r>
                      <a:r>
                        <a:rPr kumimoji="1" lang="en-US" altLang="ja-JP" sz="1400" dirty="0"/>
                        <a:t>(1)</a:t>
                      </a:r>
                      <a:endParaRPr kumimoji="1" lang="ja-JP" altLang="en-US" sz="1400" dirty="0"/>
                    </a:p>
                  </a:txBody>
                  <a:tcPr/>
                </a:tc>
                <a:tc>
                  <a:txBody>
                    <a:bodyPr/>
                    <a:lstStyle/>
                    <a:p>
                      <a:r>
                        <a:rPr kumimoji="1" lang="en-US" altLang="ja-JP" sz="1400" dirty="0"/>
                        <a:t>4 (2)</a:t>
                      </a:r>
                    </a:p>
                    <a:p>
                      <a:r>
                        <a:rPr kumimoji="1" lang="en-US" altLang="ja-JP" sz="1050" dirty="0"/>
                        <a:t>※ </a:t>
                      </a:r>
                      <a:r>
                        <a:rPr kumimoji="1" lang="ja-JP" altLang="en-US" sz="1050" dirty="0"/>
                        <a:t>経験に基づく目安</a:t>
                      </a:r>
                      <a:endParaRPr kumimoji="1" lang="ja-JP" altLang="en-US" sz="1200" dirty="0"/>
                    </a:p>
                  </a:txBody>
                  <a:tcPr/>
                </a:tc>
                <a:extLst>
                  <a:ext uri="{0D108BD9-81ED-4DB2-BD59-A6C34878D82A}">
                    <a16:rowId xmlns:a16="http://schemas.microsoft.com/office/drawing/2014/main" val="1847445089"/>
                  </a:ext>
                </a:extLst>
              </a:tr>
              <a:tr h="258294">
                <a:tc>
                  <a:txBody>
                    <a:bodyPr/>
                    <a:lstStyle/>
                    <a:p>
                      <a:r>
                        <a:rPr kumimoji="1" lang="ja-JP" altLang="en-US" sz="1400" dirty="0"/>
                        <a:t>国際学会発表</a:t>
                      </a:r>
                    </a:p>
                  </a:txBody>
                  <a:tcPr/>
                </a:tc>
                <a:tc>
                  <a:txBody>
                    <a:bodyPr/>
                    <a:lstStyle/>
                    <a:p>
                      <a:r>
                        <a:rPr kumimoji="1" lang="en-US" altLang="ja-JP" sz="1400" dirty="0"/>
                        <a:t>1 (1)</a:t>
                      </a:r>
                      <a:endParaRPr kumimoji="1" lang="ja-JP" altLang="en-US" sz="1400" dirty="0"/>
                    </a:p>
                  </a:txBody>
                  <a:tcPr/>
                </a:tc>
                <a:tc>
                  <a:txBody>
                    <a:bodyPr/>
                    <a:lstStyle/>
                    <a:p>
                      <a:r>
                        <a:rPr kumimoji="1" lang="en-US" altLang="ja-JP" sz="1400" dirty="0"/>
                        <a:t>1 (1)</a:t>
                      </a:r>
                      <a:endParaRPr kumimoji="1" lang="ja-JP" altLang="en-US" sz="1400" dirty="0"/>
                    </a:p>
                  </a:txBody>
                  <a:tcPr/>
                </a:tc>
                <a:extLst>
                  <a:ext uri="{0D108BD9-81ED-4DB2-BD59-A6C34878D82A}">
                    <a16:rowId xmlns:a16="http://schemas.microsoft.com/office/drawing/2014/main" val="2022754988"/>
                  </a:ext>
                </a:extLst>
              </a:tr>
              <a:tr h="258294">
                <a:tc>
                  <a:txBody>
                    <a:bodyPr/>
                    <a:lstStyle/>
                    <a:p>
                      <a:r>
                        <a:rPr kumimoji="1" lang="ja-JP" altLang="en-US" sz="1400" dirty="0"/>
                        <a:t>その他</a:t>
                      </a:r>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t>講義・輪講なし，オンライン</a:t>
                      </a:r>
                      <a:r>
                        <a:rPr kumimoji="1" lang="en-US" altLang="ja-JP" sz="1400" dirty="0"/>
                        <a:t>MTG</a:t>
                      </a:r>
                      <a:r>
                        <a:rPr kumimoji="1" lang="ja-JP" altLang="en-US" sz="1400" dirty="0"/>
                        <a:t>可</a:t>
                      </a:r>
                    </a:p>
                  </a:txBody>
                  <a:tcPr/>
                </a:tc>
                <a:tc hMerge="1">
                  <a:txBody>
                    <a:bodyPr/>
                    <a:lstStyle/>
                    <a:p>
                      <a:endParaRPr kumimoji="1" lang="ja-JP" altLang="en-US" dirty="0"/>
                    </a:p>
                  </a:txBody>
                  <a:tcPr/>
                </a:tc>
                <a:extLst>
                  <a:ext uri="{0D108BD9-81ED-4DB2-BD59-A6C34878D82A}">
                    <a16:rowId xmlns:a16="http://schemas.microsoft.com/office/drawing/2014/main" val="1179950555"/>
                  </a:ext>
                </a:extLst>
              </a:tr>
            </a:tbl>
          </a:graphicData>
        </a:graphic>
      </p:graphicFrame>
      <p:sp>
        <p:nvSpPr>
          <p:cNvPr id="11" name="正方形/長方形 10">
            <a:extLst>
              <a:ext uri="{FF2B5EF4-FFF2-40B4-BE49-F238E27FC236}">
                <a16:creationId xmlns:a16="http://schemas.microsoft.com/office/drawing/2014/main" id="{417E32D9-F349-3B69-1439-5F2E918A176B}"/>
              </a:ext>
            </a:extLst>
          </p:cNvPr>
          <p:cNvSpPr/>
          <p:nvPr/>
        </p:nvSpPr>
        <p:spPr>
          <a:xfrm>
            <a:off x="5435785" y="4647139"/>
            <a:ext cx="66712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12" name="正方形/長方形 11">
            <a:extLst>
              <a:ext uri="{FF2B5EF4-FFF2-40B4-BE49-F238E27FC236}">
                <a16:creationId xmlns:a16="http://schemas.microsoft.com/office/drawing/2014/main" id="{5B9CAACD-DF05-A7A1-77DC-A9159244AA70}"/>
              </a:ext>
            </a:extLst>
          </p:cNvPr>
          <p:cNvSpPr/>
          <p:nvPr/>
        </p:nvSpPr>
        <p:spPr>
          <a:xfrm>
            <a:off x="6753994" y="4647139"/>
            <a:ext cx="3172915"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a:t>IEEE T-MSC</a:t>
            </a:r>
            <a:r>
              <a:rPr kumimoji="1" lang="ja-JP" altLang="en-US" sz="1000"/>
              <a:t>）</a:t>
            </a:r>
            <a:endParaRPr kumimoji="1" lang="ja-JP" altLang="en-US" sz="1000" dirty="0"/>
          </a:p>
        </p:txBody>
      </p:sp>
      <p:sp>
        <p:nvSpPr>
          <p:cNvPr id="13" name="正方形/長方形 12">
            <a:extLst>
              <a:ext uri="{FF2B5EF4-FFF2-40B4-BE49-F238E27FC236}">
                <a16:creationId xmlns:a16="http://schemas.microsoft.com/office/drawing/2014/main" id="{6D51AC04-2043-1552-D9DB-B21E142BE2D3}"/>
              </a:ext>
            </a:extLst>
          </p:cNvPr>
          <p:cNvSpPr/>
          <p:nvPr/>
        </p:nvSpPr>
        <p:spPr>
          <a:xfrm>
            <a:off x="1493758" y="4488892"/>
            <a:ext cx="667125" cy="1721957"/>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700" dirty="0"/>
              <a:t>全体構想</a:t>
            </a:r>
            <a:endParaRPr lang="en-US" altLang="ja-JP" sz="700"/>
          </a:p>
          <a:p>
            <a:pPr algn="ctr"/>
            <a:r>
              <a:rPr lang="ja-JP" altLang="en-US" sz="700"/>
              <a:t>・</a:t>
            </a:r>
            <a:endParaRPr lang="en-US" altLang="ja-JP" sz="700"/>
          </a:p>
          <a:p>
            <a:pPr algn="ctr"/>
            <a:r>
              <a:rPr lang="ja-JP" altLang="en-US" sz="700"/>
              <a:t>研究間</a:t>
            </a:r>
            <a:endParaRPr lang="en-US" altLang="ja-JP" sz="700"/>
          </a:p>
          <a:p>
            <a:pPr algn="ctr"/>
            <a:r>
              <a:rPr lang="ja-JP" altLang="en-US" sz="700"/>
              <a:t>差別化</a:t>
            </a:r>
            <a:r>
              <a:rPr lang="ja-JP" altLang="en-US" sz="700" dirty="0"/>
              <a:t>戦略</a:t>
            </a:r>
            <a:endParaRPr kumimoji="1" lang="ja-JP" altLang="en-US" sz="700" dirty="0"/>
          </a:p>
        </p:txBody>
      </p:sp>
      <p:sp>
        <p:nvSpPr>
          <p:cNvPr id="14" name="正方形/長方形 13">
            <a:extLst>
              <a:ext uri="{FF2B5EF4-FFF2-40B4-BE49-F238E27FC236}">
                <a16:creationId xmlns:a16="http://schemas.microsoft.com/office/drawing/2014/main" id="{56561C11-8472-E8A3-AC19-AAD422CE4B8A}"/>
              </a:ext>
            </a:extLst>
          </p:cNvPr>
          <p:cNvSpPr/>
          <p:nvPr/>
        </p:nvSpPr>
        <p:spPr>
          <a:xfrm>
            <a:off x="2160884" y="5545940"/>
            <a:ext cx="656033"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アルゴ</a:t>
            </a:r>
            <a:endParaRPr lang="en-US" altLang="ja-JP" sz="1000"/>
          </a:p>
          <a:p>
            <a:pPr algn="ctr"/>
            <a:r>
              <a:rPr lang="ja-JP" altLang="en-US" sz="1000"/>
              <a:t>リズム</a:t>
            </a:r>
            <a:endParaRPr kumimoji="1" lang="ja-JP" altLang="en-US" sz="1000" dirty="0"/>
          </a:p>
        </p:txBody>
      </p:sp>
      <p:sp>
        <p:nvSpPr>
          <p:cNvPr id="15" name="正方形/長方形 14">
            <a:extLst>
              <a:ext uri="{FF2B5EF4-FFF2-40B4-BE49-F238E27FC236}">
                <a16:creationId xmlns:a16="http://schemas.microsoft.com/office/drawing/2014/main" id="{88F65525-04C0-FD78-AAE3-3F1ACFE4A5E7}"/>
              </a:ext>
            </a:extLst>
          </p:cNvPr>
          <p:cNvSpPr/>
          <p:nvPr/>
        </p:nvSpPr>
        <p:spPr>
          <a:xfrm>
            <a:off x="2807883" y="5545940"/>
            <a:ext cx="8252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網羅解析</a:t>
            </a:r>
            <a:endParaRPr kumimoji="1" lang="ja-JP" altLang="en-US" sz="1000" dirty="0"/>
          </a:p>
        </p:txBody>
      </p:sp>
      <p:sp>
        <p:nvSpPr>
          <p:cNvPr id="16" name="正方形/長方形 15">
            <a:extLst>
              <a:ext uri="{FF2B5EF4-FFF2-40B4-BE49-F238E27FC236}">
                <a16:creationId xmlns:a16="http://schemas.microsoft.com/office/drawing/2014/main" id="{1C227A8A-5218-8ABE-F2A1-048B1CE50CD4}"/>
              </a:ext>
            </a:extLst>
          </p:cNvPr>
          <p:cNvSpPr/>
          <p:nvPr/>
        </p:nvSpPr>
        <p:spPr>
          <a:xfrm>
            <a:off x="3460923" y="8060534"/>
            <a:ext cx="101610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en-US" altLang="ja-JP" sz="1000"/>
              <a:t>Sim</a:t>
            </a:r>
            <a:endParaRPr kumimoji="1" lang="ja-JP" altLang="en-US" sz="1000" dirty="0"/>
          </a:p>
        </p:txBody>
      </p:sp>
      <p:sp>
        <p:nvSpPr>
          <p:cNvPr id="17" name="正方形/長方形 16">
            <a:extLst>
              <a:ext uri="{FF2B5EF4-FFF2-40B4-BE49-F238E27FC236}">
                <a16:creationId xmlns:a16="http://schemas.microsoft.com/office/drawing/2014/main" id="{84B638EB-E37C-66D1-5C3B-2610A7DA18EA}"/>
              </a:ext>
            </a:extLst>
          </p:cNvPr>
          <p:cNvSpPr/>
          <p:nvPr/>
        </p:nvSpPr>
        <p:spPr>
          <a:xfrm>
            <a:off x="4125463" y="5551893"/>
            <a:ext cx="65603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lang="en-US" altLang="ja-JP" sz="1000" dirty="0"/>
          </a:p>
          <a:p>
            <a:pPr algn="ctr"/>
            <a:r>
              <a:rPr lang="ja-JP" altLang="en-US" sz="1000" dirty="0"/>
              <a:t>準備</a:t>
            </a:r>
            <a:endParaRPr kumimoji="1" lang="ja-JP" altLang="en-US" sz="1000" dirty="0"/>
          </a:p>
        </p:txBody>
      </p:sp>
      <p:sp>
        <p:nvSpPr>
          <p:cNvPr id="18" name="正方形/長方形 17">
            <a:extLst>
              <a:ext uri="{FF2B5EF4-FFF2-40B4-BE49-F238E27FC236}">
                <a16:creationId xmlns:a16="http://schemas.microsoft.com/office/drawing/2014/main" id="{09DA91A9-DEB4-17C8-2F28-75CD1A20F93E}"/>
              </a:ext>
            </a:extLst>
          </p:cNvPr>
          <p:cNvSpPr/>
          <p:nvPr/>
        </p:nvSpPr>
        <p:spPr>
          <a:xfrm>
            <a:off x="4795791" y="5551894"/>
            <a:ext cx="656033"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実験</a:t>
            </a:r>
            <a:endParaRPr kumimoji="1" lang="ja-JP" altLang="en-US" sz="1000" dirty="0"/>
          </a:p>
        </p:txBody>
      </p:sp>
      <p:sp>
        <p:nvSpPr>
          <p:cNvPr id="19" name="正方形/長方形 18">
            <a:extLst>
              <a:ext uri="{FF2B5EF4-FFF2-40B4-BE49-F238E27FC236}">
                <a16:creationId xmlns:a16="http://schemas.microsoft.com/office/drawing/2014/main" id="{8E35BB2A-5793-A951-FC40-CFAF42B92C68}"/>
              </a:ext>
            </a:extLst>
          </p:cNvPr>
          <p:cNvSpPr/>
          <p:nvPr/>
        </p:nvSpPr>
        <p:spPr>
          <a:xfrm>
            <a:off x="6774379" y="5842136"/>
            <a:ext cx="652645"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解析</a:t>
            </a:r>
            <a:endParaRPr kumimoji="1" lang="ja-JP" altLang="en-US" sz="1000" dirty="0"/>
          </a:p>
        </p:txBody>
      </p:sp>
      <p:sp>
        <p:nvSpPr>
          <p:cNvPr id="20" name="正方形/長方形 19">
            <a:extLst>
              <a:ext uri="{FF2B5EF4-FFF2-40B4-BE49-F238E27FC236}">
                <a16:creationId xmlns:a16="http://schemas.microsoft.com/office/drawing/2014/main" id="{10412EE6-2611-0BA5-C57D-BA01B0E0FC65}"/>
              </a:ext>
            </a:extLst>
          </p:cNvPr>
          <p:cNvSpPr/>
          <p:nvPr/>
        </p:nvSpPr>
        <p:spPr>
          <a:xfrm>
            <a:off x="6766252" y="5485207"/>
            <a:ext cx="5559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21" name="正方形/長方形 20">
            <a:extLst>
              <a:ext uri="{FF2B5EF4-FFF2-40B4-BE49-F238E27FC236}">
                <a16:creationId xmlns:a16="http://schemas.microsoft.com/office/drawing/2014/main" id="{3B892609-950E-E9D5-0DCA-1CE1B738E864}"/>
              </a:ext>
            </a:extLst>
          </p:cNvPr>
          <p:cNvSpPr/>
          <p:nvPr/>
        </p:nvSpPr>
        <p:spPr>
          <a:xfrm>
            <a:off x="7324056" y="5484481"/>
            <a:ext cx="936813"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査読</a:t>
            </a:r>
            <a:r>
              <a:rPr kumimoji="1" lang="en-US" altLang="ja-JP" sz="1000" dirty="0"/>
              <a:t>RA-L</a:t>
            </a:r>
            <a:endParaRPr kumimoji="1" lang="ja-JP" altLang="en-US" sz="1000" dirty="0"/>
          </a:p>
        </p:txBody>
      </p:sp>
      <p:sp>
        <p:nvSpPr>
          <p:cNvPr id="23" name="正方形/長方形 22">
            <a:extLst>
              <a:ext uri="{FF2B5EF4-FFF2-40B4-BE49-F238E27FC236}">
                <a16:creationId xmlns:a16="http://schemas.microsoft.com/office/drawing/2014/main" id="{C6C623C0-0F61-735F-BA34-B7DA0B5C6D5F}"/>
              </a:ext>
            </a:extLst>
          </p:cNvPr>
          <p:cNvSpPr/>
          <p:nvPr/>
        </p:nvSpPr>
        <p:spPr>
          <a:xfrm>
            <a:off x="7450033" y="6399497"/>
            <a:ext cx="919163"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執筆</a:t>
            </a:r>
          </a:p>
        </p:txBody>
      </p:sp>
      <p:sp>
        <p:nvSpPr>
          <p:cNvPr id="26" name="正方形/長方形 25">
            <a:extLst>
              <a:ext uri="{FF2B5EF4-FFF2-40B4-BE49-F238E27FC236}">
                <a16:creationId xmlns:a16="http://schemas.microsoft.com/office/drawing/2014/main" id="{43B2BB9E-8ADD-2912-F71D-46C3A682FA1A}"/>
              </a:ext>
            </a:extLst>
          </p:cNvPr>
          <p:cNvSpPr/>
          <p:nvPr/>
        </p:nvSpPr>
        <p:spPr>
          <a:xfrm>
            <a:off x="8369195" y="6399497"/>
            <a:ext cx="635064" cy="36512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審査</a:t>
            </a:r>
          </a:p>
        </p:txBody>
      </p:sp>
      <p:sp>
        <p:nvSpPr>
          <p:cNvPr id="34" name="正方形/長方形 33">
            <a:extLst>
              <a:ext uri="{FF2B5EF4-FFF2-40B4-BE49-F238E27FC236}">
                <a16:creationId xmlns:a16="http://schemas.microsoft.com/office/drawing/2014/main" id="{4319B7F6-23C3-691E-77D3-A574B23EC940}"/>
              </a:ext>
            </a:extLst>
          </p:cNvPr>
          <p:cNvSpPr/>
          <p:nvPr/>
        </p:nvSpPr>
        <p:spPr>
          <a:xfrm>
            <a:off x="9398499" y="5484480"/>
            <a:ext cx="711386" cy="360041"/>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国際会議</a:t>
            </a:r>
            <a:endParaRPr kumimoji="1" lang="en-US" altLang="ja-JP" sz="1000" dirty="0"/>
          </a:p>
          <a:p>
            <a:pPr algn="ctr"/>
            <a:r>
              <a:rPr kumimoji="1" lang="ja-JP" altLang="en-US" sz="1000" dirty="0"/>
              <a:t>発表</a:t>
            </a:r>
          </a:p>
        </p:txBody>
      </p:sp>
      <p:sp>
        <p:nvSpPr>
          <p:cNvPr id="35" name="正方形/長方形 34">
            <a:extLst>
              <a:ext uri="{FF2B5EF4-FFF2-40B4-BE49-F238E27FC236}">
                <a16:creationId xmlns:a16="http://schemas.microsoft.com/office/drawing/2014/main" id="{4C3667A2-B3DE-3F84-67EF-86806E7E9AF0}"/>
              </a:ext>
            </a:extLst>
          </p:cNvPr>
          <p:cNvSpPr/>
          <p:nvPr/>
        </p:nvSpPr>
        <p:spPr>
          <a:xfrm>
            <a:off x="7441320" y="5844429"/>
            <a:ext cx="622879"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執筆</a:t>
            </a:r>
            <a:endParaRPr kumimoji="1" lang="ja-JP" altLang="en-US" sz="1000" dirty="0"/>
          </a:p>
        </p:txBody>
      </p:sp>
      <p:sp>
        <p:nvSpPr>
          <p:cNvPr id="36" name="正方形/長方形 35">
            <a:extLst>
              <a:ext uri="{FF2B5EF4-FFF2-40B4-BE49-F238E27FC236}">
                <a16:creationId xmlns:a16="http://schemas.microsoft.com/office/drawing/2014/main" id="{B343EF0E-BF44-299E-12C5-C463540A86F2}"/>
              </a:ext>
            </a:extLst>
          </p:cNvPr>
          <p:cNvSpPr/>
          <p:nvPr/>
        </p:nvSpPr>
        <p:spPr>
          <a:xfrm>
            <a:off x="8061493" y="5845247"/>
            <a:ext cx="2860160" cy="358404"/>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r>
              <a:rPr lang="ja-JP" altLang="en-US" sz="1000" dirty="0"/>
              <a:t>　　　</a:t>
            </a:r>
            <a:r>
              <a:rPr kumimoji="1" lang="ja-JP" altLang="en-US" sz="1000" dirty="0"/>
              <a:t>査読</a:t>
            </a:r>
          </a:p>
        </p:txBody>
      </p:sp>
      <p:sp>
        <p:nvSpPr>
          <p:cNvPr id="38" name="正方形/長方形 37">
            <a:extLst>
              <a:ext uri="{FF2B5EF4-FFF2-40B4-BE49-F238E27FC236}">
                <a16:creationId xmlns:a16="http://schemas.microsoft.com/office/drawing/2014/main" id="{8870CEE6-A2C6-EDA2-4904-55C5B4AA3E1E}"/>
              </a:ext>
            </a:extLst>
          </p:cNvPr>
          <p:cNvSpPr/>
          <p:nvPr/>
        </p:nvSpPr>
        <p:spPr>
          <a:xfrm>
            <a:off x="-1044519" y="5338252"/>
            <a:ext cx="602642" cy="360040"/>
          </a:xfrm>
          <a:prstGeom prst="rect">
            <a:avLst/>
          </a:prstGeom>
          <a:solidFill>
            <a:schemeClr val="accent6">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基礎</a:t>
            </a:r>
            <a:endParaRPr lang="en-US" altLang="ja-JP" sz="1000" dirty="0"/>
          </a:p>
          <a:p>
            <a:pPr algn="ctr"/>
            <a:r>
              <a:rPr lang="ja-JP" altLang="en-US" sz="1000" dirty="0"/>
              <a:t>検討</a:t>
            </a:r>
            <a:endParaRPr kumimoji="1" lang="ja-JP" altLang="en-US" sz="1000" dirty="0"/>
          </a:p>
        </p:txBody>
      </p:sp>
      <p:sp>
        <p:nvSpPr>
          <p:cNvPr id="39" name="正方形/長方形 38">
            <a:extLst>
              <a:ext uri="{FF2B5EF4-FFF2-40B4-BE49-F238E27FC236}">
                <a16:creationId xmlns:a16="http://schemas.microsoft.com/office/drawing/2014/main" id="{0E7B6D02-55C7-BE91-7A29-B6640E9708EF}"/>
              </a:ext>
            </a:extLst>
          </p:cNvPr>
          <p:cNvSpPr/>
          <p:nvPr/>
        </p:nvSpPr>
        <p:spPr>
          <a:xfrm>
            <a:off x="2828008" y="6931673"/>
            <a:ext cx="716672"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000" dirty="0"/>
              <a:t>追加研究</a:t>
            </a:r>
          </a:p>
        </p:txBody>
      </p:sp>
      <p:cxnSp>
        <p:nvCxnSpPr>
          <p:cNvPr id="42" name="直線矢印コネクタ 41">
            <a:extLst>
              <a:ext uri="{FF2B5EF4-FFF2-40B4-BE49-F238E27FC236}">
                <a16:creationId xmlns:a16="http://schemas.microsoft.com/office/drawing/2014/main" id="{A621DC1A-E709-07BC-DDB5-A1DCA3472967}"/>
              </a:ext>
            </a:extLst>
          </p:cNvPr>
          <p:cNvCxnSpPr>
            <a:cxnSpLocks/>
          </p:cNvCxnSpPr>
          <p:nvPr/>
        </p:nvCxnSpPr>
        <p:spPr>
          <a:xfrm>
            <a:off x="8247569" y="5844521"/>
            <a:ext cx="0" cy="5769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BED1DB21-9B64-4C8A-FF73-54103CC832B8}"/>
              </a:ext>
            </a:extLst>
          </p:cNvPr>
          <p:cNvSpPr txBox="1"/>
          <p:nvPr/>
        </p:nvSpPr>
        <p:spPr>
          <a:xfrm>
            <a:off x="8237600" y="6214012"/>
            <a:ext cx="492443" cy="184666"/>
          </a:xfrm>
          <a:prstGeom prst="rect">
            <a:avLst/>
          </a:prstGeom>
          <a:noFill/>
        </p:spPr>
        <p:txBody>
          <a:bodyPr wrap="none" rtlCol="0">
            <a:spAutoFit/>
          </a:bodyPr>
          <a:lstStyle/>
          <a:p>
            <a:r>
              <a:rPr kumimoji="1" lang="ja-JP" altLang="en-US" sz="600" dirty="0"/>
              <a:t>審査請求</a:t>
            </a:r>
          </a:p>
        </p:txBody>
      </p:sp>
      <p:sp>
        <p:nvSpPr>
          <p:cNvPr id="22" name="吹き出し: 四角形 21">
            <a:extLst>
              <a:ext uri="{FF2B5EF4-FFF2-40B4-BE49-F238E27FC236}">
                <a16:creationId xmlns:a16="http://schemas.microsoft.com/office/drawing/2014/main" id="{794E213C-B3C4-8AC0-3B65-0DB3F5EB46AF}"/>
              </a:ext>
            </a:extLst>
          </p:cNvPr>
          <p:cNvSpPr/>
          <p:nvPr/>
        </p:nvSpPr>
        <p:spPr>
          <a:xfrm>
            <a:off x="4730623" y="5969740"/>
            <a:ext cx="920552" cy="365125"/>
          </a:xfrm>
          <a:prstGeom prst="wedgeRectCallout">
            <a:avLst>
              <a:gd name="adj1" fmla="val -21617"/>
              <a:gd name="adj2" fmla="val -71334"/>
            </a:avLst>
          </a:prstGeom>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800" dirty="0"/>
              <a:t>有給休暇取得</a:t>
            </a:r>
            <a:endParaRPr lang="en-US" altLang="ja-JP" sz="800"/>
          </a:p>
          <a:p>
            <a:pPr algn="ctr"/>
            <a:r>
              <a:rPr kumimoji="1" lang="ja-JP" altLang="en-US" sz="800"/>
              <a:t>（</a:t>
            </a:r>
            <a:r>
              <a:rPr kumimoji="1" lang="ja-JP" altLang="en-US" sz="800" dirty="0"/>
              <a:t>～</a:t>
            </a:r>
            <a:r>
              <a:rPr kumimoji="1" lang="en-US" altLang="ja-JP" sz="800"/>
              <a:t>1</a:t>
            </a:r>
            <a:r>
              <a:rPr kumimoji="1" lang="ja-JP" altLang="en-US" sz="800"/>
              <a:t>週間</a:t>
            </a:r>
            <a:r>
              <a:rPr kumimoji="1" lang="ja-JP" altLang="en-US" sz="800" dirty="0"/>
              <a:t>）</a:t>
            </a:r>
          </a:p>
        </p:txBody>
      </p:sp>
      <p:sp>
        <p:nvSpPr>
          <p:cNvPr id="28" name="正方形/長方形 27">
            <a:extLst>
              <a:ext uri="{FF2B5EF4-FFF2-40B4-BE49-F238E27FC236}">
                <a16:creationId xmlns:a16="http://schemas.microsoft.com/office/drawing/2014/main" id="{77BDDFC3-2162-D371-2A3B-7814ADD1FCEC}"/>
              </a:ext>
            </a:extLst>
          </p:cNvPr>
          <p:cNvSpPr/>
          <p:nvPr/>
        </p:nvSpPr>
        <p:spPr>
          <a:xfrm>
            <a:off x="4784700" y="4647139"/>
            <a:ext cx="667124"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追加</a:t>
            </a:r>
            <a:endParaRPr lang="en-US" altLang="ja-JP" sz="1000" dirty="0"/>
          </a:p>
          <a:p>
            <a:pPr algn="ctr"/>
            <a:r>
              <a:rPr lang="ja-JP" altLang="en-US" sz="1000" dirty="0"/>
              <a:t>解析？</a:t>
            </a:r>
            <a:endParaRPr kumimoji="1" lang="ja-JP" altLang="en-US" sz="1000" dirty="0"/>
          </a:p>
        </p:txBody>
      </p:sp>
      <p:cxnSp>
        <p:nvCxnSpPr>
          <p:cNvPr id="30" name="直線矢印コネクタ 29">
            <a:extLst>
              <a:ext uri="{FF2B5EF4-FFF2-40B4-BE49-F238E27FC236}">
                <a16:creationId xmlns:a16="http://schemas.microsoft.com/office/drawing/2014/main" id="{7A263700-5CD7-EC68-3D6E-EFBDF8E32EF6}"/>
              </a:ext>
            </a:extLst>
          </p:cNvPr>
          <p:cNvCxnSpPr>
            <a:cxnSpLocks/>
            <a:stCxn id="18" idx="0"/>
            <a:endCxn id="28" idx="2"/>
          </p:cNvCxnSpPr>
          <p:nvPr/>
        </p:nvCxnSpPr>
        <p:spPr>
          <a:xfrm flipH="1" flipV="1">
            <a:off x="5118262" y="5007179"/>
            <a:ext cx="5546" cy="5447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8BA2177D-3C99-F60E-D46C-74F7FE12B04F}"/>
              </a:ext>
            </a:extLst>
          </p:cNvPr>
          <p:cNvSpPr txBox="1"/>
          <p:nvPr/>
        </p:nvSpPr>
        <p:spPr>
          <a:xfrm>
            <a:off x="5081788" y="5330009"/>
            <a:ext cx="569387" cy="184666"/>
          </a:xfrm>
          <a:prstGeom prst="rect">
            <a:avLst/>
          </a:prstGeom>
          <a:noFill/>
        </p:spPr>
        <p:txBody>
          <a:bodyPr wrap="none" rtlCol="0">
            <a:spAutoFit/>
          </a:bodyPr>
          <a:lstStyle/>
          <a:p>
            <a:r>
              <a:rPr kumimoji="1" lang="ja-JP" altLang="en-US" sz="600" dirty="0"/>
              <a:t>データ</a:t>
            </a:r>
            <a:r>
              <a:rPr lang="ja-JP" altLang="en-US" sz="600" dirty="0"/>
              <a:t>転用</a:t>
            </a:r>
            <a:endParaRPr kumimoji="1" lang="ja-JP" altLang="en-US" sz="600" dirty="0"/>
          </a:p>
        </p:txBody>
      </p:sp>
      <p:sp>
        <p:nvSpPr>
          <p:cNvPr id="44" name="正方形/長方形 43">
            <a:extLst>
              <a:ext uri="{FF2B5EF4-FFF2-40B4-BE49-F238E27FC236}">
                <a16:creationId xmlns:a16="http://schemas.microsoft.com/office/drawing/2014/main" id="{2EC53942-1CD9-DAE0-00C1-385AF524C950}"/>
              </a:ext>
            </a:extLst>
          </p:cNvPr>
          <p:cNvSpPr/>
          <p:nvPr/>
        </p:nvSpPr>
        <p:spPr>
          <a:xfrm>
            <a:off x="2152225" y="4647139"/>
            <a:ext cx="663298" cy="360040"/>
          </a:xfrm>
          <a:prstGeom prst="rect">
            <a:avLst/>
          </a:prstGeom>
          <a:solidFill>
            <a:schemeClr val="accent3">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見せ方</a:t>
            </a:r>
            <a:endParaRPr lang="en-US" altLang="ja-JP" sz="1000" dirty="0"/>
          </a:p>
          <a:p>
            <a:pPr algn="ctr"/>
            <a:r>
              <a:rPr kumimoji="1" lang="ja-JP" altLang="en-US" sz="1000" dirty="0"/>
              <a:t>修正</a:t>
            </a:r>
          </a:p>
        </p:txBody>
      </p:sp>
      <p:sp>
        <p:nvSpPr>
          <p:cNvPr id="51" name="テキスト ボックス 50">
            <a:extLst>
              <a:ext uri="{FF2B5EF4-FFF2-40B4-BE49-F238E27FC236}">
                <a16:creationId xmlns:a16="http://schemas.microsoft.com/office/drawing/2014/main" id="{F778C98D-3495-D92E-6BCB-679C6FDECC76}"/>
              </a:ext>
            </a:extLst>
          </p:cNvPr>
          <p:cNvSpPr txBox="1"/>
          <p:nvPr/>
        </p:nvSpPr>
        <p:spPr>
          <a:xfrm>
            <a:off x="5451824"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最繁忙期</a:t>
            </a:r>
          </a:p>
        </p:txBody>
      </p:sp>
      <p:sp>
        <p:nvSpPr>
          <p:cNvPr id="52" name="テキスト ボックス 51">
            <a:extLst>
              <a:ext uri="{FF2B5EF4-FFF2-40B4-BE49-F238E27FC236}">
                <a16:creationId xmlns:a16="http://schemas.microsoft.com/office/drawing/2014/main" id="{B56DAC23-7513-EC25-4B0E-C4B3E62FDC37}"/>
              </a:ext>
            </a:extLst>
          </p:cNvPr>
          <p:cNvSpPr txBox="1"/>
          <p:nvPr/>
        </p:nvSpPr>
        <p:spPr>
          <a:xfrm>
            <a:off x="2802908" y="3094460"/>
            <a:ext cx="1322555" cy="30777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kumimoji="1" lang="ja-JP" altLang="en-US" sz="1400" dirty="0"/>
              <a:t>繁忙期</a:t>
            </a:r>
          </a:p>
        </p:txBody>
      </p:sp>
      <p:sp>
        <p:nvSpPr>
          <p:cNvPr id="53" name="正方形/長方形 52">
            <a:extLst>
              <a:ext uri="{FF2B5EF4-FFF2-40B4-BE49-F238E27FC236}">
                <a16:creationId xmlns:a16="http://schemas.microsoft.com/office/drawing/2014/main" id="{FE888290-BF83-B018-E00C-428F7E3FD9A3}"/>
              </a:ext>
            </a:extLst>
          </p:cNvPr>
          <p:cNvSpPr/>
          <p:nvPr/>
        </p:nvSpPr>
        <p:spPr>
          <a:xfrm>
            <a:off x="6456040" y="4647139"/>
            <a:ext cx="297954" cy="360040"/>
          </a:xfrm>
          <a:prstGeom prst="rect">
            <a:avLst/>
          </a:prstGeom>
          <a:solidFill>
            <a:schemeClr val="tx2">
              <a:lumMod val="20000"/>
              <a:lumOff val="80000"/>
            </a:schemeClr>
          </a:solidFill>
          <a:ln w="6350"/>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000" dirty="0"/>
              <a:t>提</a:t>
            </a:r>
            <a:endParaRPr lang="en-US" altLang="ja-JP" sz="1000" dirty="0"/>
          </a:p>
          <a:p>
            <a:pPr algn="ctr"/>
            <a:r>
              <a:rPr lang="ja-JP" altLang="en-US" sz="1000" dirty="0"/>
              <a:t>出</a:t>
            </a:r>
            <a:endParaRPr kumimoji="1" lang="ja-JP" altLang="en-US" sz="1000" dirty="0"/>
          </a:p>
        </p:txBody>
      </p:sp>
      <p:cxnSp>
        <p:nvCxnSpPr>
          <p:cNvPr id="54" name="直線矢印コネクタ 53">
            <a:extLst>
              <a:ext uri="{FF2B5EF4-FFF2-40B4-BE49-F238E27FC236}">
                <a16:creationId xmlns:a16="http://schemas.microsoft.com/office/drawing/2014/main" id="{84AE0DB2-E648-E8F5-6F67-46CD20420ACA}"/>
              </a:ext>
            </a:extLst>
          </p:cNvPr>
          <p:cNvCxnSpPr>
            <a:cxnSpLocks/>
          </p:cNvCxnSpPr>
          <p:nvPr/>
        </p:nvCxnSpPr>
        <p:spPr>
          <a:xfrm>
            <a:off x="4165600" y="4119291"/>
            <a:ext cx="5232899" cy="0"/>
          </a:xfrm>
          <a:prstGeom prst="straightConnector1">
            <a:avLst/>
          </a:prstGeom>
          <a:ln w="57150">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B2C7843F-C2A6-225F-65EF-C15614A36082}"/>
              </a:ext>
            </a:extLst>
          </p:cNvPr>
          <p:cNvSpPr txBox="1"/>
          <p:nvPr/>
        </p:nvSpPr>
        <p:spPr>
          <a:xfrm>
            <a:off x="6251893" y="1510734"/>
            <a:ext cx="2339102"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kumimoji="1" lang="ja-JP" altLang="en-US" b="1" dirty="0"/>
              <a:t>最速 </a:t>
            </a:r>
            <a:r>
              <a:rPr lang="en-US" altLang="ja-JP" b="1" dirty="0"/>
              <a:t>&amp; </a:t>
            </a:r>
            <a:r>
              <a:rPr lang="ja-JP" altLang="en-US" b="1" dirty="0"/>
              <a:t>繁忙期回避</a:t>
            </a:r>
            <a:r>
              <a:rPr kumimoji="1" lang="ja-JP" altLang="en-US" b="1" dirty="0"/>
              <a:t>案</a:t>
            </a:r>
            <a:endParaRPr kumimoji="1" lang="en-US" altLang="ja-JP" b="1" dirty="0"/>
          </a:p>
        </p:txBody>
      </p:sp>
      <p:sp>
        <p:nvSpPr>
          <p:cNvPr id="24" name="正方形/長方形 23">
            <a:extLst>
              <a:ext uri="{FF2B5EF4-FFF2-40B4-BE49-F238E27FC236}">
                <a16:creationId xmlns:a16="http://schemas.microsoft.com/office/drawing/2014/main" id="{611000EA-37DA-EC03-CB09-019371BD8A21}"/>
              </a:ext>
            </a:extLst>
          </p:cNvPr>
          <p:cNvSpPr/>
          <p:nvPr/>
        </p:nvSpPr>
        <p:spPr>
          <a:xfrm>
            <a:off x="3791744" y="1052736"/>
            <a:ext cx="1660080" cy="169541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7137005"/>
      </p:ext>
    </p:extLst>
  </p:cSld>
  <p:clrMapOvr>
    <a:masterClrMapping/>
  </p:clrMapOvr>
</p:sld>
</file>

<file path=ppt/theme/theme1.xml><?xml version="1.0" encoding="utf-8"?>
<a:theme xmlns:a="http://schemas.openxmlformats.org/drawingml/2006/main" name="Office ​​テーマ">
  <a:themeElements>
    <a:clrScheme name="ユーザー定義 1">
      <a:dk1>
        <a:srgbClr val="000000"/>
      </a:dk1>
      <a:lt1>
        <a:srgbClr val="FFFFFF"/>
      </a:lt1>
      <a:dk2>
        <a:srgbClr val="1F497D"/>
      </a:dk2>
      <a:lt2>
        <a:srgbClr val="EEECE1"/>
      </a:lt2>
      <a:accent1>
        <a:srgbClr val="FF2600"/>
      </a:accent1>
      <a:accent2>
        <a:srgbClr val="0432FF"/>
      </a:accent2>
      <a:accent3>
        <a:srgbClr val="00B050"/>
      </a:accent3>
      <a:accent4>
        <a:srgbClr val="7030A0"/>
      </a:accent4>
      <a:accent5>
        <a:srgbClr val="00B0F0"/>
      </a:accent5>
      <a:accent6>
        <a:srgbClr val="F79646"/>
      </a:accent6>
      <a:hlink>
        <a:srgbClr val="0000FF"/>
      </a:hlink>
      <a:folHlink>
        <a:srgbClr val="800080"/>
      </a:folHlink>
    </a:clrScheme>
    <a:fontScheme name="ユーザー定義 1">
      <a:majorFont>
        <a:latin typeface="Times New Roman"/>
        <a:ea typeface="メイリオ"/>
        <a:cs typeface=""/>
      </a:majorFont>
      <a:minorFont>
        <a:latin typeface="Times New Roman"/>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a:defPPr>
      </a:lstStyle>
      <a:style>
        <a:lnRef idx="2">
          <a:schemeClr val="dk1"/>
        </a:lnRef>
        <a:fillRef idx="1">
          <a:schemeClr val="lt1"/>
        </a:fillRef>
        <a:effectRef idx="0">
          <a:schemeClr val="dk1"/>
        </a:effectRef>
        <a:fontRef idx="minor">
          <a:schemeClr val="dk1"/>
        </a:fontRef>
      </a:style>
    </a:spDef>
    <a:lnDef>
      <a:spPr>
        <a:ln>
          <a:tailEnd type="triangle"/>
        </a:ln>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1577</TotalTime>
  <Words>8793</Words>
  <Application>Microsoft Office PowerPoint</Application>
  <PresentationFormat>ワイド画面</PresentationFormat>
  <Paragraphs>1926</Paragraphs>
  <Slides>49</Slides>
  <Notes>5</Notes>
  <HiddenSlides>22</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49</vt:i4>
      </vt:variant>
    </vt:vector>
  </HeadingPairs>
  <TitlesOfParts>
    <vt:vector size="56" baseType="lpstr">
      <vt:lpstr>游ゴシック</vt:lpstr>
      <vt:lpstr>Arial</vt:lpstr>
      <vt:lpstr>Calibri</vt:lpstr>
      <vt:lpstr>Cambria Math</vt:lpstr>
      <vt:lpstr>Times New Roman</vt:lpstr>
      <vt:lpstr>Wingdings</vt:lpstr>
      <vt:lpstr>Office ​​テーマ</vt:lpstr>
      <vt:lpstr>修士論文の英語論文化ご相談 ~ブラッシュアップに関する議論~</vt:lpstr>
      <vt:lpstr>目次</vt:lpstr>
      <vt:lpstr>論文ドラフトの概要・所感</vt:lpstr>
      <vt:lpstr>先生のFB内容</vt:lpstr>
      <vt:lpstr>FBを踏まえた考察①</vt:lpstr>
      <vt:lpstr>考察②-1（差分に着目・感度分析?）</vt:lpstr>
      <vt:lpstr>検証の流れ-1</vt:lpstr>
      <vt:lpstr>考察②-2（対偶の証明）</vt:lpstr>
      <vt:lpstr>サマリ</vt:lpstr>
      <vt:lpstr>検証の流れ</vt:lpstr>
      <vt:lpstr>追加検証のたたき台</vt:lpstr>
      <vt:lpstr>PowerPoint プレゼンテーション</vt:lpstr>
      <vt:lpstr>博士課程 研究構想についてのご相談 ~博士研究の学術的コア議論v1~</vt:lpstr>
      <vt:lpstr>やりたいこと・実現に際する課題</vt:lpstr>
      <vt:lpstr>課題の取捨選択</vt:lpstr>
      <vt:lpstr>課題解決に必要な、学術的コア</vt:lpstr>
      <vt:lpstr>博士課程 研究構想についてのご相談 ~博士研究でやりたいこと~</vt:lpstr>
      <vt:lpstr>目次</vt:lpstr>
      <vt:lpstr>学部～博士の研究全体像</vt:lpstr>
      <vt:lpstr>研究背景</vt:lpstr>
      <vt:lpstr>見守り業務に関する、理想像の提案</vt:lpstr>
      <vt:lpstr>研究課題と関連研究</vt:lpstr>
      <vt:lpstr>解決のアプローチ</vt:lpstr>
      <vt:lpstr>【検討中】時空間モデル</vt:lpstr>
      <vt:lpstr>【検討中】因果モデル (動的構造化因果モデル：Dynamic Structured Causal Model)</vt:lpstr>
      <vt:lpstr>検討中のポイント</vt:lpstr>
      <vt:lpstr>めざす新規性・ご相談事項</vt:lpstr>
      <vt:lpstr>研究計画（日程・要件）</vt:lpstr>
      <vt:lpstr>研究計画（日程・要件）</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博士課程 進学計画についてのご相談 （2年研修計画 社内検討を経た進学計画）</vt:lpstr>
      <vt:lpstr>研究計画（日程・要件）当初案</vt:lpstr>
      <vt:lpstr>博士課程 研究骨子 検討進捗</vt:lpstr>
      <vt:lpstr>博士課程研究 骨子 検討進捗</vt:lpstr>
      <vt:lpstr>新規研究 骨子 検討進捗</vt:lpstr>
      <vt:lpstr>PowerPoint プレゼンテーション</vt:lpstr>
      <vt:lpstr>社会人博士課程 研究計画の報告・早期支援のお願い</vt:lpstr>
      <vt:lpstr>博士課程 進学希望の概要</vt:lpstr>
      <vt:lpstr>研究計画（日程・要件）</vt:lpstr>
      <vt:lpstr>改善点</vt:lpstr>
      <vt:lpstr>研究計画（日程・要件）</vt:lpstr>
      <vt:lpstr>研究計画（日程・要件）</vt:lpstr>
      <vt:lpstr>研究計画（日程・要件）</vt:lpstr>
      <vt:lpstr>研究計画（日程・要件）当初案</vt:lpstr>
      <vt:lpstr>研究計画（日程・要件）</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dc:title>
  <dc:creator>takahashi</dc:creator>
  <cp:lastModifiedBy>和之 林出</cp:lastModifiedBy>
  <cp:revision>19</cp:revision>
  <dcterms:created xsi:type="dcterms:W3CDTF">2014-05-18T10:43:34Z</dcterms:created>
  <dcterms:modified xsi:type="dcterms:W3CDTF">2026-10-10T08:02:28Z</dcterms:modified>
</cp:coreProperties>
</file>